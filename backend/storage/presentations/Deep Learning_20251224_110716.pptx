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Deep Learning presentation covering multiple topics. Today we'll explore: Introduction to CNNs, Convolution Operation, Pooling Layers, CNN Architecture Example, Applications of CNNs.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CNNs, explain the biological inspiration behind their development and their primary application in image processing tasks. Provide examples of real-world applications such as self-driving cars and facial recognition systems. Emphasize the importance of convolutional and pooling layers in feature extraction and the role of activation functions in introducing non-linearity. Ask students to consider how CNNs can learn complex features from images and how backpropagation is used for training. Key takeaways include understanding the basic architecture of CNNs and their effectiveness in image classification and object detection tasks.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fundamentals of CNNs, emphasize the role of convolutional and pooling layers in image processing. Explain how filters detect basic features and how these features are used for classification. Provide examples of CNN applications, such as image classification and object detection. Discuss the importance of activation functions and the concept of transfer learning. Ask students to consider how CNNs can be applied to real-world problems, such as medical image analysis or self-driving cars. Key takeaways include understanding the basic architecture of CNNs and their ability to learn complex patterns in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CNNs, emphasize their inspiration from the human visual cortex and their ability to learn features automatically. Provide examples of image classification tasks, such as recognizing objects in pictures. Explain the basic architecture, including convolutional and pooling layers, and introduce key concepts like activation functions and backpropagation. Ask students to consider how CNNs can be applied to real-world problems, such as self-driving cars or medical image analysis. Key takeaways include understanding the basics of CNN architecture and their applications in computer vision.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convolution operation, emphasize its role in extracting local features from images and its application in deep learning, particularly in convolutional neural networks. Explain how it enables the model to be robust to small transformations and distortions. Provide examples of its use in image processing and computer vision tasks, such as object detection and image classification. Ask students to consider how the convolution operation might be applied to other types of data, like audio or text. Key takeaways should include understanding the convolution operation's purpose, its benefits, and its widespread use in deep learning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convolution operation, explain how it works by combining images with filters to detect edges and shapes. Provide examples of how stride and padding affect output spatial dimensions. Discuss the importance of translational equivariance in convolution operations. Give examples of applications such as image classification and object detection. Ask students to consider how convolution helps in extracting features from images and enables neural networks to learn hierarchical representations. Key takeaways include understanding the role of filters, stride, and padding in convolution operations.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convolution operation, explain its importance in deep learning and its application in various fields such as image and speech recognition. Provide examples of how convolutional neural networks use this operation to extract features from input data. Ask students to think about how the size and number of filters can affect the output of the convolution operation. Emphasize the role of convolution in reducing spatial dimensions of data and extracting local patterns. Use visual aids to illustrate the process of convolution and feature map generation. Key takeaways should include the definition of convolution operation, its applications, and its importance in deep learning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pooling layers, explain the concept of downsampling and its benefits in reducing parameters and preventing overfitting. Provide examples of max pooling and average pooling, and discuss their differences. Emphasize the importance of pooling layers in image classification and object detection tasks. Ask students to consider how pooling layers contribute to translation invariance and robustness to small transformations in data. Key takeaways include understanding the role of pooling layers in deep neural networks and their applications in computer vision tasks.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pooling layers, explain that they are a crucial component in deep neural networks, helping to reduce the spatial dimensions of data while retaining key information. Provide examples of max, average, and min pooling, and discuss how pool size and stride impact output dimensions. Emphasize the role of pooling layers in preventing overfitting and improving translation invariance. Ask students to consider how pooling layers contribute to the robustness of convolutional neural networks, and provide examples of applications where pooling layers are particularly useful, such as image classification and object detection.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pooling layers, explain their purpose in reducing data dimensions while preserving critical features. Provide examples of max and average pooling, highlighting their differences. Discuss how global pooling can be used for tasks like image classification. Emphasize the role of pooling layers in preventing overfitting and improving model robustness. Ask students to consider how pooling layers contribute to the efficiency and effectiveness of convolutional neural networks in real-world applications, such as image recognition and object detection.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CNN architecture example, explain the basic components of a CNN, such as convolutional and pooling layers. Provide examples of well-known CNN architectures like LeNet-5, AlexNet, VGGNet, and ResNet. Discuss the importance of activation functions like σ(Wx + b) in CNNs. Ask students to consider the applications of CNNs in image classification and computer vision. Key takeaways include understanding the basic CNN architecture and its various applications in deep learning.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the concept of CNN architecture, explaining its application in image classification and feature extraction. Discuss the evolution of CNNs, from early models like LeNet-5 to more complex ones like AlexNet, VGGNet, and ResNet. Emphasize the importance of convolutional and pooling layers, activation functions, and batch normalization. Use the equation y = σ(Wx + b) to illustrate a simple neural network equation. Ask students to consider the advantages and limitations of each architecture, and how they can be applied to real-world problems. Key takeaways include understanding the basic components of a CNN and their role in image processing.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the applications of CNN architecture, highlight the versatility and wide range of uses, from image classification to autonomous vehicles. Provide examples of real-world applications, such as self-driving cars using CNNs for object detection. Ask students to consider the benefits and limitations of using CNNs in different fields. Key takeaways include the ability to apply CNNs to various domains and the importance of understanding the underlying architecture and its components.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applications of CNNs, explain how they have revolutionized image and video processing. Provide examples of self-driving cars using object detection and facial recognition in security systems. Ask students to think about potential applications in their own fields of interest. Key takeaways should include understanding the versatility of CNNs and their potential to solve complex problems in various domains.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applications of CNNs, emphasize the versatility of these networks across various domains. Provide examples such as how CNNs are used in medical imaging for tumor detection, in self-driving cars for pedestrian detection, and in facial recognition systems for security purposes. Ask students to consider the ethical implications of these applications and how they can contribute to society. Key takeaways should include understanding the breadth of CNN applications and their potential to revolutionize multiple fields.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teaching this topic, emphasize the impact of CNNs on computer vision tasks. Provide examples of real-world applications, such as self-driving cars and medical diagnosis. Ask students to consider the limitations and challenges of these applications, and discuss potential solutions. Key takeaways include understanding the role of CNNs in image classification, object detection, and image segmentation, as well as their applications in various industries.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Introduction to CNNs, Convolution Operation, Pooling Layers, CNN Architecture Example, Applications of CNNs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CNNs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(CNNs) for image processing</a:t>
            </a:r>
          </a:p>
          <a:p>
            <a:pPr>
              <a:defRPr sz="2000">
                <a:solidFill>
                  <a:srgbClr val="444444"/>
                </a:solidFill>
              </a:defRPr>
            </a:pPr>
            <a:r>
              <a:t>Inspired by biological neural networks and visual cortex</a:t>
            </a:r>
          </a:p>
          <a:p>
            <a:pPr>
              <a:defRPr sz="2000">
                <a:solidFill>
                  <a:srgbClr val="444444"/>
                </a:solidFill>
              </a:defRPr>
            </a:pPr>
            <a:r>
              <a:t>Use convolutional and pooling layers for feature extraction</a:t>
            </a:r>
          </a:p>
          <a:p>
            <a:pPr>
              <a:defRPr sz="2000">
                <a:solidFill>
                  <a:srgbClr val="444444"/>
                </a:solidFill>
              </a:defRPr>
            </a:pPr>
            <a:r>
              <a:t>Effective for image classification, object detection tasks</a:t>
            </a:r>
          </a:p>
          <a:p>
            <a:pPr>
              <a:defRPr sz="2000">
                <a:solidFill>
                  <a:srgbClr val="444444"/>
                </a:solidFill>
              </a:defRPr>
            </a:pPr>
            <a:r>
              <a:t>Applications in self-driving cars, facial recognition systems</a:t>
            </a:r>
          </a:p>
          <a:p>
            <a:pPr>
              <a:defRPr sz="2000">
                <a:solidFill>
                  <a:srgbClr val="444444"/>
                </a:solidFill>
              </a:defRPr>
            </a:pPr>
            <a:r>
              <a:t>CNNs learn spatial hierarchies of features from images</a:t>
            </a:r>
          </a:p>
          <a:p>
            <a:pPr>
              <a:defRPr sz="2000">
                <a:solidFill>
                  <a:srgbClr val="444444"/>
                </a:solidFill>
              </a:defRPr>
            </a:pPr>
            <a:r>
              <a:t>Typical architecture includes convolution, pooling, flatten layers</a:t>
            </a:r>
          </a:p>
          <a:p>
            <a:pPr>
              <a:defRPr sz="2000">
                <a:solidFill>
                  <a:srgbClr val="444444"/>
                </a:solidFill>
              </a:defRPr>
            </a:pPr>
            <a:r>
              <a:t>Activation functions like ReLU, sigmoid used for non-linearity</a:t>
            </a:r>
          </a:p>
          <a:p>
            <a:pPr>
              <a:defRPr sz="2000">
                <a:solidFill>
                  <a:srgbClr val="444444"/>
                </a:solidFill>
              </a:defRPr>
            </a:pPr>
            <a:r>
              <a:t>Backpropagation algorithm used for training CNNs</a:t>
            </a:r>
          </a:p>
        </p:txBody>
      </p:sp>
      <p:pic>
        <p:nvPicPr>
          <p:cNvPr id="4" name="Picture 3" descr="47ab3fe4df884c30914e5d7f6026d494.png"/>
          <p:cNvPicPr>
            <a:picLocks noChangeAspect="1"/>
          </p:cNvPicPr>
          <p:nvPr/>
        </p:nvPicPr>
        <p:blipFill>
          <a:blip r:embed="rId2"/>
          <a:stretch>
            <a:fillRect/>
          </a:stretch>
        </p:blipFill>
        <p:spPr>
          <a:xfrm>
            <a:off x="7315200" y="1828800"/>
            <a:ext cx="4114800" cy="549432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CNNs - Fundamentals</a:t>
            </a:r>
          </a:p>
        </p:txBody>
      </p:sp>
      <p:sp>
        <p:nvSpPr>
          <p:cNvPr id="3" name="Content Placeholder 2"/>
          <p:cNvSpPr>
            <a:spLocks noGrp="1"/>
          </p:cNvSpPr>
          <p:nvPr>
            <p:ph idx="1"/>
          </p:nvPr>
        </p:nvSpPr>
        <p:spPr/>
        <p:txBody>
          <a:bodyPr/>
          <a:lstStyle/>
          <a:p>
            <a:pPr>
              <a:defRPr sz="2000">
                <a:solidFill>
                  <a:srgbClr val="444444"/>
                </a:solidFill>
              </a:defRPr>
            </a:pPr>
            <a:r>
              <a:t>CNNs utilize convolutional layers for image processing</a:t>
            </a:r>
          </a:p>
          <a:p>
            <a:pPr>
              <a:defRPr sz="2000">
                <a:solidFill>
                  <a:srgbClr val="444444"/>
                </a:solidFill>
              </a:defRPr>
            </a:pPr>
            <a:r>
              <a:t>Convolutional layers apply filters to small image regions</a:t>
            </a:r>
          </a:p>
          <a:p>
            <a:pPr>
              <a:defRPr sz="2000">
                <a:solidFill>
                  <a:srgbClr val="444444"/>
                </a:solidFill>
              </a:defRPr>
            </a:pPr>
            <a:r>
              <a:t>Filters detect edges, lines, and shapes in images</a:t>
            </a:r>
          </a:p>
          <a:p>
            <a:pPr>
              <a:defRPr sz="2000">
                <a:solidFill>
                  <a:srgbClr val="444444"/>
                </a:solidFill>
              </a:defRPr>
            </a:pPr>
            <a:r>
              <a:t>Pooling layers reduce spatial dimensions of feature maps</a:t>
            </a:r>
          </a:p>
          <a:p>
            <a:pPr>
              <a:defRPr sz="2000">
                <a:solidFill>
                  <a:srgbClr val="444444"/>
                </a:solidFill>
              </a:defRPr>
            </a:pPr>
            <a:r>
              <a:t>Fully connected layers classify images based on features</a:t>
            </a:r>
          </a:p>
          <a:p>
            <a:pPr>
              <a:defRPr sz="2000">
                <a:solidFill>
                  <a:srgbClr val="444444"/>
                </a:solidFill>
              </a:defRPr>
            </a:pPr>
            <a:r>
              <a:t>Activation functions introduce non-linearity to models</a:t>
            </a:r>
          </a:p>
          <a:p>
            <a:pPr>
              <a:defRPr sz="2000">
                <a:solidFill>
                  <a:srgbClr val="444444"/>
                </a:solidFill>
              </a:defRPr>
            </a:pPr>
            <a:r>
              <a:t>ReLU is a commonly used activation function</a:t>
            </a:r>
          </a:p>
          <a:p>
            <a:pPr>
              <a:defRPr sz="2000">
                <a:solidFill>
                  <a:srgbClr val="444444"/>
                </a:solidFill>
              </a:defRPr>
            </a:pPr>
            <a:r>
              <a:t>CNNs can be trained on large datasets like ImageNet</a:t>
            </a:r>
          </a:p>
          <a:p>
            <a:pPr>
              <a:defRPr sz="2000">
                <a:solidFill>
                  <a:srgbClr val="444444"/>
                </a:solidFill>
              </a:defRPr>
            </a:pPr>
            <a:r>
              <a:t>Transfer learning enables using pre-trained CNN models</a:t>
            </a:r>
          </a:p>
          <a:p>
            <a:pPr>
              <a:defRPr sz="2000">
                <a:solidFill>
                  <a:srgbClr val="444444"/>
                </a:solidFill>
              </a:defRPr>
            </a:pPr>
            <a:r>
              <a:t>y = σ(Wx + b) is a basic neural network equation</a:t>
            </a:r>
          </a:p>
        </p:txBody>
      </p:sp>
      <p:pic>
        <p:nvPicPr>
          <p:cNvPr id="4" name="Picture 3" descr="a2472722b8ce40cdbb701e489b52334b.jpeg"/>
          <p:cNvPicPr>
            <a:picLocks noChangeAspect="1"/>
          </p:cNvPicPr>
          <p:nvPr/>
        </p:nvPicPr>
        <p:blipFill>
          <a:blip r:embed="rId2"/>
          <a:stretch>
            <a:fillRect/>
          </a:stretch>
        </p:blipFill>
        <p:spPr>
          <a:xfrm>
            <a:off x="7315200" y="1828800"/>
            <a:ext cx="4114800" cy="204726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CNNs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(CNNs) are deep learning models</a:t>
            </a:r>
          </a:p>
          <a:p>
            <a:pPr>
              <a:defRPr sz="2000">
                <a:solidFill>
                  <a:srgbClr val="444444"/>
                </a:solidFill>
              </a:defRPr>
            </a:pPr>
            <a:r>
              <a:t>Inspired by human visual cortex structure and function</a:t>
            </a:r>
          </a:p>
          <a:p>
            <a:pPr>
              <a:defRPr sz="2000">
                <a:solidFill>
                  <a:srgbClr val="444444"/>
                </a:solidFill>
              </a:defRPr>
            </a:pPr>
            <a:r>
              <a:t>Used for image and video processing tasks</a:t>
            </a:r>
          </a:p>
          <a:p>
            <a:pPr>
              <a:defRPr sz="2000">
                <a:solidFill>
                  <a:srgbClr val="444444"/>
                </a:solidFill>
              </a:defRPr>
            </a:pPr>
            <a:r>
              <a:t>CNNs learn features from raw data automatically</a:t>
            </a:r>
          </a:p>
          <a:p>
            <a:pPr>
              <a:defRPr sz="2000">
                <a:solidFill>
                  <a:srgbClr val="444444"/>
                </a:solidFill>
              </a:defRPr>
            </a:pPr>
            <a:r>
              <a:t>Consist of convolutional and pooling layers</a:t>
            </a:r>
          </a:p>
          <a:p>
            <a:pPr>
              <a:defRPr sz="2000">
                <a:solidFill>
                  <a:srgbClr val="444444"/>
                </a:solidFill>
              </a:defRPr>
            </a:pPr>
            <a:r>
              <a:t>Activation functions introduce non-linearity</a:t>
            </a:r>
          </a:p>
          <a:p>
            <a:pPr>
              <a:defRPr sz="2000">
                <a:solidFill>
                  <a:srgbClr val="444444"/>
                </a:solidFill>
              </a:defRPr>
            </a:pPr>
            <a:r>
              <a:t>Optimized using backpropagation and stochastic gradient</a:t>
            </a:r>
          </a:p>
          <a:p>
            <a:pPr>
              <a:defRPr sz="2000">
                <a:solidFill>
                  <a:srgbClr val="444444"/>
                </a:solidFill>
              </a:defRPr>
            </a:pPr>
            <a:r>
              <a:t>Image classification is a primary application</a:t>
            </a:r>
          </a:p>
          <a:p>
            <a:pPr>
              <a:defRPr sz="2000">
                <a:solidFill>
                  <a:srgbClr val="444444"/>
                </a:solidFill>
              </a:defRPr>
            </a:pPr>
            <a:r>
              <a:t>Object detection and segmentation are also common</a:t>
            </a:r>
          </a:p>
        </p:txBody>
      </p:sp>
      <p:pic>
        <p:nvPicPr>
          <p:cNvPr id="4" name="Picture 3" descr="a2472722b8ce40cdbb701e489b52334b.jpeg"/>
          <p:cNvPicPr>
            <a:picLocks noChangeAspect="1"/>
          </p:cNvPicPr>
          <p:nvPr/>
        </p:nvPicPr>
        <p:blipFill>
          <a:blip r:embed="rId2"/>
          <a:stretch>
            <a:fillRect/>
          </a:stretch>
        </p:blipFill>
        <p:spPr>
          <a:xfrm>
            <a:off x="7315200" y="1828800"/>
            <a:ext cx="4114800" cy="204726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Operation - Introduction</a:t>
            </a:r>
          </a:p>
        </p:txBody>
      </p:sp>
      <p:sp>
        <p:nvSpPr>
          <p:cNvPr id="3" name="Content Placeholder 2"/>
          <p:cNvSpPr>
            <a:spLocks noGrp="1"/>
          </p:cNvSpPr>
          <p:nvPr>
            <p:ph idx="1"/>
          </p:nvPr>
        </p:nvSpPr>
        <p:spPr/>
        <p:txBody>
          <a:bodyPr/>
          <a:lstStyle/>
          <a:p>
            <a:pPr>
              <a:defRPr sz="2000">
                <a:solidFill>
                  <a:srgbClr val="444444"/>
                </a:solidFill>
              </a:defRPr>
            </a:pPr>
            <a:r>
              <a:t>Convolution operation combines images with filters</a:t>
            </a:r>
          </a:p>
          <a:p>
            <a:pPr>
              <a:defRPr sz="2000">
                <a:solidFill>
                  <a:srgbClr val="444444"/>
                </a:solidFill>
              </a:defRPr>
            </a:pPr>
            <a:r>
              <a:t>Extracts local features from small image regions</a:t>
            </a:r>
          </a:p>
          <a:p>
            <a:pPr>
              <a:defRPr sz="2000">
                <a:solidFill>
                  <a:srgbClr val="444444"/>
                </a:solidFill>
              </a:defRPr>
            </a:pPr>
            <a:r>
              <a:t>Used in image processing and deep learning</a:t>
            </a:r>
          </a:p>
          <a:p>
            <a:pPr>
              <a:defRPr sz="2000">
                <a:solidFill>
                  <a:srgbClr val="444444"/>
                </a:solidFill>
              </a:defRPr>
            </a:pPr>
            <a:r>
              <a:t>Enables spatial hierarchy of features</a:t>
            </a:r>
          </a:p>
          <a:p>
            <a:pPr>
              <a:defRPr sz="2000">
                <a:solidFill>
                  <a:srgbClr val="444444"/>
                </a:solidFill>
              </a:defRPr>
            </a:pPr>
            <a:r>
              <a:t>Robust to small transformations and distortions</a:t>
            </a:r>
          </a:p>
          <a:p>
            <a:pPr>
              <a:defRPr sz="2000">
                <a:solidFill>
                  <a:srgbClr val="444444"/>
                </a:solidFill>
              </a:defRPr>
            </a:pPr>
            <a:r>
              <a:t>Key component of convolutional neural networks</a:t>
            </a:r>
          </a:p>
          <a:p>
            <a:pPr>
              <a:defRPr sz="2000">
                <a:solidFill>
                  <a:srgbClr val="444444"/>
                </a:solidFill>
              </a:defRPr>
            </a:pPr>
            <a:r>
              <a:t>Applies filters to input data spatially</a:t>
            </a:r>
          </a:p>
          <a:p>
            <a:pPr>
              <a:defRPr sz="2000">
                <a:solidFill>
                  <a:srgbClr val="444444"/>
                </a:solidFill>
              </a:defRPr>
            </a:pPr>
            <a:r>
              <a:t>Preserves spatial relationships between data</a:t>
            </a:r>
          </a:p>
          <a:p>
            <a:pPr>
              <a:defRPr sz="2000">
                <a:solidFill>
                  <a:srgbClr val="444444"/>
                </a:solidFill>
              </a:defRPr>
            </a:pPr>
            <a:r>
              <a:t>Improves model performance and efficiency</a:t>
            </a:r>
          </a:p>
          <a:p>
            <a:pPr>
              <a:defRPr sz="2000">
                <a:solidFill>
                  <a:srgbClr val="444444"/>
                </a:solidFill>
              </a:defRPr>
            </a:pPr>
            <a:r>
              <a:t>Fundamental for computer vision tasks</a:t>
            </a:r>
          </a:p>
        </p:txBody>
      </p:sp>
      <p:pic>
        <p:nvPicPr>
          <p:cNvPr id="4" name="Picture 3" descr="e2f23dfe6bf443039a730d1b77c8030c.jpg"/>
          <p:cNvPicPr>
            <a:picLocks noChangeAspect="1"/>
          </p:cNvPicPr>
          <p:nvPr/>
        </p:nvPicPr>
        <p:blipFill>
          <a:blip r:embed="rId2"/>
          <a:stretch>
            <a:fillRect/>
          </a:stretch>
        </p:blipFill>
        <p:spPr>
          <a:xfrm>
            <a:off x="7315200" y="1828800"/>
            <a:ext cx="4114800" cy="492711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Operation - Introduction</a:t>
            </a:r>
          </a:p>
        </p:txBody>
      </p:sp>
      <p:sp>
        <p:nvSpPr>
          <p:cNvPr id="3" name="Content Placeholder 2"/>
          <p:cNvSpPr>
            <a:spLocks noGrp="1"/>
          </p:cNvSpPr>
          <p:nvPr>
            <p:ph idx="1"/>
          </p:nvPr>
        </p:nvSpPr>
        <p:spPr/>
        <p:txBody>
          <a:bodyPr/>
          <a:lstStyle/>
          <a:p>
            <a:pPr>
              <a:defRPr sz="2000">
                <a:solidFill>
                  <a:srgbClr val="444444"/>
                </a:solidFill>
              </a:defRPr>
            </a:pPr>
            <a:r>
              <a:t>Convolution operation combines images with filters</a:t>
            </a:r>
          </a:p>
          <a:p>
            <a:pPr>
              <a:defRPr sz="2000">
                <a:solidFill>
                  <a:srgbClr val="444444"/>
                </a:solidFill>
              </a:defRPr>
            </a:pPr>
            <a:r>
              <a:t>Filters detect edges, lines, and shapes in images</a:t>
            </a:r>
          </a:p>
          <a:p>
            <a:pPr>
              <a:defRPr sz="2000">
                <a:solidFill>
                  <a:srgbClr val="444444"/>
                </a:solidFill>
              </a:defRPr>
            </a:pPr>
            <a:r>
              <a:t>Convolution preserves spatial relationships between pixels</a:t>
            </a:r>
          </a:p>
          <a:p>
            <a:pPr>
              <a:defRPr sz="2000">
                <a:solidFill>
                  <a:srgbClr val="444444"/>
                </a:solidFill>
              </a:defRPr>
            </a:pPr>
            <a:r>
              <a:t>Stride and padding control output spatial dimensions</a:t>
            </a:r>
          </a:p>
          <a:p>
            <a:pPr>
              <a:defRPr sz="2000">
                <a:solidFill>
                  <a:srgbClr val="444444"/>
                </a:solidFill>
              </a:defRPr>
            </a:pPr>
            <a:r>
              <a:t>Convolution operation is translationally equivariant</a:t>
            </a:r>
          </a:p>
          <a:p>
            <a:pPr>
              <a:defRPr sz="2000">
                <a:solidFill>
                  <a:srgbClr val="444444"/>
                </a:solidFill>
              </a:defRPr>
            </a:pPr>
            <a:r>
              <a:t>It is a key component of convolutional neural networks</a:t>
            </a:r>
          </a:p>
          <a:p>
            <a:pPr>
              <a:defRPr sz="2000">
                <a:solidFill>
                  <a:srgbClr val="444444"/>
                </a:solidFill>
              </a:defRPr>
            </a:pPr>
            <a:r>
              <a:t>Used for image classification, object detection, segmentation</a:t>
            </a:r>
          </a:p>
          <a:p>
            <a:pPr>
              <a:defRPr sz="2000">
                <a:solidFill>
                  <a:srgbClr val="444444"/>
                </a:solidFill>
              </a:defRPr>
            </a:pPr>
            <a:r>
              <a:t>Convolution reduces spatial dimensions, retains features</a:t>
            </a:r>
          </a:p>
          <a:p>
            <a:pPr>
              <a:defRPr sz="2000">
                <a:solidFill>
                  <a:srgbClr val="444444"/>
                </a:solidFill>
              </a:defRPr>
            </a:pPr>
            <a:r>
              <a:t>Helps in extracting low-level features from images</a:t>
            </a:r>
          </a:p>
          <a:p>
            <a:pPr>
              <a:defRPr sz="2000">
                <a:solidFill>
                  <a:srgbClr val="444444"/>
                </a:solidFill>
              </a:defRPr>
            </a:pPr>
            <a:r>
              <a:t>Enables neural networks to learn hierarchical representations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Operation - Introduction</a:t>
            </a:r>
          </a:p>
        </p:txBody>
      </p:sp>
      <p:sp>
        <p:nvSpPr>
          <p:cNvPr id="3" name="Content Placeholder 2"/>
          <p:cNvSpPr>
            <a:spLocks noGrp="1"/>
          </p:cNvSpPr>
          <p:nvPr>
            <p:ph idx="1"/>
          </p:nvPr>
        </p:nvSpPr>
        <p:spPr/>
        <p:txBody>
          <a:bodyPr/>
          <a:lstStyle/>
          <a:p>
            <a:pPr>
              <a:defRPr sz="2000">
                <a:solidFill>
                  <a:srgbClr val="444444"/>
                </a:solidFill>
              </a:defRPr>
            </a:pPr>
            <a:r>
              <a:t>Convolution operation is a fundamental concept in deep learning</a:t>
            </a:r>
          </a:p>
          <a:p>
            <a:pPr>
              <a:defRPr sz="2000">
                <a:solidFill>
                  <a:srgbClr val="444444"/>
                </a:solidFill>
              </a:defRPr>
            </a:pPr>
            <a:r>
              <a:t>It involves sliding filters over input data to extract features</a:t>
            </a:r>
          </a:p>
          <a:p>
            <a:pPr>
              <a:defRPr sz="2000">
                <a:solidFill>
                  <a:srgbClr val="444444"/>
                </a:solidFill>
              </a:defRPr>
            </a:pPr>
            <a:r>
              <a:t>Convolutional neural networks use convolution operation extensively</a:t>
            </a:r>
          </a:p>
          <a:p>
            <a:pPr>
              <a:defRPr sz="2000">
                <a:solidFill>
                  <a:srgbClr val="444444"/>
                </a:solidFill>
              </a:defRPr>
            </a:pPr>
            <a:r>
              <a:t>Input data can be images, videos, or audio signals</a:t>
            </a:r>
          </a:p>
          <a:p>
            <a:pPr>
              <a:defRPr sz="2000">
                <a:solidFill>
                  <a:srgbClr val="444444"/>
                </a:solidFill>
              </a:defRPr>
            </a:pPr>
            <a:r>
              <a:t>Filters are small matrices that scan input data</a:t>
            </a:r>
          </a:p>
          <a:p>
            <a:pPr>
              <a:defRPr sz="2000">
                <a:solidFill>
                  <a:srgbClr val="444444"/>
                </a:solidFill>
              </a:defRPr>
            </a:pPr>
            <a:r>
              <a:t>Feature maps are generated by applying filters to input data</a:t>
            </a:r>
          </a:p>
          <a:p>
            <a:pPr>
              <a:defRPr sz="2000">
                <a:solidFill>
                  <a:srgbClr val="444444"/>
                </a:solidFill>
              </a:defRPr>
            </a:pPr>
            <a:r>
              <a:t>Convolution operation reduces spatial dimensions of data</a:t>
            </a:r>
          </a:p>
          <a:p>
            <a:pPr>
              <a:defRPr sz="2000">
                <a:solidFill>
                  <a:srgbClr val="444444"/>
                </a:solidFill>
              </a:defRPr>
            </a:pPr>
            <a:r>
              <a:t>It helps in extracting local patterns and features from data</a:t>
            </a:r>
          </a:p>
          <a:p>
            <a:pPr>
              <a:defRPr sz="2000">
                <a:solidFill>
                  <a:srgbClr val="444444"/>
                </a:solidFill>
              </a:defRPr>
            </a:pPr>
            <a:r>
              <a:t>Convolution operation is followed by pooling and activation</a:t>
            </a:r>
          </a:p>
          <a:p>
            <a:pPr>
              <a:defRPr sz="2000">
                <a:solidFill>
                  <a:srgbClr val="444444"/>
                </a:solidFill>
              </a:defRPr>
            </a:pPr>
            <a:r>
              <a:t>y = σ(w*x + b) is a simple equation for convolution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Pooling Layers - Introduction</a:t>
            </a:r>
          </a:p>
        </p:txBody>
      </p:sp>
      <p:sp>
        <p:nvSpPr>
          <p:cNvPr id="3" name="Content Placeholder 2"/>
          <p:cNvSpPr>
            <a:spLocks noGrp="1"/>
          </p:cNvSpPr>
          <p:nvPr>
            <p:ph idx="1"/>
          </p:nvPr>
        </p:nvSpPr>
        <p:spPr/>
        <p:txBody>
          <a:bodyPr/>
          <a:lstStyle/>
          <a:p>
            <a:pPr>
              <a:defRPr sz="2000">
                <a:solidFill>
                  <a:srgbClr val="444444"/>
                </a:solidFill>
              </a:defRPr>
            </a:pPr>
            <a:r>
              <a:t>Reduce spatial dimensions of data with pooling layers</a:t>
            </a:r>
          </a:p>
          <a:p>
            <a:pPr>
              <a:defRPr sz="2000">
                <a:solidFill>
                  <a:srgbClr val="444444"/>
                </a:solidFill>
              </a:defRPr>
            </a:pPr>
            <a:r>
              <a:t>Downsample feature maps to decrease parameters</a:t>
            </a:r>
          </a:p>
          <a:p>
            <a:pPr>
              <a:defRPr sz="2000">
                <a:solidFill>
                  <a:srgbClr val="444444"/>
                </a:solidFill>
              </a:defRPr>
            </a:pPr>
            <a:r>
              <a:t>Helps prevent overfitting in deep neural networks</a:t>
            </a:r>
          </a:p>
          <a:p>
            <a:pPr>
              <a:defRPr sz="2000">
                <a:solidFill>
                  <a:srgbClr val="444444"/>
                </a:solidFill>
              </a:defRPr>
            </a:pPr>
            <a:r>
              <a:t>Improves translation invariance in images</a:t>
            </a:r>
          </a:p>
          <a:p>
            <a:pPr>
              <a:defRPr sz="2000">
                <a:solidFill>
                  <a:srgbClr val="444444"/>
                </a:solidFill>
              </a:defRPr>
            </a:pPr>
            <a:r>
              <a:t>Max pooling and average pooling are common types</a:t>
            </a:r>
          </a:p>
          <a:p>
            <a:pPr>
              <a:defRPr sz="2000">
                <a:solidFill>
                  <a:srgbClr val="444444"/>
                </a:solidFill>
              </a:defRPr>
            </a:pPr>
            <a:r>
              <a:t>Max pooling selects maximum value in each window</a:t>
            </a:r>
          </a:p>
          <a:p>
            <a:pPr>
              <a:defRPr sz="2000">
                <a:solidFill>
                  <a:srgbClr val="444444"/>
                </a:solidFill>
              </a:defRPr>
            </a:pPr>
            <a:r>
              <a:t>Average pooling calculates mean value in each window</a:t>
            </a:r>
          </a:p>
          <a:p>
            <a:pPr>
              <a:defRPr sz="2000">
                <a:solidFill>
                  <a:srgbClr val="444444"/>
                </a:solidFill>
              </a:defRPr>
            </a:pPr>
            <a:r>
              <a:t>Pooling layers are typically used after convolutional layers</a:t>
            </a:r>
          </a:p>
          <a:p>
            <a:pPr>
              <a:defRPr sz="2000">
                <a:solidFill>
                  <a:srgbClr val="444444"/>
                </a:solidFill>
              </a:defRPr>
            </a:pPr>
            <a:r>
              <a:t>Enhance robustness to small transformations in data</a:t>
            </a:r>
          </a:p>
          <a:p>
            <a:pPr>
              <a:defRPr sz="2000">
                <a:solidFill>
                  <a:srgbClr val="444444"/>
                </a:solidFill>
              </a:defRPr>
            </a:pPr>
            <a:r>
              <a:t>Used in image classification, object detection tasks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Pooling Layers - Introduction</a:t>
            </a:r>
          </a:p>
        </p:txBody>
      </p:sp>
      <p:sp>
        <p:nvSpPr>
          <p:cNvPr id="3" name="Content Placeholder 2"/>
          <p:cNvSpPr>
            <a:spLocks noGrp="1"/>
          </p:cNvSpPr>
          <p:nvPr>
            <p:ph idx="1"/>
          </p:nvPr>
        </p:nvSpPr>
        <p:spPr/>
        <p:txBody>
          <a:bodyPr/>
          <a:lstStyle/>
          <a:p>
            <a:pPr>
              <a:defRPr sz="2000">
                <a:solidFill>
                  <a:srgbClr val="444444"/>
                </a:solidFill>
              </a:defRPr>
            </a:pPr>
            <a:r>
              <a:t>Reducing spatial dimensions of data using pooling layers</a:t>
            </a:r>
          </a:p>
          <a:p>
            <a:pPr>
              <a:defRPr sz="2000">
                <a:solidFill>
                  <a:srgbClr val="444444"/>
                </a:solidFill>
              </a:defRPr>
            </a:pPr>
            <a:r>
              <a:t>Downsampling feature maps to retain key information</a:t>
            </a:r>
          </a:p>
          <a:p>
            <a:pPr>
              <a:defRPr sz="2000">
                <a:solidFill>
                  <a:srgbClr val="444444"/>
                </a:solidFill>
              </a:defRPr>
            </a:pPr>
            <a:r>
              <a:t>Helping prevent overfitting in deep neural networks</a:t>
            </a:r>
          </a:p>
          <a:p>
            <a:pPr>
              <a:defRPr sz="2000">
                <a:solidFill>
                  <a:srgbClr val="444444"/>
                </a:solidFill>
              </a:defRPr>
            </a:pPr>
            <a:r>
              <a:t>Pool size and stride determine output dimensions</a:t>
            </a:r>
          </a:p>
          <a:p>
            <a:pPr>
              <a:defRPr sz="2000">
                <a:solidFill>
                  <a:srgbClr val="444444"/>
                </a:solidFill>
              </a:defRPr>
            </a:pPr>
            <a:r>
              <a:t>Max pooling extracts maximum value from each region</a:t>
            </a:r>
          </a:p>
          <a:p>
            <a:pPr>
              <a:defRPr sz="2000">
                <a:solidFill>
                  <a:srgbClr val="444444"/>
                </a:solidFill>
              </a:defRPr>
            </a:pPr>
            <a:r>
              <a:t>Average pooling calculates mean value from each region</a:t>
            </a:r>
          </a:p>
          <a:p>
            <a:pPr>
              <a:defRPr sz="2000">
                <a:solidFill>
                  <a:srgbClr val="444444"/>
                </a:solidFill>
              </a:defRPr>
            </a:pPr>
            <a:r>
              <a:t>Min pooling finds minimum value in each region</a:t>
            </a:r>
          </a:p>
          <a:p>
            <a:pPr>
              <a:defRPr sz="2000">
                <a:solidFill>
                  <a:srgbClr val="444444"/>
                </a:solidFill>
              </a:defRPr>
            </a:pPr>
            <a:r>
              <a:t>Pooling layers are typically applied after convolutional layers</a:t>
            </a:r>
          </a:p>
          <a:p>
            <a:pPr>
              <a:defRPr sz="2000">
                <a:solidFill>
                  <a:srgbClr val="444444"/>
                </a:solidFill>
              </a:defRPr>
            </a:pPr>
            <a:r>
              <a:t>Improving translation invariance in convolutional neural networks</a:t>
            </a:r>
          </a:p>
          <a:p>
            <a:pPr>
              <a:defRPr sz="2000">
                <a:solidFill>
                  <a:srgbClr val="444444"/>
                </a:solidFill>
              </a:defRPr>
            </a:pPr>
            <a:r>
              <a:t>Enhancing robustness to small transformations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Pooling Layers - Introduction</a:t>
            </a:r>
          </a:p>
        </p:txBody>
      </p:sp>
      <p:sp>
        <p:nvSpPr>
          <p:cNvPr id="3" name="Content Placeholder 2"/>
          <p:cNvSpPr>
            <a:spLocks noGrp="1"/>
          </p:cNvSpPr>
          <p:nvPr>
            <p:ph idx="1"/>
          </p:nvPr>
        </p:nvSpPr>
        <p:spPr/>
        <p:txBody>
          <a:bodyPr/>
          <a:lstStyle/>
          <a:p>
            <a:pPr>
              <a:defRPr sz="2000">
                <a:solidFill>
                  <a:srgbClr val="444444"/>
                </a:solidFill>
              </a:defRPr>
            </a:pPr>
            <a:r>
              <a:t>Reduces spatial dimensions of data, retaining key features.</a:t>
            </a:r>
          </a:p>
          <a:p>
            <a:pPr>
              <a:defRPr sz="2000">
                <a:solidFill>
                  <a:srgbClr val="444444"/>
                </a:solidFill>
              </a:defRPr>
            </a:pPr>
            <a:r>
              <a:t>Helps prevent overfitting by reducing parameters.</a:t>
            </a:r>
          </a:p>
          <a:p>
            <a:pPr>
              <a:defRPr sz="2000">
                <a:solidFill>
                  <a:srgbClr val="444444"/>
                </a:solidFill>
              </a:defRPr>
            </a:pPr>
            <a:r>
              <a:t>Downsamples data, decreasing computational cost.</a:t>
            </a:r>
          </a:p>
          <a:p>
            <a:pPr>
              <a:defRPr sz="2000">
                <a:solidFill>
                  <a:srgbClr val="444444"/>
                </a:solidFill>
              </a:defRPr>
            </a:pPr>
            <a:r>
              <a:t>Max pooling extracts maximum value from regions.</a:t>
            </a:r>
          </a:p>
          <a:p>
            <a:pPr>
              <a:defRPr sz="2000">
                <a:solidFill>
                  <a:srgbClr val="444444"/>
                </a:solidFill>
              </a:defRPr>
            </a:pPr>
            <a:r>
              <a:t>Average pooling extracts average value from regions.</a:t>
            </a:r>
          </a:p>
          <a:p>
            <a:pPr>
              <a:defRPr sz="2000">
                <a:solidFill>
                  <a:srgbClr val="444444"/>
                </a:solidFill>
              </a:defRPr>
            </a:pPr>
            <a:r>
              <a:t>Global pooling reduces data to single value.</a:t>
            </a:r>
          </a:p>
          <a:p>
            <a:pPr>
              <a:defRPr sz="2000">
                <a:solidFill>
                  <a:srgbClr val="444444"/>
                </a:solidFill>
              </a:defRPr>
            </a:pPr>
            <a:r>
              <a:t>Used in convolutional neural networks (CNNs).</a:t>
            </a:r>
          </a:p>
          <a:p>
            <a:pPr>
              <a:defRPr sz="2000">
                <a:solidFill>
                  <a:srgbClr val="444444"/>
                </a:solidFill>
              </a:defRPr>
            </a:pPr>
            <a:r>
              <a:t>Improves translation invariance of models.</a:t>
            </a:r>
          </a:p>
          <a:p>
            <a:pPr>
              <a:defRPr sz="2000">
                <a:solidFill>
                  <a:srgbClr val="444444"/>
                </a:solidFill>
              </a:defRPr>
            </a:pPr>
            <a:r>
              <a:t>Enhances robustness to small transformations.</a:t>
            </a:r>
          </a:p>
          <a:p>
            <a:pPr>
              <a:defRPr sz="2000">
                <a:solidFill>
                  <a:srgbClr val="444444"/>
                </a:solidFill>
              </a:defRPr>
            </a:pPr>
            <a:r>
              <a:t>Supports real-time image processing applications.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 Architecture Example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(CNNs) for image classification</a:t>
            </a:r>
          </a:p>
          <a:p>
            <a:pPr>
              <a:defRPr sz="2000">
                <a:solidFill>
                  <a:srgbClr val="444444"/>
                </a:solidFill>
              </a:defRPr>
            </a:pPr>
            <a:r>
              <a:t>CNNs utilize convolutional and pooling layers</a:t>
            </a:r>
          </a:p>
          <a:p>
            <a:pPr>
              <a:defRPr sz="2000">
                <a:solidFill>
                  <a:srgbClr val="444444"/>
                </a:solidFill>
              </a:defRPr>
            </a:pPr>
            <a:r>
              <a:t>LeNet-5: early CNN architecture example</a:t>
            </a:r>
          </a:p>
          <a:p>
            <a:pPr>
              <a:defRPr sz="2000">
                <a:solidFill>
                  <a:srgbClr val="444444"/>
                </a:solidFill>
              </a:defRPr>
            </a:pPr>
            <a:r>
              <a:t>AlexNet: large-scale CNN with deep layers</a:t>
            </a:r>
          </a:p>
          <a:p>
            <a:pPr>
              <a:defRPr sz="2000">
                <a:solidFill>
                  <a:srgbClr val="444444"/>
                </a:solidFill>
              </a:defRPr>
            </a:pPr>
            <a:r>
              <a:t>VGGNet: CNN with small convolutional filters</a:t>
            </a:r>
          </a:p>
          <a:p>
            <a:pPr>
              <a:defRPr sz="2000">
                <a:solidFill>
                  <a:srgbClr val="444444"/>
                </a:solidFill>
              </a:defRPr>
            </a:pPr>
            <a:r>
              <a:t>ResNet: residual learning for deep CNNs</a:t>
            </a:r>
          </a:p>
          <a:p>
            <a:pPr>
              <a:defRPr sz="2000">
                <a:solidFill>
                  <a:srgbClr val="444444"/>
                </a:solidFill>
              </a:defRPr>
            </a:pPr>
            <a:r>
              <a:t>CNNs apply y = σ(Wx + b) activation function</a:t>
            </a:r>
          </a:p>
          <a:p>
            <a:pPr>
              <a:defRPr sz="2000">
                <a:solidFill>
                  <a:srgbClr val="444444"/>
                </a:solidFill>
              </a:defRPr>
            </a:pPr>
            <a:r>
              <a:t>Image processing with CNNs is efficient</a:t>
            </a:r>
          </a:p>
          <a:p>
            <a:pPr>
              <a:defRPr sz="2000">
                <a:solidFill>
                  <a:srgbClr val="444444"/>
                </a:solidFill>
              </a:defRPr>
            </a:pPr>
            <a:r>
              <a:t>CNNs have various applications in computer vision</a:t>
            </a:r>
          </a:p>
          <a:p>
            <a:pPr>
              <a:defRPr sz="2000">
                <a:solidFill>
                  <a:srgbClr val="444444"/>
                </a:solidFill>
              </a:defRPr>
            </a:pPr>
            <a:r>
              <a:t>Deep learning frameworks support CNN implementation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 Architecture Example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(CNNs) for image classification</a:t>
            </a:r>
          </a:p>
          <a:p>
            <a:pPr>
              <a:defRPr sz="2000">
                <a:solidFill>
                  <a:srgbClr val="444444"/>
                </a:solidFill>
              </a:defRPr>
            </a:pPr>
            <a:r>
              <a:t>Image processing using convolutional and pooling layers</a:t>
            </a:r>
          </a:p>
          <a:p>
            <a:pPr>
              <a:defRPr sz="2000">
                <a:solidFill>
                  <a:srgbClr val="444444"/>
                </a:solidFill>
              </a:defRPr>
            </a:pPr>
            <a:r>
              <a:t>Feature extraction through convolution and activation functions</a:t>
            </a:r>
          </a:p>
          <a:p>
            <a:pPr>
              <a:defRPr sz="2000">
                <a:solidFill>
                  <a:srgbClr val="444444"/>
                </a:solidFill>
              </a:defRPr>
            </a:pPr>
            <a:r>
              <a:t>LeNet-5: early CNN architecture example for digit recognition</a:t>
            </a:r>
          </a:p>
          <a:p>
            <a:pPr>
              <a:defRPr sz="2000">
                <a:solidFill>
                  <a:srgbClr val="444444"/>
                </a:solidFill>
              </a:defRPr>
            </a:pPr>
            <a:r>
              <a:t>AlexNet: large-scale CNN for ImageNet classification</a:t>
            </a:r>
          </a:p>
          <a:p>
            <a:pPr>
              <a:defRPr sz="2000">
                <a:solidFill>
                  <a:srgbClr val="444444"/>
                </a:solidFill>
              </a:defRPr>
            </a:pPr>
            <a:r>
              <a:t>VGGNet: deep CNN with small convolutional filters</a:t>
            </a:r>
          </a:p>
          <a:p>
            <a:pPr>
              <a:defRPr sz="2000">
                <a:solidFill>
                  <a:srgbClr val="444444"/>
                </a:solidFill>
              </a:defRPr>
            </a:pPr>
            <a:r>
              <a:t>ResNet: residual learning for deep CNNs</a:t>
            </a:r>
          </a:p>
          <a:p>
            <a:pPr>
              <a:defRPr sz="2000">
                <a:solidFill>
                  <a:srgbClr val="444444"/>
                </a:solidFill>
              </a:defRPr>
            </a:pPr>
            <a:r>
              <a:t>Batch normalization for stable training</a:t>
            </a:r>
          </a:p>
          <a:p>
            <a:pPr>
              <a:defRPr sz="2000">
                <a:solidFill>
                  <a:srgbClr val="444444"/>
                </a:solidFill>
              </a:defRPr>
            </a:pPr>
            <a:r>
              <a:t>ReLU activation for non-linear transformations</a:t>
            </a:r>
          </a:p>
          <a:p>
            <a:pPr>
              <a:defRPr sz="2000">
                <a:solidFill>
                  <a:srgbClr val="444444"/>
                </a:solidFill>
              </a:defRPr>
            </a:pPr>
            <a:r>
              <a:t>y = σ(Wx + b) for neural network equations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 Architecture Example - Applications</a:t>
            </a:r>
          </a:p>
        </p:txBody>
      </p:sp>
      <p:sp>
        <p:nvSpPr>
          <p:cNvPr id="3" name="Content Placeholder 2"/>
          <p:cNvSpPr>
            <a:spLocks noGrp="1"/>
          </p:cNvSpPr>
          <p:nvPr>
            <p:ph idx="1"/>
          </p:nvPr>
        </p:nvSpPr>
        <p:spPr/>
        <p:txBody>
          <a:bodyPr/>
          <a:lstStyle/>
          <a:p>
            <a:pPr>
              <a:defRPr sz="2000">
                <a:solidFill>
                  <a:srgbClr val="444444"/>
                </a:solidFill>
              </a:defRPr>
            </a:pPr>
            <a:r>
              <a:t>Image classification with convolutional layers</a:t>
            </a:r>
          </a:p>
          <a:p>
            <a:pPr>
              <a:defRPr sz="2000">
                <a:solidFill>
                  <a:srgbClr val="444444"/>
                </a:solidFill>
              </a:defRPr>
            </a:pPr>
            <a:r>
              <a:t>Object detection using YOLO and SSD</a:t>
            </a:r>
          </a:p>
          <a:p>
            <a:pPr>
              <a:defRPr sz="2000">
                <a:solidFill>
                  <a:srgbClr val="444444"/>
                </a:solidFill>
              </a:defRPr>
            </a:pPr>
            <a:r>
              <a:t>Segmentation with U-Net architecture</a:t>
            </a:r>
          </a:p>
          <a:p>
            <a:pPr>
              <a:defRPr sz="2000">
                <a:solidFill>
                  <a:srgbClr val="444444"/>
                </a:solidFill>
              </a:defRPr>
            </a:pPr>
            <a:r>
              <a:t>Image generation with GANs and CNNs</a:t>
            </a:r>
          </a:p>
          <a:p>
            <a:pPr>
              <a:defRPr sz="2000">
                <a:solidFill>
                  <a:srgbClr val="444444"/>
                </a:solidFill>
              </a:defRPr>
            </a:pPr>
            <a:r>
              <a:t>Facial recognition with deep CNNs</a:t>
            </a:r>
          </a:p>
          <a:p>
            <a:pPr>
              <a:defRPr sz="2000">
                <a:solidFill>
                  <a:srgbClr val="444444"/>
                </a:solidFill>
              </a:defRPr>
            </a:pPr>
            <a:r>
              <a:t>Medical imaging analysis with CNNs</a:t>
            </a:r>
          </a:p>
          <a:p>
            <a:pPr>
              <a:defRPr sz="2000">
                <a:solidFill>
                  <a:srgbClr val="444444"/>
                </a:solidFill>
              </a:defRPr>
            </a:pPr>
            <a:r>
              <a:t>Autonomous vehicles with CNN-based perception</a:t>
            </a:r>
          </a:p>
          <a:p>
            <a:pPr>
              <a:defRPr sz="2000">
                <a:solidFill>
                  <a:srgbClr val="444444"/>
                </a:solidFill>
              </a:defRPr>
            </a:pPr>
            <a:r>
              <a:t>Robotics and control with CNN-based vision</a:t>
            </a:r>
          </a:p>
          <a:p>
            <a:pPr>
              <a:defRPr sz="2000">
                <a:solidFill>
                  <a:srgbClr val="444444"/>
                </a:solidFill>
              </a:defRPr>
            </a:pPr>
            <a:r>
              <a:t>Surveillance and security with CNNs</a:t>
            </a:r>
          </a:p>
          <a:p>
            <a:pPr>
              <a:defRPr sz="2000">
                <a:solidFill>
                  <a:srgbClr val="444444"/>
                </a:solidFill>
              </a:defRPr>
            </a:pPr>
            <a:r>
              <a:t>y = σ(Wx + b) for activation functions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of CNNs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for image classification</a:t>
            </a:r>
          </a:p>
          <a:p>
            <a:pPr>
              <a:defRPr sz="2000">
                <a:solidFill>
                  <a:srgbClr val="444444"/>
                </a:solidFill>
              </a:defRPr>
            </a:pPr>
            <a:r>
              <a:t>Object detection using CNNs and YOLO algorithm</a:t>
            </a:r>
          </a:p>
          <a:p>
            <a:pPr>
              <a:defRPr sz="2000">
                <a:solidFill>
                  <a:srgbClr val="444444"/>
                </a:solidFill>
              </a:defRPr>
            </a:pPr>
            <a:r>
              <a:t>Image segmentation with CNNs and U-Net architecture</a:t>
            </a:r>
          </a:p>
          <a:p>
            <a:pPr>
              <a:defRPr sz="2000">
                <a:solidFill>
                  <a:srgbClr val="444444"/>
                </a:solidFill>
              </a:defRPr>
            </a:pPr>
            <a:r>
              <a:t>CNNs for natural language processing and text analysis</a:t>
            </a:r>
          </a:p>
          <a:p>
            <a:pPr>
              <a:defRPr sz="2000">
                <a:solidFill>
                  <a:srgbClr val="444444"/>
                </a:solidFill>
              </a:defRPr>
            </a:pPr>
            <a:r>
              <a:t>Applications in self-driving cars and robotics</a:t>
            </a:r>
          </a:p>
          <a:p>
            <a:pPr>
              <a:defRPr sz="2000">
                <a:solidFill>
                  <a:srgbClr val="444444"/>
                </a:solidFill>
              </a:defRPr>
            </a:pPr>
            <a:r>
              <a:t>Medical imaging analysis using CNNs and deep learning</a:t>
            </a:r>
          </a:p>
          <a:p>
            <a:pPr>
              <a:defRPr sz="2000">
                <a:solidFill>
                  <a:srgbClr val="444444"/>
                </a:solidFill>
              </a:defRPr>
            </a:pPr>
            <a:r>
              <a:t>Facial recognition and security systems using CNNs</a:t>
            </a:r>
          </a:p>
          <a:p>
            <a:pPr>
              <a:defRPr sz="2000">
                <a:solidFill>
                  <a:srgbClr val="444444"/>
                </a:solidFill>
              </a:defRPr>
            </a:pPr>
            <a:r>
              <a:t>CNNs for recommender systems and predictive modeling</a:t>
            </a:r>
          </a:p>
          <a:p>
            <a:pPr>
              <a:defRPr sz="2000">
                <a:solidFill>
                  <a:srgbClr val="444444"/>
                </a:solidFill>
              </a:defRPr>
            </a:pPr>
            <a:r>
              <a:t>Real-time object tracking using CNNs and Kalman filter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of CNNs - Introduction</a:t>
            </a:r>
          </a:p>
        </p:txBody>
      </p:sp>
      <p:sp>
        <p:nvSpPr>
          <p:cNvPr id="3" name="Content Placeholder 2"/>
          <p:cNvSpPr>
            <a:spLocks noGrp="1"/>
          </p:cNvSpPr>
          <p:nvPr>
            <p:ph idx="1"/>
          </p:nvPr>
        </p:nvSpPr>
        <p:spPr/>
        <p:txBody>
          <a:bodyPr/>
          <a:lstStyle/>
          <a:p>
            <a:pPr>
              <a:defRPr sz="2000">
                <a:solidFill>
                  <a:srgbClr val="444444"/>
                </a:solidFill>
              </a:defRPr>
            </a:pPr>
            <a:r>
              <a:t>Image classification with CNNs achieves high accuracy</a:t>
            </a:r>
          </a:p>
          <a:p>
            <a:pPr>
              <a:defRPr sz="2000">
                <a:solidFill>
                  <a:srgbClr val="444444"/>
                </a:solidFill>
              </a:defRPr>
            </a:pPr>
            <a:r>
              <a:t>Object detection in images and videos is a key application</a:t>
            </a:r>
          </a:p>
          <a:p>
            <a:pPr>
              <a:defRPr sz="2000">
                <a:solidFill>
                  <a:srgbClr val="444444"/>
                </a:solidFill>
              </a:defRPr>
            </a:pPr>
            <a:r>
              <a:t>Segmentation of images for medical diagnosis purposes</a:t>
            </a:r>
          </a:p>
          <a:p>
            <a:pPr>
              <a:defRPr sz="2000">
                <a:solidFill>
                  <a:srgbClr val="444444"/>
                </a:solidFill>
              </a:defRPr>
            </a:pPr>
            <a:r>
              <a:t>CNNs used in self-driving cars for scene understanding</a:t>
            </a:r>
          </a:p>
          <a:p>
            <a:pPr>
              <a:defRPr sz="2000">
                <a:solidFill>
                  <a:srgbClr val="444444"/>
                </a:solidFill>
              </a:defRPr>
            </a:pPr>
            <a:r>
              <a:t>Facial recognition systems rely on CNNs for identification</a:t>
            </a:r>
          </a:p>
          <a:p>
            <a:pPr>
              <a:defRPr sz="2000">
                <a:solidFill>
                  <a:srgbClr val="444444"/>
                </a:solidFill>
              </a:defRPr>
            </a:pPr>
            <a:r>
              <a:t>Image generation and style transfer using CNNs</a:t>
            </a:r>
          </a:p>
          <a:p>
            <a:pPr>
              <a:defRPr sz="2000">
                <a:solidFill>
                  <a:srgbClr val="444444"/>
                </a:solidFill>
              </a:defRPr>
            </a:pPr>
            <a:r>
              <a:t>CNNs applied in natural language processing tasks</a:t>
            </a:r>
          </a:p>
          <a:p>
            <a:pPr>
              <a:defRPr sz="2000">
                <a:solidFill>
                  <a:srgbClr val="444444"/>
                </a:solidFill>
              </a:defRPr>
            </a:pPr>
            <a:r>
              <a:t>Medical image analysis for disease diagnosis and treatment</a:t>
            </a:r>
          </a:p>
          <a:p>
            <a:pPr>
              <a:defRPr sz="2000">
                <a:solidFill>
                  <a:srgbClr val="444444"/>
                </a:solidFill>
              </a:defRPr>
            </a:pPr>
            <a:r>
              <a:t>Surveillance systems utilizing CNNs for anomaly detection</a:t>
            </a:r>
          </a:p>
          <a:p>
            <a:pPr>
              <a:defRPr sz="2000">
                <a:solidFill>
                  <a:srgbClr val="444444"/>
                </a:solidFill>
              </a:defRPr>
            </a:pPr>
            <a:r>
              <a:t>Robotics and autonomous systems using CNNs for navigation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of CNNs - Computer Vision</a:t>
            </a:r>
          </a:p>
        </p:txBody>
      </p:sp>
      <p:sp>
        <p:nvSpPr>
          <p:cNvPr id="3" name="Content Placeholder 2"/>
          <p:cNvSpPr>
            <a:spLocks noGrp="1"/>
          </p:cNvSpPr>
          <p:nvPr>
            <p:ph idx="1"/>
          </p:nvPr>
        </p:nvSpPr>
        <p:spPr/>
        <p:txBody>
          <a:bodyPr/>
          <a:lstStyle/>
          <a:p>
            <a:pPr>
              <a:defRPr sz="2000">
                <a:solidFill>
                  <a:srgbClr val="444444"/>
                </a:solidFill>
              </a:defRPr>
            </a:pPr>
            <a:r>
              <a:t>Image classification using CNNs for object detection</a:t>
            </a:r>
          </a:p>
          <a:p>
            <a:pPr>
              <a:defRPr sz="2000">
                <a:solidFill>
                  <a:srgbClr val="444444"/>
                </a:solidFill>
              </a:defRPr>
            </a:pPr>
            <a:r>
              <a:t>Face recognition systems with deep learning</a:t>
            </a:r>
          </a:p>
          <a:p>
            <a:pPr>
              <a:defRPr sz="2000">
                <a:solidFill>
                  <a:srgbClr val="444444"/>
                </a:solidFill>
              </a:defRPr>
            </a:pPr>
            <a:r>
              <a:t>Scene understanding and image segmentation</a:t>
            </a:r>
          </a:p>
          <a:p>
            <a:pPr>
              <a:defRPr sz="2000">
                <a:solidFill>
                  <a:srgbClr val="444444"/>
                </a:solidFill>
              </a:defRPr>
            </a:pPr>
            <a:r>
              <a:t>Object localization with bounding boxes</a:t>
            </a:r>
          </a:p>
          <a:p>
            <a:pPr>
              <a:defRPr sz="2000">
                <a:solidFill>
                  <a:srgbClr val="444444"/>
                </a:solidFill>
              </a:defRPr>
            </a:pPr>
            <a:r>
              <a:t>Image generation using Generative Adversarial Networks</a:t>
            </a:r>
          </a:p>
          <a:p>
            <a:pPr>
              <a:defRPr sz="2000">
                <a:solidFill>
                  <a:srgbClr val="444444"/>
                </a:solidFill>
              </a:defRPr>
            </a:pPr>
            <a:r>
              <a:t>Medical image analysis for disease diagnosis</a:t>
            </a:r>
          </a:p>
          <a:p>
            <a:pPr>
              <a:defRPr sz="2000">
                <a:solidFill>
                  <a:srgbClr val="444444"/>
                </a:solidFill>
              </a:defRPr>
            </a:pPr>
            <a:r>
              <a:t>Image denoising and super-resolution techniques</a:t>
            </a:r>
          </a:p>
          <a:p>
            <a:pPr>
              <a:defRPr sz="2000">
                <a:solidFill>
                  <a:srgbClr val="444444"/>
                </a:solidFill>
              </a:defRPr>
            </a:pPr>
            <a:r>
              <a:t>Autonomous vehicles with CNN-based vision</a:t>
            </a:r>
          </a:p>
          <a:p>
            <a:pPr>
              <a:defRPr sz="2000">
                <a:solidFill>
                  <a:srgbClr val="444444"/>
                </a:solidFill>
              </a:defRPr>
            </a:pPr>
            <a:r>
              <a:t>Surveillance systems with real-time object detection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