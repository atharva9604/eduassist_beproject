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Indexing, Hashing.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concept of indexing, explain its importance in database management systems. Provide examples of how indexing improves query performance, such as faster data retrieval and access. Discuss the different types of indexing techniques, including B-tree indexing, and how they are used in various database management systems. Ask students to consider scenarios where indexing would be beneficial, such as in large datasets or frequent query executions. Key takeaways should include the benefits of indexing, common indexing methods, and its applications in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explain how it enhances database performance by reducing the time it takes to retrieve data. Provide examples of B-tree and hash indexing, highlighting their strengths and applications. Discuss the difference between clustered and non-clustered indexing, and how indexing supports query optimization. Ask students to consider scenarios where indexing would significantly improve query performance, and what metrics they would use to measure this improvement, such as time and throughput. Emphasize the importance of indexing in real-world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explain its role in speeding up query execution and reducing costs. Provide examples of different indexing methods such as B-tree and Hash, and discuss their applications in various database types, including SQL, NoSQL, and Graph databases. Emphasize the importance of optimizing indexing for better database performance and ask students to consider scenarios where indexing would be beneficial. Key takeaways include understanding the basics of indexing, its benefits, and common indexing methods.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hashing is a fundamental concept in database management systems, used to ensure data integrity and security. Provide examples of hash functions and their applications, such as password storage and data deduplication. Discuss the importance of resolving hash collisions and ask students to consider the trade-offs between hash function speed and security. Key takeaways include understanding the basics of hashing, its uses in database management, and the importance of hash function selection.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hashing, explain that it's a fundamental concept in database management systems, allowing for efficient data storage and retrieval. Provide examples of hash functions like MD5 and SHA-1, and discuss their applications in database indexing and caching. Ask students to consider the benefits of hashing, such as fast lookup and insertion operations, and the trade-offs, like potential collisions. Emphasize that hashing is a one-way process, meaning it's not possible to reverse-engineer the original data from the hash value. Key takeaways include understanding the basics of hashing, its importance in database management, and its applications in real-world scenarios.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Indexing, Hashing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database query performance</a:t>
            </a:r>
          </a:p>
          <a:p>
            <a:pPr>
              <a:defRPr sz="2000">
                <a:solidFill>
                  <a:srgbClr val="444444"/>
                </a:solidFill>
              </a:defRPr>
            </a:pPr>
            <a:r>
              <a:t>Faster data retrieval and access</a:t>
            </a:r>
          </a:p>
          <a:p>
            <a:pPr>
              <a:defRPr sz="2000">
                <a:solidFill>
                  <a:srgbClr val="444444"/>
                </a:solidFill>
              </a:defRPr>
            </a:pPr>
            <a:r>
              <a:t>Supports various data types and structures</a:t>
            </a:r>
          </a:p>
          <a:p>
            <a:pPr>
              <a:defRPr sz="2000">
                <a:solidFill>
                  <a:srgbClr val="444444"/>
                </a:solidFill>
              </a:defRPr>
            </a:pPr>
            <a:r>
              <a:t>Enhances data organization and management</a:t>
            </a:r>
          </a:p>
          <a:p>
            <a:pPr>
              <a:defRPr sz="2000">
                <a:solidFill>
                  <a:srgbClr val="444444"/>
                </a:solidFill>
              </a:defRPr>
            </a:pPr>
            <a:r>
              <a:t>Optimizes query execution time</a:t>
            </a:r>
          </a:p>
          <a:p>
            <a:pPr>
              <a:defRPr sz="2000">
                <a:solidFill>
                  <a:srgbClr val="444444"/>
                </a:solidFill>
              </a:defRPr>
            </a:pPr>
            <a:r>
              <a:t>Reduces disk I/O operations</a:t>
            </a:r>
          </a:p>
          <a:p>
            <a:pPr>
              <a:defRPr sz="2000">
                <a:solidFill>
                  <a:srgbClr val="444444"/>
                </a:solidFill>
              </a:defRPr>
            </a:pPr>
            <a:r>
              <a:t>Improves data consistency and integrity</a:t>
            </a:r>
          </a:p>
          <a:p>
            <a:pPr>
              <a:defRPr sz="2000">
                <a:solidFill>
                  <a:srgbClr val="444444"/>
                </a:solidFill>
              </a:defRPr>
            </a:pPr>
            <a:r>
              <a:t>Supports multiple indexing techniques</a:t>
            </a:r>
          </a:p>
          <a:p>
            <a:pPr>
              <a:defRPr sz="2000">
                <a:solidFill>
                  <a:srgbClr val="444444"/>
                </a:solidFill>
              </a:defRPr>
            </a:pPr>
            <a:r>
              <a:t>Common indexing methods include B-tree</a:t>
            </a:r>
          </a:p>
          <a:p>
            <a:pPr>
              <a:defRPr sz="2000">
                <a:solidFill>
                  <a:srgbClr val="444444"/>
                </a:solidFill>
              </a:defRPr>
            </a:pPr>
            <a:r>
              <a:t>Used in various database management systems</a:t>
            </a:r>
          </a:p>
        </p:txBody>
      </p:sp>
      <p:pic>
        <p:nvPicPr>
          <p:cNvPr id="4" name="Picture 3" descr="01050ba94a3c477db08f38514552e1a1_indexing_hashing_database_management_sys.jpg"/>
          <p:cNvPicPr>
            <a:picLocks noChangeAspect="1"/>
          </p:cNvPicPr>
          <p:nvPr/>
        </p:nvPicPr>
        <p:blipFill>
          <a:blip r:embed="rId2"/>
          <a:stretch>
            <a:fillRect/>
          </a:stretch>
        </p:blipFill>
        <p:spPr>
          <a:xfrm>
            <a:off x="7315200" y="1828800"/>
            <a:ext cx="4114800" cy="231267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Faster data retrieval with indexing techniques</a:t>
            </a:r>
          </a:p>
          <a:p>
            <a:pPr>
              <a:defRPr sz="2000">
                <a:solidFill>
                  <a:srgbClr val="444444"/>
                </a:solidFill>
              </a:defRPr>
            </a:pPr>
            <a:r>
              <a:t>Indexing reduces disk I/O operations significantly</a:t>
            </a:r>
          </a:p>
          <a:p>
            <a:pPr>
              <a:defRPr sz="2000">
                <a:solidFill>
                  <a:srgbClr val="444444"/>
                </a:solidFill>
              </a:defRPr>
            </a:pPr>
            <a:r>
              <a:t>B-tree indexing supports range queries efficiently</a:t>
            </a:r>
          </a:p>
          <a:p>
            <a:pPr>
              <a:defRPr sz="2000">
                <a:solidFill>
                  <a:srgbClr val="444444"/>
                </a:solidFill>
              </a:defRPr>
            </a:pPr>
            <a:r>
              <a:t>Hash indexing optimizes equality queries</a:t>
            </a:r>
          </a:p>
          <a:p>
            <a:pPr>
              <a:defRPr sz="2000">
                <a:solidFill>
                  <a:srgbClr val="444444"/>
                </a:solidFill>
              </a:defRPr>
            </a:pPr>
            <a:r>
              <a:t>Indexing types: clustered and non-clustered</a:t>
            </a:r>
          </a:p>
          <a:p>
            <a:pPr>
              <a:defRPr sz="2000">
                <a:solidFill>
                  <a:srgbClr val="444444"/>
                </a:solidFill>
              </a:defRPr>
            </a:pPr>
            <a:r>
              <a:t>Database indexing supports query optimization</a:t>
            </a:r>
          </a:p>
          <a:p>
            <a:pPr>
              <a:defRPr sz="2000">
                <a:solidFill>
                  <a:srgbClr val="444444"/>
                </a:solidFill>
              </a:defRPr>
            </a:pPr>
            <a:r>
              <a:t>Indexing enhances data management system efficiency</a:t>
            </a:r>
          </a:p>
          <a:p>
            <a:pPr>
              <a:defRPr sz="2000">
                <a:solidFill>
                  <a:srgbClr val="444444"/>
                </a:solidFill>
              </a:defRPr>
            </a:pPr>
            <a:r>
              <a:t>Query performance metrics: time and throughput</a:t>
            </a:r>
          </a:p>
        </p:txBody>
      </p:sp>
      <p:pic>
        <p:nvPicPr>
          <p:cNvPr id="4" name="Picture 3" descr="e107d69ee23848f2b97dbeaf58809fd7_indexing_hashing_database_management_sys.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Faster data retrieval and access times</a:t>
            </a:r>
          </a:p>
          <a:p>
            <a:pPr>
              <a:defRPr sz="2000">
                <a:solidFill>
                  <a:srgbClr val="444444"/>
                </a:solidFill>
              </a:defRPr>
            </a:pPr>
            <a:r>
              <a:t>Supports various data types and structures</a:t>
            </a:r>
          </a:p>
          <a:p>
            <a:pPr>
              <a:defRPr sz="2000">
                <a:solidFill>
                  <a:srgbClr val="444444"/>
                </a:solidFill>
              </a:defRPr>
            </a:pPr>
            <a:r>
              <a:t>Enhances database scalability and efficiency</a:t>
            </a:r>
          </a:p>
          <a:p>
            <a:pPr>
              <a:defRPr sz="2000">
                <a:solidFill>
                  <a:srgbClr val="444444"/>
                </a:solidFill>
              </a:defRPr>
            </a:pPr>
            <a:r>
              <a:t>Reduces query execution time and cost</a:t>
            </a:r>
          </a:p>
          <a:p>
            <a:pPr>
              <a:defRPr sz="2000">
                <a:solidFill>
                  <a:srgbClr val="444444"/>
                </a:solidFill>
              </a:defRPr>
            </a:pPr>
            <a:r>
              <a:t>Indexing methods: B-tree, Hash, Full-text</a:t>
            </a:r>
          </a:p>
          <a:p>
            <a:pPr>
              <a:defRPr sz="2000">
                <a:solidFill>
                  <a:srgbClr val="444444"/>
                </a:solidFill>
              </a:defRPr>
            </a:pPr>
            <a:r>
              <a:t>Database indexing: SQL, NoSQL, Graph</a:t>
            </a:r>
          </a:p>
          <a:p>
            <a:pPr>
              <a:defRPr sz="2000">
                <a:solidFill>
                  <a:srgbClr val="444444"/>
                </a:solidFill>
              </a:defRPr>
            </a:pPr>
            <a:r>
              <a:t>Indexing techniques: clustering, partitioning</a:t>
            </a:r>
          </a:p>
          <a:p>
            <a:pPr>
              <a:defRPr sz="2000">
                <a:solidFill>
                  <a:srgbClr val="444444"/>
                </a:solidFill>
              </a:defRPr>
            </a:pPr>
            <a:r>
              <a:t>Optimizing indexing for better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Hashing - Introduction</a:t>
            </a:r>
          </a:p>
        </p:txBody>
      </p:sp>
      <p:sp>
        <p:nvSpPr>
          <p:cNvPr id="3" name="Content Placeholder 2"/>
          <p:cNvSpPr>
            <a:spLocks noGrp="1"/>
          </p:cNvSpPr>
          <p:nvPr>
            <p:ph idx="1"/>
          </p:nvPr>
        </p:nvSpPr>
        <p:spPr/>
        <p:txBody>
          <a:bodyPr/>
          <a:lstStyle/>
          <a:p>
            <a:pPr>
              <a:defRPr sz="2000">
                <a:solidFill>
                  <a:srgbClr val="444444"/>
                </a:solidFill>
              </a:defRPr>
            </a:pPr>
            <a:r>
              <a:t>Hashing transforms data into fixed-size strings</a:t>
            </a:r>
          </a:p>
          <a:p>
            <a:pPr>
              <a:defRPr sz="2000">
                <a:solidFill>
                  <a:srgbClr val="444444"/>
                </a:solidFill>
              </a:defRPr>
            </a:pPr>
            <a:r>
              <a:t>Hash values are unique digital fingerprints</a:t>
            </a:r>
          </a:p>
          <a:p>
            <a:pPr>
              <a:defRPr sz="2000">
                <a:solidFill>
                  <a:srgbClr val="444444"/>
                </a:solidFill>
              </a:defRPr>
            </a:pPr>
            <a:r>
              <a:t>Hashing is used for data integrity and security</a:t>
            </a:r>
          </a:p>
          <a:p>
            <a:pPr>
              <a:defRPr sz="2000">
                <a:solidFill>
                  <a:srgbClr val="444444"/>
                </a:solidFill>
              </a:defRPr>
            </a:pPr>
            <a:r>
              <a:t>Hash functions are one-way and non-invertible</a:t>
            </a:r>
          </a:p>
          <a:p>
            <a:pPr>
              <a:defRPr sz="2000">
                <a:solidFill>
                  <a:srgbClr val="444444"/>
                </a:solidFill>
              </a:defRPr>
            </a:pPr>
            <a:r>
              <a:t>Common hash functions include MD5 and SHA-1</a:t>
            </a:r>
          </a:p>
          <a:p>
            <a:pPr>
              <a:defRPr sz="2000">
                <a:solidFill>
                  <a:srgbClr val="444444"/>
                </a:solidFill>
              </a:defRPr>
            </a:pPr>
            <a:r>
              <a:t>Hashing is used in database indexing and retrieval</a:t>
            </a:r>
          </a:p>
          <a:p>
            <a:pPr>
              <a:defRPr sz="2000">
                <a:solidFill>
                  <a:srgbClr val="444444"/>
                </a:solidFill>
              </a:defRPr>
            </a:pPr>
            <a:r>
              <a:t>Hash tables store data in key-value pairs</a:t>
            </a:r>
          </a:p>
          <a:p>
            <a:pPr>
              <a:defRPr sz="2000">
                <a:solidFill>
                  <a:srgbClr val="444444"/>
                </a:solidFill>
              </a:defRPr>
            </a:pPr>
            <a:r>
              <a:t>Hashing reduces data storage and retrieval time</a:t>
            </a:r>
          </a:p>
          <a:p>
            <a:pPr>
              <a:defRPr sz="2000">
                <a:solidFill>
                  <a:srgbClr val="444444"/>
                </a:solidFill>
              </a:defRPr>
            </a:pPr>
            <a:r>
              <a:t>Hash collisions occur when two inputs have same hash</a:t>
            </a:r>
          </a:p>
          <a:p>
            <a:pPr>
              <a:defRPr sz="2000">
                <a:solidFill>
                  <a:srgbClr val="444444"/>
                </a:solidFill>
              </a:defRPr>
            </a:pPr>
            <a:r>
              <a:t>Resolving collisions is crucial for hash function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Hashing - Introduction</a:t>
            </a:r>
          </a:p>
        </p:txBody>
      </p:sp>
      <p:sp>
        <p:nvSpPr>
          <p:cNvPr id="3" name="Content Placeholder 2"/>
          <p:cNvSpPr>
            <a:spLocks noGrp="1"/>
          </p:cNvSpPr>
          <p:nvPr>
            <p:ph idx="1"/>
          </p:nvPr>
        </p:nvSpPr>
        <p:spPr/>
        <p:txBody>
          <a:bodyPr/>
          <a:lstStyle/>
          <a:p>
            <a:pPr>
              <a:defRPr sz="2000">
                <a:solidFill>
                  <a:srgbClr val="444444"/>
                </a:solidFill>
              </a:defRPr>
            </a:pPr>
            <a:r>
              <a:t>Hashing maps large data to fixed-size values</a:t>
            </a:r>
          </a:p>
          <a:p>
            <a:pPr>
              <a:defRPr sz="2000">
                <a:solidFill>
                  <a:srgbClr val="444444"/>
                </a:solidFill>
              </a:defRPr>
            </a:pPr>
            <a:r>
              <a:t>Used for data storage and retrieval efficiency</a:t>
            </a:r>
          </a:p>
          <a:p>
            <a:pPr>
              <a:defRPr sz="2000">
                <a:solidFill>
                  <a:srgbClr val="444444"/>
                </a:solidFill>
              </a:defRPr>
            </a:pPr>
            <a:r>
              <a:t>Fast lookup, insertion, and deletion operations</a:t>
            </a:r>
          </a:p>
          <a:p>
            <a:pPr>
              <a:defRPr sz="2000">
                <a:solidFill>
                  <a:srgbClr val="444444"/>
                </a:solidFill>
              </a:defRPr>
            </a:pPr>
            <a:r>
              <a:t>Hash functions take input data of any size</a:t>
            </a:r>
          </a:p>
          <a:p>
            <a:pPr>
              <a:defRPr sz="2000">
                <a:solidFill>
                  <a:srgbClr val="444444"/>
                </a:solidFill>
              </a:defRPr>
            </a:pPr>
            <a:r>
              <a:t>Output is a fixed-size string of characters</a:t>
            </a:r>
          </a:p>
          <a:p>
            <a:pPr>
              <a:defRPr sz="2000">
                <a:solidFill>
                  <a:srgbClr val="444444"/>
                </a:solidFill>
              </a:defRPr>
            </a:pPr>
            <a:r>
              <a:t>Hash values are also known as message digests</a:t>
            </a:r>
          </a:p>
          <a:p>
            <a:pPr>
              <a:defRPr sz="2000">
                <a:solidFill>
                  <a:srgbClr val="444444"/>
                </a:solidFill>
              </a:defRPr>
            </a:pPr>
            <a:r>
              <a:t>Hashing is a one-way process, not reversible</a:t>
            </a:r>
          </a:p>
          <a:p>
            <a:pPr>
              <a:defRPr sz="2000">
                <a:solidFill>
                  <a:srgbClr val="444444"/>
                </a:solidFill>
              </a:defRPr>
            </a:pPr>
            <a:r>
              <a:t>Common hash functions include MD5 and SHA-1</a:t>
            </a:r>
          </a:p>
          <a:p>
            <a:pPr>
              <a:defRPr sz="2000">
                <a:solidFill>
                  <a:srgbClr val="444444"/>
                </a:solidFill>
              </a:defRPr>
            </a:pPr>
            <a:r>
              <a:t>Hashing is used in database indexing and caching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