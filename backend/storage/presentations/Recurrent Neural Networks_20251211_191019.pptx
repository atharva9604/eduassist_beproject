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Introduce the topic of Recurrent Neural Networks, explain that an image of neurons will be displayed, and preview the content of the presentation. Ask students if they have any prior knowledge of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importance of RNNs, provide examples of their applications, and discuss their ability to handle sequential data. Ask students to consider how RNNs can be used in real-world scenarios, such as speech recognition or language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basic architecture of an RNN, explain the key equation, and discuss the importance of feedback connections. Use the architecture diagram to illustrate the components of an RNN and ask students to identify the different layers.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different variants of RNNs, explain their strengths and weaknesses, and provide examples of their applications. Ask students to consider which variant would be most suitable for a given problem, such as language translation or speech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various applications of RNNs, explain their advantages and limitations, and provide examples of their use in real-world scenarios. Ask students to consider the trade-offs between different architectures and the importance of selecting the right variant for a given problem.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different techniques for training RNNs, discuss the challenges of training RNNs, and provide examples of how to overcome these challenges. Ask students to consider the importance of regularization and gradient clipping in preventing overfitting and exploding gradients.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applications of RNNs in natural language processing, explain the different tasks and techniques, and provide examples of how RNNs can be used in these areas. Ask students to consider the challenges of natural language processing and how RNNs can be used to overcome these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applications of RNNs in time-series forecasting, discuss the different techniques and models, and provide examples of how RNNs can be used in these areas. Ask students to consider the challenges of time-series forecasting and how RNNs can be used to overcome these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real-world applications of RNNs, explain the different areas and industries where RNNs are used, and provide examples of how RNNs can be used in these areas. Ask students to consider the potential impact of RNNs on society and the economy.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discuss the importance and applications of RNNs, and provide examples of their use in real-world scenarios. Ask students to consider the potential future directions and applications of RNNs and how they can contribute to the development of these models.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Module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and Background</a:t>
            </a:r>
          </a:p>
        </p:txBody>
      </p:sp>
      <p:sp>
        <p:nvSpPr>
          <p:cNvPr id="3" name="Content Placeholder 2"/>
          <p:cNvSpPr>
            <a:spLocks noGrp="1"/>
          </p:cNvSpPr>
          <p:nvPr>
            <p:ph idx="1"/>
          </p:nvPr>
        </p:nvSpPr>
        <p:spPr/>
        <p:txBody>
          <a:bodyPr/>
          <a:lstStyle/>
          <a:p>
            <a:pPr>
              <a:defRPr sz="2000">
                <a:solidFill>
                  <a:srgbClr val="444444"/>
                </a:solidFill>
              </a:defRPr>
            </a:pPr>
            <a:r>
              <a:t>RNNs process sequential data</a:t>
            </a:r>
          </a:p>
          <a:p>
            <a:pPr>
              <a:defRPr sz="2000">
                <a:solidFill>
                  <a:srgbClr val="444444"/>
                </a:solidFill>
              </a:defRPr>
            </a:pPr>
            <a:r>
              <a:t>Used in language modeling and speech recognition</a:t>
            </a:r>
          </a:p>
          <a:p>
            <a:pPr>
              <a:defRPr sz="2000">
                <a:solidFill>
                  <a:srgbClr val="444444"/>
                </a:solidFill>
              </a:defRPr>
            </a:pPr>
            <a:r>
              <a:t>Handle temporal relationships in data</a:t>
            </a:r>
          </a:p>
          <a:p>
            <a:pPr>
              <a:defRPr sz="2000">
                <a:solidFill>
                  <a:srgbClr val="444444"/>
                </a:solidFill>
              </a:defRPr>
            </a:pPr>
            <a:r>
              <a:t>Effective for time-series forecasting</a:t>
            </a:r>
          </a:p>
          <a:p>
            <a:pPr>
              <a:defRPr sz="2000">
                <a:solidFill>
                  <a:srgbClr val="444444"/>
                </a:solidFill>
              </a:defRPr>
            </a:pPr>
            <a:r>
              <a:t>Can learn from experience</a:t>
            </a:r>
          </a:p>
          <a:p>
            <a:pPr>
              <a:defRPr sz="2000">
                <a:solidFill>
                  <a:srgbClr val="444444"/>
                </a:solidFill>
              </a:defRPr>
            </a:pPr>
            <a:r>
              <a:t>Improve performance over time</a:t>
            </a:r>
          </a:p>
          <a:p>
            <a:pPr>
              <a:defRPr sz="2000">
                <a:solidFill>
                  <a:srgbClr val="444444"/>
                </a:solidFill>
              </a:defRPr>
            </a:pPr>
            <a:r>
              <a:t>Key component of deep learning</a:t>
            </a:r>
          </a:p>
          <a:p>
            <a:pPr>
              <a:defRPr sz="2000">
                <a:solidFill>
                  <a:srgbClr val="444444"/>
                </a:solidFill>
              </a:defRPr>
            </a:pPr>
            <a:r>
              <a:t>Inspired by human brain structure</a:t>
            </a:r>
          </a:p>
          <a:p>
            <a:pPr>
              <a:defRPr sz="2000">
                <a:solidFill>
                  <a:srgbClr val="444444"/>
                </a:solidFill>
              </a:defRPr>
            </a:pPr>
            <a:r>
              <a:t>Enable machines to learn from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 and Key Equation</a:t>
            </a:r>
          </a:p>
        </p:txBody>
      </p:sp>
      <p:sp>
        <p:nvSpPr>
          <p:cNvPr id="3" name="Content Placeholder 2"/>
          <p:cNvSpPr>
            <a:spLocks noGrp="1"/>
          </p:cNvSpPr>
          <p:nvPr>
            <p:ph idx="1"/>
          </p:nvPr>
        </p:nvSpPr>
        <p:spPr/>
        <p:txBody>
          <a:bodyPr/>
          <a:lstStyle/>
          <a:p>
            <a:pPr>
              <a:defRPr sz="2000">
                <a:solidFill>
                  <a:srgbClr val="444444"/>
                </a:solidFill>
              </a:defRPr>
            </a:pPr>
            <a:r>
              <a:t>Image: RNN Architecture Diagram</a:t>
            </a:r>
          </a:p>
          <a:p>
            <a:pPr>
              <a:defRPr sz="2000">
                <a:solidFill>
                  <a:srgbClr val="444444"/>
                </a:solidFill>
              </a:defRPr>
            </a:pPr>
            <a:r>
              <a:t>Simple RNN equation: h_t = tanh(W*x_t + U*h_(t-1))</a:t>
            </a:r>
          </a:p>
          <a:p>
            <a:pPr>
              <a:defRPr sz="2000">
                <a:solidFill>
                  <a:srgbClr val="444444"/>
                </a:solidFill>
              </a:defRPr>
            </a:pPr>
            <a:r>
              <a:t>Consists of input, output, and hidden layers</a:t>
            </a:r>
          </a:p>
          <a:p>
            <a:pPr>
              <a:defRPr sz="2000">
                <a:solidFill>
                  <a:srgbClr val="444444"/>
                </a:solidFill>
              </a:defRPr>
            </a:pPr>
            <a:r>
              <a:t>Feedback connections allow information retention</a:t>
            </a:r>
          </a:p>
          <a:p>
            <a:pPr>
              <a:defRPr sz="2000">
                <a:solidFill>
                  <a:srgbClr val="444444"/>
                </a:solidFill>
              </a:defRPr>
            </a:pPr>
            <a:r>
              <a:t>Trained using backpropagation through time</a:t>
            </a:r>
          </a:p>
          <a:p>
            <a:pPr>
              <a:defRPr sz="2000">
                <a:solidFill>
                  <a:srgbClr val="444444"/>
                </a:solidFill>
              </a:defRPr>
            </a:pPr>
            <a:r>
              <a:t>Can be extended to more complex architectures</a:t>
            </a:r>
          </a:p>
          <a:p>
            <a:pPr>
              <a:defRPr sz="2000">
                <a:solidFill>
                  <a:srgbClr val="444444"/>
                </a:solidFill>
              </a:defRPr>
            </a:pPr>
            <a:r>
              <a:t>LSTM and GRU are popular variants</a:t>
            </a:r>
          </a:p>
          <a:p>
            <a:pPr>
              <a:defRPr sz="2000">
                <a:solidFill>
                  <a:srgbClr val="444444"/>
                </a:solidFill>
              </a:defRPr>
            </a:pPr>
            <a:r>
              <a:t>Enable more efficient and effective processing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 of RNNs</a:t>
            </a:r>
          </a:p>
        </p:txBody>
      </p:sp>
      <p:sp>
        <p:nvSpPr>
          <p:cNvPr id="3" name="Content Placeholder 2"/>
          <p:cNvSpPr>
            <a:spLocks noGrp="1"/>
          </p:cNvSpPr>
          <p:nvPr>
            <p:ph idx="1"/>
          </p:nvPr>
        </p:nvSpPr>
        <p:spPr/>
        <p:txBody>
          <a:bodyPr/>
          <a:lstStyle/>
          <a:p>
            <a:pPr>
              <a:defRPr sz="2000">
                <a:solidFill>
                  <a:srgbClr val="444444"/>
                </a:solidFill>
              </a:defRPr>
            </a:pPr>
            <a:r>
              <a:t>LSTM: Long Short-Term Memory</a:t>
            </a:r>
          </a:p>
          <a:p>
            <a:pPr>
              <a:defRPr sz="2000">
                <a:solidFill>
                  <a:srgbClr val="444444"/>
                </a:solidFill>
              </a:defRPr>
            </a:pPr>
            <a:r>
              <a:t>GRU: Gated Recurrent Unit</a:t>
            </a:r>
          </a:p>
          <a:p>
            <a:pPr>
              <a:defRPr sz="2000">
                <a:solidFill>
                  <a:srgbClr val="444444"/>
                </a:solidFill>
              </a:defRPr>
            </a:pPr>
            <a:r>
              <a:t>Bidirectional RNNs</a:t>
            </a:r>
          </a:p>
          <a:p>
            <a:pPr>
              <a:defRPr sz="2000">
                <a:solidFill>
                  <a:srgbClr val="444444"/>
                </a:solidFill>
              </a:defRPr>
            </a:pPr>
            <a:r>
              <a:t>Deep RNNs with multiple layers</a:t>
            </a:r>
          </a:p>
          <a:p>
            <a:pPr>
              <a:defRPr sz="2000">
                <a:solidFill>
                  <a:srgbClr val="444444"/>
                </a:solidFill>
              </a:defRPr>
            </a:pPr>
            <a:r>
              <a:t>Residual connections for easier training</a:t>
            </a:r>
          </a:p>
          <a:p>
            <a:pPr>
              <a:defRPr sz="2000">
                <a:solidFill>
                  <a:srgbClr val="444444"/>
                </a:solidFill>
              </a:defRPr>
            </a:pPr>
            <a:r>
              <a:t>Attention mechanisms for focused processing</a:t>
            </a:r>
          </a:p>
          <a:p>
            <a:pPr>
              <a:defRPr sz="2000">
                <a:solidFill>
                  <a:srgbClr val="444444"/>
                </a:solidFill>
              </a:defRPr>
            </a:pPr>
            <a:r>
              <a:t>Recurrent Highway Networks</a:t>
            </a:r>
          </a:p>
          <a:p>
            <a:pPr>
              <a:defRPr sz="2000">
                <a:solidFill>
                  <a:srgbClr val="444444"/>
                </a:solidFill>
              </a:defRPr>
            </a:pPr>
            <a:r>
              <a:t>Gated Feedback RNNs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and Advantages</a:t>
            </a:r>
          </a:p>
        </p:txBody>
      </p:sp>
      <p:sp>
        <p:nvSpPr>
          <p:cNvPr id="3" name="Content Placeholder 2"/>
          <p:cNvSpPr>
            <a:spLocks noGrp="1"/>
          </p:cNvSpPr>
          <p:nvPr>
            <p:ph idx="1"/>
          </p:nvPr>
        </p:nvSpPr>
        <p:spPr/>
        <p:txBody>
          <a:bodyPr/>
          <a:lstStyle/>
          <a:p>
            <a:pPr>
              <a:defRPr sz="2000">
                <a:solidFill>
                  <a:srgbClr val="444444"/>
                </a:solidFill>
              </a:defRPr>
            </a:pPr>
            <a:r>
              <a:t>Language modeling and translation</a:t>
            </a:r>
          </a:p>
          <a:p>
            <a:pPr>
              <a:defRPr sz="2000">
                <a:solidFill>
                  <a:srgbClr val="444444"/>
                </a:solidFill>
              </a:defRPr>
            </a:pPr>
            <a:r>
              <a:t>Speech recognition and synthesis</a:t>
            </a:r>
          </a:p>
          <a:p>
            <a:pPr>
              <a:defRPr sz="2000">
                <a:solidFill>
                  <a:srgbClr val="444444"/>
                </a:solidFill>
              </a:defRPr>
            </a:pPr>
            <a:r>
              <a:t>Time-series forecasting and prediction</a:t>
            </a:r>
          </a:p>
          <a:p>
            <a:pPr>
              <a:defRPr sz="2000">
                <a:solidFill>
                  <a:srgbClr val="444444"/>
                </a:solidFill>
              </a:defRPr>
            </a:pPr>
            <a:r>
              <a:t>Natural language processing</a:t>
            </a:r>
          </a:p>
          <a:p>
            <a:pPr>
              <a:defRPr sz="2000">
                <a:solidFill>
                  <a:srgbClr val="444444"/>
                </a:solidFill>
              </a:defRPr>
            </a:pPr>
            <a:r>
              <a:t>Image and video processing</a:t>
            </a:r>
          </a:p>
          <a:p>
            <a:pPr>
              <a:defRPr sz="2000">
                <a:solidFill>
                  <a:srgbClr val="444444"/>
                </a:solidFill>
              </a:defRPr>
            </a:pPr>
            <a:r>
              <a:t>Advantages: handle sequential data</a:t>
            </a:r>
          </a:p>
          <a:p>
            <a:pPr>
              <a:defRPr sz="2000">
                <a:solidFill>
                  <a:srgbClr val="444444"/>
                </a:solidFill>
              </a:defRPr>
            </a:pPr>
            <a:r>
              <a:t>Disadvantages: can be computationally expensive</a:t>
            </a:r>
          </a:p>
          <a:p>
            <a:pPr>
              <a:defRPr sz="2000">
                <a:solidFill>
                  <a:srgbClr val="444444"/>
                </a:solidFill>
              </a:defRPr>
            </a:pPr>
            <a:r>
              <a:t>Limited by vanishing gradients</a:t>
            </a:r>
          </a:p>
          <a:p>
            <a:pPr>
              <a:defRPr sz="2000">
                <a:solidFill>
                  <a:srgbClr val="444444"/>
                </a:solidFill>
              </a:defRPr>
            </a:pPr>
            <a:r>
              <a:t>Require large amounts of training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RNNs</a:t>
            </a:r>
          </a:p>
        </p:txBody>
      </p:sp>
      <p:sp>
        <p:nvSpPr>
          <p:cNvPr id="3" name="Content Placeholder 2"/>
          <p:cNvSpPr>
            <a:spLocks noGrp="1"/>
          </p:cNvSpPr>
          <p:nvPr>
            <p:ph idx="1"/>
          </p:nvPr>
        </p:nvSpPr>
        <p:spPr/>
        <p:txBody>
          <a:bodyPr/>
          <a:lstStyle/>
          <a:p>
            <a:pPr>
              <a:defRPr sz="2000">
                <a:solidFill>
                  <a:srgbClr val="444444"/>
                </a:solidFill>
              </a:defRPr>
            </a:pPr>
            <a:r>
              <a:t>Backpropagation through time</a:t>
            </a:r>
          </a:p>
          <a:p>
            <a:pPr>
              <a:defRPr sz="2000">
                <a:solidFill>
                  <a:srgbClr val="444444"/>
                </a:solidFill>
              </a:defRPr>
            </a:pPr>
            <a:r>
              <a:t>Truncated backpropagation</a:t>
            </a:r>
          </a:p>
          <a:p>
            <a:pPr>
              <a:defRPr sz="2000">
                <a:solidFill>
                  <a:srgbClr val="444444"/>
                </a:solidFill>
              </a:defRPr>
            </a:pPr>
            <a:r>
              <a:t>Gradient clipping to prevent explosion</a:t>
            </a:r>
          </a:p>
          <a:p>
            <a:pPr>
              <a:defRPr sz="2000">
                <a:solidFill>
                  <a:srgbClr val="444444"/>
                </a:solidFill>
              </a:defRPr>
            </a:pPr>
            <a:r>
              <a:t>Regularization techniques to prevent overfitting</a:t>
            </a:r>
          </a:p>
          <a:p>
            <a:pPr>
              <a:defRPr sz="2000">
                <a:solidFill>
                  <a:srgbClr val="444444"/>
                </a:solidFill>
              </a:defRPr>
            </a:pPr>
            <a:r>
              <a:t>Batch normalization for stable training</a:t>
            </a:r>
          </a:p>
          <a:p>
            <a:pPr>
              <a:defRPr sz="2000">
                <a:solidFill>
                  <a:srgbClr val="444444"/>
                </a:solidFill>
              </a:defRPr>
            </a:pPr>
            <a:r>
              <a:t>Learning rate scheduling for efficient convergence</a:t>
            </a:r>
          </a:p>
          <a:p>
            <a:pPr>
              <a:defRPr sz="2000">
                <a:solidFill>
                  <a:srgbClr val="444444"/>
                </a:solidFill>
              </a:defRPr>
            </a:pPr>
            <a:r>
              <a:t>Momentum and RMSProp for adaptive learning</a:t>
            </a:r>
          </a:p>
          <a:p>
            <a:pPr>
              <a:defRPr sz="2000">
                <a:solidFill>
                  <a:srgbClr val="444444"/>
                </a:solidFill>
              </a:defRPr>
            </a:pPr>
            <a:r>
              <a:t>Gradient descent with momentum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in Natural Language Processing</a:t>
            </a:r>
          </a:p>
        </p:txBody>
      </p:sp>
      <p:sp>
        <p:nvSpPr>
          <p:cNvPr id="3" name="Content Placeholder 2"/>
          <p:cNvSpPr>
            <a:spLocks noGrp="1"/>
          </p:cNvSpPr>
          <p:nvPr>
            <p:ph idx="1"/>
          </p:nvPr>
        </p:nvSpPr>
        <p:spPr/>
        <p:txBody>
          <a:bodyPr/>
          <a:lstStyle/>
          <a:p>
            <a:pPr>
              <a:defRPr sz="2000">
                <a:solidFill>
                  <a:srgbClr val="444444"/>
                </a:solidFill>
              </a:defRPr>
            </a:pPr>
            <a:r>
              <a:t>Language modeling and text generation</a:t>
            </a:r>
          </a:p>
          <a:p>
            <a:pPr>
              <a:defRPr sz="2000">
                <a:solidFill>
                  <a:srgbClr val="444444"/>
                </a:solidFill>
              </a:defRPr>
            </a:pPr>
            <a:r>
              <a:t>Sentiment analysis and opinion mining</a:t>
            </a:r>
          </a:p>
          <a:p>
            <a:pPr>
              <a:defRPr sz="2000">
                <a:solidFill>
                  <a:srgbClr val="444444"/>
                </a:solidFill>
              </a:defRPr>
            </a:pPr>
            <a:r>
              <a:t>Named entity recognition and tagging</a:t>
            </a:r>
          </a:p>
          <a:p>
            <a:pPr>
              <a:defRPr sz="2000">
                <a:solidFill>
                  <a:srgbClr val="444444"/>
                </a:solidFill>
              </a:defRPr>
            </a:pPr>
            <a:r>
              <a:t>Machine translation and language understanding</a:t>
            </a:r>
          </a:p>
          <a:p>
            <a:pPr>
              <a:defRPr sz="2000">
                <a:solidFill>
                  <a:srgbClr val="444444"/>
                </a:solidFill>
              </a:defRPr>
            </a:pPr>
            <a:r>
              <a:t>Question answering and text summarization</a:t>
            </a:r>
          </a:p>
          <a:p>
            <a:pPr>
              <a:defRPr sz="2000">
                <a:solidFill>
                  <a:srgbClr val="444444"/>
                </a:solidFill>
              </a:defRPr>
            </a:pPr>
            <a:r>
              <a:t>Text classification and clustering</a:t>
            </a:r>
          </a:p>
          <a:p>
            <a:pPr>
              <a:defRPr sz="2000">
                <a:solidFill>
                  <a:srgbClr val="444444"/>
                </a:solidFill>
              </a:defRPr>
            </a:pPr>
            <a:r>
              <a:t>Language understanding and dialogue systems</a:t>
            </a:r>
          </a:p>
          <a:p>
            <a:pPr>
              <a:defRPr sz="2000">
                <a:solidFill>
                  <a:srgbClr val="444444"/>
                </a:solidFill>
              </a:defRPr>
            </a:pPr>
            <a:r>
              <a:t>Speech recognition and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in Time-Series Forecasting</a:t>
            </a:r>
          </a:p>
        </p:txBody>
      </p:sp>
      <p:sp>
        <p:nvSpPr>
          <p:cNvPr id="3" name="Content Placeholder 2"/>
          <p:cNvSpPr>
            <a:spLocks noGrp="1"/>
          </p:cNvSpPr>
          <p:nvPr>
            <p:ph idx="1"/>
          </p:nvPr>
        </p:nvSpPr>
        <p:spPr/>
        <p:txBody>
          <a:bodyPr/>
          <a:lstStyle/>
          <a:p>
            <a:pPr>
              <a:defRPr sz="2000">
                <a:solidFill>
                  <a:srgbClr val="444444"/>
                </a:solidFill>
              </a:defRPr>
            </a:pPr>
            <a:r>
              <a:t>Predicting stock prices and market trends</a:t>
            </a:r>
          </a:p>
          <a:p>
            <a:pPr>
              <a:defRPr sz="2000">
                <a:solidFill>
                  <a:srgbClr val="444444"/>
                </a:solidFill>
              </a:defRPr>
            </a:pPr>
            <a:r>
              <a:t>Forecasting weather and climate patterns</a:t>
            </a:r>
          </a:p>
          <a:p>
            <a:pPr>
              <a:defRPr sz="2000">
                <a:solidFill>
                  <a:srgbClr val="444444"/>
                </a:solidFill>
              </a:defRPr>
            </a:pPr>
            <a:r>
              <a:t>Analyzing and predicting traffic flow</a:t>
            </a:r>
          </a:p>
          <a:p>
            <a:pPr>
              <a:defRPr sz="2000">
                <a:solidFill>
                  <a:srgbClr val="444444"/>
                </a:solidFill>
              </a:defRPr>
            </a:pPr>
            <a:r>
              <a:t>Predicting energy demand and consumption</a:t>
            </a:r>
          </a:p>
          <a:p>
            <a:pPr>
              <a:defRPr sz="2000">
                <a:solidFill>
                  <a:srgbClr val="444444"/>
                </a:solidFill>
              </a:defRPr>
            </a:pPr>
            <a:r>
              <a:t>Modeling and predicting economic indicators</a:t>
            </a:r>
          </a:p>
          <a:p>
            <a:pPr>
              <a:defRPr sz="2000">
                <a:solidFill>
                  <a:srgbClr val="444444"/>
                </a:solidFill>
              </a:defRPr>
            </a:pPr>
            <a:r>
              <a:t>Time-series analysis and decomposition</a:t>
            </a:r>
          </a:p>
          <a:p>
            <a:pPr>
              <a:defRPr sz="2000">
                <a:solidFill>
                  <a:srgbClr val="444444"/>
                </a:solidFill>
              </a:defRPr>
            </a:pPr>
            <a:r>
              <a:t>ARIMA and SARIMA models</a:t>
            </a:r>
          </a:p>
          <a:p>
            <a:pPr>
              <a:defRPr sz="2000">
                <a:solidFill>
                  <a:srgbClr val="444444"/>
                </a:solidFill>
              </a:defRPr>
            </a:pPr>
            <a:r>
              <a:t>LSTM and GRU for time-series forecasting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Real-World Applications of RNNs</a:t>
            </a:r>
          </a:p>
        </p:txBody>
      </p:sp>
      <p:sp>
        <p:nvSpPr>
          <p:cNvPr id="3" name="Content Placeholder 2"/>
          <p:cNvSpPr>
            <a:spLocks noGrp="1"/>
          </p:cNvSpPr>
          <p:nvPr>
            <p:ph idx="1"/>
          </p:nvPr>
        </p:nvSpPr>
        <p:spPr/>
        <p:txBody>
          <a:bodyPr/>
          <a:lstStyle/>
          <a:p>
            <a:pPr>
              <a:defRPr sz="2000">
                <a:solidFill>
                  <a:srgbClr val="444444"/>
                </a:solidFill>
              </a:defRPr>
            </a:pPr>
            <a:r>
              <a:t>Virtual assistants and chatbots</a:t>
            </a:r>
          </a:p>
          <a:p>
            <a:pPr>
              <a:defRPr sz="2000">
                <a:solidFill>
                  <a:srgbClr val="444444"/>
                </a:solidFill>
              </a:defRPr>
            </a:pPr>
            <a:r>
              <a:t>Speech recognition and voice assistants</a:t>
            </a:r>
          </a:p>
          <a:p>
            <a:pPr>
              <a:defRPr sz="2000">
                <a:solidFill>
                  <a:srgbClr val="444444"/>
                </a:solidFill>
              </a:defRPr>
            </a:pPr>
            <a:r>
              <a:t>Language translation and localization</a:t>
            </a:r>
          </a:p>
          <a:p>
            <a:pPr>
              <a:defRPr sz="2000">
                <a:solidFill>
                  <a:srgbClr val="444444"/>
                </a:solidFill>
              </a:defRPr>
            </a:pPr>
            <a:r>
              <a:t>Sentiment analysis and opinion mining</a:t>
            </a:r>
          </a:p>
          <a:p>
            <a:pPr>
              <a:defRPr sz="2000">
                <a:solidFill>
                  <a:srgbClr val="444444"/>
                </a:solidFill>
              </a:defRPr>
            </a:pPr>
            <a:r>
              <a:t>Recommendation systems and personalized marketing</a:t>
            </a:r>
          </a:p>
          <a:p>
            <a:pPr>
              <a:defRPr sz="2000">
                <a:solidFill>
                  <a:srgbClr val="444444"/>
                </a:solidFill>
              </a:defRPr>
            </a:pPr>
            <a:r>
              <a:t>Time-series forecasting and predictive maintenance</a:t>
            </a:r>
          </a:p>
          <a:p>
            <a:pPr>
              <a:defRPr sz="2000">
                <a:solidFill>
                  <a:srgbClr val="444444"/>
                </a:solidFill>
              </a:defRPr>
            </a:pPr>
            <a:r>
              <a:t>Anomaly detection and cybersecurity</a:t>
            </a:r>
          </a:p>
          <a:p>
            <a:pPr>
              <a:defRPr sz="2000">
                <a:solidFill>
                  <a:srgbClr val="444444"/>
                </a:solidFill>
              </a:defRPr>
            </a:pPr>
            <a:r>
              <a:t>Healthcare and medical diagnosis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 and Conclusion</a:t>
            </a:r>
          </a:p>
        </p:txBody>
      </p:sp>
      <p:sp>
        <p:nvSpPr>
          <p:cNvPr id="3" name="Content Placeholder 2"/>
          <p:cNvSpPr>
            <a:spLocks noGrp="1"/>
          </p:cNvSpPr>
          <p:nvPr>
            <p:ph idx="1"/>
          </p:nvPr>
        </p:nvSpPr>
        <p:spPr/>
        <p:txBody>
          <a:bodyPr/>
          <a:lstStyle/>
          <a:p>
            <a:pPr>
              <a:defRPr sz="2200" b="1">
                <a:solidFill>
                  <a:srgbClr val="1F497D"/>
                </a:solidFill>
              </a:defRPr>
            </a:pPr>
            <a:r>
              <a:t>RNNs process sequential data</a:t>
            </a:r>
          </a:p>
          <a:p>
            <a:pPr>
              <a:defRPr sz="2200" b="1">
                <a:solidFill>
                  <a:srgbClr val="1F497D"/>
                </a:solidFill>
              </a:defRPr>
            </a:pPr>
            <a:r>
              <a:t>Image: RNN Architecture Diagram</a:t>
            </a:r>
          </a:p>
          <a:p>
            <a:pPr>
              <a:defRPr sz="2200" b="1">
                <a:solidFill>
                  <a:srgbClr val="1F497D"/>
                </a:solidFill>
              </a:defRPr>
            </a:pPr>
            <a:r>
              <a:t>LSTM: Long Short-Term Memory</a:t>
            </a:r>
          </a:p>
          <a:p>
            <a:pPr>
              <a:defRPr sz="2200" b="1">
                <a:solidFill>
                  <a:srgbClr val="1F497D"/>
                </a:solidFill>
              </a:defRPr>
            </a:pPr>
            <a:r>
              <a:t>Language modeling and translation</a:t>
            </a:r>
          </a:p>
          <a:p>
            <a:pPr>
              <a:defRPr sz="2200" b="1">
                <a:solidFill>
                  <a:srgbClr val="1F497D"/>
                </a:solidFill>
              </a:defRPr>
            </a:pPr>
            <a:r>
              <a:t>Backpropagation through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