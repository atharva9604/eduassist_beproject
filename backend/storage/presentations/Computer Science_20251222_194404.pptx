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Computer Science presentation covering multiple topics. Today we'll explore: Recurrent Neural Networks, Undergraduate CS students, Analogies, Step-by-step reasoning.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handle sequential data and their applications in natural language processing and time series forecasting. Provide examples of speech recognition and language translation to illustrate their effectiveness. Ask students to consider how RNNs can be used in real-world scenarios, such as chatbots or sentiment analysis. Key takeaways include understanding the feedback connections in RNNs and their ability to learn patterns in sequential data.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Recurrent Neural Networks, emphasize their ability to handle sequential data and their applications in time series forecasting, natural language processing, and speech recognition. Provide examples of how RNNs can be used for sentiment analysis and text classification tasks. Ask students to consider the challenges of training RNNs, such as vanishing gradients, and how techniques like backpropagation through time can help. Key takeaways should include understanding the basic architecture of RNNs and their potential uses in various fields.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explaining the architecture of recurrent neural networks, emphasize the importance of sequential data and the role of hidden layers in retaining internal state. Discuss how feedback connections enable the network to keep track of information over time. Introduce the concept of backpropagation through time for training and highlight the challenges of vanishing gradients. Use examples like language modeling or time series forecasting to illustrate the applications of RNNs. Ask students to consider how the choice of activation function affects the network's behavior and how stacking recurrent layers can increase model capacity. Key takeaways include understanding the basic RNN architecture and its limitations, as well as the motivations behind variants like LSTM and GRU.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undergraduate CS students to the field, faculty should emphasize the importance of building a strong foundation in programming, data structures, and algorithms. Provide examples of real-world applications, such as social media platforms and e-commerce websites, to illustrate the relevance of CS concepts. Ask students about their interests and career goals, and highlight the various job opportunities available in the field. Key takeaways include the versatility of CS and its impact on various industries, as well as the need for continuous learning and professional development in this rapidly evolving field.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undergraduate CS students, faculty should emphasize the importance of building a strong foundation in programming, data structures, and algorithms. Provide examples of how these skills are applied in real-world scenarios, such as software development and data science. Ask students to consider their career goals and how the CS program can help them achieve those goals. Key takeaways include the breadth of topics covered in the CS program and the importance of developing problem-solving and critical thinking skills.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curriculum for undergraduate CS students, emphasize the importance of a well-rounded education that covers both theoretical foundations and practical applications. Provide examples of how each course contributes to the overall skillset of a CS graduate, such as how data structures are used in software engineering. Ask students to consider what areas they are most interested in and how they can tailor their coursework to suit their career goals. Key takeaways should include the breadth of topics covered in a CS curriculum and the need for continuous learning in this rapidly evolving field.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analogies in computer science, emphasize their role in simplifying complex concepts and facilitating learning. Provide examples of how analogies are used in everyday programming, such as comparing a file system to a library. Ask students to think of real-world analogies they use to understand abstract ideas. Key takeaways include the importance of analogies in problem-solving and their application in software design patterns. Encourage students to consider how analogies can improve code readability and maintainability in their own projects.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analogies, explain that they are powerful tools for comparing and understanding complex concepts. Provide examples of how analogies are used in computer science, such as comparing a neural network to a human brain. Ask students to think about how analogies can be applied to real-world problems, such as image recognition or natural language processing. Emphasize the importance of analogies in facilitating human-computer interaction and supporting decision-making systems. Key takeaways include understanding the role of analogies in problem-solving, knowledge representation, and pattern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teaching this topic, explain how analogies are used in various areas of computer science, such as machine learning, natural language processing, and computer vision. Provide examples of how analogies are applied in real-world scenarios, like image recognition and language understanding. Ask students to think about how analogies can be used to solve complex problems in computer science. Key takeaways include understanding the role of analogies in computer science and how they can be applied to improve system performance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step-by-step reasoning, emphasize its importance in computer science for tackling complex problems. Provide examples of real-world applications, such as developing algorithms or debugging code. Ask students to share their experiences with problem-solving and how they can apply step-by-step reasoning. Key takeaways include understanding the method's role in critical thinking and its application in various domains. Encourage students to practice breaking down problems and deriving solutions using logical reasoning.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step-by-step reasoning, explain its significance in computer science and how it enhances problem-solving skills. Provide examples of real-world applications, such as debugging code and algorithms. Emphasize the importance of logical thinking and analysis. Ask students to share their experiences with step-by-step reasoning and how it has helped them in their programming tasks. Key takeaways include improved code readability, reduced errors, and enhanced critical thinking skills.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teaching step-by-step reasoning, emphasize the importance of breaking down complex problems into manageable parts. Provide examples of how this approach can be applied in various programming languages and scenarios. Ask students to work in pairs to solve a problem using step-by-step reasoning and then discuss the solutions as a class. Key takeaways include understanding the role of algorithms, data structures, and debugging in the reasoning process.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Computer Science</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Recurrent Neural Networks, Undergraduate CS students, Analogies, Step-by-step reasoning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Used for time series forecasting and prediction</a:t>
            </a:r>
          </a:p>
          <a:p>
            <a:pPr>
              <a:defRPr sz="2000">
                <a:solidFill>
                  <a:srgbClr val="444444"/>
                </a:solidFill>
              </a:defRPr>
            </a:pPr>
            <a:r>
              <a:t>RNNs have feedback connections for memory</a:t>
            </a:r>
          </a:p>
          <a:p>
            <a:pPr>
              <a:defRPr sz="2000">
                <a:solidFill>
                  <a:srgbClr val="444444"/>
                </a:solidFill>
              </a:defRPr>
            </a:pPr>
            <a:r>
              <a:t>Train on sequential data like speech or text</a:t>
            </a:r>
          </a:p>
          <a:p>
            <a:pPr>
              <a:defRPr sz="2000">
                <a:solidFill>
                  <a:srgbClr val="444444"/>
                </a:solidFill>
              </a:defRPr>
            </a:pPr>
            <a:r>
              <a:t>RNNs learn patterns and relationships</a:t>
            </a:r>
          </a:p>
          <a:p>
            <a:pPr>
              <a:defRPr sz="2000">
                <a:solidFill>
                  <a:srgbClr val="444444"/>
                </a:solidFill>
              </a:defRPr>
            </a:pPr>
            <a:r>
              <a:t>Effective for natural language processing</a:t>
            </a:r>
          </a:p>
          <a:p>
            <a:pPr>
              <a:defRPr sz="2000">
                <a:solidFill>
                  <a:srgbClr val="444444"/>
                </a:solidFill>
              </a:defRPr>
            </a:pPr>
            <a:r>
              <a:t>Used in language translation and chatbots</a:t>
            </a:r>
          </a:p>
          <a:p>
            <a:pPr>
              <a:defRPr sz="2000">
                <a:solidFill>
                  <a:srgbClr val="444444"/>
                </a:solidFill>
              </a:defRPr>
            </a:pPr>
            <a:r>
              <a:t>Handle sequential data with variable length</a:t>
            </a:r>
          </a:p>
          <a:p>
            <a:pPr>
              <a:defRPr sz="2000">
                <a:solidFill>
                  <a:srgbClr val="444444"/>
                </a:solidFill>
              </a:defRPr>
            </a:pPr>
            <a:r>
              <a:t>Common applications include speech recognition</a:t>
            </a:r>
          </a:p>
        </p:txBody>
      </p:sp>
      <p:pic>
        <p:nvPicPr>
          <p:cNvPr id="4" name="Picture 3" descr="98a9190677a24a3aa9e79d0b2922231e_recurrent_neural_networks_undergraduate_.jpg"/>
          <p:cNvPicPr>
            <a:picLocks noChangeAspect="1"/>
          </p:cNvPicPr>
          <p:nvPr/>
        </p:nvPicPr>
        <p:blipFill>
          <a:blip r:embed="rId2"/>
          <a:stretch>
            <a:fillRect/>
          </a:stretch>
        </p:blipFill>
        <p:spPr>
          <a:xfrm>
            <a:off x="7315200" y="1828800"/>
            <a:ext cx="4114800" cy="25679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Useful for time series forecasting and analysis</a:t>
            </a:r>
          </a:p>
          <a:p>
            <a:pPr>
              <a:defRPr sz="2000">
                <a:solidFill>
                  <a:srgbClr val="444444"/>
                </a:solidFill>
              </a:defRPr>
            </a:pPr>
            <a:r>
              <a:t>Key component: feedback connections</a:t>
            </a:r>
          </a:p>
          <a:p>
            <a:pPr>
              <a:defRPr sz="2000">
                <a:solidFill>
                  <a:srgbClr val="444444"/>
                </a:solidFill>
              </a:defRPr>
            </a:pPr>
            <a:r>
              <a:t>Store information in internal state</a:t>
            </a:r>
          </a:p>
          <a:p>
            <a:pPr>
              <a:defRPr sz="2000">
                <a:solidFill>
                  <a:srgbClr val="444444"/>
                </a:solidFill>
              </a:defRPr>
            </a:pPr>
            <a:r>
              <a:t>Trained using backpropagation through time</a:t>
            </a:r>
          </a:p>
          <a:p>
            <a:pPr>
              <a:defRPr sz="2000">
                <a:solidFill>
                  <a:srgbClr val="444444"/>
                </a:solidFill>
              </a:defRPr>
            </a:pPr>
            <a:r>
              <a:t>Handle variable-length input sequences</a:t>
            </a:r>
          </a:p>
          <a:p>
            <a:pPr>
              <a:defRPr sz="2000">
                <a:solidFill>
                  <a:srgbClr val="444444"/>
                </a:solidFill>
              </a:defRPr>
            </a:pPr>
            <a:r>
              <a:t>Applications in natural language processing</a:t>
            </a:r>
          </a:p>
          <a:p>
            <a:pPr>
              <a:defRPr sz="2000">
                <a:solidFill>
                  <a:srgbClr val="444444"/>
                </a:solidFill>
              </a:defRPr>
            </a:pPr>
            <a:r>
              <a:t>Used in speech recognition systems</a:t>
            </a:r>
          </a:p>
          <a:p>
            <a:pPr>
              <a:defRPr sz="2000">
                <a:solidFill>
                  <a:srgbClr val="444444"/>
                </a:solidFill>
              </a:defRPr>
            </a:pPr>
            <a:r>
              <a:t>Effective for sentiment analysis tasks</a:t>
            </a:r>
          </a:p>
          <a:p>
            <a:pPr>
              <a:defRPr sz="2000">
                <a:solidFill>
                  <a:srgbClr val="444444"/>
                </a:solidFill>
              </a:defRPr>
            </a:pPr>
            <a:r>
              <a:t>Require careful tuning of hyperparameters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Recurrent Neural Networks - Architecture</a:t>
            </a:r>
          </a:p>
        </p:txBody>
      </p:sp>
      <p:sp>
        <p:nvSpPr>
          <p:cNvPr id="3" name="Content Placeholder 2"/>
          <p:cNvSpPr>
            <a:spLocks noGrp="1"/>
          </p:cNvSpPr>
          <p:nvPr>
            <p:ph idx="1"/>
          </p:nvPr>
        </p:nvSpPr>
        <p:spPr/>
        <p:txBody>
          <a:bodyPr/>
          <a:lstStyle/>
          <a:p>
            <a:pPr>
              <a:defRPr sz="2000">
                <a:solidFill>
                  <a:srgbClr val="444444"/>
                </a:solidFill>
              </a:defRPr>
            </a:pPr>
            <a:r>
              <a:t>Utilize sequential data for predictions and classification</a:t>
            </a:r>
          </a:p>
          <a:p>
            <a:pPr>
              <a:defRPr sz="2000">
                <a:solidFill>
                  <a:srgbClr val="444444"/>
                </a:solidFill>
              </a:defRPr>
            </a:pPr>
            <a:r>
              <a:t>Consist of input, hidden, and output layers</a:t>
            </a:r>
          </a:p>
          <a:p>
            <a:pPr>
              <a:defRPr sz="2000">
                <a:solidFill>
                  <a:srgbClr val="444444"/>
                </a:solidFill>
              </a:defRPr>
            </a:pPr>
            <a:r>
              <a:t>Hidden layers retain internal state</a:t>
            </a:r>
          </a:p>
          <a:p>
            <a:pPr>
              <a:defRPr sz="2000">
                <a:solidFill>
                  <a:srgbClr val="444444"/>
                </a:solidFill>
              </a:defRPr>
            </a:pPr>
            <a:r>
              <a:t>Feedback connections enable recurrent behavior</a:t>
            </a:r>
          </a:p>
          <a:p>
            <a:pPr>
              <a:defRPr sz="2000">
                <a:solidFill>
                  <a:srgbClr val="444444"/>
                </a:solidFill>
              </a:defRPr>
            </a:pPr>
            <a:r>
              <a:t>Training via backpropagation through time</a:t>
            </a:r>
          </a:p>
          <a:p>
            <a:pPr>
              <a:defRPr sz="2000">
                <a:solidFill>
                  <a:srgbClr val="444444"/>
                </a:solidFill>
              </a:defRPr>
            </a:pPr>
            <a:r>
              <a:t>Long short-term memory (LSTM) mitigates vanishing gradients</a:t>
            </a:r>
          </a:p>
          <a:p>
            <a:pPr>
              <a:defRPr sz="2000">
                <a:solidFill>
                  <a:srgbClr val="444444"/>
                </a:solidFill>
              </a:defRPr>
            </a:pPr>
            <a:r>
              <a:t>Gated recurrent units (GRU) simplify LSTM</a:t>
            </a:r>
          </a:p>
          <a:p>
            <a:pPr>
              <a:defRPr sz="2000">
                <a:solidFill>
                  <a:srgbClr val="444444"/>
                </a:solidFill>
              </a:defRPr>
            </a:pPr>
            <a:r>
              <a:t>Recurrent layers can be stacked for depth</a:t>
            </a:r>
          </a:p>
          <a:p>
            <a:pPr>
              <a:defRPr sz="2000">
                <a:solidFill>
                  <a:srgbClr val="444444"/>
                </a:solidFill>
              </a:defRPr>
            </a:pPr>
            <a:r>
              <a:t>Activation functions introduce non-linearity</a:t>
            </a:r>
          </a:p>
          <a:p>
            <a:pPr>
              <a:defRPr sz="2000">
                <a:solidFill>
                  <a:srgbClr val="444444"/>
                </a:solidFill>
              </a:defRPr>
            </a:pPr>
            <a:r>
              <a:t>Simple RNN equation: h_t = tanh(Wx_t + Uh_{t-1})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Undergraduate CS students - Introduction</a:t>
            </a:r>
          </a:p>
        </p:txBody>
      </p:sp>
      <p:sp>
        <p:nvSpPr>
          <p:cNvPr id="3" name="Content Placeholder 2"/>
          <p:cNvSpPr>
            <a:spLocks noGrp="1"/>
          </p:cNvSpPr>
          <p:nvPr>
            <p:ph idx="1"/>
          </p:nvPr>
        </p:nvSpPr>
        <p:spPr/>
        <p:txBody>
          <a:bodyPr/>
          <a:lstStyle/>
          <a:p>
            <a:pPr>
              <a:defRPr sz="2000">
                <a:solidFill>
                  <a:srgbClr val="444444"/>
                </a:solidFill>
              </a:defRPr>
            </a:pPr>
            <a:r>
              <a:t>Computer Science fundamentals for undergrads</a:t>
            </a:r>
          </a:p>
          <a:p>
            <a:pPr>
              <a:defRPr sz="2000">
                <a:solidFill>
                  <a:srgbClr val="444444"/>
                </a:solidFill>
              </a:defRPr>
            </a:pPr>
            <a:r>
              <a:t>Programming languages like Python and Java</a:t>
            </a:r>
          </a:p>
          <a:p>
            <a:pPr>
              <a:defRPr sz="2000">
                <a:solidFill>
                  <a:srgbClr val="444444"/>
                </a:solidFill>
              </a:defRPr>
            </a:pPr>
            <a:r>
              <a:t>Data structures and algorithms basics</a:t>
            </a:r>
          </a:p>
          <a:p>
            <a:pPr>
              <a:defRPr sz="2000">
                <a:solidFill>
                  <a:srgbClr val="444444"/>
                </a:solidFill>
              </a:defRPr>
            </a:pPr>
            <a:r>
              <a:t>Software engineering principles and practices</a:t>
            </a:r>
          </a:p>
          <a:p>
            <a:pPr>
              <a:defRPr sz="2000">
                <a:solidFill>
                  <a:srgbClr val="444444"/>
                </a:solidFill>
              </a:defRPr>
            </a:pPr>
            <a:r>
              <a:t>Computer systems and architecture overview</a:t>
            </a:r>
          </a:p>
          <a:p>
            <a:pPr>
              <a:defRPr sz="2000">
                <a:solidFill>
                  <a:srgbClr val="444444"/>
                </a:solidFill>
              </a:defRPr>
            </a:pPr>
            <a:r>
              <a:t>Discrete math and statistics for CS students</a:t>
            </a:r>
          </a:p>
          <a:p>
            <a:pPr>
              <a:defRPr sz="2000">
                <a:solidFill>
                  <a:srgbClr val="444444"/>
                </a:solidFill>
              </a:defRPr>
            </a:pPr>
            <a:r>
              <a:t>Introduction to databases and SQL</a:t>
            </a:r>
          </a:p>
          <a:p>
            <a:pPr>
              <a:defRPr sz="2000">
                <a:solidFill>
                  <a:srgbClr val="444444"/>
                </a:solidFill>
              </a:defRPr>
            </a:pPr>
            <a:r>
              <a:t>Web development and user interface design</a:t>
            </a:r>
          </a:p>
          <a:p>
            <a:pPr>
              <a:defRPr sz="2000">
                <a:solidFill>
                  <a:srgbClr val="444444"/>
                </a:solidFill>
              </a:defRPr>
            </a:pPr>
            <a:r>
              <a:t>Career paths and job opportunities in CS</a:t>
            </a:r>
          </a:p>
          <a:p>
            <a:pPr>
              <a:defRPr sz="2000">
                <a:solidFill>
                  <a:srgbClr val="444444"/>
                </a:solidFill>
              </a:defRPr>
            </a:pPr>
            <a:r>
              <a:t>Importance of CS in real-world applications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Undergraduate CS students - Introduction</a:t>
            </a:r>
          </a:p>
        </p:txBody>
      </p:sp>
      <p:sp>
        <p:nvSpPr>
          <p:cNvPr id="3" name="Content Placeholder 2"/>
          <p:cNvSpPr>
            <a:spLocks noGrp="1"/>
          </p:cNvSpPr>
          <p:nvPr>
            <p:ph idx="1"/>
          </p:nvPr>
        </p:nvSpPr>
        <p:spPr/>
        <p:txBody>
          <a:bodyPr/>
          <a:lstStyle/>
          <a:p>
            <a:pPr>
              <a:defRPr sz="2000">
                <a:solidFill>
                  <a:srgbClr val="444444"/>
                </a:solidFill>
              </a:defRPr>
            </a:pPr>
            <a:r>
              <a:t>Undergraduate CS programs focus on foundational skills</a:t>
            </a:r>
          </a:p>
          <a:p>
            <a:pPr>
              <a:defRPr sz="2000">
                <a:solidFill>
                  <a:srgbClr val="444444"/>
                </a:solidFill>
              </a:defRPr>
            </a:pPr>
            <a:r>
              <a:t>Programming languages like Python, Java, C++ are taught</a:t>
            </a:r>
          </a:p>
          <a:p>
            <a:pPr>
              <a:defRPr sz="2000">
                <a:solidFill>
                  <a:srgbClr val="444444"/>
                </a:solidFill>
              </a:defRPr>
            </a:pPr>
            <a:r>
              <a:t>Data structures and algorithms are core courses</a:t>
            </a:r>
          </a:p>
          <a:p>
            <a:pPr>
              <a:defRPr sz="2000">
                <a:solidFill>
                  <a:srgbClr val="444444"/>
                </a:solidFill>
              </a:defRPr>
            </a:pPr>
            <a:r>
              <a:t>Computer systems and architecture are explored</a:t>
            </a:r>
          </a:p>
          <a:p>
            <a:pPr>
              <a:defRPr sz="2000">
                <a:solidFill>
                  <a:srgbClr val="444444"/>
                </a:solidFill>
              </a:defRPr>
            </a:pPr>
            <a:r>
              <a:t>Software engineering principles are introduced</a:t>
            </a:r>
          </a:p>
          <a:p>
            <a:pPr>
              <a:defRPr sz="2000">
                <a:solidFill>
                  <a:srgbClr val="444444"/>
                </a:solidFill>
              </a:defRPr>
            </a:pPr>
            <a:r>
              <a:t>Web development and database systems are covered</a:t>
            </a:r>
          </a:p>
          <a:p>
            <a:pPr>
              <a:defRPr sz="2000">
                <a:solidFill>
                  <a:srgbClr val="444444"/>
                </a:solidFill>
              </a:defRPr>
            </a:pPr>
            <a:r>
              <a:t>Discrete math and computer theory are essential</a:t>
            </a:r>
          </a:p>
          <a:p>
            <a:pPr>
              <a:defRPr sz="2000">
                <a:solidFill>
                  <a:srgbClr val="444444"/>
                </a:solidFill>
              </a:defRPr>
            </a:pPr>
            <a:r>
              <a:t>CS students learn problem-solving and critical thinking</a:t>
            </a:r>
          </a:p>
          <a:p>
            <a:pPr>
              <a:defRPr sz="2000">
                <a:solidFill>
                  <a:srgbClr val="444444"/>
                </a:solidFill>
              </a:defRPr>
            </a:pPr>
            <a:r>
              <a:t>Collaboration and teamwork are emphasized through projects</a:t>
            </a:r>
          </a:p>
          <a:p>
            <a:pPr>
              <a:defRPr sz="2000">
                <a:solidFill>
                  <a:srgbClr val="444444"/>
                </a:solidFill>
              </a:defRPr>
            </a:pPr>
            <a:r>
              <a:t>Career paths include software development, data science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Undergraduate CS students - Curriculum Overview</a:t>
            </a:r>
          </a:p>
        </p:txBody>
      </p:sp>
      <p:sp>
        <p:nvSpPr>
          <p:cNvPr id="3" name="Content Placeholder 2"/>
          <p:cNvSpPr>
            <a:spLocks noGrp="1"/>
          </p:cNvSpPr>
          <p:nvPr>
            <p:ph idx="1"/>
          </p:nvPr>
        </p:nvSpPr>
        <p:spPr/>
        <p:txBody>
          <a:bodyPr/>
          <a:lstStyle/>
          <a:p>
            <a:pPr>
              <a:defRPr sz="2000">
                <a:solidFill>
                  <a:srgbClr val="444444"/>
                </a:solidFill>
              </a:defRPr>
            </a:pPr>
            <a:r>
              <a:t>Introduction to programming languages like Python, Java</a:t>
            </a:r>
          </a:p>
          <a:p>
            <a:pPr>
              <a:defRPr sz="2000">
                <a:solidFill>
                  <a:srgbClr val="444444"/>
                </a:solidFill>
              </a:defRPr>
            </a:pPr>
            <a:r>
              <a:t>Data structures and algorithms courses</a:t>
            </a:r>
          </a:p>
          <a:p>
            <a:pPr>
              <a:defRPr sz="2000">
                <a:solidFill>
                  <a:srgbClr val="444444"/>
                </a:solidFill>
              </a:defRPr>
            </a:pPr>
            <a:r>
              <a:t>Computer systems and architecture fundamentals</a:t>
            </a:r>
          </a:p>
          <a:p>
            <a:pPr>
              <a:defRPr sz="2000">
                <a:solidFill>
                  <a:srgbClr val="444444"/>
                </a:solidFill>
              </a:defRPr>
            </a:pPr>
            <a:r>
              <a:t>Software engineering principles and practices</a:t>
            </a:r>
          </a:p>
          <a:p>
            <a:pPr>
              <a:defRPr sz="2000">
                <a:solidFill>
                  <a:srgbClr val="444444"/>
                </a:solidFill>
              </a:defRPr>
            </a:pPr>
            <a:r>
              <a:t>Discrete mathematics for CS applications</a:t>
            </a:r>
          </a:p>
          <a:p>
            <a:pPr>
              <a:defRPr sz="2000">
                <a:solidFill>
                  <a:srgbClr val="444444"/>
                </a:solidFill>
              </a:defRPr>
            </a:pPr>
            <a:r>
              <a:t>Computer networks and cybersecurity basics</a:t>
            </a:r>
          </a:p>
          <a:p>
            <a:pPr>
              <a:defRPr sz="2000">
                <a:solidFill>
                  <a:srgbClr val="444444"/>
                </a:solidFill>
              </a:defRPr>
            </a:pPr>
            <a:r>
              <a:t>Database management systems and SQL</a:t>
            </a:r>
          </a:p>
          <a:p>
            <a:pPr>
              <a:defRPr sz="2000">
                <a:solidFill>
                  <a:srgbClr val="444444"/>
                </a:solidFill>
              </a:defRPr>
            </a:pPr>
            <a:r>
              <a:t>Web development and user interface design</a:t>
            </a:r>
          </a:p>
          <a:p>
            <a:pPr>
              <a:defRPr sz="2000">
                <a:solidFill>
                  <a:srgbClr val="444444"/>
                </a:solidFill>
              </a:defRPr>
            </a:pPr>
            <a:r>
              <a:t>Artificial intelligence and machine learning intro</a:t>
            </a:r>
          </a:p>
          <a:p>
            <a:pPr>
              <a:defRPr sz="2000">
                <a:solidFill>
                  <a:srgbClr val="444444"/>
                </a:solidFill>
              </a:defRPr>
            </a:pPr>
            <a:r>
              <a:t>Capstone projects for real-world applications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Analogies - Introduction</a:t>
            </a:r>
          </a:p>
        </p:txBody>
      </p:sp>
      <p:sp>
        <p:nvSpPr>
          <p:cNvPr id="3" name="Content Placeholder 2"/>
          <p:cNvSpPr>
            <a:spLocks noGrp="1"/>
          </p:cNvSpPr>
          <p:nvPr>
            <p:ph idx="1"/>
          </p:nvPr>
        </p:nvSpPr>
        <p:spPr/>
        <p:txBody>
          <a:bodyPr/>
          <a:lstStyle/>
          <a:p>
            <a:pPr>
              <a:defRPr sz="2000">
                <a:solidFill>
                  <a:srgbClr val="444444"/>
                </a:solidFill>
              </a:defRPr>
            </a:pPr>
            <a:r>
              <a:t>Analogies in computer science enable problem solving</a:t>
            </a:r>
          </a:p>
          <a:p>
            <a:pPr>
              <a:defRPr sz="2000">
                <a:solidFill>
                  <a:srgbClr val="444444"/>
                </a:solidFill>
              </a:defRPr>
            </a:pPr>
            <a:r>
              <a:t>Relate complex concepts to familiar ideas</a:t>
            </a:r>
          </a:p>
          <a:p>
            <a:pPr>
              <a:defRPr sz="2000">
                <a:solidFill>
                  <a:srgbClr val="444444"/>
                </a:solidFill>
              </a:defRPr>
            </a:pPr>
            <a:r>
              <a:t>Enhance understanding of abstract principles</a:t>
            </a:r>
          </a:p>
          <a:p>
            <a:pPr>
              <a:defRPr sz="2000">
                <a:solidFill>
                  <a:srgbClr val="444444"/>
                </a:solidFill>
              </a:defRPr>
            </a:pPr>
            <a:r>
              <a:t>Facilitate learning through comparisons</a:t>
            </a:r>
          </a:p>
          <a:p>
            <a:pPr>
              <a:defRPr sz="2000">
                <a:solidFill>
                  <a:srgbClr val="444444"/>
                </a:solidFill>
              </a:defRPr>
            </a:pPr>
            <a:r>
              <a:t>Used in algorithms and data structures</a:t>
            </a:r>
          </a:p>
          <a:p>
            <a:pPr>
              <a:defRPr sz="2000">
                <a:solidFill>
                  <a:srgbClr val="444444"/>
                </a:solidFill>
              </a:defRPr>
            </a:pPr>
            <a:r>
              <a:t>Improve code readability and maintainability</a:t>
            </a:r>
          </a:p>
          <a:p>
            <a:pPr>
              <a:defRPr sz="2000">
                <a:solidFill>
                  <a:srgbClr val="444444"/>
                </a:solidFill>
              </a:defRPr>
            </a:pPr>
            <a:r>
              <a:t>Analogies aid in software design patterns</a:t>
            </a:r>
          </a:p>
          <a:p>
            <a:pPr>
              <a:defRPr sz="2000">
                <a:solidFill>
                  <a:srgbClr val="444444"/>
                </a:solidFill>
              </a:defRPr>
            </a:pPr>
            <a:r>
              <a:t>Real-world examples include file systems</a:t>
            </a:r>
          </a:p>
          <a:p>
            <a:pPr>
              <a:defRPr sz="2000">
                <a:solidFill>
                  <a:srgbClr val="444444"/>
                </a:solidFill>
              </a:defRPr>
            </a:pPr>
            <a:r>
              <a:t>Analogies simplify complex network architectures</a:t>
            </a:r>
          </a:p>
          <a:p>
            <a:pPr>
              <a:defRPr sz="2000">
                <a:solidFill>
                  <a:srgbClr val="444444"/>
                </a:solidFill>
              </a:defRPr>
            </a:pPr>
            <a:r>
              <a:t>Enable efficient communication of ideas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Analogies - Introduction</a:t>
            </a:r>
          </a:p>
        </p:txBody>
      </p:sp>
      <p:sp>
        <p:nvSpPr>
          <p:cNvPr id="3" name="Content Placeholder 2"/>
          <p:cNvSpPr>
            <a:spLocks noGrp="1"/>
          </p:cNvSpPr>
          <p:nvPr>
            <p:ph idx="1"/>
          </p:nvPr>
        </p:nvSpPr>
        <p:spPr/>
        <p:txBody>
          <a:bodyPr/>
          <a:lstStyle/>
          <a:p>
            <a:pPr>
              <a:defRPr sz="2000">
                <a:solidFill>
                  <a:srgbClr val="444444"/>
                </a:solidFill>
              </a:defRPr>
            </a:pPr>
            <a:r>
              <a:t>Analogies compare two concepts to understand relationships</a:t>
            </a:r>
          </a:p>
          <a:p>
            <a:pPr>
              <a:defRPr sz="2000">
                <a:solidFill>
                  <a:srgbClr val="444444"/>
                </a:solidFill>
              </a:defRPr>
            </a:pPr>
            <a:r>
              <a:t>Helps in problem-solving and knowledge representation</a:t>
            </a:r>
          </a:p>
          <a:p>
            <a:pPr>
              <a:defRPr sz="2000">
                <a:solidFill>
                  <a:srgbClr val="444444"/>
                </a:solidFill>
              </a:defRPr>
            </a:pPr>
            <a:r>
              <a:t>Used in artificial intelligence and machine learning</a:t>
            </a:r>
          </a:p>
          <a:p>
            <a:pPr>
              <a:defRPr sz="2000">
                <a:solidFill>
                  <a:srgbClr val="444444"/>
                </a:solidFill>
              </a:defRPr>
            </a:pPr>
            <a:r>
              <a:t>Enables pattern recognition and prediction</a:t>
            </a:r>
          </a:p>
          <a:p>
            <a:pPr>
              <a:defRPr sz="2000">
                <a:solidFill>
                  <a:srgbClr val="444444"/>
                </a:solidFill>
              </a:defRPr>
            </a:pPr>
            <a:r>
              <a:t>Applies to natural language processing and computer vision</a:t>
            </a:r>
          </a:p>
          <a:p>
            <a:pPr>
              <a:defRPr sz="2000">
                <a:solidFill>
                  <a:srgbClr val="444444"/>
                </a:solidFill>
              </a:defRPr>
            </a:pPr>
            <a:r>
              <a:t>Facilitates human-computer interaction and interfaces</a:t>
            </a:r>
          </a:p>
          <a:p>
            <a:pPr>
              <a:defRPr sz="2000">
                <a:solidFill>
                  <a:srgbClr val="444444"/>
                </a:solidFill>
              </a:defRPr>
            </a:pPr>
            <a:r>
              <a:t>Supports decision-making and reasoning systems</a:t>
            </a:r>
          </a:p>
          <a:p>
            <a:pPr>
              <a:defRPr sz="2000">
                <a:solidFill>
                  <a:srgbClr val="444444"/>
                </a:solidFill>
              </a:defRPr>
            </a:pPr>
            <a:r>
              <a:t>Enhances data analysis and visualization techniques</a:t>
            </a:r>
          </a:p>
          <a:p>
            <a:pPr>
              <a:defRPr sz="2000">
                <a:solidFill>
                  <a:srgbClr val="444444"/>
                </a:solidFill>
              </a:defRPr>
            </a:pPr>
            <a:r>
              <a:t>Improves software design and development methodologies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Analogies - Applications</a:t>
            </a:r>
          </a:p>
        </p:txBody>
      </p:sp>
      <p:sp>
        <p:nvSpPr>
          <p:cNvPr id="3" name="Content Placeholder 2"/>
          <p:cNvSpPr>
            <a:spLocks noGrp="1"/>
          </p:cNvSpPr>
          <p:nvPr>
            <p:ph idx="1"/>
          </p:nvPr>
        </p:nvSpPr>
        <p:spPr/>
        <p:txBody>
          <a:bodyPr/>
          <a:lstStyle/>
          <a:p>
            <a:pPr>
              <a:defRPr sz="2000">
                <a:solidFill>
                  <a:srgbClr val="444444"/>
                </a:solidFill>
              </a:defRPr>
            </a:pPr>
            <a:r>
              <a:t>Analogies used in machine learning for pattern recognition</a:t>
            </a:r>
          </a:p>
          <a:p>
            <a:pPr>
              <a:defRPr sz="2000">
                <a:solidFill>
                  <a:srgbClr val="444444"/>
                </a:solidFill>
              </a:defRPr>
            </a:pPr>
            <a:r>
              <a:t>Natural language processing relies on analogies for language understanding</a:t>
            </a:r>
          </a:p>
          <a:p>
            <a:pPr>
              <a:defRPr sz="2000">
                <a:solidFill>
                  <a:srgbClr val="444444"/>
                </a:solidFill>
              </a:defRPr>
            </a:pPr>
            <a:r>
              <a:t>Computer vision applies analogies for image and object recognition</a:t>
            </a:r>
          </a:p>
          <a:p>
            <a:pPr>
              <a:defRPr sz="2000">
                <a:solidFill>
                  <a:srgbClr val="444444"/>
                </a:solidFill>
              </a:defRPr>
            </a:pPr>
            <a:r>
              <a:t>Analogies in data mining for predictive modeling and analysis</a:t>
            </a:r>
          </a:p>
          <a:p>
            <a:pPr>
              <a:defRPr sz="2000">
                <a:solidFill>
                  <a:srgbClr val="444444"/>
                </a:solidFill>
              </a:defRPr>
            </a:pPr>
            <a:r>
              <a:t>Artificial intelligence uses analogies for decision-making and problem-solving</a:t>
            </a:r>
          </a:p>
          <a:p>
            <a:pPr>
              <a:defRPr sz="2000">
                <a:solidFill>
                  <a:srgbClr val="444444"/>
                </a:solidFill>
              </a:defRPr>
            </a:pPr>
            <a:r>
              <a:t>Analogies in software engineering for design patterns and development</a:t>
            </a:r>
          </a:p>
          <a:p>
            <a:pPr>
              <a:defRPr sz="2000">
                <a:solidFill>
                  <a:srgbClr val="444444"/>
                </a:solidFill>
              </a:defRPr>
            </a:pPr>
            <a:r>
              <a:t>Cognitive architectures utilize analogies for human-computer interaction</a:t>
            </a:r>
          </a:p>
          <a:p>
            <a:pPr>
              <a:defRPr sz="2000">
                <a:solidFill>
                  <a:srgbClr val="444444"/>
                </a:solidFill>
              </a:defRPr>
            </a:pPr>
            <a:r>
              <a:t>Analogies in computer networks for routing and protocol development</a:t>
            </a:r>
          </a:p>
          <a:p>
            <a:pPr>
              <a:defRPr sz="2000">
                <a:solidFill>
                  <a:srgbClr val="444444"/>
                </a:solidFill>
              </a:defRPr>
            </a:pPr>
            <a:r>
              <a:t>Analogies applied in database systems for query optimization</a:t>
            </a:r>
          </a:p>
          <a:p>
            <a:pPr>
              <a:defRPr sz="2000">
                <a:solidFill>
                  <a:srgbClr val="444444"/>
                </a:solidFill>
              </a:defRPr>
            </a:pPr>
            <a:r>
              <a:t>Analogies in human-computer interaction for interface design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Step-by-step reasoning - Introduction</a:t>
            </a:r>
          </a:p>
        </p:txBody>
      </p:sp>
      <p:sp>
        <p:nvSpPr>
          <p:cNvPr id="3" name="Content Placeholder 2"/>
          <p:cNvSpPr>
            <a:spLocks noGrp="1"/>
          </p:cNvSpPr>
          <p:nvPr>
            <p:ph idx="1"/>
          </p:nvPr>
        </p:nvSpPr>
        <p:spPr/>
        <p:txBody>
          <a:bodyPr/>
          <a:lstStyle/>
          <a:p>
            <a:pPr>
              <a:defRPr sz="2000">
                <a:solidFill>
                  <a:srgbClr val="444444"/>
                </a:solidFill>
              </a:defRPr>
            </a:pPr>
            <a:r>
              <a:t>Define step-by-step reasoning as problem-solving method</a:t>
            </a:r>
          </a:p>
          <a:p>
            <a:pPr>
              <a:defRPr sz="2000">
                <a:solidFill>
                  <a:srgbClr val="444444"/>
                </a:solidFill>
              </a:defRPr>
            </a:pPr>
            <a:r>
              <a:t>Involve breaking down complex problems into smaller parts</a:t>
            </a:r>
          </a:p>
          <a:p>
            <a:pPr>
              <a:defRPr sz="2000">
                <a:solidFill>
                  <a:srgbClr val="444444"/>
                </a:solidFill>
              </a:defRPr>
            </a:pPr>
            <a:r>
              <a:t>Use logical reasoning to derive solutions</a:t>
            </a:r>
          </a:p>
          <a:p>
            <a:pPr>
              <a:defRPr sz="2000">
                <a:solidFill>
                  <a:srgbClr val="444444"/>
                </a:solidFill>
              </a:defRPr>
            </a:pPr>
            <a:r>
              <a:t>Apply to various computer science domains</a:t>
            </a:r>
          </a:p>
          <a:p>
            <a:pPr>
              <a:defRPr sz="2000">
                <a:solidFill>
                  <a:srgbClr val="444444"/>
                </a:solidFill>
              </a:defRPr>
            </a:pPr>
            <a:r>
              <a:t>Enhance critical thinking and analytical skills</a:t>
            </a:r>
          </a:p>
          <a:p>
            <a:pPr>
              <a:defRPr sz="2000">
                <a:solidFill>
                  <a:srgbClr val="444444"/>
                </a:solidFill>
              </a:defRPr>
            </a:pPr>
            <a:r>
              <a:t>Improve code readability and maintainability</a:t>
            </a:r>
          </a:p>
          <a:p>
            <a:pPr>
              <a:defRPr sz="2000">
                <a:solidFill>
                  <a:srgbClr val="444444"/>
                </a:solidFill>
              </a:defRPr>
            </a:pPr>
            <a:r>
              <a:t>Essential for debugging and testing</a:t>
            </a:r>
          </a:p>
          <a:p>
            <a:pPr>
              <a:defRPr sz="2000">
                <a:solidFill>
                  <a:srgbClr val="444444"/>
                </a:solidFill>
              </a:defRPr>
            </a:pPr>
            <a:r>
              <a:t>Foster creative problem-solving approaches</a:t>
            </a:r>
          </a:p>
          <a:p>
            <a:pPr>
              <a:defRPr sz="2000">
                <a:solidFill>
                  <a:srgbClr val="444444"/>
                </a:solidFill>
              </a:defRPr>
            </a:pPr>
            <a:r>
              <a:t>Develop algorithmic thinking patterns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Step-by-step reasoning - Introduction</a:t>
            </a:r>
          </a:p>
        </p:txBody>
      </p:sp>
      <p:sp>
        <p:nvSpPr>
          <p:cNvPr id="3" name="Content Placeholder 2"/>
          <p:cNvSpPr>
            <a:spLocks noGrp="1"/>
          </p:cNvSpPr>
          <p:nvPr>
            <p:ph idx="1"/>
          </p:nvPr>
        </p:nvSpPr>
        <p:spPr/>
        <p:txBody>
          <a:bodyPr/>
          <a:lstStyle/>
          <a:p>
            <a:pPr>
              <a:defRPr sz="2000">
                <a:solidFill>
                  <a:srgbClr val="444444"/>
                </a:solidFill>
              </a:defRPr>
            </a:pPr>
            <a:r>
              <a:t>Definition: Breaking down problems into smaller steps</a:t>
            </a:r>
          </a:p>
          <a:p>
            <a:pPr>
              <a:defRPr sz="2000">
                <a:solidFill>
                  <a:srgbClr val="444444"/>
                </a:solidFill>
              </a:defRPr>
            </a:pPr>
            <a:r>
              <a:t>Importance: Enhances problem-solving skills in CS</a:t>
            </a:r>
          </a:p>
          <a:p>
            <a:pPr>
              <a:defRPr sz="2000">
                <a:solidFill>
                  <a:srgbClr val="444444"/>
                </a:solidFill>
              </a:defRPr>
            </a:pPr>
            <a:r>
              <a:t>Key aspect: Logical thinking and analysis</a:t>
            </a:r>
          </a:p>
          <a:p>
            <a:pPr>
              <a:defRPr sz="2000">
                <a:solidFill>
                  <a:srgbClr val="444444"/>
                </a:solidFill>
              </a:defRPr>
            </a:pPr>
            <a:r>
              <a:t>Real-world application: Debugging code and algorithms</a:t>
            </a:r>
          </a:p>
          <a:p>
            <a:pPr>
              <a:defRPr sz="2000">
                <a:solidFill>
                  <a:srgbClr val="444444"/>
                </a:solidFill>
              </a:defRPr>
            </a:pPr>
            <a:r>
              <a:t>Improves code readability and maintainability</a:t>
            </a:r>
          </a:p>
          <a:p>
            <a:pPr>
              <a:defRPr sz="2000">
                <a:solidFill>
                  <a:srgbClr val="444444"/>
                </a:solidFill>
              </a:defRPr>
            </a:pPr>
            <a:r>
              <a:t>Reduces errors and bugs in programming</a:t>
            </a:r>
          </a:p>
          <a:p>
            <a:pPr>
              <a:defRPr sz="2000">
                <a:solidFill>
                  <a:srgbClr val="444444"/>
                </a:solidFill>
              </a:defRPr>
            </a:pPr>
            <a:r>
              <a:t>Enables efficient use of computational resources</a:t>
            </a:r>
          </a:p>
          <a:p>
            <a:pPr>
              <a:defRPr sz="2000">
                <a:solidFill>
                  <a:srgbClr val="444444"/>
                </a:solidFill>
              </a:defRPr>
            </a:pPr>
            <a:r>
              <a:t>Applies to various CS fields, including AI and data science</a:t>
            </a:r>
          </a:p>
          <a:p>
            <a:pPr>
              <a:defRPr sz="2000">
                <a:solidFill>
                  <a:srgbClr val="444444"/>
                </a:solidFill>
              </a:defRPr>
            </a:pPr>
            <a:r>
              <a:t>Develops critical thinking and analytical skills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Step-by-step reasoning - Fundamentals</a:t>
            </a:r>
          </a:p>
        </p:txBody>
      </p:sp>
      <p:sp>
        <p:nvSpPr>
          <p:cNvPr id="3" name="Content Placeholder 2"/>
          <p:cNvSpPr>
            <a:spLocks noGrp="1"/>
          </p:cNvSpPr>
          <p:nvPr>
            <p:ph idx="1"/>
          </p:nvPr>
        </p:nvSpPr>
        <p:spPr/>
        <p:txBody>
          <a:bodyPr/>
          <a:lstStyle/>
          <a:p>
            <a:pPr>
              <a:defRPr sz="2000">
                <a:solidFill>
                  <a:srgbClr val="444444"/>
                </a:solidFill>
              </a:defRPr>
            </a:pPr>
            <a:r>
              <a:t>Define problem-solving approach in computer science</a:t>
            </a:r>
          </a:p>
          <a:p>
            <a:pPr>
              <a:defRPr sz="2000">
                <a:solidFill>
                  <a:srgbClr val="444444"/>
                </a:solidFill>
              </a:defRPr>
            </a:pPr>
            <a:r>
              <a:t>Break down complex problems into smaller steps</a:t>
            </a:r>
          </a:p>
          <a:p>
            <a:pPr>
              <a:defRPr sz="2000">
                <a:solidFill>
                  <a:srgbClr val="444444"/>
                </a:solidFill>
              </a:defRPr>
            </a:pPr>
            <a:r>
              <a:t>Analyze each step for logical reasoning</a:t>
            </a:r>
          </a:p>
          <a:p>
            <a:pPr>
              <a:defRPr sz="2000">
                <a:solidFill>
                  <a:srgbClr val="444444"/>
                </a:solidFill>
              </a:defRPr>
            </a:pPr>
            <a:r>
              <a:t>Apply algorithms and data structures concepts</a:t>
            </a:r>
          </a:p>
          <a:p>
            <a:pPr>
              <a:defRPr sz="2000">
                <a:solidFill>
                  <a:srgbClr val="444444"/>
                </a:solidFill>
              </a:defRPr>
            </a:pPr>
            <a:r>
              <a:t>Evaluate solutions using test cases and examples</a:t>
            </a:r>
          </a:p>
          <a:p>
            <a:pPr>
              <a:defRPr sz="2000">
                <a:solidFill>
                  <a:srgbClr val="444444"/>
                </a:solidFill>
              </a:defRPr>
            </a:pPr>
            <a:r>
              <a:t>Use debugging techniques to identify errors</a:t>
            </a:r>
          </a:p>
          <a:p>
            <a:pPr>
              <a:defRPr sz="2000">
                <a:solidFill>
                  <a:srgbClr val="444444"/>
                </a:solidFill>
              </a:defRPr>
            </a:pPr>
            <a:r>
              <a:t>Implement recursive and iterative methods</a:t>
            </a:r>
          </a:p>
          <a:p>
            <a:pPr>
              <a:defRPr sz="2000">
                <a:solidFill>
                  <a:srgbClr val="444444"/>
                </a:solidFill>
              </a:defRPr>
            </a:pPr>
            <a:r>
              <a:t>Apply step-by-step reasoning in programming languages</a:t>
            </a:r>
          </a:p>
          <a:p>
            <a:pPr>
              <a:defRPr sz="2000">
                <a:solidFill>
                  <a:srgbClr val="444444"/>
                </a:solidFill>
              </a:defRPr>
            </a:pPr>
            <a:r>
              <a:t>Consider time and space complexity in solutions</a:t>
            </a:r>
          </a:p>
          <a:p>
            <a:pPr>
              <a:defRPr sz="2000">
                <a:solidFill>
                  <a:srgbClr val="444444"/>
                </a:solidFill>
              </a:defRPr>
            </a:pPr>
            <a:r>
              <a:t>Use real-world examples to illustrate reasoning process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