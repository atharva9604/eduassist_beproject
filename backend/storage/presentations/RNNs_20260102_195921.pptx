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RNNs, explaining their use in sequential data processing. Provide examples of time-series forecasting and language modeling. Ask students if they have any experience with RNNs or deep 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components of a simple RNN architecture, including the input layer, hidden layer, and output layer. Describe the feedback connections and activation functions used. Ask students to consider the limitations of simple RNNs and how they can be improved upon.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Provide a mathematical formulation of RNNs, explaining the recursive function and how the hidden state is updated. Describe the backpropagation through time (BPTT) algorithm and its computational expense. Ask students to consider the importance of regularization techniques in preventing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vanishing gradient problem, describing how gradients are used to update weights during backpropagation. Discuss the effects of vanishing gradients on learning and provide potential solutions, such as gradient clipping and normalization. Ask students to consider the importance of mitigating vanishing gradients in deep 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This slide will be replaced with user-provided content. Please insert the content for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including the basics of RNNs, their limitations, and their applications. Ask students to consider the importance of RNNs in deep learning and their potential uses in real-world problems. Provide examples of how RNNs can be used in different fields, such as speech recognition and natural language processing.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introduction</a:t>
            </a:r>
          </a:p>
          <a:p>
            <a:pPr>
              <a:defRPr sz="2000">
                <a:solidFill>
                  <a:srgbClr val="444444"/>
                </a:solidFill>
              </a:defRPr>
            </a:pPr>
            <a:r>
              <a:t>RNNs used for sequential data processing</a:t>
            </a:r>
          </a:p>
          <a:p>
            <a:pPr>
              <a:defRPr sz="2000">
                <a:solidFill>
                  <a:srgbClr val="444444"/>
                </a:solidFill>
              </a:defRPr>
            </a:pPr>
            <a:r>
              <a:t>Time-series forecasting and language modeling</a:t>
            </a:r>
          </a:p>
          <a:p>
            <a:pPr>
              <a:defRPr sz="2000">
                <a:solidFill>
                  <a:srgbClr val="444444"/>
                </a:solidFill>
              </a:defRPr>
            </a:pPr>
            <a:r>
              <a:t>RNNs have feedback connections, allowing information retention</a:t>
            </a:r>
          </a:p>
          <a:p>
            <a:pPr>
              <a:defRPr sz="2000">
                <a:solidFill>
                  <a:srgbClr val="444444"/>
                </a:solidFill>
              </a:defRPr>
            </a:pPr>
            <a:r>
              <a:t>Simple to complex RNN architectures exist</a:t>
            </a:r>
          </a:p>
          <a:p>
            <a:pPr>
              <a:defRPr sz="2000">
                <a:solidFill>
                  <a:srgbClr val="444444"/>
                </a:solidFill>
              </a:defRPr>
            </a:pPr>
            <a:r>
              <a:t>RNNs are a type of deep learning model</a:t>
            </a:r>
          </a:p>
          <a:p>
            <a:pPr>
              <a:defRPr sz="2000">
                <a:solidFill>
                  <a:srgbClr val="444444"/>
                </a:solidFill>
              </a:defRPr>
            </a:pPr>
            <a:r>
              <a:t>Used in natural language processing and speech recognition</a:t>
            </a:r>
          </a:p>
          <a:p>
            <a:pPr>
              <a:defRPr sz="2000">
                <a:solidFill>
                  <a:srgbClr val="444444"/>
                </a:solidFill>
              </a:defRPr>
            </a:pPr>
            <a:r>
              <a:t>Can learn long-term dependencies in data</a:t>
            </a:r>
          </a:p>
          <a:p>
            <a:pPr>
              <a:defRPr sz="2000">
                <a:solidFill>
                  <a:srgbClr val="444444"/>
                </a:solidFill>
              </a:defRPr>
            </a:pPr>
            <a:r>
              <a:t>Have been used in many applications, including text generation</a:t>
            </a:r>
          </a:p>
        </p:txBody>
      </p:sp>
      <p:pic>
        <p:nvPicPr>
          <p:cNvPr id="4" name="Picture 3" descr="87979378660e4b898cb1cd1967337886_rnns_deep_learning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Simple RNN Architecture</a:t>
            </a:r>
          </a:p>
        </p:txBody>
      </p:sp>
      <p:sp>
        <p:nvSpPr>
          <p:cNvPr id="3" name="Content Placeholder 2"/>
          <p:cNvSpPr>
            <a:spLocks noGrp="1"/>
          </p:cNvSpPr>
          <p:nvPr>
            <p:ph idx="1"/>
          </p:nvPr>
        </p:nvSpPr>
        <p:spPr/>
        <p:txBody>
          <a:bodyPr/>
          <a:lstStyle/>
          <a:p>
            <a:pPr>
              <a:defRPr sz="2000">
                <a:solidFill>
                  <a:srgbClr val="444444"/>
                </a:solidFill>
              </a:defRPr>
            </a:pPr>
            <a:r>
              <a:t>A simple RNN processes sequences step by step, sharing weights across time</a:t>
            </a:r>
          </a:p>
          <a:p>
            <a:pPr>
              <a:defRPr sz="2000">
                <a:solidFill>
                  <a:srgbClr val="444444"/>
                </a:solidFill>
              </a:defRPr>
            </a:pPr>
            <a:r>
              <a:t>Hidden state captures previous context and is updated at each time step</a:t>
            </a:r>
          </a:p>
          <a:p>
            <a:pPr>
              <a:defRPr sz="2000">
                <a:solidFill>
                  <a:srgbClr val="444444"/>
                </a:solidFill>
              </a:defRPr>
            </a:pPr>
            <a:r>
              <a:t>Output at each step depends on current input and previous hidden state</a:t>
            </a:r>
          </a:p>
        </p:txBody>
      </p:sp>
      <p:pic>
        <p:nvPicPr>
          <p:cNvPr id="4" name="Picture 3" descr="2a9b04bd8e7b498382b7fa0dd55b6f54.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Formulation</a:t>
            </a:r>
          </a:p>
        </p:txBody>
      </p:sp>
      <p:sp>
        <p:nvSpPr>
          <p:cNvPr id="3" name="Content Placeholder 2"/>
          <p:cNvSpPr>
            <a:spLocks noGrp="1"/>
          </p:cNvSpPr>
          <p:nvPr>
            <p:ph idx="1"/>
          </p:nvPr>
        </p:nvSpPr>
        <p:spPr/>
        <p:txBody>
          <a:bodyPr/>
          <a:lstStyle/>
          <a:p>
            <a:pPr>
              <a:defRPr sz="2000">
                <a:solidFill>
                  <a:srgbClr val="444444"/>
                </a:solidFill>
              </a:defRPr>
            </a:pPr>
            <a:r>
              <a:t>RNNs can be represented mathematically as a recursive function</a:t>
            </a:r>
          </a:p>
          <a:p>
            <a:pPr>
              <a:defRPr sz="2000">
                <a:solidFill>
                  <a:srgbClr val="444444"/>
                </a:solidFill>
              </a:defRPr>
            </a:pPr>
            <a:r>
              <a:t>Hidden state updated at each time step</a:t>
            </a:r>
          </a:p>
          <a:p>
            <a:pPr>
              <a:defRPr sz="2000">
                <a:solidFill>
                  <a:srgbClr val="444444"/>
                </a:solidFill>
              </a:defRPr>
            </a:pPr>
            <a:r>
              <a:t>Output calculated based on hidden state and input</a:t>
            </a:r>
          </a:p>
          <a:p>
            <a:pPr>
              <a:defRPr sz="2000">
                <a:solidFill>
                  <a:srgbClr val="444444"/>
                </a:solidFill>
              </a:defRPr>
            </a:pPr>
            <a:r>
              <a:t>Backpropagation through time (BPTT) used for training</a:t>
            </a:r>
          </a:p>
          <a:p>
            <a:pPr>
              <a:defRPr sz="2000">
                <a:solidFill>
                  <a:srgbClr val="444444"/>
                </a:solidFill>
              </a:defRPr>
            </a:pPr>
            <a:r>
              <a:t>BPTT can be computationally expensive</a:t>
            </a:r>
          </a:p>
          <a:p>
            <a:pPr>
              <a:defRPr sz="2000">
                <a:solidFill>
                  <a:srgbClr val="444444"/>
                </a:solidFill>
              </a:defRPr>
            </a:pPr>
            <a:r>
              <a:t>RNNs can be trained using stochastic gradient descent</a:t>
            </a:r>
          </a:p>
          <a:p>
            <a:pPr>
              <a:defRPr sz="2000">
                <a:solidFill>
                  <a:srgbClr val="444444"/>
                </a:solidFill>
              </a:defRPr>
            </a:pPr>
            <a:r>
              <a:t>Regularization techniques can be used to prevent overfitting</a:t>
            </a:r>
          </a:p>
          <a:p>
            <a:pPr>
              <a:defRPr sz="2000">
                <a:solidFill>
                  <a:srgbClr val="444444"/>
                </a:solidFill>
              </a:defRPr>
            </a:pPr>
            <a:r>
              <a:t>Mathematical formulation is important for understanding RNNs</a:t>
            </a:r>
          </a:p>
          <a:p>
            <a:pPr>
              <a:defRPr sz="2000">
                <a:solidFill>
                  <a:srgbClr val="444444"/>
                </a:solidFill>
              </a:defRPr>
            </a:pPr>
            <a:r>
              <a:t>Helps to identify potential issues and limitations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Vanishing Gradient Problem</a:t>
            </a:r>
          </a:p>
        </p:txBody>
      </p:sp>
      <p:sp>
        <p:nvSpPr>
          <p:cNvPr id="3" name="Content Placeholder 2"/>
          <p:cNvSpPr>
            <a:spLocks noGrp="1"/>
          </p:cNvSpPr>
          <p:nvPr>
            <p:ph idx="1"/>
          </p:nvPr>
        </p:nvSpPr>
        <p:spPr/>
        <p:txBody>
          <a:bodyPr/>
          <a:lstStyle/>
          <a:p>
            <a:pPr>
              <a:defRPr sz="2000">
                <a:solidFill>
                  <a:srgbClr val="444444"/>
                </a:solidFill>
              </a:defRPr>
            </a:pPr>
            <a:r>
              <a:t>Gradients used to update weights during backpropagation</a:t>
            </a:r>
          </a:p>
          <a:p>
            <a:pPr>
              <a:defRPr sz="2000">
                <a:solidFill>
                  <a:srgbClr val="444444"/>
                </a:solidFill>
              </a:defRPr>
            </a:pPr>
            <a:r>
              <a:t>Vanishing gradients occur when gradients are very small</a:t>
            </a:r>
          </a:p>
          <a:p>
            <a:pPr>
              <a:defRPr sz="2000">
                <a:solidFill>
                  <a:srgbClr val="444444"/>
                </a:solidFill>
              </a:defRPr>
            </a:pPr>
            <a:r>
              <a:t>Prevents weights from being updated effectively</a:t>
            </a:r>
          </a:p>
          <a:p>
            <a:pPr>
              <a:defRPr sz="2000">
                <a:solidFill>
                  <a:srgbClr val="444444"/>
                </a:solidFill>
              </a:defRPr>
            </a:pPr>
            <a:r>
              <a:t>Can lead to slow or no learning</a:t>
            </a:r>
          </a:p>
          <a:p>
            <a:pPr>
              <a:defRPr sz="2000">
                <a:solidFill>
                  <a:srgbClr val="444444"/>
                </a:solidFill>
              </a:defRPr>
            </a:pPr>
            <a:r>
              <a:t>Exploding gradients can also occur</a:t>
            </a:r>
          </a:p>
          <a:p>
            <a:pPr>
              <a:defRPr sz="2000">
                <a:solidFill>
                  <a:srgbClr val="444444"/>
                </a:solidFill>
              </a:defRPr>
            </a:pPr>
            <a:r>
              <a:t>Gradient clipping and normalization can help</a:t>
            </a:r>
          </a:p>
          <a:p>
            <a:pPr>
              <a:defRPr sz="2000">
                <a:solidFill>
                  <a:srgbClr val="444444"/>
                </a:solidFill>
              </a:defRPr>
            </a:pPr>
            <a:r>
              <a:t>Vanishing gradients are a common issue in deep learning</a:t>
            </a:r>
          </a:p>
          <a:p>
            <a:pPr>
              <a:defRPr sz="2000">
                <a:solidFill>
                  <a:srgbClr val="444444"/>
                </a:solidFill>
              </a:defRPr>
            </a:pPr>
            <a:r>
              <a:t>Can be mitigated using different activation functions</a:t>
            </a:r>
          </a:p>
          <a:p>
            <a:pPr>
              <a:defRPr sz="2000">
                <a:solidFill>
                  <a:srgbClr val="444444"/>
                </a:solidFill>
              </a:defRPr>
            </a:pPr>
            <a:r>
              <a:t>Residual connections can also help to alleviate the issue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of RNNs</a:t>
            </a:r>
          </a:p>
        </p:txBody>
      </p:sp>
      <p:sp>
        <p:nvSpPr>
          <p:cNvPr id="3" name="Content Placeholder 2"/>
          <p:cNvSpPr>
            <a:spLocks noGrp="1"/>
          </p:cNvSpPr>
          <p:nvPr>
            <p:ph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and Takeaways</a:t>
            </a:r>
          </a:p>
        </p:txBody>
      </p:sp>
      <p:sp>
        <p:nvSpPr>
          <p:cNvPr id="3" name="Content Placeholder 2"/>
          <p:cNvSpPr>
            <a:spLocks noGrp="1"/>
          </p:cNvSpPr>
          <p:nvPr>
            <p:ph idx="1"/>
          </p:nvPr>
        </p:nvSpPr>
        <p:spPr/>
        <p:txBody>
          <a:bodyPr/>
          <a:lstStyle/>
          <a:p>
            <a:pPr>
              <a:defRPr sz="2000">
                <a:solidFill>
                  <a:srgbClr val="444444"/>
                </a:solidFill>
              </a:defRPr>
            </a:pPr>
            <a:r>
              <a:t>RNNs are a type of deep learning model</a:t>
            </a:r>
          </a:p>
          <a:p>
            <a:pPr>
              <a:defRPr sz="2000">
                <a:solidFill>
                  <a:srgbClr val="444444"/>
                </a:solidFill>
              </a:defRPr>
            </a:pPr>
            <a:r>
              <a:t>Used for sequential data processing and time-series forecasting</a:t>
            </a:r>
          </a:p>
          <a:p>
            <a:pPr>
              <a:defRPr sz="2000">
                <a:solidFill>
                  <a:srgbClr val="444444"/>
                </a:solidFill>
              </a:defRPr>
            </a:pPr>
            <a:r>
              <a:t>Simple RNNs have limitations, including vanishing gradients</a:t>
            </a:r>
          </a:p>
          <a:p>
            <a:pPr>
              <a:defRPr sz="2000">
                <a:solidFill>
                  <a:srgbClr val="444444"/>
                </a:solidFill>
              </a:defRPr>
            </a:pPr>
            <a:r>
              <a:t>More complex RNN architectures can learn long-term dependencies</a:t>
            </a:r>
          </a:p>
          <a:p>
            <a:pPr>
              <a:defRPr sz="2000">
                <a:solidFill>
                  <a:srgbClr val="444444"/>
                </a:solidFill>
              </a:defRPr>
            </a:pPr>
            <a:r>
              <a:t>RNNs have many applications, including natural language processing</a:t>
            </a:r>
          </a:p>
          <a:p>
            <a:pPr>
              <a:defRPr sz="2000">
                <a:solidFill>
                  <a:srgbClr val="444444"/>
                </a:solidFill>
              </a:defRPr>
            </a:pPr>
            <a:r>
              <a:t>Mathematical formulation is important for understanding RNNs</a:t>
            </a:r>
          </a:p>
          <a:p>
            <a:pPr>
              <a:defRPr sz="2000">
                <a:solidFill>
                  <a:srgbClr val="444444"/>
                </a:solidFill>
              </a:defRPr>
            </a:pPr>
            <a:r>
              <a:t>Vanishing gradients can be mitigated using different techniques</a:t>
            </a:r>
          </a:p>
          <a:p>
            <a:pPr>
              <a:defRPr sz="2000">
                <a:solidFill>
                  <a:srgbClr val="444444"/>
                </a:solidFill>
              </a:defRPr>
            </a:pPr>
            <a:r>
              <a:t>RNNs are a powerful tool for modeling sequential data</a:t>
            </a:r>
          </a:p>
          <a:p>
            <a:pPr>
              <a:defRPr sz="2000">
                <a:solidFill>
                  <a:srgbClr val="444444"/>
                </a:solidFill>
              </a:defRPr>
            </a:pPr>
            <a:r>
              <a:t>Can be used in a variety of fields, including speech recognition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