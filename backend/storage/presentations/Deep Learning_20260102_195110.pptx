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pPr>
            <a:r>
              <a:t>Welcome to the Deep Learning presentation covering multiple topics. Today we'll explore: RNNs, Deep Learning.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explain that they are designed to handle sequential data, such as speech or text, and that they have feedback connections that allow them to capture temporal relationships. Provide examples of applications, such as speech recognition or language translation, and ask students to consider how RNNs can be used to improve these tasks. Discuss the challenges of training RNNs, including vanishing gradients, and introduce the basic RNN architecture, highlighting the input, hidden, and output layers. Key takeaways should include the importance of RNNs in deep learning and their ability to learn from experience and adapt over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temporal relationships. Provide examples of speech recognition and language modeling tasks. Explain the concept of feedback connections and how they enable RNNs to learn from experience. Discuss the limitations of simple RNNs, such as vanishing gradients, and introduce variants like LSTM and GRU. Mention the importance of hyperparameter tuning and learning rates in training RNNs. Ask students to consider how RNNs can be applied to real-world problems, such as predicting stock prices or generating 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RNNs, emphasize their ability to handle sequential data and learn temporal relationships. Provide examples such as speech recognition, language translation, and time series forecasting. Explain the basic architecture and how the hidden state is used to capture information from previous steps. Discuss the challenges of training RNNs, including the vanishing gradient problem. Ask students to consider how RNNs can be applied to real-world problems and what advantages they offer over other neural network architectures. Key takeaways include understanding the role of feedback connections and the importance of the hidden state in RNNs.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that's inspired by the brain's structure and function. Give examples of how deep learning is used in everyday applications such as image recognition, speech recognition, and natural language processing. Ask students if they have any experience with machine learning or neural networks. Emphasize the importance of large datasets and computing power in training deep learning models. Provide examples of how deep learning has improved performance on complex tasks over time, such as self-driving cars and language translation. Key takeaways include understanding the basics of deep learning, its applications, and the requirements for training deep learning models.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explain that it's a type of machine learning that's inspired by the brain's structure. Provide examples of its applications, such as image recognition and natural language processing. Emphasize the need for large amounts of data and computational resources. Ask students to consider how deep learning is used in their everyday lives, such as in self-driving cars or medical diagnosis systems. Key takeaways include the ability of deep learning to learn from large datasets and improve performance over time.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solidFill>
                  <a:srgbClr val="000000"/>
                </a:solidFill>
              </a:defRPr>
            </a:pPr>
            <a:r>
              <a:t>When introducing deep learning, emphasize its connection to machine learning and the human brain's structure. Explain that deep learning uses neural networks with multiple layers to learn complex patterns. Provide examples of applications such as image recognition and speech processing. Discuss the requirements for computational resources and data. Mention key concepts like backpropagation and its role in training networks. Use examples like autonomous vehicles and medical diagnosis to illustrate the impact of deep learning. Ask students about potential applications in their fields of interest and how deep learning can improve decision-making. Key takeaways should include understanding the basics of deep learning, its applications, and the importance of computational resources.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10360152" cy="1828800"/>
          </a:xfrm>
          <a:prstGeom prst="rect">
            <a:avLst/>
          </a:prstGeom>
          <a:noFill/>
        </p:spPr>
        <p:txBody>
          <a:bodyPr wrap="none">
            <a:spAutoFit/>
          </a:bodyPr>
          <a:lstStyle/>
          <a:p>
            <a:pPr algn="ctr"/>
            <a:r>
              <a:rPr sz="4400" b="1">
                <a:solidFill>
                  <a:srgbClr val="1F497D"/>
                </a:solidFill>
              </a:rPr>
              <a:t>Deep Learning</a:t>
            </a:r>
          </a:p>
        </p:txBody>
      </p:sp>
      <p:sp>
        <p:nvSpPr>
          <p:cNvPr id="3" name="TextBox 2"/>
          <p:cNvSpPr txBox="1"/>
          <p:nvPr/>
        </p:nvSpPr>
        <p:spPr>
          <a:xfrm>
            <a:off x="914400" y="4114800"/>
            <a:ext cx="10360152" cy="914400"/>
          </a:xfrm>
          <a:prstGeom prst="rect">
            <a:avLst/>
          </a:prstGeom>
          <a:noFill/>
        </p:spPr>
        <p:txBody>
          <a:bodyPr wrap="none">
            <a:spAutoFit/>
          </a:bodyPr>
          <a:lstStyle/>
          <a:p>
            <a:pPr algn="ctr"/>
            <a:r>
              <a:rPr sz="2400">
                <a:solidFill>
                  <a:srgbClr val="4472C4"/>
                </a:solidFill>
              </a:rPr>
              <a:t>Generated for: RNNs, Deep Learning</a:t>
            </a:r>
          </a:p>
        </p:txBody>
      </p:sp>
      <p:sp>
        <p:nvSpPr>
          <p:cNvPr id="4" name="Rectangle 3"/>
          <p:cNvSpPr/>
          <p:nvPr/>
        </p:nvSpPr>
        <p:spPr>
          <a:xfrm>
            <a:off x="914400" y="5943600"/>
            <a:ext cx="10360152" cy="274320"/>
          </a:xfrm>
          <a:prstGeom prst="rect">
            <a:avLst/>
          </a:prstGeom>
          <a:solidFill>
            <a:srgbClr val="4472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speech recognition and natural language processing</a:t>
            </a:r>
          </a:p>
          <a:p>
            <a:pPr>
              <a:defRPr sz="2000">
                <a:solidFill>
                  <a:srgbClr val="444444"/>
                </a:solidFill>
              </a:defRPr>
            </a:pPr>
            <a:r>
              <a:t>RNNs can learn from experience and adapt over time</a:t>
            </a:r>
          </a:p>
          <a:p>
            <a:pPr>
              <a:defRPr sz="2000">
                <a:solidFill>
                  <a:srgbClr val="444444"/>
                </a:solidFill>
              </a:defRPr>
            </a:pPr>
            <a:r>
              <a:t>Effective for predicting outcomes in sequential data</a:t>
            </a:r>
          </a:p>
          <a:p>
            <a:pPr>
              <a:defRPr sz="2000">
                <a:solidFill>
                  <a:srgbClr val="444444"/>
                </a:solidFill>
              </a:defRPr>
            </a:pPr>
            <a:r>
              <a:t>Training RNNs can be challenging due to vanishing gradients</a:t>
            </a:r>
          </a:p>
          <a:p>
            <a:pPr>
              <a:defRPr sz="2000">
                <a:solidFill>
                  <a:srgbClr val="444444"/>
                </a:solidFill>
              </a:defRPr>
            </a:pPr>
            <a:r>
              <a:t>RNNs are key components in many deep learning models</a:t>
            </a:r>
          </a:p>
          <a:p>
            <a:pPr>
              <a:defRPr sz="2000">
                <a:solidFill>
                  <a:srgbClr val="444444"/>
                </a:solidFill>
              </a:defRPr>
            </a:pPr>
            <a:r>
              <a:t>Applications include language translation and text summarization</a:t>
            </a:r>
          </a:p>
          <a:p>
            <a:pPr>
              <a:defRPr sz="2000">
                <a:solidFill>
                  <a:srgbClr val="444444"/>
                </a:solidFill>
              </a:defRPr>
            </a:pPr>
            <a:r>
              <a:t>RNNs can handle variable-length input sequences</a:t>
            </a:r>
          </a:p>
          <a:p>
            <a:pPr>
              <a:defRPr sz="2000">
                <a:solidFill>
                  <a:srgbClr val="444444"/>
                </a:solidFill>
              </a:defRPr>
            </a:pPr>
            <a:r>
              <a:t>Basic RNN architecture includes input, hidden, and output layers</a:t>
            </a:r>
          </a:p>
        </p:txBody>
      </p:sp>
      <p:pic>
        <p:nvPicPr>
          <p:cNvPr id="4" name="Picture 3" descr="8b2e1051f2e74d7699d74f916ec2a585_rnns_deep_learning_deep_learning_archite.jpg"/>
          <p:cNvPicPr>
            <a:picLocks noChangeAspect="1"/>
          </p:cNvPicPr>
          <p:nvPr/>
        </p:nvPicPr>
        <p:blipFill>
          <a:blip r:embed="rId2"/>
          <a:stretch>
            <a:fillRect/>
          </a:stretch>
        </p:blipFill>
        <p:spPr>
          <a:xfrm>
            <a:off x="7315200" y="1828800"/>
            <a:ext cx="4114800" cy="2743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Useful for speech recognition, language modeling tasks</a:t>
            </a:r>
          </a:p>
          <a:p>
            <a:pPr>
              <a:defRPr sz="2000">
                <a:solidFill>
                  <a:srgbClr val="444444"/>
                </a:solidFill>
              </a:defRPr>
            </a:pPr>
            <a:r>
              <a:t>RNNs can learn from experience, adapt to changes</a:t>
            </a:r>
          </a:p>
          <a:p>
            <a:pPr>
              <a:defRPr sz="2000">
                <a:solidFill>
                  <a:srgbClr val="444444"/>
                </a:solidFill>
              </a:defRPr>
            </a:pPr>
            <a:r>
              <a:t>Simple RNNs have limitations, such as vanishing gradients</a:t>
            </a:r>
          </a:p>
          <a:p>
            <a:pPr>
              <a:defRPr sz="2000">
                <a:solidFill>
                  <a:srgbClr val="444444"/>
                </a:solidFill>
              </a:defRPr>
            </a:pPr>
            <a:r>
              <a:t>Long Short-Term Memory networks address these limitations</a:t>
            </a:r>
          </a:p>
          <a:p>
            <a:pPr>
              <a:defRPr sz="2000">
                <a:solidFill>
                  <a:srgbClr val="444444"/>
                </a:solidFill>
              </a:defRPr>
            </a:pPr>
            <a:r>
              <a:t>Gated Recurrent Units are another variant of RNNs</a:t>
            </a:r>
          </a:p>
          <a:p>
            <a:pPr>
              <a:defRPr sz="2000">
                <a:solidFill>
                  <a:srgbClr val="444444"/>
                </a:solidFill>
              </a:defRPr>
            </a:pPr>
            <a:r>
              <a:t>RNNs can be trained using backpropagation through time</a:t>
            </a:r>
          </a:p>
          <a:p>
            <a:pPr>
              <a:defRPr sz="2000">
                <a:solidFill>
                  <a:srgbClr val="444444"/>
                </a:solidFill>
              </a:defRPr>
            </a:pPr>
            <a:r>
              <a:t>RNNs require careful tuning of hyperparameters, learning rates</a:t>
            </a:r>
          </a:p>
        </p:txBody>
      </p:sp>
      <p:pic>
        <p:nvPicPr>
          <p:cNvPr id="4" name="Picture 3" descr="8d7551aa7bda4843a62a1b9bdff513d5.jpg"/>
          <p:cNvPicPr>
            <a:picLocks noChangeAspect="1"/>
          </p:cNvPicPr>
          <p:nvPr/>
        </p:nvPicPr>
        <p:blipFill>
          <a:blip r:embed="rId2"/>
          <a:stretch>
            <a:fillRect/>
          </a:stretch>
        </p:blipFill>
        <p:spPr>
          <a:xfrm>
            <a:off x="7315200" y="1828800"/>
            <a:ext cx="4114800" cy="1382233"/>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RNNs - Introduction</a:t>
            </a:r>
          </a:p>
        </p:txBody>
      </p:sp>
      <p:sp>
        <p:nvSpPr>
          <p:cNvPr id="3" name="Content Placeholder 2"/>
          <p:cNvSpPr>
            <a:spLocks noGrp="1"/>
          </p:cNvSpPr>
          <p:nvPr>
            <p:ph idx="1"/>
          </p:nvPr>
        </p:nvSpPr>
        <p:spPr/>
        <p:txBody>
          <a:bodyPr/>
          <a:lstStyle/>
          <a:p>
            <a:pPr>
              <a:defRPr sz="2000">
                <a:solidFill>
                  <a:srgbClr val="444444"/>
                </a:solidFill>
              </a:defRPr>
            </a:pPr>
            <a:r>
              <a:t>Recurrent Neural Networks process sequential data</a:t>
            </a:r>
          </a:p>
          <a:p>
            <a:pPr>
              <a:defRPr sz="2000">
                <a:solidFill>
                  <a:srgbClr val="444444"/>
                </a:solidFill>
              </a:defRPr>
            </a:pPr>
            <a:r>
              <a:t>RNNs have feedback connections for temporal relationships</a:t>
            </a:r>
          </a:p>
          <a:p>
            <a:pPr>
              <a:defRPr sz="2000">
                <a:solidFill>
                  <a:srgbClr val="444444"/>
                </a:solidFill>
              </a:defRPr>
            </a:pPr>
            <a:r>
              <a:t>Used for speech recognition and language modeling</a:t>
            </a:r>
          </a:p>
          <a:p>
            <a:pPr>
              <a:defRPr sz="2000">
                <a:solidFill>
                  <a:srgbClr val="444444"/>
                </a:solidFill>
              </a:defRPr>
            </a:pPr>
            <a:r>
              <a:t>Can learn patterns in time series data</a:t>
            </a:r>
          </a:p>
          <a:p>
            <a:pPr>
              <a:defRPr sz="2000">
                <a:solidFill>
                  <a:srgbClr val="444444"/>
                </a:solidFill>
              </a:defRPr>
            </a:pPr>
            <a:r>
              <a:t>Basic RNN architecture includes input, hidden, output</a:t>
            </a:r>
          </a:p>
          <a:p>
            <a:pPr>
              <a:defRPr sz="2000">
                <a:solidFill>
                  <a:srgbClr val="444444"/>
                </a:solidFill>
              </a:defRPr>
            </a:pPr>
            <a:r>
              <a:t>Hidden state captures information from previous steps</a:t>
            </a:r>
          </a:p>
          <a:p>
            <a:pPr>
              <a:defRPr sz="2000">
                <a:solidFill>
                  <a:srgbClr val="444444"/>
                </a:solidFill>
              </a:defRPr>
            </a:pPr>
            <a:r>
              <a:t>Output depends on hidden and current input states</a:t>
            </a:r>
          </a:p>
          <a:p>
            <a:pPr>
              <a:defRPr sz="2000">
                <a:solidFill>
                  <a:srgbClr val="444444"/>
                </a:solidFill>
              </a:defRPr>
            </a:pPr>
            <a:r>
              <a:t>Training RNNs involves backpropagation through time</a:t>
            </a:r>
          </a:p>
          <a:p>
            <a:pPr>
              <a:defRPr sz="2000">
                <a:solidFill>
                  <a:srgbClr val="444444"/>
                </a:solidFill>
              </a:defRPr>
            </a:pPr>
            <a:r>
              <a:t>RNNs can suffer from vanishing gradient problem</a:t>
            </a:r>
          </a:p>
          <a:p>
            <a:pPr>
              <a:defRPr sz="2000">
                <a:solidFill>
                  <a:srgbClr val="444444"/>
                </a:solidFill>
              </a:defRPr>
            </a:pPr>
            <a:r>
              <a:t>Simple RNN equation: h_t = sigmoid(W*x_t + U*h_(t-1))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Enables computers to learn from experience</a:t>
            </a:r>
          </a:p>
          <a:p>
            <a:pPr>
              <a:defRPr sz="2000">
                <a:solidFill>
                  <a:srgbClr val="444444"/>
                </a:solidFill>
              </a:defRPr>
            </a:pPr>
            <a:r>
              <a:t>Improves performance on complex tasks over time</a:t>
            </a:r>
          </a:p>
          <a:p>
            <a:pPr>
              <a:defRPr sz="2000">
                <a:solidFill>
                  <a:srgbClr val="444444"/>
                </a:solidFill>
              </a:defRPr>
            </a:pPr>
            <a:r>
              <a:t>Requires large amounts of data and computing power</a:t>
            </a:r>
          </a:p>
          <a:p>
            <a:pPr>
              <a:defRPr sz="2000">
                <a:solidFill>
                  <a:srgbClr val="444444"/>
                </a:solidFill>
              </a:defRPr>
            </a:pPr>
            <a:r>
              <a:t>Has many applications in computer vision and speech</a:t>
            </a:r>
          </a:p>
          <a:p>
            <a:pPr>
              <a:defRPr sz="2000">
                <a:solidFill>
                  <a:srgbClr val="444444"/>
                </a:solidFill>
              </a:defRPr>
            </a:pPr>
            <a:r>
              <a:t>Can be used for image recognition and natural language</a:t>
            </a:r>
          </a:p>
          <a:p>
            <a:pPr>
              <a:defRPr sz="2000">
                <a:solidFill>
                  <a:srgbClr val="444444"/>
                </a:solidFill>
              </a:defRPr>
            </a:pPr>
            <a:r>
              <a:t>Deep learning models are often trained on GPUs</a:t>
            </a:r>
          </a:p>
          <a:p>
            <a:pPr>
              <a:defRPr sz="2000">
                <a:solidFill>
                  <a:srgbClr val="444444"/>
                </a:solidFill>
              </a:defRPr>
            </a:pPr>
            <a:r>
              <a:t>Have many layers of neural networks to learn patterns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the structure and function of the brain</a:t>
            </a:r>
          </a:p>
          <a:p>
            <a:pPr>
              <a:defRPr sz="2000">
                <a:solidFill>
                  <a:srgbClr val="444444"/>
                </a:solidFill>
              </a:defRPr>
            </a:pPr>
            <a:r>
              <a:t>Uses artificial neural networks to analyze data</a:t>
            </a:r>
          </a:p>
          <a:p>
            <a:pPr>
              <a:defRPr sz="2000">
                <a:solidFill>
                  <a:srgbClr val="444444"/>
                </a:solidFill>
              </a:defRPr>
            </a:pPr>
            <a:r>
              <a:t>Can learn from large amounts of data automatically</a:t>
            </a:r>
          </a:p>
          <a:p>
            <a:pPr>
              <a:defRPr sz="2000">
                <a:solidFill>
                  <a:srgbClr val="444444"/>
                </a:solidFill>
              </a:defRPr>
            </a:pPr>
            <a:r>
              <a:t>Enables computers to perform complex tasks</a:t>
            </a:r>
          </a:p>
          <a:p>
            <a:pPr>
              <a:defRPr sz="2000">
                <a:solidFill>
                  <a:srgbClr val="444444"/>
                </a:solidFill>
              </a:defRPr>
            </a:pPr>
            <a:r>
              <a:t>Such as image recognition and natural language processing</a:t>
            </a:r>
          </a:p>
          <a:p>
            <a:pPr>
              <a:defRPr sz="2000">
                <a:solidFill>
                  <a:srgbClr val="444444"/>
                </a:solidFill>
              </a:defRPr>
            </a:pPr>
            <a:r>
              <a:t>Requires significant computational resources and data</a:t>
            </a:r>
          </a:p>
          <a:p>
            <a:pPr>
              <a:defRPr sz="2000">
                <a:solidFill>
                  <a:srgbClr val="444444"/>
                </a:solidFill>
              </a:defRPr>
            </a:pPr>
            <a:r>
              <a:t>Has many applications in computer vision and robotics</a:t>
            </a:r>
          </a:p>
          <a:p>
            <a:pPr>
              <a:defRPr sz="2000">
                <a:solidFill>
                  <a:srgbClr val="444444"/>
                </a:solidFill>
              </a:defRPr>
            </a:pPr>
            <a:r>
              <a:t>Used in self-driving cars and medical diagnosis systems</a:t>
            </a:r>
          </a:p>
          <a:p>
            <a:pPr>
              <a:defRPr sz="2000">
                <a:solidFill>
                  <a:srgbClr val="444444"/>
                </a:solidFill>
              </a:defRPr>
            </a:pPr>
            <a:r>
              <a:t>Improves performance as amount of data increases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1F497D"/>
                </a:solidFill>
              </a:defRPr>
            </a:pPr>
            <a:r>
              <a:t>Deep Learning - Introduction</a:t>
            </a:r>
          </a:p>
        </p:txBody>
      </p:sp>
      <p:sp>
        <p:nvSpPr>
          <p:cNvPr id="3" name="Content Placeholder 2"/>
          <p:cNvSpPr>
            <a:spLocks noGrp="1"/>
          </p:cNvSpPr>
          <p:nvPr>
            <p:ph idx="1"/>
          </p:nvPr>
        </p:nvSpPr>
        <p:spPr/>
        <p:txBody>
          <a:bodyPr/>
          <a:lstStyle/>
          <a:p>
            <a:pPr>
              <a:defRPr sz="2000">
                <a:solidFill>
                  <a:srgbClr val="444444"/>
                </a:solidFill>
              </a:defRPr>
            </a:pPr>
            <a:r>
              <a:t>Deep learning is a subset of machine learning methods</a:t>
            </a:r>
          </a:p>
          <a:p>
            <a:pPr>
              <a:defRPr sz="2000">
                <a:solidFill>
                  <a:srgbClr val="444444"/>
                </a:solidFill>
              </a:defRPr>
            </a:pPr>
            <a:r>
              <a:t>Inspired by structure and function of human brain</a:t>
            </a:r>
          </a:p>
          <a:p>
            <a:pPr>
              <a:defRPr sz="2000">
                <a:solidFill>
                  <a:srgbClr val="444444"/>
                </a:solidFill>
              </a:defRPr>
            </a:pPr>
            <a:r>
              <a:t>Uses artificial neural networks with multiple layers</a:t>
            </a:r>
          </a:p>
          <a:p>
            <a:pPr>
              <a:defRPr sz="2000">
                <a:solidFill>
                  <a:srgbClr val="444444"/>
                </a:solidFill>
              </a:defRPr>
            </a:pPr>
            <a:r>
              <a:t>Can learn complex patterns in large datasets</a:t>
            </a:r>
          </a:p>
          <a:p>
            <a:pPr>
              <a:defRPr sz="2000">
                <a:solidFill>
                  <a:srgbClr val="444444"/>
                </a:solidFill>
              </a:defRPr>
            </a:pPr>
            <a:r>
              <a:t>Applications in image recognition and speech processing</a:t>
            </a:r>
          </a:p>
          <a:p>
            <a:pPr>
              <a:defRPr sz="2000">
                <a:solidFill>
                  <a:srgbClr val="444444"/>
                </a:solidFill>
              </a:defRPr>
            </a:pPr>
            <a:r>
              <a:t>Requires significant computational resources and data</a:t>
            </a:r>
          </a:p>
          <a:p>
            <a:pPr>
              <a:defRPr sz="2000">
                <a:solidFill>
                  <a:srgbClr val="444444"/>
                </a:solidFill>
              </a:defRPr>
            </a:pPr>
            <a:r>
              <a:t>Key concept: backpropagation for training networks</a:t>
            </a:r>
          </a:p>
          <a:p>
            <a:pPr>
              <a:defRPr sz="2000">
                <a:solidFill>
                  <a:srgbClr val="444444"/>
                </a:solidFill>
              </a:defRPr>
            </a:pPr>
            <a:r>
              <a:t>Enable autonomous vehicles and medical diagnosis</a:t>
            </a:r>
          </a:p>
          <a:p>
            <a:pPr>
              <a:defRPr sz="2000">
                <a:solidFill>
                  <a:srgbClr val="444444"/>
                </a:solidFill>
              </a:defRPr>
            </a:pPr>
            <a:r>
              <a:t>Improves natural language processing capabilities</a:t>
            </a:r>
          </a:p>
          <a:p>
            <a:pPr>
              <a:defRPr sz="2000">
                <a:solidFill>
                  <a:srgbClr val="444444"/>
                </a:solidFill>
              </a:defRPr>
            </a:pPr>
            <a:r>
              <a:t>Enhances decision-making in various industries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