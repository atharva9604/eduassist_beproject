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Since the user will provide content for this slide, please refer to their provided information for an introduction to Convolutional Neural Networks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The user will provide the architecture content for this slide. Ensure to cover key components such as convolutional and pooling layers, and fully connected layers for a comprehensive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This slide will be provided by the user, focusing on the convolution and pooling processes within CNNs. Discuss how these operations help in feature extraction and dimensionality reduction.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The user will cover various applications of CNNs in this slide. Emphasize real-world uses such as image classification, object detection, segmentation, and generation, highlighting the impact of CNNs in AI and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Since the content for this slide is user-provided, focus on discussing the pros and cons of using CNNs, including their ability to learn complex patterns, potential for overfitting, and the need for large datasets.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how CNNs mimic the human visual system, focusing on local connections and shared weights. Discuss the role of activation functions and the importance of regularization and data augmentation in improving model performance and preventing overfitting. Ask students to consider how these concepts apply to real-world image processing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importance of choosing the right optimizer and loss function for training CNNs. Explain how learning rate schedulers and evaluation metrics such as accuracy, precision, recall, and F1 score are crucial for assessing model performance. Provide examples of how these concepts are applied in practice and ask students to consider the implications of different choices on their model's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emphasizing the significance of CNNs in modern technology and their potential for future innovation. Discuss the importance of ethical considerations, explainability, and transparency in CNN development and deployment. Encourage students to explore real-world applications and consider the multidisciplinary nature of CNN research for their future projects.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for Image and Signal Processing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for Image and Signal Processing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for Image and Signal Processing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for Image and Signal Processing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for Image and Signal Processing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Deepening into CNNs</a:t>
            </a:r>
          </a:p>
        </p:txBody>
      </p:sp>
      <p:sp>
        <p:nvSpPr>
          <p:cNvPr id="3" name="Content Placeholder 2"/>
          <p:cNvSpPr>
            <a:spLocks noGrp="1"/>
          </p:cNvSpPr>
          <p:nvPr>
            <p:ph idx="1"/>
          </p:nvPr>
        </p:nvSpPr>
        <p:spPr/>
        <p:txBody>
          <a:bodyPr/>
          <a:lstStyle/>
          <a:p>
            <a:pPr>
              <a:defRPr sz="2000">
                <a:solidFill>
                  <a:srgbClr val="444444"/>
                </a:solidFill>
              </a:defRPr>
            </a:pPr>
            <a:r>
              <a:t>CNNs are inspired by the structure of the visual cortex.</a:t>
            </a:r>
          </a:p>
          <a:p>
            <a:pPr>
              <a:defRPr sz="2000">
                <a:solidFill>
                  <a:srgbClr val="444444"/>
                </a:solidFill>
              </a:defRPr>
            </a:pPr>
            <a:r>
              <a:t>Local connectivity reduces parameters and computation.</a:t>
            </a:r>
          </a:p>
          <a:p>
            <a:pPr>
              <a:defRPr sz="2000">
                <a:solidFill>
                  <a:srgbClr val="444444"/>
                </a:solidFill>
              </a:defRPr>
            </a:pPr>
            <a:r>
              <a:t>Shared weights reduce parameters and improve generalization.</a:t>
            </a:r>
          </a:p>
          <a:p>
            <a:pPr>
              <a:defRPr sz="2000">
                <a:solidFill>
                  <a:srgbClr val="444444"/>
                </a:solidFill>
              </a:defRPr>
            </a:pPr>
            <a:r>
              <a:t>Pooling layers reduce spatial dimensions and retain features.</a:t>
            </a:r>
          </a:p>
          <a:p>
            <a:pPr>
              <a:defRPr sz="2000">
                <a:solidFill>
                  <a:srgbClr val="444444"/>
                </a:solidFill>
              </a:defRPr>
            </a:pPr>
            <a:r>
              <a:t>Activation functions introduce non-linearity to the model.</a:t>
            </a:r>
          </a:p>
          <a:p>
            <a:pPr>
              <a:defRPr sz="2000">
                <a:solidFill>
                  <a:srgbClr val="444444"/>
                </a:solidFill>
              </a:defRPr>
            </a:pPr>
            <a:r>
              <a:t>Batch normalization stabilizes and accelerates training.</a:t>
            </a:r>
          </a:p>
          <a:p>
            <a:pPr>
              <a:defRPr sz="2000">
                <a:solidFill>
                  <a:srgbClr val="444444"/>
                </a:solidFill>
              </a:defRPr>
            </a:pPr>
            <a:r>
              <a:t>Dropout prevents overfitting by randomly dropping neurons.</a:t>
            </a:r>
          </a:p>
          <a:p>
            <a:pPr>
              <a:defRPr sz="2000">
                <a:solidFill>
                  <a:srgbClr val="444444"/>
                </a:solidFill>
              </a:defRPr>
            </a:pPr>
            <a:r>
              <a:t>Regularization techniques are crucial for preventing overfitting.</a:t>
            </a:r>
          </a:p>
          <a:p>
            <a:pPr>
              <a:defRPr sz="2000">
                <a:solidFill>
                  <a:srgbClr val="444444"/>
                </a:solidFill>
              </a:defRPr>
            </a:pPr>
            <a:r>
              <a:t>Data augmentation increases dataset size and diversity.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CNNs</a:t>
            </a:r>
          </a:p>
        </p:txBody>
      </p:sp>
      <p:sp>
        <p:nvSpPr>
          <p:cNvPr id="3" name="Content Placeholder 2"/>
          <p:cNvSpPr>
            <a:spLocks noGrp="1"/>
          </p:cNvSpPr>
          <p:nvPr>
            <p:ph idx="1"/>
          </p:nvPr>
        </p:nvSpPr>
        <p:spPr/>
        <p:txBody>
          <a:bodyPr/>
          <a:lstStyle/>
          <a:p>
            <a:pPr>
              <a:defRPr sz="2000">
                <a:solidFill>
                  <a:srgbClr val="444444"/>
                </a:solidFill>
              </a:defRPr>
            </a:pPr>
            <a:r>
              <a:t>Stochastic Gradient Descent (SGD) is commonly used.</a:t>
            </a:r>
          </a:p>
          <a:p>
            <a:pPr>
              <a:defRPr sz="2000">
                <a:solidFill>
                  <a:srgbClr val="444444"/>
                </a:solidFill>
              </a:defRPr>
            </a:pPr>
            <a:r>
              <a:t>Mini-batch gradient descent balances speed and stability.</a:t>
            </a:r>
          </a:p>
          <a:p>
            <a:pPr>
              <a:defRPr sz="2000">
                <a:solidFill>
                  <a:srgbClr val="444444"/>
                </a:solidFill>
              </a:defRPr>
            </a:pPr>
            <a:r>
              <a:t>Momentum helps escape local minima and converge faster.</a:t>
            </a:r>
          </a:p>
          <a:p>
            <a:pPr>
              <a:defRPr sz="2000">
                <a:solidFill>
                  <a:srgbClr val="444444"/>
                </a:solidFill>
              </a:defRPr>
            </a:pPr>
            <a:r>
              <a:t>Learning rate schedulers adjust the learning rate during training.</a:t>
            </a:r>
          </a:p>
          <a:p>
            <a:pPr>
              <a:defRPr sz="2000">
                <a:solidFill>
                  <a:srgbClr val="444444"/>
                </a:solidFill>
              </a:defRPr>
            </a:pPr>
            <a:r>
              <a:t>Cross-entropy loss is typical for classification tasks.</a:t>
            </a:r>
          </a:p>
          <a:p>
            <a:pPr>
              <a:defRPr sz="2000">
                <a:solidFill>
                  <a:srgbClr val="444444"/>
                </a:solidFill>
              </a:defRPr>
            </a:pPr>
            <a:r>
              <a:t>Mean squared error is used for regression tasks.</a:t>
            </a:r>
          </a:p>
          <a:p>
            <a:pPr>
              <a:defRPr sz="2000">
                <a:solidFill>
                  <a:srgbClr val="444444"/>
                </a:solidFill>
              </a:defRPr>
            </a:pPr>
            <a:r>
              <a:t>Accuracy is a common evaluation metric for classification.</a:t>
            </a:r>
          </a:p>
          <a:p>
            <a:pPr>
              <a:defRPr sz="2000">
                <a:solidFill>
                  <a:srgbClr val="444444"/>
                </a:solidFill>
              </a:defRPr>
            </a:pPr>
            <a:r>
              <a:t>Precision and recall are important for imbalanced datasets.</a:t>
            </a:r>
          </a:p>
          <a:p>
            <a:pPr>
              <a:defRPr sz="2000">
                <a:solidFill>
                  <a:srgbClr val="444444"/>
                </a:solidFill>
              </a:defRPr>
            </a:pPr>
            <a:r>
              <a:t>F1 score provides a balanced measure of precision and recall.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and Real-World Applications</a:t>
            </a:r>
          </a:p>
        </p:txBody>
      </p:sp>
      <p:sp>
        <p:nvSpPr>
          <p:cNvPr id="3" name="Content Placeholder 2"/>
          <p:cNvSpPr>
            <a:spLocks noGrp="1"/>
          </p:cNvSpPr>
          <p:nvPr>
            <p:ph idx="1"/>
          </p:nvPr>
        </p:nvSpPr>
        <p:spPr/>
        <p:txBody>
          <a:bodyPr/>
          <a:lstStyle/>
          <a:p>
            <a:pPr>
              <a:defRPr sz="2000">
                <a:solidFill>
                  <a:srgbClr val="444444"/>
                </a:solidFill>
              </a:defRPr>
            </a:pPr>
            <a:r>
              <a:t>CNNs are powerful tools for image and signal processing.</a:t>
            </a:r>
          </a:p>
          <a:p>
            <a:pPr>
              <a:defRPr sz="2000">
                <a:solidFill>
                  <a:srgbClr val="444444"/>
                </a:solidFill>
              </a:defRPr>
            </a:pPr>
            <a:r>
              <a:t>Understanding CNN architecture is key to their application.</a:t>
            </a:r>
          </a:p>
          <a:p>
            <a:pPr>
              <a:defRPr sz="2000">
                <a:solidFill>
                  <a:srgbClr val="444444"/>
                </a:solidFill>
              </a:defRPr>
            </a:pPr>
            <a:r>
              <a:t>Real-world applications include self-driving cars and medical diagnosis.</a:t>
            </a:r>
          </a:p>
          <a:p>
            <a:pPr>
              <a:defRPr sz="2000">
                <a:solidFill>
                  <a:srgbClr val="444444"/>
                </a:solidFill>
              </a:defRPr>
            </a:pPr>
            <a:r>
              <a:t>CNNs have revolutionized the field of computer vision.</a:t>
            </a:r>
          </a:p>
          <a:p>
            <a:pPr>
              <a:defRPr sz="2000">
                <a:solidFill>
                  <a:srgbClr val="444444"/>
                </a:solidFill>
              </a:defRPr>
            </a:pPr>
            <a:r>
              <a:t>Continuous learning and updates are necessary for state-of-the-art performance.</a:t>
            </a:r>
          </a:p>
          <a:p>
            <a:pPr>
              <a:defRPr sz="2000">
                <a:solidFill>
                  <a:srgbClr val="444444"/>
                </a:solidFill>
              </a:defRPr>
            </a:pPr>
            <a:r>
              <a:t>Ethical considerations must be taken into account when deploying CNNs.</a:t>
            </a:r>
          </a:p>
          <a:p>
            <a:pPr>
              <a:defRPr sz="2000">
                <a:solidFill>
                  <a:srgbClr val="444444"/>
                </a:solidFill>
              </a:defRPr>
            </a:pPr>
            <a:r>
              <a:t>Explainability and transparency are growing concerns in CNN development.</a:t>
            </a:r>
          </a:p>
          <a:p>
            <a:pPr>
              <a:defRPr sz="2000">
                <a:solidFill>
                  <a:srgbClr val="444444"/>
                </a:solidFill>
              </a:defRPr>
            </a:pPr>
            <a:r>
              <a:t>Future directions include integrating CNNs with other AI techniques.</a:t>
            </a:r>
          </a:p>
          <a:p>
            <a:pPr>
              <a:defRPr sz="2000">
                <a:solidFill>
                  <a:srgbClr val="444444"/>
                </a:solidFill>
              </a:defRPr>
            </a:pPr>
            <a:r>
              <a:t>Multidisciplinary approaches will drive innovation in CNN research.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