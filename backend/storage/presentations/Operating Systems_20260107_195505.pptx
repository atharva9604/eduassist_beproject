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Operating Systems presentation covering multiple topics. Today we'll explore: Process Management, Process States and Life Cycle, Process Control Block (PCB), CPU Scheduling Concepts, Context Switching.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process management, explain that it's a crucial aspect of operating systems, allowing for efficient use of system resources. Provide examples of process management in real-world scenarios, such as job scheduling in Unix or batch processing in Windows. Ask students to consider how process management improves system efficiency and productivity. Key takeaways include understanding the definition, importance, and applications of process management in operating systems.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importance of process management in operating systems, highlighting its role in controlling program execution, synchronization, and communication. Provide examples of CPU scheduling algorithms like FCFS, SJF, and Priority Scheduling. Discuss the benefits of process management, such as improved system performance, responsiveness, and multitasking capabilities. Ask students to consider scenarios where process management is crucial, like in real-time systems or web servers. Emphasize key takeaways, including the need for efficient process management to ensure smooth system operation and optimal resource utilization.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process management, explain that it's a crucial aspect of operating systems, focusing on managing processes to optimize system performance. Discuss the different types of processes and their states, highlighting the role of the operating system in process control. Use examples like Windows Task Manager or Linux top command to illustrate process management in action. Ask students to consider the challenges of managing multiple processes and how operating systems address these challenges. Key takeaways include understanding process management concepts and their applications in real-world operating systems.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concept of process states and their life cycle, highlighting the different states a process can be in, such as running, waiting, and zombie. Provide examples of how these states transition and how they affect system performance. Discuss the importance of understanding process states in operating system design and management. Ask students to consider how process states impact multitasking and system responsiveness. Key takeaways include understanding the process life cycle and its impact on system efficiency.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discussing process states and life cycle, emphasize the role of the operating system in managing these states. Give examples of how a process moves through different states, such as a web browser waiting for user input. Ask students to consider the implications of context switching on system performance. Key takeaways include understanding the different process states and how they are managed by the operating system.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Operating Systems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Process Management, Process States and Life Cycle, Process Control Block (PCB), CPU Scheduling Concepts, Context Switching</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Process Management - Introduction</a:t>
            </a:r>
          </a:p>
        </p:txBody>
      </p:sp>
      <p:sp>
        <p:nvSpPr>
          <p:cNvPr id="3" name="Content Placeholder 2"/>
          <p:cNvSpPr>
            <a:spLocks noGrp="1"/>
          </p:cNvSpPr>
          <p:nvPr>
            <p:ph idx="1"/>
          </p:nvPr>
        </p:nvSpPr>
        <p:spPr/>
        <p:txBody>
          <a:bodyPr/>
          <a:lstStyle/>
          <a:p>
            <a:pPr>
              <a:defRPr sz="2000">
                <a:solidFill>
                  <a:srgbClr val="444444"/>
                </a:solidFill>
              </a:defRPr>
            </a:pPr>
            <a:r>
              <a:t>Definition: Managing processes in operating systems</a:t>
            </a:r>
          </a:p>
          <a:p>
            <a:pPr>
              <a:defRPr sz="2000">
                <a:solidFill>
                  <a:srgbClr val="444444"/>
                </a:solidFill>
              </a:defRPr>
            </a:pPr>
            <a:r>
              <a:t>Involves process creation and termination</a:t>
            </a:r>
          </a:p>
          <a:p>
            <a:pPr>
              <a:defRPr sz="2000">
                <a:solidFill>
                  <a:srgbClr val="444444"/>
                </a:solidFill>
              </a:defRPr>
            </a:pPr>
            <a:r>
              <a:t>Process scheduling and synchronization</a:t>
            </a:r>
          </a:p>
          <a:p>
            <a:pPr>
              <a:defRPr sz="2000">
                <a:solidFill>
                  <a:srgbClr val="444444"/>
                </a:solidFill>
              </a:defRPr>
            </a:pPr>
            <a:r>
              <a:t>Memory management for processes</a:t>
            </a:r>
          </a:p>
          <a:p>
            <a:pPr>
              <a:defRPr sz="2000">
                <a:solidFill>
                  <a:srgbClr val="444444"/>
                </a:solidFill>
              </a:defRPr>
            </a:pPr>
            <a:r>
              <a:t>Process communication methods</a:t>
            </a:r>
          </a:p>
          <a:p>
            <a:pPr>
              <a:defRPr sz="2000">
                <a:solidFill>
                  <a:srgbClr val="444444"/>
                </a:solidFill>
              </a:defRPr>
            </a:pPr>
            <a:r>
              <a:t>Inter-process communication techniques</a:t>
            </a:r>
          </a:p>
          <a:p>
            <a:pPr>
              <a:defRPr sz="2000">
                <a:solidFill>
                  <a:srgbClr val="444444"/>
                </a:solidFill>
              </a:defRPr>
            </a:pPr>
            <a:r>
              <a:t>Examples: Job scheduling, batch processing</a:t>
            </a:r>
          </a:p>
          <a:p>
            <a:pPr>
              <a:defRPr sz="2000">
                <a:solidFill>
                  <a:srgbClr val="444444"/>
                </a:solidFill>
              </a:defRPr>
            </a:pPr>
            <a:r>
              <a:t>Real-time systems use process management</a:t>
            </a:r>
          </a:p>
          <a:p>
            <a:pPr>
              <a:defRPr sz="2000">
                <a:solidFill>
                  <a:srgbClr val="444444"/>
                </a:solidFill>
              </a:defRPr>
            </a:pPr>
            <a:r>
              <a:t>Unix and Windows use process management</a:t>
            </a:r>
          </a:p>
          <a:p>
            <a:pPr>
              <a:defRPr sz="2000">
                <a:solidFill>
                  <a:srgbClr val="444444"/>
                </a:solidFill>
              </a:defRPr>
            </a:pPr>
            <a:r>
              <a:t>Improves system efficiency and productivity</a:t>
            </a:r>
          </a:p>
        </p:txBody>
      </p:sp>
      <p:pic>
        <p:nvPicPr>
          <p:cNvPr id="4" name="Picture 3" descr="e27b94b8327445e1a338f60b99901301_process_management_process_states_and_li.jpg"/>
          <p:cNvPicPr>
            <a:picLocks noChangeAspect="1"/>
          </p:cNvPicPr>
          <p:nvPr/>
        </p:nvPicPr>
        <p:blipFill>
          <a:blip r:embed="rId2"/>
          <a:stretch>
            <a:fillRect/>
          </a:stretch>
        </p:blipFill>
        <p:spPr>
          <a:xfrm>
            <a:off x="7315200" y="1828800"/>
            <a:ext cx="4114800" cy="23164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Process Management - Introduction</a:t>
            </a:r>
          </a:p>
        </p:txBody>
      </p:sp>
      <p:sp>
        <p:nvSpPr>
          <p:cNvPr id="3" name="Content Placeholder 2"/>
          <p:cNvSpPr>
            <a:spLocks noGrp="1"/>
          </p:cNvSpPr>
          <p:nvPr>
            <p:ph idx="1"/>
          </p:nvPr>
        </p:nvSpPr>
        <p:spPr/>
        <p:txBody>
          <a:bodyPr/>
          <a:lstStyle/>
          <a:p>
            <a:pPr>
              <a:defRPr sz="2000">
                <a:solidFill>
                  <a:srgbClr val="444444"/>
                </a:solidFill>
              </a:defRPr>
            </a:pPr>
            <a:r>
              <a:t>Process management defines program execution control</a:t>
            </a:r>
          </a:p>
          <a:p>
            <a:pPr>
              <a:defRPr sz="2000">
                <a:solidFill>
                  <a:srgbClr val="444444"/>
                </a:solidFill>
              </a:defRPr>
            </a:pPr>
            <a:r>
              <a:t>Manages process lifecycle from creation to termination</a:t>
            </a:r>
          </a:p>
          <a:p>
            <a:pPr>
              <a:defRPr sz="2000">
                <a:solidFill>
                  <a:srgbClr val="444444"/>
                </a:solidFill>
              </a:defRPr>
            </a:pPr>
            <a:r>
              <a:t>Includes process synchronization and communication</a:t>
            </a:r>
          </a:p>
          <a:p>
            <a:pPr>
              <a:defRPr sz="2000">
                <a:solidFill>
                  <a:srgbClr val="444444"/>
                </a:solidFill>
              </a:defRPr>
            </a:pPr>
            <a:r>
              <a:t>Enables concurrent program execution efficiently</a:t>
            </a:r>
          </a:p>
          <a:p>
            <a:pPr>
              <a:defRPr sz="2000">
                <a:solidFill>
                  <a:srgbClr val="444444"/>
                </a:solidFill>
              </a:defRPr>
            </a:pPr>
            <a:r>
              <a:t>Enhances system performance and responsiveness</a:t>
            </a:r>
          </a:p>
          <a:p>
            <a:pPr>
              <a:defRPr sz="2000">
                <a:solidFill>
                  <a:srgbClr val="444444"/>
                </a:solidFill>
              </a:defRPr>
            </a:pPr>
            <a:r>
              <a:t>Supports multitasking and multithreading operations</a:t>
            </a:r>
          </a:p>
          <a:p>
            <a:pPr>
              <a:defRPr sz="2000">
                <a:solidFill>
                  <a:srgbClr val="444444"/>
                </a:solidFill>
              </a:defRPr>
            </a:pPr>
            <a:r>
              <a:t>Process management involves CPU scheduling algorithms</a:t>
            </a:r>
          </a:p>
          <a:p>
            <a:pPr>
              <a:defRPr sz="2000">
                <a:solidFill>
                  <a:srgbClr val="444444"/>
                </a:solidFill>
              </a:defRPr>
            </a:pPr>
            <a:r>
              <a:t>Prioritizes tasks based on urgency and importance</a:t>
            </a:r>
          </a:p>
          <a:p>
            <a:pPr>
              <a:defRPr sz="2000">
                <a:solidFill>
                  <a:srgbClr val="444444"/>
                </a:solidFill>
              </a:defRPr>
            </a:pPr>
            <a:r>
              <a:t>Utilizes inter-process communication techniques</a:t>
            </a:r>
          </a:p>
          <a:p>
            <a:pPr>
              <a:defRPr sz="2000">
                <a:solidFill>
                  <a:srgbClr val="444444"/>
                </a:solidFill>
              </a:defRPr>
            </a:pPr>
            <a:r>
              <a:t>Optimizes system resources for better utilization</a:t>
            </a:r>
          </a:p>
        </p:txBody>
      </p:sp>
      <p:pic>
        <p:nvPicPr>
          <p:cNvPr id="4" name="Picture 3" descr="5ce7d2847df04f89af499c224a2de17e_process_management_process_states_and_li.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Process Management - Introduction</a:t>
            </a:r>
          </a:p>
        </p:txBody>
      </p:sp>
      <p:sp>
        <p:nvSpPr>
          <p:cNvPr id="3" name="Content Placeholder 2"/>
          <p:cNvSpPr>
            <a:spLocks noGrp="1"/>
          </p:cNvSpPr>
          <p:nvPr>
            <p:ph idx="1"/>
          </p:nvPr>
        </p:nvSpPr>
        <p:spPr/>
        <p:txBody>
          <a:bodyPr/>
          <a:lstStyle/>
          <a:p>
            <a:pPr>
              <a:defRPr sz="2000">
                <a:solidFill>
                  <a:srgbClr val="444444"/>
                </a:solidFill>
              </a:defRPr>
            </a:pPr>
            <a:r>
              <a:t>Definition: managing processes in operating systems</a:t>
            </a:r>
          </a:p>
          <a:p>
            <a:pPr>
              <a:defRPr sz="2000">
                <a:solidFill>
                  <a:srgbClr val="444444"/>
                </a:solidFill>
              </a:defRPr>
            </a:pPr>
            <a:r>
              <a:t>Process: program in execution with resources allocated</a:t>
            </a:r>
          </a:p>
          <a:p>
            <a:pPr>
              <a:defRPr sz="2000">
                <a:solidFill>
                  <a:srgbClr val="444444"/>
                </a:solidFill>
              </a:defRPr>
            </a:pPr>
            <a:r>
              <a:t>Types of processes: system, user, background, foreground</a:t>
            </a:r>
          </a:p>
          <a:p>
            <a:pPr>
              <a:defRPr sz="2000">
                <a:solidFill>
                  <a:srgbClr val="444444"/>
                </a:solidFill>
              </a:defRPr>
            </a:pPr>
            <a:r>
              <a:t>Process states: running, waiting, ready, zombie</a:t>
            </a:r>
          </a:p>
          <a:p>
            <a:pPr>
              <a:defRPr sz="2000">
                <a:solidFill>
                  <a:srgbClr val="444444"/>
                </a:solidFill>
              </a:defRPr>
            </a:pPr>
            <a:r>
              <a:t>Process control: creation, scheduling, synchronization</a:t>
            </a:r>
          </a:p>
          <a:p>
            <a:pPr>
              <a:defRPr sz="2000">
                <a:solidFill>
                  <a:srgbClr val="444444"/>
                </a:solidFill>
              </a:defRPr>
            </a:pPr>
            <a:r>
              <a:t>Inter-process communication: pipes, sockets, shared memory</a:t>
            </a:r>
          </a:p>
          <a:p>
            <a:pPr>
              <a:defRPr sz="2000">
                <a:solidFill>
                  <a:srgbClr val="444444"/>
                </a:solidFill>
              </a:defRPr>
            </a:pPr>
            <a:r>
              <a:t>Context switching: switching between processes quickly</a:t>
            </a:r>
          </a:p>
          <a:p>
            <a:pPr>
              <a:defRPr sz="2000">
                <a:solidFill>
                  <a:srgbClr val="444444"/>
                </a:solidFill>
              </a:defRPr>
            </a:pPr>
            <a:r>
              <a:t>Process management goals: efficiency, responsiveness, security</a:t>
            </a:r>
          </a:p>
          <a:p>
            <a:pPr>
              <a:defRPr sz="2000">
                <a:solidFill>
                  <a:srgbClr val="444444"/>
                </a:solidFill>
              </a:defRPr>
            </a:pPr>
            <a:r>
              <a:t>Example: Windows Task Manager, Linux top command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Process States and Life Cycle - Introduction</a:t>
            </a:r>
          </a:p>
        </p:txBody>
      </p:sp>
      <p:sp>
        <p:nvSpPr>
          <p:cNvPr id="3" name="Content Placeholder 2"/>
          <p:cNvSpPr>
            <a:spLocks noGrp="1"/>
          </p:cNvSpPr>
          <p:nvPr>
            <p:ph idx="1"/>
          </p:nvPr>
        </p:nvSpPr>
        <p:spPr/>
        <p:txBody>
          <a:bodyPr/>
          <a:lstStyle/>
          <a:p>
            <a:pPr>
              <a:defRPr sz="2000">
                <a:solidFill>
                  <a:srgbClr val="444444"/>
                </a:solidFill>
              </a:defRPr>
            </a:pPr>
            <a:r>
              <a:t>Process states define program execution status</a:t>
            </a:r>
          </a:p>
          <a:p>
            <a:pPr>
              <a:defRPr sz="2000">
                <a:solidFill>
                  <a:srgbClr val="444444"/>
                </a:solidFill>
              </a:defRPr>
            </a:pPr>
            <a:r>
              <a:t>Running state executes instructions sequentially</a:t>
            </a:r>
          </a:p>
          <a:p>
            <a:pPr>
              <a:defRPr sz="2000">
                <a:solidFill>
                  <a:srgbClr val="444444"/>
                </a:solidFill>
              </a:defRPr>
            </a:pPr>
            <a:r>
              <a:t>Waiting state pauses execution for resources</a:t>
            </a:r>
          </a:p>
          <a:p>
            <a:pPr>
              <a:defRPr sz="2000">
                <a:solidFill>
                  <a:srgbClr val="444444"/>
                </a:solidFill>
              </a:defRPr>
            </a:pPr>
            <a:r>
              <a:t>Ready state prepares for execution scheduling</a:t>
            </a:r>
          </a:p>
          <a:p>
            <a:pPr>
              <a:defRPr sz="2000">
                <a:solidFill>
                  <a:srgbClr val="444444"/>
                </a:solidFill>
              </a:defRPr>
            </a:pPr>
            <a:r>
              <a:t>Zombie state indicates process termination</a:t>
            </a:r>
          </a:p>
          <a:p>
            <a:pPr>
              <a:defRPr sz="2000">
                <a:solidFill>
                  <a:srgbClr val="444444"/>
                </a:solidFill>
              </a:defRPr>
            </a:pPr>
            <a:r>
              <a:t>Dead state confirms process removal</a:t>
            </a:r>
          </a:p>
          <a:p>
            <a:pPr>
              <a:defRPr sz="2000">
                <a:solidFill>
                  <a:srgbClr val="444444"/>
                </a:solidFill>
              </a:defRPr>
            </a:pPr>
            <a:r>
              <a:t>Process life cycle manages creation to termination</a:t>
            </a:r>
          </a:p>
          <a:p>
            <a:pPr>
              <a:defRPr sz="2000">
                <a:solidFill>
                  <a:srgbClr val="444444"/>
                </a:solidFill>
              </a:defRPr>
            </a:pPr>
            <a:r>
              <a:t>States transition based on system calls</a:t>
            </a:r>
          </a:p>
          <a:p>
            <a:pPr>
              <a:defRPr sz="2000">
                <a:solidFill>
                  <a:srgbClr val="444444"/>
                </a:solidFill>
              </a:defRPr>
            </a:pPr>
            <a:r>
              <a:t>Context switching occurs between states</a:t>
            </a:r>
          </a:p>
          <a:p>
            <a:pPr>
              <a:defRPr sz="2000">
                <a:solidFill>
                  <a:srgbClr val="444444"/>
                </a:solidFill>
              </a:defRPr>
            </a:pPr>
            <a:r>
              <a:t>States impact system performance and efficiency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Process States and Life Cycle - Introduction</a:t>
            </a:r>
          </a:p>
        </p:txBody>
      </p:sp>
      <p:sp>
        <p:nvSpPr>
          <p:cNvPr id="3" name="Content Placeholder 2"/>
          <p:cNvSpPr>
            <a:spLocks noGrp="1"/>
          </p:cNvSpPr>
          <p:nvPr>
            <p:ph idx="1"/>
          </p:nvPr>
        </p:nvSpPr>
        <p:spPr/>
        <p:txBody>
          <a:bodyPr/>
          <a:lstStyle/>
          <a:p>
            <a:pPr>
              <a:defRPr sz="2000">
                <a:solidFill>
                  <a:srgbClr val="444444"/>
                </a:solidFill>
              </a:defRPr>
            </a:pPr>
            <a:r>
              <a:t>Process states define execution status of a program</a:t>
            </a:r>
          </a:p>
          <a:p>
            <a:pPr>
              <a:defRPr sz="2000">
                <a:solidFill>
                  <a:srgbClr val="444444"/>
                </a:solidFill>
              </a:defRPr>
            </a:pPr>
            <a:r>
              <a:t>Ready state: process waiting for CPU allocation</a:t>
            </a:r>
          </a:p>
          <a:p>
            <a:pPr>
              <a:defRPr sz="2000">
                <a:solidFill>
                  <a:srgbClr val="444444"/>
                </a:solidFill>
              </a:defRPr>
            </a:pPr>
            <a:r>
              <a:t>Running state: process executing on CPU</a:t>
            </a:r>
          </a:p>
          <a:p>
            <a:pPr>
              <a:defRPr sz="2000">
                <a:solidFill>
                  <a:srgbClr val="444444"/>
                </a:solidFill>
              </a:defRPr>
            </a:pPr>
            <a:r>
              <a:t>Waiting state: process waiting for I/O completion</a:t>
            </a:r>
          </a:p>
          <a:p>
            <a:pPr>
              <a:defRPr sz="2000">
                <a:solidFill>
                  <a:srgbClr val="444444"/>
                </a:solidFill>
              </a:defRPr>
            </a:pPr>
            <a:r>
              <a:t>Zombie state: process terminated, waiting for parent</a:t>
            </a:r>
          </a:p>
          <a:p>
            <a:pPr>
              <a:defRPr sz="2000">
                <a:solidFill>
                  <a:srgbClr val="444444"/>
                </a:solidFill>
              </a:defRPr>
            </a:pPr>
            <a:r>
              <a:t>Dead state: process terminated, resources released</a:t>
            </a:r>
          </a:p>
          <a:p>
            <a:pPr>
              <a:defRPr sz="2000">
                <a:solidFill>
                  <a:srgbClr val="444444"/>
                </a:solidFill>
              </a:defRPr>
            </a:pPr>
            <a:r>
              <a:t>Context switch: switching between processes</a:t>
            </a:r>
          </a:p>
          <a:p>
            <a:pPr>
              <a:defRPr sz="2000">
                <a:solidFill>
                  <a:srgbClr val="444444"/>
                </a:solidFill>
              </a:defRPr>
            </a:pPr>
            <a:r>
              <a:t>Process life cycle: creation to termination</a:t>
            </a:r>
          </a:p>
          <a:p>
            <a:pPr>
              <a:defRPr sz="2000">
                <a:solidFill>
                  <a:srgbClr val="444444"/>
                </a:solidFill>
              </a:defRPr>
            </a:pPr>
            <a:r>
              <a:t>States managed by operating system scheduler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