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Introduce the concept of CNNs and their importance in deep learning. Explain how they are inspired by the human brain and are used for various tasks. Ask students if they have heard of CNNs before and what they know about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basic architecture of a CNN, including the convolutional and pooling layers. Discuss the importance of activation functions and how they are used. Show an image of a CNN architecture diagram and explain each component. Ask students to think about how the architecture of a CNN allows it to learn complex patterns.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Dive deeper into the convolutional and pooling layers of a CNN. Explain how convolutional layers extract local features and how pooling layers reduce spatial dimensions. Discuss the different types of pooling techniques and how they can be used. Ask students to think about how the convolutional and pooling layers work together to learn complex patterns.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various applications of CNNs, including image classification and object detection. Explain how CNNs can be used for segmentation and generation tasks, as well as natural language processing tasks. Provide examples of how CNNs are used in real-world applications, such as self-driving cars and medical image analysis. Ask students to think about other potential applications of CNNs.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Summarize the advantages and limitations of CNNs. Discuss how CNNs can learn complex patterns and features, but require large amounts of computational power. Explain how CNNs can be prone to overfitting and sensitive to hyperparameters. Ask students to think about how the advantages and limitations of CNNs can be addressed in real-world applications. Provide a summary of the key takeaways from the previous slides.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Convolutional Neural Networks (CNNs)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Deep Learning for Image and Signal Processing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Architecture</a:t>
            </a:r>
          </a:p>
        </p:txBody>
      </p:sp>
      <p:sp>
        <p:nvSpPr>
          <p:cNvPr id="3" name="Content Placeholder 2"/>
          <p:cNvSpPr>
            <a:spLocks noGrp="1"/>
          </p:cNvSpPr>
          <p:nvPr>
            <p:ph idx="1"/>
          </p:nvPr>
        </p:nvSpPr>
        <p:spPr/>
        <p:txBody>
          <a:bodyPr/>
          <a:lstStyle/>
          <a:p>
            <a:pPr>
              <a:defRPr sz="2000">
                <a:solidFill>
                  <a:srgbClr val="444444"/>
                </a:solidFill>
              </a:defRPr>
            </a:pPr>
            <a:r>
              <a:t>Consist of convolutional and pooling layers</a:t>
            </a:r>
          </a:p>
          <a:p>
            <a:pPr>
              <a:defRPr sz="2000">
                <a:solidFill>
                  <a:srgbClr val="444444"/>
                </a:solidFill>
              </a:defRPr>
            </a:pPr>
            <a:r>
              <a:t>Followed by fully connected layers</a:t>
            </a:r>
          </a:p>
          <a:p>
            <a:pPr>
              <a:defRPr sz="2000">
                <a:solidFill>
                  <a:srgbClr val="444444"/>
                </a:solidFill>
              </a:defRPr>
            </a:pPr>
            <a:r>
              <a:t>Use activation functions like ReLU and sigmoid</a:t>
            </a:r>
          </a:p>
          <a:p>
            <a:pPr>
              <a:defRPr sz="2000">
                <a:solidFill>
                  <a:srgbClr val="444444"/>
                </a:solidFill>
              </a:defRPr>
            </a:pPr>
            <a:r>
              <a:t>Image_query: CNN architecture diagram</a:t>
            </a:r>
          </a:p>
          <a:p>
            <a:pPr>
              <a:defRPr sz="2000">
                <a:solidFill>
                  <a:srgbClr val="444444"/>
                </a:solidFill>
              </a:defRPr>
            </a:pPr>
            <a:r>
              <a:t>y = σ(Wx + b)</a:t>
            </a:r>
          </a:p>
          <a:p>
            <a:pPr>
              <a:defRPr sz="2000">
                <a:solidFill>
                  <a:srgbClr val="444444"/>
                </a:solidFill>
              </a:defRPr>
            </a:pPr>
            <a:r>
              <a:t>Can be trained using backpropagation</a:t>
            </a:r>
          </a:p>
          <a:p>
            <a:pPr>
              <a:defRPr sz="2000">
                <a:solidFill>
                  <a:srgbClr val="444444"/>
                </a:solidFill>
              </a:defRPr>
            </a:pPr>
            <a:r>
              <a:t>Regularization techniques are often used</a:t>
            </a:r>
          </a:p>
          <a:p>
            <a:pPr>
              <a:defRPr sz="2000">
                <a:solidFill>
                  <a:srgbClr val="444444"/>
                </a:solidFill>
              </a:defRPr>
            </a:pPr>
            <a:r>
              <a:t>Batch normalization can improve training</a:t>
            </a:r>
          </a:p>
          <a:p>
            <a:pPr>
              <a:defRPr sz="2000">
                <a:solidFill>
                  <a:srgbClr val="444444"/>
                </a:solidFill>
              </a:defRPr>
            </a:pPr>
            <a:r>
              <a:t>Dropout can prevent overfitting</a:t>
            </a:r>
          </a:p>
        </p:txBody>
      </p:sp>
      <p:pic>
        <p:nvPicPr>
          <p:cNvPr id="4" name="Picture 3" descr="93e1c94953f7476fbd3d29671300b4d8_convolutional_neural_networks_cnns_convo.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 and Pooling</a:t>
            </a:r>
          </a:p>
        </p:txBody>
      </p:sp>
      <p:sp>
        <p:nvSpPr>
          <p:cNvPr id="3" name="Content Placeholder 2"/>
          <p:cNvSpPr>
            <a:spLocks noGrp="1"/>
          </p:cNvSpPr>
          <p:nvPr>
            <p:ph idx="1"/>
          </p:nvPr>
        </p:nvSpPr>
        <p:spPr/>
        <p:txBody>
          <a:bodyPr/>
          <a:lstStyle/>
          <a:p>
            <a:pPr>
              <a:defRPr sz="2000">
                <a:solidFill>
                  <a:srgbClr val="444444"/>
                </a:solidFill>
              </a:defRPr>
            </a:pPr>
            <a:r>
              <a:t>Convolutional layers extract local features</a:t>
            </a:r>
          </a:p>
          <a:p>
            <a:pPr>
              <a:defRPr sz="2000">
                <a:solidFill>
                  <a:srgbClr val="444444"/>
                </a:solidFill>
              </a:defRPr>
            </a:pPr>
            <a:r>
              <a:t>Pooling layers reduce spatial dimensions</a:t>
            </a:r>
          </a:p>
          <a:p>
            <a:pPr>
              <a:defRPr sz="2000">
                <a:solidFill>
                  <a:srgbClr val="444444"/>
                </a:solidFill>
              </a:defRPr>
            </a:pPr>
            <a:r>
              <a:t>Max pooling is a common pooling technique</a:t>
            </a:r>
          </a:p>
          <a:p>
            <a:pPr>
              <a:defRPr sz="2000">
                <a:solidFill>
                  <a:srgbClr val="444444"/>
                </a:solidFill>
              </a:defRPr>
            </a:pPr>
            <a:r>
              <a:t>Average pooling can also be used</a:t>
            </a:r>
          </a:p>
          <a:p>
            <a:pPr>
              <a:defRPr sz="2000">
                <a:solidFill>
                  <a:srgbClr val="444444"/>
                </a:solidFill>
              </a:defRPr>
            </a:pPr>
            <a:r>
              <a:t>Stride and padding can be adjusted</a:t>
            </a:r>
          </a:p>
          <a:p>
            <a:pPr>
              <a:defRPr sz="2000">
                <a:solidFill>
                  <a:srgbClr val="444444"/>
                </a:solidFill>
              </a:defRPr>
            </a:pPr>
            <a:r>
              <a:t>Convolutional layers can be stacked</a:t>
            </a:r>
          </a:p>
          <a:p>
            <a:pPr>
              <a:defRPr sz="2000">
                <a:solidFill>
                  <a:srgbClr val="444444"/>
                </a:solidFill>
              </a:defRPr>
            </a:pPr>
            <a:r>
              <a:t>Pooling layers can be used for downsampling</a:t>
            </a:r>
          </a:p>
          <a:p>
            <a:pPr>
              <a:defRPr sz="2000">
                <a:solidFill>
                  <a:srgbClr val="444444"/>
                </a:solidFill>
              </a:defRPr>
            </a:pPr>
            <a:r>
              <a:t>Helps to reduce the number of parameters</a:t>
            </a:r>
          </a:p>
          <a:p>
            <a:pPr>
              <a:defRPr sz="2000">
                <a:solidFill>
                  <a:srgbClr val="444444"/>
                </a:solidFill>
              </a:defRPr>
            </a:pPr>
            <a:r>
              <a:t>Improves the robustness of the model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a:t>
            </a:r>
          </a:p>
        </p:txBody>
      </p:sp>
      <p:sp>
        <p:nvSpPr>
          <p:cNvPr id="3" name="Content Placeholder 2"/>
          <p:cNvSpPr>
            <a:spLocks noGrp="1"/>
          </p:cNvSpPr>
          <p:nvPr>
            <p:ph idx="1"/>
          </p:nvPr>
        </p:nvSpPr>
        <p:spPr/>
        <p:txBody>
          <a:bodyPr/>
          <a:lstStyle/>
          <a:p>
            <a:pPr>
              <a:defRPr sz="2000">
                <a:solidFill>
                  <a:srgbClr val="444444"/>
                </a:solidFill>
              </a:defRPr>
            </a:pPr>
            <a:r>
              <a:t>Image classification and object detection</a:t>
            </a:r>
          </a:p>
          <a:p>
            <a:pPr>
              <a:defRPr sz="2000">
                <a:solidFill>
                  <a:srgbClr val="444444"/>
                </a:solidFill>
              </a:defRPr>
            </a:pPr>
            <a:r>
              <a:t>Segmentation and generation tasks</a:t>
            </a:r>
          </a:p>
          <a:p>
            <a:pPr>
              <a:defRPr sz="2000">
                <a:solidFill>
                  <a:srgbClr val="444444"/>
                </a:solidFill>
              </a:defRPr>
            </a:pPr>
            <a:r>
              <a:t>Natural language processing tasks</a:t>
            </a:r>
          </a:p>
          <a:p>
            <a:pPr>
              <a:defRPr sz="2000">
                <a:solidFill>
                  <a:srgbClr val="444444"/>
                </a:solidFill>
              </a:defRPr>
            </a:pPr>
            <a:r>
              <a:t>Speech recognition and synthesis</a:t>
            </a:r>
          </a:p>
          <a:p>
            <a:pPr>
              <a:defRPr sz="2000">
                <a:solidFill>
                  <a:srgbClr val="444444"/>
                </a:solidFill>
              </a:defRPr>
            </a:pPr>
            <a:r>
              <a:t>Used in self-driving cars and robotics</a:t>
            </a:r>
          </a:p>
          <a:p>
            <a:pPr>
              <a:defRPr sz="2000">
                <a:solidFill>
                  <a:srgbClr val="444444"/>
                </a:solidFill>
              </a:defRPr>
            </a:pPr>
            <a:r>
              <a:t>Used in medical image analysis</a:t>
            </a:r>
          </a:p>
          <a:p>
            <a:pPr>
              <a:defRPr sz="2000">
                <a:solidFill>
                  <a:srgbClr val="444444"/>
                </a:solidFill>
              </a:defRPr>
            </a:pPr>
            <a:r>
              <a:t>Used in facial recognition systems</a:t>
            </a:r>
          </a:p>
          <a:p>
            <a:pPr>
              <a:defRPr sz="2000">
                <a:solidFill>
                  <a:srgbClr val="444444"/>
                </a:solidFill>
              </a:defRPr>
            </a:pPr>
            <a:r>
              <a:t>Can be used for recommender systems</a:t>
            </a:r>
          </a:p>
          <a:p>
            <a:pPr>
              <a:defRPr sz="2000">
                <a:solidFill>
                  <a:srgbClr val="444444"/>
                </a:solidFill>
              </a:defRPr>
            </a:pPr>
            <a:r>
              <a:t>Can be used for time series forecasting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Advantages and Limitations</a:t>
            </a:r>
          </a:p>
        </p:txBody>
      </p:sp>
      <p:sp>
        <p:nvSpPr>
          <p:cNvPr id="3" name="Content Placeholder 2"/>
          <p:cNvSpPr>
            <a:spLocks noGrp="1"/>
          </p:cNvSpPr>
          <p:nvPr>
            <p:ph idx="1"/>
          </p:nvPr>
        </p:nvSpPr>
        <p:spPr/>
        <p:txBody>
          <a:bodyPr/>
          <a:lstStyle/>
          <a:p>
            <a:pPr>
              <a:defRPr sz="2000">
                <a:solidFill>
                  <a:srgbClr val="444444"/>
                </a:solidFill>
              </a:defRPr>
            </a:pPr>
            <a:r>
              <a:t>Can learn complex patterns and features</a:t>
            </a:r>
          </a:p>
          <a:p>
            <a:pPr>
              <a:defRPr sz="2000">
                <a:solidFill>
                  <a:srgbClr val="444444"/>
                </a:solidFill>
              </a:defRPr>
            </a:pPr>
            <a:r>
              <a:t>Robust to small transformations and noise</a:t>
            </a:r>
          </a:p>
          <a:p>
            <a:pPr>
              <a:defRPr sz="2000">
                <a:solidFill>
                  <a:srgbClr val="444444"/>
                </a:solidFill>
              </a:defRPr>
            </a:pPr>
            <a:r>
              <a:t>Can be trained on large datasets</a:t>
            </a:r>
          </a:p>
          <a:p>
            <a:pPr>
              <a:defRPr sz="2000">
                <a:solidFill>
                  <a:srgbClr val="444444"/>
                </a:solidFill>
              </a:defRPr>
            </a:pPr>
            <a:r>
              <a:t>Can be used for real-time applications</a:t>
            </a:r>
          </a:p>
          <a:p>
            <a:pPr>
              <a:defRPr sz="2000">
                <a:solidFill>
                  <a:srgbClr val="444444"/>
                </a:solidFill>
              </a:defRPr>
            </a:pPr>
            <a:r>
              <a:t>Require large amounts of computational power</a:t>
            </a:r>
          </a:p>
          <a:p>
            <a:pPr>
              <a:defRPr sz="2000">
                <a:solidFill>
                  <a:srgbClr val="444444"/>
                </a:solidFill>
              </a:defRPr>
            </a:pPr>
            <a:r>
              <a:t>Can be prone to overfitting</a:t>
            </a:r>
          </a:p>
          <a:p>
            <a:pPr>
              <a:defRPr sz="2000">
                <a:solidFill>
                  <a:srgbClr val="444444"/>
                </a:solidFill>
              </a:defRPr>
            </a:pPr>
            <a:r>
              <a:t>Can be sensitive to hyperparameters</a:t>
            </a:r>
          </a:p>
          <a:p>
            <a:pPr>
              <a:defRPr sz="2000">
                <a:solidFill>
                  <a:srgbClr val="444444"/>
                </a:solidFill>
              </a:defRPr>
            </a:pPr>
            <a:r>
              <a:t>Can be difficult to interpret</a:t>
            </a:r>
          </a:p>
          <a:p>
            <a:pPr>
              <a:defRPr sz="2000">
                <a:solidFill>
                  <a:srgbClr val="444444"/>
                </a:solidFill>
              </a:defRPr>
            </a:pPr>
            <a:r>
              <a:t>Can be biased towards certain classes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