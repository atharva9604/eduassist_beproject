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students to the topic of deep learning, focusing on RNNs. Explain that RNNs are a type of neural network used for sequential data. Ask students what they know about deep learning and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basics of RNNs, including their use for sequential data and ability to learn long-term dependencies. Provide examples of applications, such as speech recognition and natural language processing. Ask students to consider how RNNs might be used in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architecture of an RNN, including the input, hidden, and output layers. Explain the role of feedback connections and how the hidden state is updated at each step. Use a simple diagram to illustrate the architecture and ask students to consider how the recurrent connections enable the network to learn sequential patterns.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several variants of RNNs, including LSTMs, GRUs, and bidirectional RNNs. Explain the key features and advantages of each variant, such as the ability to learn long-term dependencies or handle complex sequential data. Ask students to consider how these variants might be used in different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various applications of RNNs, including speech recognition, natural language processing, and time series forecasting. Explain the advantages of RNNs, such as their ability to learn sequential patterns, and the limitations, such as the potential for slow training and vanishing gradients. Provide examples of real-world applications and ask students to consider how RNNs might be used in their own projects.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points from the previous slides, including the basics of RNNs, their architecture, variants, applications, and advantages and limitations. Ask students to reflect on what they have learned and how they might apply RNNs in their own projects. Provide examples of real-world applications and encourage students to explore further.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Recurrent Neural Networks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RNNs</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Used for speech, text, time series</a:t>
            </a:r>
          </a:p>
          <a:p>
            <a:pPr>
              <a:defRPr sz="2000">
                <a:solidFill>
                  <a:srgbClr val="444444"/>
                </a:solidFill>
              </a:defRPr>
            </a:pPr>
            <a:r>
              <a:t>Store information in hidden state</a:t>
            </a:r>
          </a:p>
          <a:p>
            <a:pPr>
              <a:defRPr sz="2000">
                <a:solidFill>
                  <a:srgbClr val="444444"/>
                </a:solidFill>
              </a:defRPr>
            </a:pPr>
            <a:r>
              <a:t>Trained using backpropagation</a:t>
            </a:r>
          </a:p>
          <a:p>
            <a:pPr>
              <a:defRPr sz="2000">
                <a:solidFill>
                  <a:srgbClr val="444444"/>
                </a:solidFill>
              </a:defRPr>
            </a:pPr>
            <a:r>
              <a:t>Can learn long-term dependencies</a:t>
            </a:r>
          </a:p>
          <a:p>
            <a:pPr>
              <a:defRPr sz="2000">
                <a:solidFill>
                  <a:srgbClr val="444444"/>
                </a:solidFill>
              </a:defRPr>
            </a:pPr>
            <a:r>
              <a:t>Used in many natural language tasks</a:t>
            </a:r>
          </a:p>
          <a:p>
            <a:pPr>
              <a:defRPr sz="2000">
                <a:solidFill>
                  <a:srgbClr val="444444"/>
                </a:solidFill>
              </a:defRPr>
            </a:pPr>
            <a:r>
              <a:t>Also used in speech recognition</a:t>
            </a:r>
          </a:p>
          <a:p>
            <a:pPr>
              <a:defRPr sz="2000">
                <a:solidFill>
                  <a:srgbClr val="444444"/>
                </a:solidFill>
              </a:defRPr>
            </a:pPr>
            <a:r>
              <a:t>And time series forecasting</a:t>
            </a:r>
          </a:p>
          <a:p>
            <a:pPr>
              <a:defRPr sz="2000">
                <a:solidFill>
                  <a:srgbClr val="444444"/>
                </a:solidFill>
              </a:defRPr>
            </a:pPr>
            <a:r>
              <a:t>Key component of deep learning</a:t>
            </a:r>
          </a:p>
          <a:p>
            <a:pPr>
              <a:defRPr sz="2000">
                <a:solidFill>
                  <a:srgbClr val="444444"/>
                </a:solidFill>
              </a:defRPr>
            </a:pPr>
            <a:r>
              <a:t>Inspired by human brain structure</a:t>
            </a:r>
          </a:p>
        </p:txBody>
      </p:sp>
      <p:pic>
        <p:nvPicPr>
          <p:cNvPr id="4" name="Picture 3" descr="42aec208069d4926a18692082aee928b_rnn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a:t>
            </a:r>
          </a:p>
        </p:txBody>
      </p:sp>
      <p:sp>
        <p:nvSpPr>
          <p:cNvPr id="3" name="Content Placeholder 2"/>
          <p:cNvSpPr>
            <a:spLocks noGrp="1"/>
          </p:cNvSpPr>
          <p:nvPr>
            <p:ph idx="1"/>
          </p:nvPr>
        </p:nvSpPr>
        <p:spPr/>
        <p:txBody>
          <a:bodyPr/>
          <a:lstStyle/>
          <a:p>
            <a:pPr>
              <a:defRPr sz="2000">
                <a:solidFill>
                  <a:srgbClr val="444444"/>
                </a:solidFill>
              </a:defRPr>
            </a:pPr>
            <a:r>
              <a:t>Input, hidden, output layers</a:t>
            </a:r>
          </a:p>
          <a:p>
            <a:pPr>
              <a:defRPr sz="2000">
                <a:solidFill>
                  <a:srgbClr val="444444"/>
                </a:solidFill>
              </a:defRPr>
            </a:pPr>
            <a:r>
              <a:t>Feedback connections allow recurrence</a:t>
            </a:r>
          </a:p>
          <a:p>
            <a:pPr>
              <a:defRPr sz="2000">
                <a:solidFill>
                  <a:srgbClr val="444444"/>
                </a:solidFill>
              </a:defRPr>
            </a:pPr>
            <a:r>
              <a:t>Hidden state updated at each step</a:t>
            </a:r>
          </a:p>
          <a:p>
            <a:pPr>
              <a:defRPr sz="2000">
                <a:solidFill>
                  <a:srgbClr val="444444"/>
                </a:solidFill>
              </a:defRPr>
            </a:pPr>
            <a:r>
              <a:t>Output computed from hidden state</a:t>
            </a:r>
          </a:p>
          <a:p>
            <a:pPr>
              <a:defRPr sz="2000">
                <a:solidFill>
                  <a:srgbClr val="444444"/>
                </a:solidFill>
              </a:defRPr>
            </a:pPr>
            <a:r>
              <a:t>y = sigmoid(Wx + Uh)</a:t>
            </a:r>
          </a:p>
          <a:p>
            <a:pPr>
              <a:defRPr sz="2000">
                <a:solidFill>
                  <a:srgbClr val="444444"/>
                </a:solidFill>
              </a:defRPr>
            </a:pPr>
            <a:r>
              <a:t>Image query: simple RNN diagram</a:t>
            </a:r>
          </a:p>
          <a:p>
            <a:pPr>
              <a:defRPr sz="2000">
                <a:solidFill>
                  <a:srgbClr val="444444"/>
                </a:solidFill>
              </a:defRPr>
            </a:pPr>
            <a:r>
              <a:t>Recurrent connections are key</a:t>
            </a:r>
          </a:p>
          <a:p>
            <a:pPr>
              <a:defRPr sz="2000">
                <a:solidFill>
                  <a:srgbClr val="444444"/>
                </a:solidFill>
              </a:defRPr>
            </a:pPr>
            <a:r>
              <a:t>Allow network to keep track of state</a:t>
            </a:r>
          </a:p>
          <a:p>
            <a:pPr>
              <a:defRPr sz="2000">
                <a:solidFill>
                  <a:srgbClr val="444444"/>
                </a:solidFill>
              </a:defRPr>
            </a:pPr>
            <a:r>
              <a:t>Enable learning of sequential patterns</a:t>
            </a:r>
          </a:p>
          <a:p>
            <a:pPr>
              <a:defRPr sz="2000">
                <a:solidFill>
                  <a:srgbClr val="444444"/>
                </a:solidFill>
              </a:defRPr>
            </a:pPr>
            <a:r>
              <a:t>Basic architecture can be extended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a:t>
            </a:r>
          </a:p>
          <a:p>
            <a:pPr>
              <a:defRPr sz="2000">
                <a:solidFill>
                  <a:srgbClr val="444444"/>
                </a:solidFill>
              </a:defRPr>
            </a:pPr>
            <a:r>
              <a:t>GRU: gated recurrent unit</a:t>
            </a:r>
          </a:p>
          <a:p>
            <a:pPr>
              <a:defRPr sz="2000">
                <a:solidFill>
                  <a:srgbClr val="444444"/>
                </a:solidFill>
              </a:defRPr>
            </a:pPr>
            <a:r>
              <a:t>Bidirectional RNNs</a:t>
            </a:r>
          </a:p>
          <a:p>
            <a:pPr>
              <a:defRPr sz="2000">
                <a:solidFill>
                  <a:srgbClr val="444444"/>
                </a:solidFill>
              </a:defRPr>
            </a:pPr>
            <a:r>
              <a:t>Deep RNNs with multiple layers</a:t>
            </a:r>
          </a:p>
          <a:p>
            <a:pPr>
              <a:defRPr sz="2000">
                <a:solidFill>
                  <a:srgbClr val="444444"/>
                </a:solidFill>
              </a:defRPr>
            </a:pPr>
            <a:r>
              <a:t>Residual connections for deep RNNs</a:t>
            </a:r>
          </a:p>
          <a:p>
            <a:pPr>
              <a:defRPr sz="2000">
                <a:solidFill>
                  <a:srgbClr val="444444"/>
                </a:solidFill>
              </a:defRPr>
            </a:pPr>
            <a:r>
              <a:t>Attention mechanisms for RNNs</a:t>
            </a:r>
          </a:p>
          <a:p>
            <a:pPr>
              <a:defRPr sz="2000">
                <a:solidFill>
                  <a:srgbClr val="444444"/>
                </a:solidFill>
              </a:defRPr>
            </a:pPr>
            <a:r>
              <a:t>Recurrent Highway Networks</a:t>
            </a:r>
          </a:p>
          <a:p>
            <a:pPr>
              <a:defRPr sz="2000">
                <a:solidFill>
                  <a:srgbClr val="444444"/>
                </a:solidFill>
              </a:defRPr>
            </a:pPr>
            <a:r>
              <a:t>Gated Feedback RNNs</a:t>
            </a:r>
          </a:p>
          <a:p>
            <a:pPr>
              <a:defRPr sz="2000">
                <a:solidFill>
                  <a:srgbClr val="444444"/>
                </a:solidFill>
              </a:defRPr>
            </a:pPr>
            <a:r>
              <a:t>Tree-structured RNNs</a:t>
            </a:r>
          </a:p>
          <a:p>
            <a:pPr>
              <a:defRPr sz="2000">
                <a:solidFill>
                  <a:srgbClr val="444444"/>
                </a:solidFill>
              </a:defRPr>
            </a:pPr>
            <a:r>
              <a:t>Graph-structured RNNs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and synthesis</a:t>
            </a:r>
          </a:p>
          <a:p>
            <a:pPr>
              <a:defRPr sz="2000">
                <a:solidFill>
                  <a:srgbClr val="444444"/>
                </a:solidFill>
              </a:defRPr>
            </a:pPr>
            <a:r>
              <a:t>Natural language processing</a:t>
            </a:r>
          </a:p>
          <a:p>
            <a:pPr>
              <a:defRPr sz="2000">
                <a:solidFill>
                  <a:srgbClr val="444444"/>
                </a:solidFill>
              </a:defRPr>
            </a:pPr>
            <a:r>
              <a:t>Time series forecasting and analysis</a:t>
            </a:r>
          </a:p>
          <a:p>
            <a:pPr>
              <a:defRPr sz="2000">
                <a:solidFill>
                  <a:srgbClr val="444444"/>
                </a:solidFill>
              </a:defRPr>
            </a:pPr>
            <a:r>
              <a:t>Advantage: can learn sequential patterns</a:t>
            </a:r>
          </a:p>
          <a:p>
            <a:pPr>
              <a:defRPr sz="2000">
                <a:solidFill>
                  <a:srgbClr val="444444"/>
                </a:solidFill>
              </a:defRPr>
            </a:pPr>
            <a:r>
              <a:t>Limitation: can be slow to train</a:t>
            </a:r>
          </a:p>
          <a:p>
            <a:pPr>
              <a:defRPr sz="2000">
                <a:solidFill>
                  <a:srgbClr val="444444"/>
                </a:solidFill>
              </a:defRPr>
            </a:pPr>
            <a:r>
              <a:t>Advantage: can handle variable-length input</a:t>
            </a:r>
          </a:p>
          <a:p>
            <a:pPr>
              <a:defRPr sz="2000">
                <a:solidFill>
                  <a:srgbClr val="444444"/>
                </a:solidFill>
              </a:defRPr>
            </a:pPr>
            <a:r>
              <a:t>Limitation: can suffer from vanishing gradients</a:t>
            </a:r>
          </a:p>
          <a:p>
            <a:pPr>
              <a:defRPr sz="2000">
                <a:solidFill>
                  <a:srgbClr val="444444"/>
                </a:solidFill>
              </a:defRPr>
            </a:pPr>
            <a:r>
              <a:t>Used in many real-world applications</a:t>
            </a:r>
          </a:p>
          <a:p>
            <a:pPr>
              <a:defRPr sz="2000">
                <a:solidFill>
                  <a:srgbClr val="444444"/>
                </a:solidFill>
              </a:defRPr>
            </a:pPr>
            <a:r>
              <a:t>Such as language translation and chatbots</a:t>
            </a:r>
          </a:p>
          <a:p>
            <a:pPr>
              <a:defRPr sz="2000">
                <a:solidFill>
                  <a:srgbClr val="444444"/>
                </a:solidFill>
              </a:defRPr>
            </a:pPr>
            <a:r>
              <a:t>And speech recognition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handle sequential data</a:t>
            </a:r>
          </a:p>
          <a:p>
            <a:pPr>
              <a:defRPr sz="2200" b="1">
                <a:solidFill>
                  <a:srgbClr val="1F497D"/>
                </a:solidFill>
              </a:defRPr>
            </a:pPr>
            <a:r>
              <a:t>Input, hidden, output layers</a:t>
            </a:r>
          </a:p>
          <a:p>
            <a:pPr>
              <a:defRPr sz="2200" b="1">
                <a:solidFill>
                  <a:srgbClr val="1F497D"/>
                </a:solidFill>
              </a:defRPr>
            </a:pPr>
            <a:r>
              <a:t>LSTM: long short-term memory</a:t>
            </a:r>
          </a:p>
          <a:p>
            <a:pPr>
              <a:defRPr sz="2200" b="1">
                <a:solidFill>
                  <a:srgbClr val="1F497D"/>
                </a:solidFill>
              </a:defRPr>
            </a:pPr>
            <a:r>
              <a:t>Speech recognition and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