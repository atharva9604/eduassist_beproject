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concept of CNNs, their importance in deep learning, and the agenda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convolution operation, its purpose, and how it's used in CNNs. Provide examples of convolutional layers and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role of pooling layers in CNNs, including max pooling and average pooling. Explain how pooling helps reduce spatial dimensions and retain important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Present a simple CNN architecture example, explaining each layer's function and how they work together. Use visual aids to illustrate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various applications of CNNs, including image classification, object detection, and image segmentation. Discuss the advantages and limitations of using CNNs in these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basics of CNNs, including their inspiration, architecture, and applications. Discuss the importance of large datasets and computational resources. Ask students to think of potential applications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key CNN architectures, including their strengths and weaknesses. Explain the concept of transfer learning and fine-tuning pre-trained models. Ask students to consider the importance of model updating and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training and optimization in CNNs. Discuss various optimization techniques, including SGD, Adam, and batch normalization. Ask students to consider the role of regularization and early stopping in preventing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various applications of CNNs in computer vision, including image classification, object detection, and image segmentation. Discuss the potential impact of these applications on society and industry. Ask students to think of potential future applications and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basics of CNNs, their applications, and the importance of training and optimization. Ask students to reflect on what they've learned and how they can apply it in their own projects. Provide resources for further learning and exploration.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a:t>
            </a:r>
          </a:p>
        </p:txBody>
      </p:sp>
      <p:sp>
        <p:nvSpPr>
          <p:cNvPr id="3" name="Content Placeholder 2"/>
          <p:cNvSpPr>
            <a:spLocks noGrp="1"/>
          </p:cNvSpPr>
          <p:nvPr>
            <p:ph idx="1"/>
          </p:nvPr>
        </p:nvSpPr>
        <p:spPr/>
        <p:txBody>
          <a:bodyPr/>
          <a:lstStyle/>
          <a:p>
            <a:pPr>
              <a:defRPr sz="2000">
                <a:solidFill>
                  <a:srgbClr val="444444"/>
                </a:solidFill>
              </a:defRPr>
            </a:pPr>
            <a:r>
              <a:t>A kernel (filter) slides over the input computing weighted sums</a:t>
            </a:r>
          </a:p>
          <a:p>
            <a:pPr>
              <a:defRPr sz="2000">
                <a:solidFill>
                  <a:srgbClr val="444444"/>
                </a:solidFill>
              </a:defRPr>
            </a:pPr>
            <a:r>
              <a:t>Same weights are reused across the spatial dimension, reducing parameters</a:t>
            </a:r>
          </a:p>
          <a:p>
            <a:pPr>
              <a:defRPr sz="2000">
                <a:solidFill>
                  <a:srgbClr val="444444"/>
                </a:solidFill>
              </a:defRPr>
            </a:pPr>
            <a:r>
              <a:t>Stride and padding control output size and receptive field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a:t>
            </a:r>
          </a:p>
        </p:txBody>
      </p:sp>
      <p:sp>
        <p:nvSpPr>
          <p:cNvPr id="3" name="Content Placeholder 2"/>
          <p:cNvSpPr>
            <a:spLocks noGrp="1"/>
          </p:cNvSpPr>
          <p:nvPr>
            <p:ph idx="1"/>
          </p:nvPr>
        </p:nvSpPr>
        <p:spPr/>
        <p:txBody>
          <a:bodyPr/>
          <a:lstStyle/>
          <a:p>
            <a:pPr>
              <a:defRPr sz="2000">
                <a:solidFill>
                  <a:srgbClr val="444444"/>
                </a:solidFill>
              </a:defRPr>
            </a:pPr>
            <a:r>
              <a:t>Pooling downsamples feature maps to reduce spatial size and computation</a:t>
            </a:r>
          </a:p>
          <a:p>
            <a:pPr>
              <a:defRPr sz="2000">
                <a:solidFill>
                  <a:srgbClr val="444444"/>
                </a:solidFill>
              </a:defRPr>
            </a:pPr>
            <a:r>
              <a:t>Max pooling keeps the most activated value within a window</a:t>
            </a:r>
          </a:p>
          <a:p>
            <a:pPr>
              <a:defRPr sz="2000">
                <a:solidFill>
                  <a:srgbClr val="444444"/>
                </a:solidFill>
              </a:defRPr>
            </a:pPr>
            <a:r>
              <a:t>It provides translation invariance and reduces overfitting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a:t>
            </a:r>
          </a:p>
        </p:txBody>
      </p:sp>
      <p:sp>
        <p:nvSpPr>
          <p:cNvPr id="3" name="Content Placeholder 2"/>
          <p:cNvSpPr>
            <a:spLocks noGrp="1"/>
          </p:cNvSpPr>
          <p:nvPr>
            <p:ph idx="1"/>
          </p:nvPr>
        </p:nvSpPr>
        <p:spPr/>
        <p:txBody>
          <a:bodyPr/>
          <a:lstStyle/>
          <a:p>
            <a:pPr>
              <a:defRPr sz="2000">
                <a:solidFill>
                  <a:srgbClr val="444444"/>
                </a:solidFill>
              </a:defRPr>
            </a:pPr>
            <a:r>
              <a:t>Typical CNN: Conv → ReLU → Pool blocks followed by fully connected layers</a:t>
            </a:r>
          </a:p>
          <a:p>
            <a:pPr>
              <a:defRPr sz="2000">
                <a:solidFill>
                  <a:srgbClr val="444444"/>
                </a:solidFill>
              </a:defRPr>
            </a:pPr>
            <a:r>
              <a:t>Deeper architectures like VGG, ResNet stack many such blocks</a:t>
            </a:r>
          </a:p>
          <a:p>
            <a:pPr>
              <a:defRPr sz="2000">
                <a:solidFill>
                  <a:srgbClr val="444444"/>
                </a:solidFill>
              </a:defRPr>
            </a:pPr>
            <a:r>
              <a:t>Output layer uses softmax for multi-class classification</a:t>
            </a:r>
          </a:p>
        </p:txBody>
      </p:sp>
      <p:pic>
        <p:nvPicPr>
          <p:cNvPr id="4" name="Picture 3" descr="87ea1382301a47618df31ee5f2fcb726_convolutional_neural_networks_cnns_convo.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a:t>
            </a:r>
          </a:p>
        </p:txBody>
      </p:sp>
      <p:sp>
        <p:nvSpPr>
          <p:cNvPr id="3" name="Content Placeholder 2"/>
          <p:cNvSpPr>
            <a:spLocks noGrp="1"/>
          </p:cNvSpPr>
          <p:nvPr>
            <p:ph idx="1"/>
          </p:nvPr>
        </p:nvSpPr>
        <p:spPr/>
        <p:txBody>
          <a:bodyPr/>
          <a:lstStyle/>
          <a:p>
            <a:pPr>
              <a:defRPr sz="2000">
                <a:solidFill>
                  <a:srgbClr val="444444"/>
                </a:solidFill>
              </a:defRPr>
            </a:pPr>
            <a:r>
              <a:t>Image classification, object detection, segmentation and face recognition</a:t>
            </a:r>
          </a:p>
          <a:p>
            <a:pPr>
              <a:defRPr sz="2000">
                <a:solidFill>
                  <a:srgbClr val="444444"/>
                </a:solidFill>
              </a:defRPr>
            </a:pPr>
            <a:r>
              <a:t>Medical image analysis and autonomous driving perception</a:t>
            </a:r>
          </a:p>
          <a:p>
            <a:pPr>
              <a:defRPr sz="2000">
                <a:solidFill>
                  <a:srgbClr val="444444"/>
                </a:solidFill>
              </a:defRPr>
            </a:pPr>
            <a:r>
              <a:t>Document understanding and scene text recognition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 Basics</a:t>
            </a:r>
          </a:p>
        </p:txBody>
      </p:sp>
      <p:sp>
        <p:nvSpPr>
          <p:cNvPr id="3" name="Content Placeholder 2"/>
          <p:cNvSpPr>
            <a:spLocks noGrp="1"/>
          </p:cNvSpPr>
          <p:nvPr>
            <p:ph idx="1"/>
          </p:nvPr>
        </p:nvSpPr>
        <p:spPr/>
        <p:txBody>
          <a:bodyPr/>
          <a:lstStyle/>
          <a:p>
            <a:pPr>
              <a:defRPr sz="2000">
                <a:solidFill>
                  <a:srgbClr val="444444"/>
                </a:solidFill>
              </a:defRPr>
            </a:pPr>
            <a:r>
              <a:t>CNNs are a type of deep learning model</a:t>
            </a:r>
          </a:p>
          <a:p>
            <a:pPr>
              <a:defRPr sz="2000">
                <a:solidFill>
                  <a:srgbClr val="444444"/>
                </a:solidFill>
              </a:defRPr>
            </a:pPr>
            <a:r>
              <a:t>Inspired by the structure of the human brain</a:t>
            </a:r>
          </a:p>
          <a:p>
            <a:pPr>
              <a:defRPr sz="2000">
                <a:solidFill>
                  <a:srgbClr val="444444"/>
                </a:solidFill>
              </a:defRPr>
            </a:pPr>
            <a:r>
              <a:t>Use convolutional and pooling layers</a:t>
            </a:r>
          </a:p>
          <a:p>
            <a:pPr>
              <a:defRPr sz="2000">
                <a:solidFill>
                  <a:srgbClr val="444444"/>
                </a:solidFill>
              </a:defRPr>
            </a:pPr>
            <a:r>
              <a:t>Apply to image and signal processing tasks</a:t>
            </a:r>
          </a:p>
          <a:p>
            <a:pPr>
              <a:defRPr sz="2000">
                <a:solidFill>
                  <a:srgbClr val="444444"/>
                </a:solidFill>
              </a:defRPr>
            </a:pPr>
            <a:r>
              <a:t>Can learn features from raw data</a:t>
            </a:r>
          </a:p>
          <a:p>
            <a:pPr>
              <a:defRPr sz="2000">
                <a:solidFill>
                  <a:srgbClr val="444444"/>
                </a:solidFill>
              </a:defRPr>
            </a:pPr>
            <a:r>
              <a:t>Require large amounts of training data</a:t>
            </a:r>
          </a:p>
          <a:p>
            <a:pPr>
              <a:defRPr sz="2000">
                <a:solidFill>
                  <a:srgbClr val="444444"/>
                </a:solidFill>
              </a:defRPr>
            </a:pPr>
            <a:r>
              <a:t>Can be computationally intensive</a:t>
            </a:r>
          </a:p>
          <a:p>
            <a:pPr>
              <a:defRPr sz="2000">
                <a:solidFill>
                  <a:srgbClr val="444444"/>
                </a:solidFill>
              </a:defRPr>
            </a:pPr>
            <a:r>
              <a:t>Have many applications in computer vision</a:t>
            </a:r>
          </a:p>
          <a:p>
            <a:pPr>
              <a:defRPr sz="2000">
                <a:solidFill>
                  <a:srgbClr val="444444"/>
                </a:solidFill>
              </a:defRPr>
            </a:pPr>
            <a:r>
              <a:t>Can be used for image classification and object detection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Key CNN Architectures</a:t>
            </a:r>
          </a:p>
        </p:txBody>
      </p:sp>
      <p:sp>
        <p:nvSpPr>
          <p:cNvPr id="3" name="Content Placeholder 2"/>
          <p:cNvSpPr>
            <a:spLocks noGrp="1"/>
          </p:cNvSpPr>
          <p:nvPr>
            <p:ph idx="1"/>
          </p:nvPr>
        </p:nvSpPr>
        <p:spPr/>
        <p:txBody>
          <a:bodyPr/>
          <a:lstStyle/>
          <a:p>
            <a:pPr>
              <a:defRPr sz="2000">
                <a:solidFill>
                  <a:srgbClr val="444444"/>
                </a:solidFill>
              </a:defRPr>
            </a:pPr>
            <a:r>
              <a:t>LeNet-5: early CNN architecture</a:t>
            </a:r>
          </a:p>
          <a:p>
            <a:pPr>
              <a:defRPr sz="2000">
                <a:solidFill>
                  <a:srgbClr val="444444"/>
                </a:solidFill>
              </a:defRPr>
            </a:pPr>
            <a:r>
              <a:t>AlexNet: large-scale CNN architecture</a:t>
            </a:r>
          </a:p>
          <a:p>
            <a:pPr>
              <a:defRPr sz="2000">
                <a:solidFill>
                  <a:srgbClr val="444444"/>
                </a:solidFill>
              </a:defRPr>
            </a:pPr>
            <a:r>
              <a:t>VGGNet: deep CNN architecture</a:t>
            </a:r>
          </a:p>
          <a:p>
            <a:pPr>
              <a:defRPr sz="2000">
                <a:solidFill>
                  <a:srgbClr val="444444"/>
                </a:solidFill>
              </a:defRPr>
            </a:pPr>
            <a:r>
              <a:t>ResNet: residual learning CNN architecture</a:t>
            </a:r>
          </a:p>
          <a:p>
            <a:pPr>
              <a:defRPr sz="2000">
                <a:solidFill>
                  <a:srgbClr val="444444"/>
                </a:solidFill>
              </a:defRPr>
            </a:pPr>
            <a:r>
              <a:t>Inception: multi-scale CNN architecture</a:t>
            </a:r>
          </a:p>
          <a:p>
            <a:pPr>
              <a:defRPr sz="2000">
                <a:solidFill>
                  <a:srgbClr val="444444"/>
                </a:solidFill>
              </a:defRPr>
            </a:pPr>
            <a:r>
              <a:t>Use pre-trained models for transfer learning</a:t>
            </a:r>
          </a:p>
          <a:p>
            <a:pPr>
              <a:defRPr sz="2000">
                <a:solidFill>
                  <a:srgbClr val="444444"/>
                </a:solidFill>
              </a:defRPr>
            </a:pPr>
            <a:r>
              <a:t>Fine-tune pre-trained models for specific tasks</a:t>
            </a:r>
          </a:p>
          <a:p>
            <a:pPr>
              <a:defRPr sz="2000">
                <a:solidFill>
                  <a:srgbClr val="444444"/>
                </a:solidFill>
              </a:defRPr>
            </a:pPr>
            <a:r>
              <a:t>Regularly update models to adapt to new data</a:t>
            </a:r>
          </a:p>
          <a:p>
            <a:pPr>
              <a:defRPr sz="2000">
                <a:solidFill>
                  <a:srgbClr val="444444"/>
                </a:solidFill>
              </a:defRPr>
            </a:pPr>
            <a:r>
              <a:t>Monitor model performance on validation 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Training and Optimization</a:t>
            </a:r>
          </a:p>
        </p:txBody>
      </p:sp>
      <p:sp>
        <p:nvSpPr>
          <p:cNvPr id="3" name="Content Placeholder 2"/>
          <p:cNvSpPr>
            <a:spLocks noGrp="1"/>
          </p:cNvSpPr>
          <p:nvPr>
            <p:ph idx="1"/>
          </p:nvPr>
        </p:nvSpPr>
        <p:spPr/>
        <p:txBody>
          <a:bodyPr/>
          <a:lstStyle/>
          <a:p>
            <a:pPr>
              <a:defRPr sz="2000">
                <a:solidFill>
                  <a:srgbClr val="444444"/>
                </a:solidFill>
              </a:defRPr>
            </a:pPr>
            <a:r>
              <a:t>Stochastic gradient descent (SGD) optimizer</a:t>
            </a:r>
          </a:p>
          <a:p>
            <a:pPr>
              <a:defRPr sz="2000">
                <a:solidFill>
                  <a:srgbClr val="444444"/>
                </a:solidFill>
              </a:defRPr>
            </a:pPr>
            <a:r>
              <a:t>Adam optimizer: adaptive learning rate</a:t>
            </a:r>
          </a:p>
          <a:p>
            <a:pPr>
              <a:defRPr sz="2000">
                <a:solidFill>
                  <a:srgbClr val="444444"/>
                </a:solidFill>
              </a:defRPr>
            </a:pPr>
            <a:r>
              <a:t>Batch normalization: normalize layer inputs</a:t>
            </a:r>
          </a:p>
          <a:p>
            <a:pPr>
              <a:defRPr sz="2000">
                <a:solidFill>
                  <a:srgbClr val="444444"/>
                </a:solidFill>
              </a:defRPr>
            </a:pPr>
            <a:r>
              <a:t>Dropout: prevent overfitting</a:t>
            </a:r>
          </a:p>
          <a:p>
            <a:pPr>
              <a:defRPr sz="2000">
                <a:solidFill>
                  <a:srgbClr val="444444"/>
                </a:solidFill>
              </a:defRPr>
            </a:pPr>
            <a:r>
              <a:t>Regularization techniques: L1 and L2</a:t>
            </a:r>
          </a:p>
          <a:p>
            <a:pPr>
              <a:defRPr sz="2000">
                <a:solidFill>
                  <a:srgbClr val="444444"/>
                </a:solidFill>
              </a:defRPr>
            </a:pPr>
            <a:r>
              <a:t>Early stopping: prevent overfitting</a:t>
            </a:r>
          </a:p>
          <a:p>
            <a:pPr>
              <a:defRPr sz="2000">
                <a:solidFill>
                  <a:srgbClr val="444444"/>
                </a:solidFill>
              </a:defRPr>
            </a:pPr>
            <a:r>
              <a:t>Learning rate scheduling: adapt to training progress</a:t>
            </a:r>
          </a:p>
          <a:p>
            <a:pPr>
              <a:defRPr sz="2000">
                <a:solidFill>
                  <a:srgbClr val="444444"/>
                </a:solidFill>
              </a:defRPr>
            </a:pPr>
            <a:r>
              <a:t>Monitor training and validation loss</a:t>
            </a:r>
          </a:p>
          <a:p>
            <a:pPr>
              <a:defRPr sz="2000">
                <a:solidFill>
                  <a:srgbClr val="444444"/>
                </a:solidFill>
              </a:defRPr>
            </a:pPr>
            <a:r>
              <a:t>Visualize model performance on test 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Applications in Computer Vision</a:t>
            </a:r>
          </a:p>
        </p:txBody>
      </p:sp>
      <p:sp>
        <p:nvSpPr>
          <p:cNvPr id="3" name="Content Placeholder 2"/>
          <p:cNvSpPr>
            <a:spLocks noGrp="1"/>
          </p:cNvSpPr>
          <p:nvPr>
            <p:ph idx="1"/>
          </p:nvPr>
        </p:nvSpPr>
        <p:spPr/>
        <p:txBody>
          <a:bodyPr/>
          <a:lstStyle/>
          <a:p>
            <a:pPr>
              <a:defRPr sz="2000">
                <a:solidFill>
                  <a:srgbClr val="444444"/>
                </a:solidFill>
              </a:defRPr>
            </a:pPr>
            <a:r>
              <a:t>Image classification: classify images into categories</a:t>
            </a:r>
          </a:p>
          <a:p>
            <a:pPr>
              <a:defRPr sz="2000">
                <a:solidFill>
                  <a:srgbClr val="444444"/>
                </a:solidFill>
              </a:defRPr>
            </a:pPr>
            <a:r>
              <a:t>Object detection: detect objects within images</a:t>
            </a:r>
          </a:p>
          <a:p>
            <a:pPr>
              <a:defRPr sz="2000">
                <a:solidFill>
                  <a:srgbClr val="444444"/>
                </a:solidFill>
              </a:defRPr>
            </a:pPr>
            <a:r>
              <a:t>Image segmentation: segment images into regions</a:t>
            </a:r>
          </a:p>
          <a:p>
            <a:pPr>
              <a:defRPr sz="2000">
                <a:solidFill>
                  <a:srgbClr val="444444"/>
                </a:solidFill>
              </a:defRPr>
            </a:pPr>
            <a:r>
              <a:t>Image generation: generate new images</a:t>
            </a:r>
          </a:p>
          <a:p>
            <a:pPr>
              <a:defRPr sz="2000">
                <a:solidFill>
                  <a:srgbClr val="444444"/>
                </a:solidFill>
              </a:defRPr>
            </a:pPr>
            <a:r>
              <a:t>Image-to-image translation: translate images between domains</a:t>
            </a:r>
          </a:p>
          <a:p>
            <a:pPr>
              <a:defRPr sz="2000">
                <a:solidFill>
                  <a:srgbClr val="444444"/>
                </a:solidFill>
              </a:defRPr>
            </a:pPr>
            <a:r>
              <a:t>Facial recognition: recognize individuals from facial images</a:t>
            </a:r>
          </a:p>
          <a:p>
            <a:pPr>
              <a:defRPr sz="2000">
                <a:solidFill>
                  <a:srgbClr val="444444"/>
                </a:solidFill>
              </a:defRPr>
            </a:pPr>
            <a:r>
              <a:t>Autonomous vehicles: detect and respond to surroundings</a:t>
            </a:r>
          </a:p>
          <a:p>
            <a:pPr>
              <a:defRPr sz="2000">
                <a:solidFill>
                  <a:srgbClr val="444444"/>
                </a:solidFill>
              </a:defRPr>
            </a:pPr>
            <a:r>
              <a:t>Medical imaging: analyze medical images for diagnosis</a:t>
            </a:r>
          </a:p>
          <a:p>
            <a:pPr>
              <a:defRPr sz="2000">
                <a:solidFill>
                  <a:srgbClr val="444444"/>
                </a:solidFill>
              </a:defRPr>
            </a:pPr>
            <a:r>
              <a:t>Surveillance: monitor and analyze video feeds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 of Convolutional Neural Networks</a:t>
            </a:r>
          </a:p>
        </p:txBody>
      </p:sp>
      <p:sp>
        <p:nvSpPr>
          <p:cNvPr id="3" name="Content Placeholder 2"/>
          <p:cNvSpPr>
            <a:spLocks noGrp="1"/>
          </p:cNvSpPr>
          <p:nvPr>
            <p:ph idx="1"/>
          </p:nvPr>
        </p:nvSpPr>
        <p:spPr/>
        <p:txBody>
          <a:bodyPr/>
          <a:lstStyle/>
          <a:p>
            <a:pPr>
              <a:defRPr sz="2200" b="1">
                <a:solidFill>
                  <a:srgbClr val="1F497D"/>
                </a:solidFill>
              </a:defRPr>
            </a:pPr>
            <a:r>
              <a:t>A kernel (filter) slides over the input computing weighted sums</a:t>
            </a:r>
          </a:p>
          <a:p>
            <a:pPr>
              <a:defRPr sz="2200" b="1">
                <a:solidFill>
                  <a:srgbClr val="1F497D"/>
                </a:solidFill>
              </a:defRPr>
            </a:pPr>
            <a:r>
              <a:t>Pooling downsamples feature maps to reduce spatial size and computation</a:t>
            </a:r>
          </a:p>
          <a:p>
            <a:pPr>
              <a:defRPr sz="2200" b="1">
                <a:solidFill>
                  <a:srgbClr val="1F497D"/>
                </a:solidFill>
              </a:defRPr>
            </a:pPr>
            <a:r>
              <a:t>Typical CNN: Conv → ReLU → Pool blocks followed by fully connected layers</a:t>
            </a:r>
          </a:p>
          <a:p>
            <a:pPr>
              <a:defRPr sz="2200" b="1">
                <a:solidFill>
                  <a:srgbClr val="1F497D"/>
                </a:solidFill>
              </a:defRPr>
            </a:pPr>
            <a:r>
              <a:t>Image classification, object detection, segmentation and face recognition</a:t>
            </a:r>
          </a:p>
          <a:p>
            <a:pPr>
              <a:defRPr sz="2200" b="1">
                <a:solidFill>
                  <a:srgbClr val="1F497D"/>
                </a:solidFill>
              </a:defRPr>
            </a:pPr>
            <a:r>
              <a:t>CNNs are a type of deep learning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