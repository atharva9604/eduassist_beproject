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presentation on Recurrent Neural Networks, a crucial component of Artificial Intelligence. Today, we will explore what RNNs are, their architecture, variants, applications, and limitations. We will also delve into real-world examples and discuss the future of RNNs.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importance of RNNs in processing sequential data and their applications in speech recognition and language translation. Provide examples of how RNNs are inspired by the human brain structure and can learn from experience. Ask students to think of other areas where RNNs can be applied.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basic architecture of RNNs, including feedback connections and recurrence. Show the image of the basic RNN architecture and provide the key equation. Discuss the limitations of simple RNNs and the need for more complex variants. Ask students to think about how RNNs can be trained and what issues they may encounter.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Discuss the different variants of RNNs, including LSTM, GRU, and bidirectional RNNs. Explain the advantages and disadvantages of each variant and provide examples of their applications. Ask students to think about which variant would be most suitable for a particular problem.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various applications of RNNs, including speech recognition, language translation, and text summarization. Discuss the advantages of RNNs, such as their ability to learn from sequential data. Also, discuss the limitations, including vanishing gradients and overfitting. Ask students to think about how RNNs can be used in other areas, such as recommender systems.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concept of LSTM networks and how they address the issue of vanishing gradients. Discuss the use of memory cells and gates in LSTMs and their ability to learn long-term dependencies. Provide examples of how LSTMs are used in various applications, including sequence classification and generation.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concept of GRU networks and how they differ from LSTMs. Discuss the advantages and disadvantages of GRUs, including their simplicity, speed, and limited power. Provide examples of how GRUs are used in various applications, including sequence classification and generation.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Provide real-world examples of how RNNs are used in various applications, including Google Translate, Siri, and self-driving cars. Discuss the impact of RNNs on these applications and how they have improved their performance. Ask students to think about other areas where RNNs can be applied.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Discuss the future of RNNs and how they will continue to improve with advancements in technology. Explain how RNNs will be used in more applications and combined with other AI techniques. Provide examples of how RNNs will be used in edge devices and real-time applications. Ask students to think about the potential challenges and limitations of RNNs in the future.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Summarize the key takeaways from the presentation, including the importance of RNNs, their variants, and applications. Discuss the future of RNNs and their potential challenges and limitations. Ask students to reflect on what they have learned and think about how they can apply RNNs in their own projects.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Recurrent Neural Networks (RNNs)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Artificial Intelligence</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and Background</a:t>
            </a:r>
          </a:p>
        </p:txBody>
      </p:sp>
      <p:sp>
        <p:nvSpPr>
          <p:cNvPr id="3" name="Content Placeholder 2"/>
          <p:cNvSpPr>
            <a:spLocks noGrp="1"/>
          </p:cNvSpPr>
          <p:nvPr>
            <p:ph idx="1"/>
          </p:nvPr>
        </p:nvSpPr>
        <p:spPr/>
        <p:txBody>
          <a:bodyPr/>
          <a:lstStyle/>
          <a:p>
            <a:pPr>
              <a:defRPr sz="2000">
                <a:solidFill>
                  <a:srgbClr val="444444"/>
                </a:solidFill>
              </a:defRPr>
            </a:pPr>
            <a:r>
              <a:t>RNNs process sequential data</a:t>
            </a:r>
          </a:p>
          <a:p>
            <a:pPr>
              <a:defRPr sz="2000">
                <a:solidFill>
                  <a:srgbClr val="444444"/>
                </a:solidFill>
              </a:defRPr>
            </a:pPr>
            <a:r>
              <a:t>Used in speech recognition, language translation</a:t>
            </a:r>
          </a:p>
          <a:p>
            <a:pPr>
              <a:defRPr sz="2000">
                <a:solidFill>
                  <a:srgbClr val="444444"/>
                </a:solidFill>
              </a:defRPr>
            </a:pPr>
            <a:r>
              <a:t>Inspired by human brain structure</a:t>
            </a:r>
          </a:p>
          <a:p>
            <a:pPr>
              <a:defRPr sz="2000">
                <a:solidFill>
                  <a:srgbClr val="444444"/>
                </a:solidFill>
              </a:defRPr>
            </a:pPr>
            <a:r>
              <a:t>Can learn from experience and adapt</a:t>
            </a:r>
          </a:p>
          <a:p>
            <a:pPr>
              <a:defRPr sz="2000">
                <a:solidFill>
                  <a:srgbClr val="444444"/>
                </a:solidFill>
              </a:defRPr>
            </a:pPr>
            <a:r>
              <a:t>Key to many AI applications</a:t>
            </a:r>
          </a:p>
          <a:p>
            <a:pPr>
              <a:defRPr sz="2000">
                <a:solidFill>
                  <a:srgbClr val="444444"/>
                </a:solidFill>
              </a:defRPr>
            </a:pPr>
            <a:r>
              <a:t>Helps in understanding sequential patterns</a:t>
            </a:r>
          </a:p>
          <a:p>
            <a:pPr>
              <a:defRPr sz="2000">
                <a:solidFill>
                  <a:srgbClr val="444444"/>
                </a:solidFill>
              </a:defRPr>
            </a:pPr>
            <a:r>
              <a:t>Has many variants and applications</a:t>
            </a:r>
          </a:p>
          <a:p>
            <a:pPr>
              <a:defRPr sz="2000">
                <a:solidFill>
                  <a:srgbClr val="444444"/>
                </a:solidFill>
              </a:defRPr>
            </a:pPr>
            <a:r>
              <a:t>Important for natural language processing</a:t>
            </a:r>
          </a:p>
          <a:p>
            <a:pPr>
              <a:defRPr sz="2000">
                <a:solidFill>
                  <a:srgbClr val="444444"/>
                </a:solidFill>
              </a:defRPr>
            </a:pPr>
            <a:r>
              <a:t>Enables machines to learn from data</a:t>
            </a:r>
          </a:p>
        </p:txBody>
      </p:sp>
      <p:pic>
        <p:nvPicPr>
          <p:cNvPr id="4" name="Picture 3" descr="0781c1f8dfda4c9195aa881a67b384e1_rnns_artificial_intelligence_overview.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Architecture and Key Equation</a:t>
            </a:r>
          </a:p>
        </p:txBody>
      </p:sp>
      <p:sp>
        <p:nvSpPr>
          <p:cNvPr id="3" name="Content Placeholder 2"/>
          <p:cNvSpPr>
            <a:spLocks noGrp="1"/>
          </p:cNvSpPr>
          <p:nvPr>
            <p:ph idx="1"/>
          </p:nvPr>
        </p:nvSpPr>
        <p:spPr/>
        <p:txBody>
          <a:bodyPr/>
          <a:lstStyle/>
          <a:p>
            <a:pPr>
              <a:defRPr sz="2000">
                <a:solidFill>
                  <a:srgbClr val="444444"/>
                </a:solidFill>
              </a:defRPr>
            </a:pPr>
            <a:r>
              <a:t>Feedback connections allow recurrence</a:t>
            </a:r>
          </a:p>
          <a:p>
            <a:pPr>
              <a:defRPr sz="2000">
                <a:solidFill>
                  <a:srgbClr val="444444"/>
                </a:solidFill>
              </a:defRPr>
            </a:pPr>
            <a:r>
              <a:t>Image_query: basic RNN architecture</a:t>
            </a:r>
          </a:p>
          <a:p>
            <a:pPr>
              <a:defRPr sz="2000">
                <a:solidFill>
                  <a:srgbClr val="444444"/>
                </a:solidFill>
              </a:defRPr>
            </a:pPr>
            <a:r>
              <a:t>Equation: h_t = tanh(W*x_t + U*h_(t-1))</a:t>
            </a:r>
          </a:p>
          <a:p>
            <a:pPr>
              <a:defRPr sz="2000">
                <a:solidFill>
                  <a:srgbClr val="444444"/>
                </a:solidFill>
              </a:defRPr>
            </a:pPr>
            <a:r>
              <a:t>Simple RNNs have limited capacity</a:t>
            </a:r>
          </a:p>
          <a:p>
            <a:pPr>
              <a:defRPr sz="2000">
                <a:solidFill>
                  <a:srgbClr val="444444"/>
                </a:solidFill>
              </a:defRPr>
            </a:pPr>
            <a:r>
              <a:t>More complex variants exist</a:t>
            </a:r>
          </a:p>
          <a:p>
            <a:pPr>
              <a:defRPr sz="2000">
                <a:solidFill>
                  <a:srgbClr val="444444"/>
                </a:solidFill>
              </a:defRPr>
            </a:pPr>
            <a:r>
              <a:t>RNNs can be trained using backpropagation</a:t>
            </a:r>
          </a:p>
          <a:p>
            <a:pPr>
              <a:defRPr sz="2000">
                <a:solidFill>
                  <a:srgbClr val="444444"/>
                </a:solidFill>
              </a:defRPr>
            </a:pPr>
            <a:r>
              <a:t>Vanishing gradients are a common issue</a:t>
            </a:r>
          </a:p>
          <a:p>
            <a:pPr>
              <a:defRPr sz="2000">
                <a:solidFill>
                  <a:srgbClr val="444444"/>
                </a:solidFill>
              </a:defRPr>
            </a:pPr>
            <a:r>
              <a:t>Need for more powerful variants arose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Variants of RNNs</a:t>
            </a:r>
          </a:p>
        </p:txBody>
      </p:sp>
      <p:sp>
        <p:nvSpPr>
          <p:cNvPr id="3" name="Content Placeholder 2"/>
          <p:cNvSpPr>
            <a:spLocks noGrp="1"/>
          </p:cNvSpPr>
          <p:nvPr>
            <p:ph idx="1"/>
          </p:nvPr>
        </p:nvSpPr>
        <p:spPr/>
        <p:txBody>
          <a:bodyPr/>
          <a:lstStyle/>
          <a:p>
            <a:pPr>
              <a:defRPr sz="2000">
                <a:solidFill>
                  <a:srgbClr val="444444"/>
                </a:solidFill>
              </a:defRPr>
            </a:pPr>
            <a:r>
              <a:t>LSTM (Long Short-Term Memory) networks</a:t>
            </a:r>
          </a:p>
          <a:p>
            <a:pPr>
              <a:defRPr sz="2000">
                <a:solidFill>
                  <a:srgbClr val="444444"/>
                </a:solidFill>
              </a:defRPr>
            </a:pPr>
            <a:r>
              <a:t>GRU (Gated Recurrent Unit) networks</a:t>
            </a:r>
          </a:p>
          <a:p>
            <a:pPr>
              <a:defRPr sz="2000">
                <a:solidFill>
                  <a:srgbClr val="444444"/>
                </a:solidFill>
              </a:defRPr>
            </a:pPr>
            <a:r>
              <a:t>Bidirectional RNNs</a:t>
            </a:r>
          </a:p>
          <a:p>
            <a:pPr>
              <a:defRPr sz="2000">
                <a:solidFill>
                  <a:srgbClr val="444444"/>
                </a:solidFill>
              </a:defRPr>
            </a:pPr>
            <a:r>
              <a:t>Deep RNNs</a:t>
            </a:r>
          </a:p>
          <a:p>
            <a:pPr>
              <a:defRPr sz="2000">
                <a:solidFill>
                  <a:srgbClr val="444444"/>
                </a:solidFill>
              </a:defRPr>
            </a:pPr>
            <a:r>
              <a:t>Residual RNNs</a:t>
            </a:r>
          </a:p>
          <a:p>
            <a:pPr>
              <a:defRPr sz="2000">
                <a:solidFill>
                  <a:srgbClr val="444444"/>
                </a:solidFill>
              </a:defRPr>
            </a:pPr>
            <a:r>
              <a:t>Attention-based RNNs</a:t>
            </a:r>
          </a:p>
          <a:p>
            <a:pPr>
              <a:defRPr sz="2000">
                <a:solidFill>
                  <a:srgbClr val="444444"/>
                </a:solidFill>
              </a:defRPr>
            </a:pPr>
            <a:r>
              <a:t>Recurrent Highway Networks</a:t>
            </a:r>
          </a:p>
          <a:p>
            <a:pPr>
              <a:defRPr sz="2000">
                <a:solidFill>
                  <a:srgbClr val="444444"/>
                </a:solidFill>
              </a:defRPr>
            </a:pPr>
            <a:r>
              <a:t>Gated Orthogonal Recurrent Units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and Advantages/Limitations</a:t>
            </a:r>
          </a:p>
        </p:txBody>
      </p:sp>
      <p:sp>
        <p:nvSpPr>
          <p:cNvPr id="3" name="Content Placeholder 2"/>
          <p:cNvSpPr>
            <a:spLocks noGrp="1"/>
          </p:cNvSpPr>
          <p:nvPr>
            <p:ph idx="1"/>
          </p:nvPr>
        </p:nvSpPr>
        <p:spPr/>
        <p:txBody>
          <a:bodyPr/>
          <a:lstStyle/>
          <a:p>
            <a:pPr>
              <a:defRPr sz="2000">
                <a:solidFill>
                  <a:srgbClr val="444444"/>
                </a:solidFill>
              </a:defRPr>
            </a:pPr>
            <a:r>
              <a:t>Speech recognition and synthesis</a:t>
            </a:r>
          </a:p>
          <a:p>
            <a:pPr>
              <a:defRPr sz="2000">
                <a:solidFill>
                  <a:srgbClr val="444444"/>
                </a:solidFill>
              </a:defRPr>
            </a:pPr>
            <a:r>
              <a:t>Language translation and generation</a:t>
            </a:r>
          </a:p>
          <a:p>
            <a:pPr>
              <a:defRPr sz="2000">
                <a:solidFill>
                  <a:srgbClr val="444444"/>
                </a:solidFill>
              </a:defRPr>
            </a:pPr>
            <a:r>
              <a:t>Text summarization and sentiment analysis</a:t>
            </a:r>
          </a:p>
          <a:p>
            <a:pPr>
              <a:defRPr sz="2000">
                <a:solidFill>
                  <a:srgbClr val="444444"/>
                </a:solidFill>
              </a:defRPr>
            </a:pPr>
            <a:r>
              <a:t>Time series forecasting and prediction</a:t>
            </a:r>
          </a:p>
          <a:p>
            <a:pPr>
              <a:defRPr sz="2000">
                <a:solidFill>
                  <a:srgbClr val="444444"/>
                </a:solidFill>
              </a:defRPr>
            </a:pPr>
            <a:r>
              <a:t>Advantage: can learn from sequential data</a:t>
            </a:r>
          </a:p>
          <a:p>
            <a:pPr>
              <a:defRPr sz="2000">
                <a:solidFill>
                  <a:srgbClr val="444444"/>
                </a:solidFill>
              </a:defRPr>
            </a:pPr>
            <a:r>
              <a:t>Limitation: vanishing gradients and overfitting</a:t>
            </a:r>
          </a:p>
          <a:p>
            <a:pPr>
              <a:defRPr sz="2000">
                <a:solidFill>
                  <a:srgbClr val="444444"/>
                </a:solidFill>
              </a:defRPr>
            </a:pPr>
            <a:r>
              <a:t>Can be used for recommender systems</a:t>
            </a:r>
          </a:p>
          <a:p>
            <a:pPr>
              <a:defRPr sz="2000">
                <a:solidFill>
                  <a:srgbClr val="444444"/>
                </a:solidFill>
              </a:defRPr>
            </a:pPr>
            <a:r>
              <a:t>Helps in natural language processing tasks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LSTM Networks</a:t>
            </a:r>
          </a:p>
        </p:txBody>
      </p:sp>
      <p:sp>
        <p:nvSpPr>
          <p:cNvPr id="3" name="Content Placeholder 2"/>
          <p:cNvSpPr>
            <a:spLocks noGrp="1"/>
          </p:cNvSpPr>
          <p:nvPr>
            <p:ph idx="1"/>
          </p:nvPr>
        </p:nvSpPr>
        <p:spPr/>
        <p:txBody>
          <a:bodyPr/>
          <a:lstStyle/>
          <a:p>
            <a:pPr>
              <a:defRPr sz="2000">
                <a:solidFill>
                  <a:srgbClr val="444444"/>
                </a:solidFill>
              </a:defRPr>
            </a:pPr>
            <a:r>
              <a:t>Introduced to address vanishing gradients</a:t>
            </a:r>
          </a:p>
          <a:p>
            <a:pPr>
              <a:defRPr sz="2000">
                <a:solidFill>
                  <a:srgbClr val="444444"/>
                </a:solidFill>
              </a:defRPr>
            </a:pPr>
            <a:r>
              <a:t>Use memory cells and gates</a:t>
            </a:r>
          </a:p>
          <a:p>
            <a:pPr>
              <a:defRPr sz="2000">
                <a:solidFill>
                  <a:srgbClr val="444444"/>
                </a:solidFill>
              </a:defRPr>
            </a:pPr>
            <a:r>
              <a:t>Can learn long-term dependencies</a:t>
            </a:r>
          </a:p>
          <a:p>
            <a:pPr>
              <a:defRPr sz="2000">
                <a:solidFill>
                  <a:srgbClr val="444444"/>
                </a:solidFill>
              </a:defRPr>
            </a:pPr>
            <a:r>
              <a:t>Widely used in many applications</a:t>
            </a:r>
          </a:p>
          <a:p>
            <a:pPr>
              <a:defRPr sz="2000">
                <a:solidFill>
                  <a:srgbClr val="444444"/>
                </a:solidFill>
              </a:defRPr>
            </a:pPr>
            <a:r>
              <a:t>Can be used for sequence classification</a:t>
            </a:r>
          </a:p>
          <a:p>
            <a:pPr>
              <a:defRPr sz="2000">
                <a:solidFill>
                  <a:srgbClr val="444444"/>
                </a:solidFill>
              </a:defRPr>
            </a:pPr>
            <a:r>
              <a:t>Can be used for sequence generation</a:t>
            </a:r>
          </a:p>
          <a:p>
            <a:pPr>
              <a:defRPr sz="2000">
                <a:solidFill>
                  <a:srgbClr val="444444"/>
                </a:solidFill>
              </a:defRPr>
            </a:pPr>
            <a:r>
              <a:t>More powerful than simple RNNs</a:t>
            </a:r>
          </a:p>
          <a:p>
            <a:pPr>
              <a:defRPr sz="2000">
                <a:solidFill>
                  <a:srgbClr val="444444"/>
                </a:solidFill>
              </a:defRPr>
            </a:pPr>
            <a:r>
              <a:t>Require more computational resources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GRU Networks</a:t>
            </a:r>
          </a:p>
        </p:txBody>
      </p:sp>
      <p:sp>
        <p:nvSpPr>
          <p:cNvPr id="3" name="Content Placeholder 2"/>
          <p:cNvSpPr>
            <a:spLocks noGrp="1"/>
          </p:cNvSpPr>
          <p:nvPr>
            <p:ph idx="1"/>
          </p:nvPr>
        </p:nvSpPr>
        <p:spPr/>
        <p:txBody>
          <a:bodyPr/>
          <a:lstStyle/>
          <a:p>
            <a:pPr>
              <a:defRPr sz="2000">
                <a:solidFill>
                  <a:srgbClr val="444444"/>
                </a:solidFill>
              </a:defRPr>
            </a:pPr>
            <a:r>
              <a:t>Simpler than LSTM networks</a:t>
            </a:r>
          </a:p>
          <a:p>
            <a:pPr>
              <a:defRPr sz="2000">
                <a:solidFill>
                  <a:srgbClr val="444444"/>
                </a:solidFill>
              </a:defRPr>
            </a:pPr>
            <a:r>
              <a:t>Use fewer parameters and gates</a:t>
            </a:r>
          </a:p>
          <a:p>
            <a:pPr>
              <a:defRPr sz="2000">
                <a:solidFill>
                  <a:srgbClr val="444444"/>
                </a:solidFill>
              </a:defRPr>
            </a:pPr>
            <a:r>
              <a:t>Can learn long-term dependencies</a:t>
            </a:r>
          </a:p>
          <a:p>
            <a:pPr>
              <a:defRPr sz="2000">
                <a:solidFill>
                  <a:srgbClr val="444444"/>
                </a:solidFill>
              </a:defRPr>
            </a:pPr>
            <a:r>
              <a:t>Faster to train than LSTMs</a:t>
            </a:r>
          </a:p>
          <a:p>
            <a:pPr>
              <a:defRPr sz="2000">
                <a:solidFill>
                  <a:srgbClr val="444444"/>
                </a:solidFill>
              </a:defRPr>
            </a:pPr>
            <a:r>
              <a:t>Can be used for sequence classification</a:t>
            </a:r>
          </a:p>
          <a:p>
            <a:pPr>
              <a:defRPr sz="2000">
                <a:solidFill>
                  <a:srgbClr val="444444"/>
                </a:solidFill>
              </a:defRPr>
            </a:pPr>
            <a:r>
              <a:t>Can be used for sequence generation</a:t>
            </a:r>
          </a:p>
          <a:p>
            <a:pPr>
              <a:defRPr sz="2000">
                <a:solidFill>
                  <a:srgbClr val="444444"/>
                </a:solidFill>
              </a:defRPr>
            </a:pPr>
            <a:r>
              <a:t>Less powerful than LSTMs</a:t>
            </a:r>
          </a:p>
          <a:p>
            <a:pPr>
              <a:defRPr sz="2000">
                <a:solidFill>
                  <a:srgbClr val="444444"/>
                </a:solidFill>
              </a:defRPr>
            </a:pPr>
            <a:r>
              <a:t>Require less computational resources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Real-World Examples</a:t>
            </a:r>
          </a:p>
        </p:txBody>
      </p:sp>
      <p:sp>
        <p:nvSpPr>
          <p:cNvPr id="3" name="Content Placeholder 2"/>
          <p:cNvSpPr>
            <a:spLocks noGrp="1"/>
          </p:cNvSpPr>
          <p:nvPr>
            <p:ph idx="1"/>
          </p:nvPr>
        </p:nvSpPr>
        <p:spPr/>
        <p:txBody>
          <a:bodyPr/>
          <a:lstStyle/>
          <a:p>
            <a:pPr>
              <a:defRPr sz="2000">
                <a:solidFill>
                  <a:srgbClr val="444444"/>
                </a:solidFill>
              </a:defRPr>
            </a:pPr>
            <a:r>
              <a:t>Google Translate uses RNNs</a:t>
            </a:r>
          </a:p>
          <a:p>
            <a:pPr>
              <a:defRPr sz="2000">
                <a:solidFill>
                  <a:srgbClr val="444444"/>
                </a:solidFill>
              </a:defRPr>
            </a:pPr>
            <a:r>
              <a:t>Siri and Alexa use RNNs</a:t>
            </a:r>
          </a:p>
          <a:p>
            <a:pPr>
              <a:defRPr sz="2000">
                <a:solidFill>
                  <a:srgbClr val="444444"/>
                </a:solidFill>
              </a:defRPr>
            </a:pPr>
            <a:r>
              <a:t>Self-driving cars use RNNs</a:t>
            </a:r>
          </a:p>
          <a:p>
            <a:pPr>
              <a:defRPr sz="2000">
                <a:solidFill>
                  <a:srgbClr val="444444"/>
                </a:solidFill>
              </a:defRPr>
            </a:pPr>
            <a:r>
              <a:t>Stock market prediction uses RNNs</a:t>
            </a:r>
          </a:p>
          <a:p>
            <a:pPr>
              <a:defRPr sz="2000">
                <a:solidFill>
                  <a:srgbClr val="444444"/>
                </a:solidFill>
              </a:defRPr>
            </a:pPr>
            <a:r>
              <a:t>Medical diagnosis uses RNNs</a:t>
            </a:r>
          </a:p>
          <a:p>
            <a:pPr>
              <a:defRPr sz="2000">
                <a:solidFill>
                  <a:srgbClr val="444444"/>
                </a:solidFill>
              </a:defRPr>
            </a:pPr>
            <a:r>
              <a:t>Music generation uses RNNs</a:t>
            </a:r>
          </a:p>
          <a:p>
            <a:pPr>
              <a:defRPr sz="2000">
                <a:solidFill>
                  <a:srgbClr val="444444"/>
                </a:solidFill>
              </a:defRPr>
            </a:pPr>
            <a:r>
              <a:t>Chatbots use RNNs</a:t>
            </a:r>
          </a:p>
          <a:p>
            <a:pPr>
              <a:defRPr sz="2000">
                <a:solidFill>
                  <a:srgbClr val="444444"/>
                </a:solidFill>
              </a:defRPr>
            </a:pPr>
            <a:r>
              <a:t>Virtual assistants use RNNs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Future of RNNs</a:t>
            </a:r>
          </a:p>
        </p:txBody>
      </p:sp>
      <p:sp>
        <p:nvSpPr>
          <p:cNvPr id="3" name="Content Placeholder 2"/>
          <p:cNvSpPr>
            <a:spLocks noGrp="1"/>
          </p:cNvSpPr>
          <p:nvPr>
            <p:ph idx="1"/>
          </p:nvPr>
        </p:nvSpPr>
        <p:spPr/>
        <p:txBody>
          <a:bodyPr/>
          <a:lstStyle/>
          <a:p>
            <a:pPr>
              <a:defRPr sz="2000">
                <a:solidFill>
                  <a:srgbClr val="444444"/>
                </a:solidFill>
              </a:defRPr>
            </a:pPr>
            <a:r>
              <a:t>Will continue to improve with advancements</a:t>
            </a:r>
          </a:p>
          <a:p>
            <a:pPr>
              <a:defRPr sz="2000">
                <a:solidFill>
                  <a:srgbClr val="444444"/>
                </a:solidFill>
              </a:defRPr>
            </a:pPr>
            <a:r>
              <a:t>Will be used in more applications</a:t>
            </a:r>
          </a:p>
          <a:p>
            <a:pPr>
              <a:defRPr sz="2000">
                <a:solidFill>
                  <a:srgbClr val="444444"/>
                </a:solidFill>
              </a:defRPr>
            </a:pPr>
            <a:r>
              <a:t>Will be combined with other AI techniques</a:t>
            </a:r>
          </a:p>
          <a:p>
            <a:pPr>
              <a:defRPr sz="2000">
                <a:solidFill>
                  <a:srgbClr val="444444"/>
                </a:solidFill>
              </a:defRPr>
            </a:pPr>
            <a:r>
              <a:t>Will be used for more complex tasks</a:t>
            </a:r>
          </a:p>
          <a:p>
            <a:pPr>
              <a:defRPr sz="2000">
                <a:solidFill>
                  <a:srgbClr val="444444"/>
                </a:solidFill>
              </a:defRPr>
            </a:pPr>
            <a:r>
              <a:t>Will require more computational resources</a:t>
            </a:r>
          </a:p>
          <a:p>
            <a:pPr>
              <a:defRPr sz="2000">
                <a:solidFill>
                  <a:srgbClr val="444444"/>
                </a:solidFill>
              </a:defRPr>
            </a:pPr>
            <a:r>
              <a:t>Will be used in edge devices</a:t>
            </a:r>
          </a:p>
          <a:p>
            <a:pPr>
              <a:defRPr sz="2000">
                <a:solidFill>
                  <a:srgbClr val="444444"/>
                </a:solidFill>
              </a:defRPr>
            </a:pPr>
            <a:r>
              <a:t>Will be used in real-time applications</a:t>
            </a:r>
          </a:p>
          <a:p>
            <a:pPr>
              <a:defRPr sz="2000">
                <a:solidFill>
                  <a:srgbClr val="444444"/>
                </a:solidFill>
              </a:defRPr>
            </a:pPr>
            <a:r>
              <a:t>Will be more secure and reliable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C00000"/>
                </a:solidFill>
              </a:defRPr>
            </a:pPr>
            <a:r>
              <a:t>Summary</a:t>
            </a:r>
          </a:p>
        </p:txBody>
      </p:sp>
      <p:sp>
        <p:nvSpPr>
          <p:cNvPr id="3" name="Content Placeholder 2"/>
          <p:cNvSpPr>
            <a:spLocks noGrp="1"/>
          </p:cNvSpPr>
          <p:nvPr>
            <p:ph idx="1"/>
          </p:nvPr>
        </p:nvSpPr>
        <p:spPr/>
        <p:txBody>
          <a:bodyPr/>
          <a:lstStyle/>
          <a:p>
            <a:pPr>
              <a:defRPr sz="2200" b="1">
                <a:solidFill>
                  <a:srgbClr val="1F497D"/>
                </a:solidFill>
              </a:defRPr>
            </a:pPr>
            <a:r>
              <a:t>RNNs process sequential data</a:t>
            </a:r>
          </a:p>
          <a:p>
            <a:pPr>
              <a:defRPr sz="2200" b="1">
                <a:solidFill>
                  <a:srgbClr val="1F497D"/>
                </a:solidFill>
              </a:defRPr>
            </a:pPr>
            <a:r>
              <a:t>Feedback connections allow recurrence</a:t>
            </a:r>
          </a:p>
          <a:p>
            <a:pPr>
              <a:defRPr sz="2200" b="1">
                <a:solidFill>
                  <a:srgbClr val="1F497D"/>
                </a:solidFill>
              </a:defRPr>
            </a:pPr>
            <a:r>
              <a:t>LSTM (Long Short-Term Memory) networks</a:t>
            </a:r>
          </a:p>
          <a:p>
            <a:pPr>
              <a:defRPr sz="2200" b="1">
                <a:solidFill>
                  <a:srgbClr val="1F497D"/>
                </a:solidFill>
              </a:defRPr>
            </a:pPr>
            <a:r>
              <a:t>Speech recognition and synthesis</a:t>
            </a:r>
          </a:p>
          <a:p>
            <a:pPr>
              <a:defRPr sz="2200" b="1">
                <a:solidFill>
                  <a:srgbClr val="1F497D"/>
                </a:solidFill>
              </a:defRPr>
            </a:pPr>
            <a:r>
              <a:t>Introduced to address vanishing gradients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