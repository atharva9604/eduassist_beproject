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Introduction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Core Concept / Architecture of RNNs, emphasize the importance of feedback connections and hidden states in processing sequential data. Provide examples of simple RNNs and more complex architectures like LSTM and GRU, asking students to consider how these differences impact performance. Ask students to think about how these architectural elements contribute to the ability of RNNs to learn from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mathematical and logical explanation of RNNs, emphasize the role of activation functions and backpropagation in training the network. Provide examples of how matrix multiplications and vectorized operations are used in RNN computations. Ask students to consider how the chain rule is applied in nested functions and how gradient descent is used to minimize loss functions.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Applications / Use Cases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this slide, emphasize the importance of understanding RNN architectures and their applications. Provide examples of how RNNs are used in language modeling and text generation. Ask students to consider the challenges of training RNNs and how techniques like backpropagation through time and regularization can address these issues.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Introduction to Introduction</a:t>
            </a:r>
          </a:p>
          <a:p>
            <a:pPr>
              <a:defRPr sz="2000">
                <a:solidFill>
                  <a:srgbClr val="444444"/>
                </a:solidFill>
              </a:defRPr>
            </a:pPr>
            <a:r>
              <a:t>Key concepts related to Introduction</a:t>
            </a:r>
          </a:p>
          <a:p>
            <a:pPr>
              <a:defRPr sz="2000">
                <a:solidFill>
                  <a:srgbClr val="444444"/>
                </a:solidFill>
              </a:defRPr>
            </a:pPr>
            <a:r>
              <a:t>Important aspects of Introduction</a:t>
            </a:r>
          </a:p>
          <a:p>
            <a:pPr>
              <a:defRPr sz="2000">
                <a:solidFill>
                  <a:srgbClr val="444444"/>
                </a:solidFill>
              </a:defRPr>
            </a:pPr>
            <a:r>
              <a:t>Applications and examples of Introduction</a:t>
            </a:r>
          </a:p>
        </p:txBody>
      </p:sp>
      <p:pic>
        <p:nvPicPr>
          <p:cNvPr id="4" name="Picture 3" descr="0619523398e44598a67b8d2043b03fd9_rnns_deep_learning_overview_introduction.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Concept / Architecture</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Feedback connections allow information retention</a:t>
            </a:r>
          </a:p>
          <a:p>
            <a:pPr>
              <a:defRPr sz="2000">
                <a:solidFill>
                  <a:srgbClr val="444444"/>
                </a:solidFill>
              </a:defRPr>
            </a:pPr>
            <a:r>
              <a:t>Hidden state captures sequential context</a:t>
            </a:r>
          </a:p>
          <a:p>
            <a:pPr>
              <a:defRPr sz="2000">
                <a:solidFill>
                  <a:srgbClr val="444444"/>
                </a:solidFill>
              </a:defRPr>
            </a:pPr>
            <a:r>
              <a:t>Input gate controls new information</a:t>
            </a:r>
          </a:p>
          <a:p>
            <a:pPr>
              <a:defRPr sz="2000">
                <a:solidFill>
                  <a:srgbClr val="444444"/>
                </a:solidFill>
              </a:defRPr>
            </a:pPr>
            <a:r>
              <a:t>Output gate generates predictions</a:t>
            </a:r>
          </a:p>
          <a:p>
            <a:pPr>
              <a:defRPr sz="2000">
                <a:solidFill>
                  <a:srgbClr val="444444"/>
                </a:solidFill>
              </a:defRPr>
            </a:pPr>
            <a:r>
              <a:t>Cell state retains long-term information</a:t>
            </a:r>
          </a:p>
          <a:p>
            <a:pPr>
              <a:defRPr sz="2000">
                <a:solidFill>
                  <a:srgbClr val="444444"/>
                </a:solidFill>
              </a:defRPr>
            </a:pPr>
            <a:r>
              <a:t>Activation functions introduce non-linearity</a:t>
            </a:r>
          </a:p>
          <a:p>
            <a:pPr>
              <a:defRPr sz="2000">
                <a:solidFill>
                  <a:srgbClr val="444444"/>
                </a:solidFill>
              </a:defRPr>
            </a:pPr>
            <a:r>
              <a:t>Architecture varies for different RNN types</a:t>
            </a:r>
          </a:p>
          <a:p>
            <a:pPr>
              <a:defRPr sz="2000">
                <a:solidFill>
                  <a:srgbClr val="444444"/>
                </a:solidFill>
              </a:defRPr>
            </a:pPr>
            <a:r>
              <a:t>Simple RNNs have basic feedback loops</a:t>
            </a:r>
          </a:p>
          <a:p>
            <a:pPr>
              <a:defRPr sz="2000">
                <a:solidFill>
                  <a:srgbClr val="444444"/>
                </a:solidFill>
              </a:defRPr>
            </a:pPr>
            <a:r>
              <a:t>LSTM and GRU have gated feedback mechanisms</a:t>
            </a:r>
          </a:p>
        </p:txBody>
      </p:sp>
      <p:pic>
        <p:nvPicPr>
          <p:cNvPr id="4" name="Picture 3" descr="23c74a22a7ff42bea85b505820f2b6b5_rnns_deep_learning_architecture_diagram.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 Logical Explanation</a:t>
            </a:r>
          </a:p>
        </p:txBody>
      </p:sp>
      <p:sp>
        <p:nvSpPr>
          <p:cNvPr id="3" name="Content Placeholder 2"/>
          <p:cNvSpPr>
            <a:spLocks noGrp="1"/>
          </p:cNvSpPr>
          <p:nvPr>
            <p:ph idx="1"/>
          </p:nvPr>
        </p:nvSpPr>
        <p:spPr/>
        <p:txBody>
          <a:bodyPr/>
          <a:lstStyle/>
          <a:p>
            <a:pPr>
              <a:defRPr sz="2000">
                <a:solidFill>
                  <a:srgbClr val="444444"/>
                </a:solidFill>
              </a:defRPr>
            </a:pPr>
            <a:r>
              <a:t>Recurrent Neural Networks use mathematical functions</a:t>
            </a:r>
          </a:p>
          <a:p>
            <a:pPr>
              <a:defRPr sz="2000">
                <a:solidFill>
                  <a:srgbClr val="444444"/>
                </a:solidFill>
              </a:defRPr>
            </a:pPr>
            <a:r>
              <a:t>Logical gates control data flow in RNNs</a:t>
            </a:r>
          </a:p>
          <a:p>
            <a:pPr>
              <a:defRPr sz="2000">
                <a:solidFill>
                  <a:srgbClr val="444444"/>
                </a:solidFill>
              </a:defRPr>
            </a:pPr>
            <a:r>
              <a:t>Activation functions introduce non-linearity</a:t>
            </a:r>
          </a:p>
          <a:p>
            <a:pPr>
              <a:defRPr sz="2000">
                <a:solidFill>
                  <a:srgbClr val="444444"/>
                </a:solidFill>
              </a:defRPr>
            </a:pPr>
            <a:r>
              <a:t>Backpropagation calculates error gradients</a:t>
            </a:r>
          </a:p>
          <a:p>
            <a:pPr>
              <a:defRPr sz="2000">
                <a:solidFill>
                  <a:srgbClr val="444444"/>
                </a:solidFill>
              </a:defRPr>
            </a:pPr>
            <a:r>
              <a:t>Optimization algorithms update weights</a:t>
            </a:r>
          </a:p>
          <a:p>
            <a:pPr>
              <a:defRPr sz="2000">
                <a:solidFill>
                  <a:srgbClr val="444444"/>
                </a:solidFill>
              </a:defRPr>
            </a:pPr>
            <a:r>
              <a:t>Matrix multiplications perform computations</a:t>
            </a:r>
          </a:p>
          <a:p>
            <a:pPr>
              <a:defRPr sz="2000">
                <a:solidFill>
                  <a:srgbClr val="444444"/>
                </a:solidFill>
              </a:defRPr>
            </a:pPr>
            <a:r>
              <a:t>Vectorized operations speed up calculations</a:t>
            </a:r>
          </a:p>
          <a:p>
            <a:pPr>
              <a:defRPr sz="2000">
                <a:solidFill>
                  <a:srgbClr val="444444"/>
                </a:solidFill>
              </a:defRPr>
            </a:pPr>
            <a:r>
              <a:t>Derivatives measure function sensitivity</a:t>
            </a:r>
          </a:p>
          <a:p>
            <a:pPr>
              <a:defRPr sz="2000">
                <a:solidFill>
                  <a:srgbClr val="444444"/>
                </a:solidFill>
              </a:defRPr>
            </a:pPr>
            <a:r>
              <a:t>Chain rule applies to nested functions</a:t>
            </a:r>
          </a:p>
          <a:p>
            <a:pPr>
              <a:defRPr sz="2000">
                <a:solidFill>
                  <a:srgbClr val="444444"/>
                </a:solidFill>
              </a:defRPr>
            </a:pPr>
            <a:r>
              <a:t>Gradient descent minimizes loss functions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Use Cases</a:t>
            </a:r>
          </a:p>
        </p:txBody>
      </p:sp>
      <p:sp>
        <p:nvSpPr>
          <p:cNvPr id="3" name="Content Placeholder 2"/>
          <p:cNvSpPr>
            <a:spLocks noGrp="1"/>
          </p:cNvSpPr>
          <p:nvPr>
            <p:ph idx="1"/>
          </p:nvPr>
        </p:nvSpPr>
        <p:spPr/>
        <p:txBody>
          <a:bodyPr/>
          <a:lstStyle/>
          <a:p>
            <a:pPr>
              <a:defRPr sz="2000">
                <a:solidFill>
                  <a:srgbClr val="444444"/>
                </a:solidFill>
              </a:defRPr>
            </a:pPr>
            <a:r>
              <a:t>Introduction to Applications / Use Cases</a:t>
            </a:r>
          </a:p>
          <a:p>
            <a:pPr>
              <a:defRPr sz="2000">
                <a:solidFill>
                  <a:srgbClr val="444444"/>
                </a:solidFill>
              </a:defRPr>
            </a:pPr>
            <a:r>
              <a:t>Key concepts related to Applications / Use Cases</a:t>
            </a:r>
          </a:p>
          <a:p>
            <a:pPr>
              <a:defRPr sz="2000">
                <a:solidFill>
                  <a:srgbClr val="444444"/>
                </a:solidFill>
              </a:defRPr>
            </a:pPr>
            <a:r>
              <a:t>Important aspects of Applications / Use Cases</a:t>
            </a:r>
          </a:p>
          <a:p>
            <a:pPr>
              <a:defRPr sz="2000">
                <a:solidFill>
                  <a:srgbClr val="444444"/>
                </a:solidFill>
              </a:defRPr>
            </a:pPr>
            <a:r>
              <a:t>Applications and examples of Applications / Use Cases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&amp; Key Takeaways</a:t>
            </a:r>
          </a:p>
        </p:txBody>
      </p:sp>
      <p:sp>
        <p:nvSpPr>
          <p:cNvPr id="3" name="Content Placeholder 2"/>
          <p:cNvSpPr>
            <a:spLocks noGrp="1"/>
          </p:cNvSpPr>
          <p:nvPr>
            <p:ph idx="1"/>
          </p:nvPr>
        </p:nvSpPr>
        <p:spPr/>
        <p:txBody>
          <a:bodyPr/>
          <a:lstStyle/>
          <a:p>
            <a:pPr>
              <a:defRPr sz="2000">
                <a:solidFill>
                  <a:srgbClr val="444444"/>
                </a:solidFill>
              </a:defRPr>
            </a:pPr>
            <a:r>
              <a:t>RNNs process sequential data with temporal relationships</a:t>
            </a:r>
          </a:p>
          <a:p>
            <a:pPr>
              <a:defRPr sz="2000">
                <a:solidFill>
                  <a:srgbClr val="444444"/>
                </a:solidFill>
              </a:defRPr>
            </a:pPr>
            <a:r>
              <a:t>Key applications include language modeling and text generation</a:t>
            </a:r>
          </a:p>
          <a:p>
            <a:pPr>
              <a:defRPr sz="2000">
                <a:solidFill>
                  <a:srgbClr val="444444"/>
                </a:solidFill>
              </a:defRPr>
            </a:pPr>
            <a:r>
              <a:t>Recurrent connections enable feedback and memory</a:t>
            </a:r>
          </a:p>
          <a:p>
            <a:pPr>
              <a:defRPr sz="2000">
                <a:solidFill>
                  <a:srgbClr val="444444"/>
                </a:solidFill>
              </a:defRPr>
            </a:pPr>
            <a:r>
              <a:t>Training RNNs involves backpropagation through time</a:t>
            </a:r>
          </a:p>
          <a:p>
            <a:pPr>
              <a:defRPr sz="2000">
                <a:solidFill>
                  <a:srgbClr val="444444"/>
                </a:solidFill>
              </a:defRPr>
            </a:pPr>
            <a:r>
              <a:t>Vanishing gradients affect RNN training and stability</a:t>
            </a:r>
          </a:p>
          <a:p>
            <a:pPr>
              <a:defRPr sz="2000">
                <a:solidFill>
                  <a:srgbClr val="444444"/>
                </a:solidFill>
              </a:defRPr>
            </a:pPr>
            <a:r>
              <a:t>LSTM and GRU architectures mitigate gradient issues</a:t>
            </a:r>
          </a:p>
          <a:p>
            <a:pPr>
              <a:defRPr sz="2000">
                <a:solidFill>
                  <a:srgbClr val="444444"/>
                </a:solidFill>
              </a:defRPr>
            </a:pPr>
            <a:r>
              <a:t>RNNs are suitable for time-series forecasting and prediction</a:t>
            </a:r>
          </a:p>
          <a:p>
            <a:pPr>
              <a:defRPr sz="2000">
                <a:solidFill>
                  <a:srgbClr val="444444"/>
                </a:solidFill>
              </a:defRPr>
            </a:pPr>
            <a:r>
              <a:t>Regularization techniques improve RNN generalization</a:t>
            </a:r>
          </a:p>
          <a:p>
            <a:pPr>
              <a:defRPr sz="2000">
                <a:solidFill>
                  <a:srgbClr val="444444"/>
                </a:solidFill>
              </a:defRPr>
            </a:pPr>
            <a:r>
              <a:t>Hyperparameter tuning is crucial for RNN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