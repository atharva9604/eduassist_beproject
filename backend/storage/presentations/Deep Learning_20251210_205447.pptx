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Introduction to RNNs, RNN Architecture, Types of RNNs, RNN Applications, RNN Challenges.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their applications in speech recognition and language modeling. Provide examples of how RNNs are used in real-world scenarios, such as voice assistants and chatbots. Explain the basic architecture of RNNs and how they can be trained using backpropagation. Discuss the challenges of training RNNs, including vanishing gradients, and ask students to think about how these challenges can be overcome. Key takeaways should include the importance of RNNs in deep learning and their versatility in various natural language processing tasks.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learn from temporal context. Provide examples of applications in speech recognition and natural language processing. Explain the basic architecture, including the role of hidden layers in capturing complex relationships. Discuss the challenges of training RNNs, such as backpropagation through time, and the differences between unidirectional and bidirectional RNNs. Ask students to consider how RNNs can be applied to real-world problems involving sequential data, and what advantages they offer over other neural network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RNNs, emphasize the role of feedback connections in processing sequential data. Discuss how the hidden layer acts as a memory, storing information from previous inputs. Introduce the concept of activation functions and their importance in introducing non-linearity. Mention the challenges of training deep RNNs due to vanishing gradients and briefly introduce LSTM and GRU as variants that address these issues. Provide examples of RNN applications, such as language modeling and speech recognition. Ask students to consider how RNNs could be applied to real-world problems involving sequential data, such as time series forecasting or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architecture, emphasize the importance of sequential data processing and the role of feedback connections. Provide examples of applications such as language modeling and text generation. Explain the basic components of RNN architecture, including input, hidden, and output layers. Discuss the challenges of training RNNs, including the need for backpropagation through time. Ask students to consider how RNNs can be used in real-world problems, such as speech recognition and natural language processing. Key takeaways include understanding the basics of RNN architecture and its applications, as well as the challenges and limitations of training RNNs.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architecture, emphasize the importance of sequential data processing and feedback connections. Explain how RNNs are used in real-world applications like speech recognition and language modeling. Discuss the limitations of simple RNNs, such as vanishing gradients, and introduce variants like LSTM and GRU. Use examples to illustrate the difference between uni-directional and bi-directional RNNs. Ask students to consider how RNNs can be applied to their own research or projects, and what benefits they can bring to sequential data analysis. Key takeaways include understanding the basic components of RNNs, including input, output, and hidden states, and recognizing the role of activation functions in RNNs.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architecture, explain the concept of sequential data and how RNNs are designed to handle it. Provide examples of speech recognition and language modeling to illustrate the application of RNNs. Discuss the limitations of basic RNNs, such as the vanishing gradient issue, and introduce LSTM and GRU as variants that address this problem. Use the equation y(t) = sigma(Wx(t) + Uh(t-1)) to explain the basic RNN architecture. Ask students to think about how RNNs can be applied to real-world problems, such as time series forecasting and text classification. Key takeaways should include the ability to process sequential data, learn long-term dependencies, and the importance of variants like LSTM and GRU.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types of RNNs, start by explaining the basic concept of RNNs and their ability to process sequential data. Provide examples of how RNNs are used in real-world applications such as language modeling and speech recognition. Emphasize the importance of understanding the different types of RNNs, including Simple RNNs, LSTM networks, and GRU networks. Ask students to consider the advantages and disadvantages of each type and how they can be applied to different problems. Key takeaways include understanding the architecture and functionality of each RNN type and being able to identify suitable applications for 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variants of RNNs, emphasize the differences in architecture and application. For example, LSTMs are particularly useful for tasks that require long-term memory, such as language modeling. GRUs, on the other hand, are often used when computational resources are limited. Ask students to consider the trade-offs between different variants and how they might choose the appropriate RNN for a given problem. Key takeaways include understanding the strengths and weaknesses of each variant and being able to apply them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variants of RNNs, emphasize the strengths and weaknesses of each type. For example, explain how LSTMs can learn long-term dependencies but may be computationally expensive. Ask students to consider the trade-offs between different variants and how they might be applied to real-world problems, such as language modeling or time series forecasting. Key takeaways include understanding the differences between Simple RNNs, LSTMs, and GRUs, as well as the potential applications of more advanced variants like Bidirectional and Attention-based RNNs.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applications, emphasize the importance of sequential data analysis. Provide examples of speech recognition systems, such as Siri or Alexa, and explain how RNNs enable these systems to understand and respond to voice commands. Discuss the role of RNNs in Natural Language Processing, including sentiment analysis and text classification. Ask students to consider how RNNs can be applied to real-world problems, such as predicting stock prices or detecting anomalies in network traffic. Key takeaways include understanding the versatility of RNNs in various applications and their ability to learn patterns in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applications, emphasize the importance of sequential data analysis. Provide examples of time series forecasting, such as predicting stock prices or weather patterns. Explain how RNNs are used in NLP tasks like language translation and text classification. Ask students to consider how RNNs are used in their daily lives, such as in virtual assistants or chatbots. Key takeaways include the versatility of RNNs in handling sequential data and their applications in various fields.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applications, emphasize the importance of sequential data analysis. Provide examples of time series forecasting, such as predicting stock prices or weather patterns. Discuss the role of RNNs in NLP tasks like language translation and text classification. Ask students to consider real-world scenarios where RNNs can be applied, such as speech recognition or sentiment analysis. Key takeaways include understanding the versatility of RNNs and their ability to handle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challenges, emphasize the importance of understanding these limitations to improve model performance. Discuss how vanishing and exploding gradients affect training, and how techniques like gradient clipping and weight regularization can help. Provide examples of applications where RNNs are used, such as language modeling or time series forecasting, and ask students to think about how these challenges might impact results in these areas. Key takeaways include the need for careful parameter tuning and the importance of addressing long-term dependency issues in RNNs.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 challenges, explain the vanishing and exploding gradients issues and how they affect training. Provide examples of sequential data with varying lengths, such as speech or text, and discuss how truncated backpropagation can help. Emphasize the importance of large datasets and regularization techniques to prevent overfitting. Ask students to consider how hyperparameter selection can impact RNN performance and what strategies can be used to optimize hyperparameters. Key takeaways include understanding the common challenges in RNNs and approaches to address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RNN challenges, emphasize the importance of understanding the limitations of these models. Explain how vanishing and exploding gradients impact training, and provide examples of how techniques like gradient clipping can help. Ask students to consider how truncated backpropagation through time affects model performance. Discuss the role of regularization and introduce LSTM and GRU variants as potential solutions to some of these challenges. Key takeaways include recognizing the difficulties in training RNNs and understanding the trade-offs between different RNN architectures.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RNNs, RNN Architecture, Types of RNNs, RNN Applications, RNN Challenges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to retain information</a:t>
            </a:r>
          </a:p>
          <a:p>
            <a:pPr>
              <a:defRPr sz="2000">
                <a:solidFill>
                  <a:srgbClr val="444444"/>
                </a:solidFill>
              </a:defRPr>
            </a:pPr>
            <a:r>
              <a:t>Used for speech recognition, language modeling tasks</a:t>
            </a:r>
          </a:p>
          <a:p>
            <a:pPr>
              <a:defRPr sz="2000">
                <a:solidFill>
                  <a:srgbClr val="444444"/>
                </a:solidFill>
              </a:defRPr>
            </a:pPr>
            <a:r>
              <a:t>Capable of learning temporal dependencies in data</a:t>
            </a:r>
          </a:p>
          <a:p>
            <a:pPr>
              <a:defRPr sz="2000">
                <a:solidFill>
                  <a:srgbClr val="444444"/>
                </a:solidFill>
              </a:defRPr>
            </a:pPr>
            <a:r>
              <a:t>Basic RNN architecture simple, yet effective</a:t>
            </a:r>
          </a:p>
          <a:p>
            <a:pPr>
              <a:defRPr sz="2000">
                <a:solidFill>
                  <a:srgbClr val="444444"/>
                </a:solidFill>
              </a:defRPr>
            </a:pPr>
            <a:r>
              <a:t>RNNs can be trained using backpropagation algorithm</a:t>
            </a:r>
          </a:p>
          <a:p>
            <a:pPr>
              <a:defRPr sz="2000">
                <a:solidFill>
                  <a:srgbClr val="444444"/>
                </a:solidFill>
              </a:defRPr>
            </a:pPr>
            <a:r>
              <a:t>Vanishing gradients affect RNN training process</a:t>
            </a:r>
          </a:p>
          <a:p>
            <a:pPr>
              <a:defRPr sz="2000">
                <a:solidFill>
                  <a:srgbClr val="444444"/>
                </a:solidFill>
              </a:defRPr>
            </a:pPr>
            <a:r>
              <a:t>RNNs are fundamental to natural language processing</a:t>
            </a:r>
          </a:p>
          <a:p>
            <a:pPr>
              <a:defRPr sz="2000">
                <a:solidFill>
                  <a:srgbClr val="444444"/>
                </a:solidFill>
              </a:defRPr>
            </a:pPr>
            <a:r>
              <a:t>Applications include text classification, sentiment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handle sequential data</a:t>
            </a:r>
          </a:p>
          <a:p>
            <a:pPr>
              <a:defRPr sz="2000">
                <a:solidFill>
                  <a:srgbClr val="444444"/>
                </a:solidFill>
              </a:defRPr>
            </a:pPr>
            <a:r>
              <a:t>RNNs have feedback connections for temporal context</a:t>
            </a:r>
          </a:p>
          <a:p>
            <a:pPr>
              <a:defRPr sz="2000">
                <a:solidFill>
                  <a:srgbClr val="444444"/>
                </a:solidFill>
              </a:defRPr>
            </a:pPr>
            <a:r>
              <a:t>Used in speech recognition, natural language processing</a:t>
            </a:r>
          </a:p>
          <a:p>
            <a:pPr>
              <a:defRPr sz="2000">
                <a:solidFill>
                  <a:srgbClr val="444444"/>
                </a:solidFill>
              </a:defRPr>
            </a:pPr>
            <a:r>
              <a:t>Can learn long-term dependencies in data</a:t>
            </a:r>
          </a:p>
          <a:p>
            <a:pPr>
              <a:defRPr sz="2000">
                <a:solidFill>
                  <a:srgbClr val="444444"/>
                </a:solidFill>
              </a:defRPr>
            </a:pPr>
            <a:r>
              <a:t>Basic RNN architecture includes input, output, hidden layers</a:t>
            </a:r>
          </a:p>
          <a:p>
            <a:pPr>
              <a:defRPr sz="2000">
                <a:solidFill>
                  <a:srgbClr val="444444"/>
                </a:solidFill>
              </a:defRPr>
            </a:pPr>
            <a:r>
              <a:t>Hidden layers capture complex temporal relationships</a:t>
            </a:r>
          </a:p>
          <a:p>
            <a:pPr>
              <a:defRPr sz="2000">
                <a:solidFill>
                  <a:srgbClr val="444444"/>
                </a:solidFill>
              </a:defRPr>
            </a:pPr>
            <a:r>
              <a:t>Training RNNs involves backpropagation through time</a:t>
            </a:r>
          </a:p>
          <a:p>
            <a:pPr>
              <a:defRPr sz="2000">
                <a:solidFill>
                  <a:srgbClr val="444444"/>
                </a:solidFill>
              </a:defRPr>
            </a:pPr>
            <a:r>
              <a:t>RNNs can be unidirectional or bidirectional</a:t>
            </a:r>
          </a:p>
          <a:p>
            <a:pPr>
              <a:defRPr sz="2000">
                <a:solidFill>
                  <a:srgbClr val="444444"/>
                </a:solidFill>
              </a:defRPr>
            </a:pPr>
            <a:r>
              <a:t>Unidirectional RNNs process sequences in one direction</a:t>
            </a:r>
          </a:p>
          <a:p>
            <a:pPr>
              <a:defRPr sz="2000">
                <a:solidFill>
                  <a:srgbClr val="444444"/>
                </a:solidFill>
              </a:defRPr>
            </a:pPr>
            <a:r>
              <a:t>Bidirectional RNNs process sequences in both directions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 - Architecture</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enabling memory</a:t>
            </a:r>
          </a:p>
          <a:p>
            <a:pPr>
              <a:defRPr sz="2000">
                <a:solidFill>
                  <a:srgbClr val="444444"/>
                </a:solidFill>
              </a:defRPr>
            </a:pPr>
            <a:r>
              <a:t>Input, output, and hidden layers are primary components</a:t>
            </a:r>
          </a:p>
          <a:p>
            <a:pPr>
              <a:defRPr sz="2000">
                <a:solidFill>
                  <a:srgbClr val="444444"/>
                </a:solidFill>
              </a:defRPr>
            </a:pPr>
            <a:r>
              <a:t>Hidden layer retains information from previous inputs</a:t>
            </a:r>
          </a:p>
          <a:p>
            <a:pPr>
              <a:defRPr sz="2000">
                <a:solidFill>
                  <a:srgbClr val="444444"/>
                </a:solidFill>
              </a:defRPr>
            </a:pPr>
            <a:r>
              <a:t>Activation functions introduce non-linearity to outputs</a:t>
            </a:r>
          </a:p>
          <a:p>
            <a:pPr>
              <a:defRPr sz="2000">
                <a:solidFill>
                  <a:srgbClr val="444444"/>
                </a:solidFill>
              </a:defRPr>
            </a:pPr>
            <a:r>
              <a:t>Backpropagation Through Time trains RNN models</a:t>
            </a:r>
          </a:p>
          <a:p>
            <a:pPr>
              <a:defRPr sz="2000">
                <a:solidFill>
                  <a:srgbClr val="444444"/>
                </a:solidFill>
              </a:defRPr>
            </a:pPr>
            <a:r>
              <a:t>Vanishing gradients affect deep RNN training</a:t>
            </a:r>
          </a:p>
          <a:p>
            <a:pPr>
              <a:defRPr sz="2000">
                <a:solidFill>
                  <a:srgbClr val="444444"/>
                </a:solidFill>
              </a:defRPr>
            </a:pPr>
            <a:r>
              <a:t>LSTM, GRU are variants addressing gradient issues</a:t>
            </a:r>
          </a:p>
          <a:p>
            <a:pPr>
              <a:defRPr sz="2000">
                <a:solidFill>
                  <a:srgbClr val="444444"/>
                </a:solidFill>
              </a:defRPr>
            </a:pPr>
            <a:r>
              <a:t>RNNs are used in language modeling and speech recognition</a:t>
            </a:r>
          </a:p>
          <a:p>
            <a:pPr>
              <a:defRPr sz="2000">
                <a:solidFill>
                  <a:srgbClr val="444444"/>
                </a:solidFill>
              </a:defRPr>
            </a:pPr>
            <a:r>
              <a:t>Simple RNN equation: h_t = sigmoid(W*x_t + U*h_(t-1))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Architecture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allowing information recall</a:t>
            </a:r>
          </a:p>
          <a:p>
            <a:pPr>
              <a:defRPr sz="2000">
                <a:solidFill>
                  <a:srgbClr val="444444"/>
                </a:solidFill>
              </a:defRPr>
            </a:pPr>
            <a:r>
              <a:t>Used for language modeling, text generation, and translation</a:t>
            </a:r>
          </a:p>
          <a:p>
            <a:pPr>
              <a:defRPr sz="2000">
                <a:solidFill>
                  <a:srgbClr val="444444"/>
                </a:solidFill>
              </a:defRPr>
            </a:pPr>
            <a:r>
              <a:t>Can learn long-term dependencies in data sequences</a:t>
            </a:r>
          </a:p>
          <a:p>
            <a:pPr>
              <a:defRPr sz="2000">
                <a:solidFill>
                  <a:srgbClr val="444444"/>
                </a:solidFill>
              </a:defRPr>
            </a:pPr>
            <a:r>
              <a:t>Basic RNN architecture includes input, hidden, and output layers</a:t>
            </a:r>
          </a:p>
          <a:p>
            <a:pPr>
              <a:defRPr sz="2000">
                <a:solidFill>
                  <a:srgbClr val="444444"/>
                </a:solidFill>
              </a:defRPr>
            </a:pPr>
            <a:r>
              <a:t>Hidden layer captures temporal relationships in data</a:t>
            </a:r>
          </a:p>
          <a:p>
            <a:pPr>
              <a:defRPr sz="2000">
                <a:solidFill>
                  <a:srgbClr val="444444"/>
                </a:solidFill>
              </a:defRPr>
            </a:pPr>
            <a:r>
              <a:t>Output layer generates predictions based on hidden state</a:t>
            </a:r>
          </a:p>
          <a:p>
            <a:pPr>
              <a:defRPr sz="2000">
                <a:solidFill>
                  <a:srgbClr val="444444"/>
                </a:solidFill>
              </a:defRPr>
            </a:pPr>
            <a:r>
              <a:t>Training RNNs involves backpropagation through time</a:t>
            </a:r>
          </a:p>
          <a:p>
            <a:pPr>
              <a:defRPr sz="2000">
                <a:solidFill>
                  <a:srgbClr val="444444"/>
                </a:solidFill>
              </a:defRPr>
            </a:pPr>
            <a:r>
              <a:t>RNNs are basis for more complex architectures like LSTMs</a:t>
            </a:r>
          </a:p>
          <a:p>
            <a:pPr>
              <a:defRPr sz="2000">
                <a:solidFill>
                  <a:srgbClr val="444444"/>
                </a:solidFill>
              </a:defRPr>
            </a:pPr>
            <a:r>
              <a:t>RNNs are used in speech recognition, natural language processing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Architecture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to previous states</a:t>
            </a:r>
          </a:p>
          <a:p>
            <a:pPr>
              <a:defRPr sz="2000">
                <a:solidFill>
                  <a:srgbClr val="444444"/>
                </a:solidFill>
              </a:defRPr>
            </a:pPr>
            <a:r>
              <a:t>Used for speech recognition, language modeling</a:t>
            </a:r>
          </a:p>
          <a:p>
            <a:pPr>
              <a:defRPr sz="2000">
                <a:solidFill>
                  <a:srgbClr val="444444"/>
                </a:solidFill>
              </a:defRPr>
            </a:pPr>
            <a:r>
              <a:t>Temporal relationships are captured by RNNs</a:t>
            </a:r>
          </a:p>
          <a:p>
            <a:pPr>
              <a:defRPr sz="2000">
                <a:solidFill>
                  <a:srgbClr val="444444"/>
                </a:solidFill>
              </a:defRPr>
            </a:pPr>
            <a:r>
              <a:t>Vanishing gradients affect RNN training</a:t>
            </a:r>
          </a:p>
          <a:p>
            <a:pPr>
              <a:defRPr sz="2000">
                <a:solidFill>
                  <a:srgbClr val="444444"/>
                </a:solidFill>
              </a:defRPr>
            </a:pPr>
            <a:r>
              <a:t>Simple RNNs have limited contextual understanding</a:t>
            </a:r>
          </a:p>
          <a:p>
            <a:pPr>
              <a:defRPr sz="2000">
                <a:solidFill>
                  <a:srgbClr val="444444"/>
                </a:solidFill>
              </a:defRPr>
            </a:pPr>
            <a:r>
              <a:t>LSTM, GRU are variants of RNN architecture</a:t>
            </a:r>
          </a:p>
          <a:p>
            <a:pPr>
              <a:defRPr sz="2000">
                <a:solidFill>
                  <a:srgbClr val="444444"/>
                </a:solidFill>
              </a:defRPr>
            </a:pPr>
            <a:r>
              <a:t>RNNs can be uni-directional or bi-directional</a:t>
            </a:r>
          </a:p>
          <a:p>
            <a:pPr>
              <a:defRPr sz="2000">
                <a:solidFill>
                  <a:srgbClr val="444444"/>
                </a:solidFill>
              </a:defRPr>
            </a:pPr>
            <a:r>
              <a:t>Input, output, hidden states are key components</a:t>
            </a:r>
          </a:p>
          <a:p>
            <a:pPr>
              <a:defRPr sz="2000">
                <a:solidFill>
                  <a:srgbClr val="444444"/>
                </a:solidFill>
              </a:defRPr>
            </a:pPr>
            <a:r>
              <a:t>y = sigmoid(x) is a basic activation function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Architecture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to previous layers</a:t>
            </a:r>
          </a:p>
          <a:p>
            <a:pPr>
              <a:defRPr sz="2000">
                <a:solidFill>
                  <a:srgbClr val="444444"/>
                </a:solidFill>
              </a:defRPr>
            </a:pPr>
            <a:r>
              <a:t>Used for speech recognition and language modeling</a:t>
            </a:r>
          </a:p>
          <a:p>
            <a:pPr>
              <a:defRPr sz="2000">
                <a:solidFill>
                  <a:srgbClr val="444444"/>
                </a:solidFill>
              </a:defRPr>
            </a:pPr>
            <a:r>
              <a:t>Can learn long-term dependencies in data</a:t>
            </a:r>
          </a:p>
          <a:p>
            <a:pPr>
              <a:defRPr sz="2000">
                <a:solidFill>
                  <a:srgbClr val="444444"/>
                </a:solidFill>
              </a:defRPr>
            </a:pPr>
            <a:r>
              <a:t>Basic RNNs suffer from vanishing gradient issue</a:t>
            </a:r>
          </a:p>
          <a:p>
            <a:pPr>
              <a:defRPr sz="2000">
                <a:solidFill>
                  <a:srgbClr val="444444"/>
                </a:solidFill>
              </a:defRPr>
            </a:pPr>
            <a:r>
              <a:t>LSTM and GRU are variants to address this</a:t>
            </a:r>
          </a:p>
          <a:p>
            <a:pPr>
              <a:defRPr sz="2000">
                <a:solidFill>
                  <a:srgbClr val="444444"/>
                </a:solidFill>
              </a:defRPr>
            </a:pPr>
            <a:r>
              <a:t>RNNs can be trained using backpropagation</a:t>
            </a:r>
          </a:p>
          <a:p>
            <a:pPr>
              <a:defRPr sz="2000">
                <a:solidFill>
                  <a:srgbClr val="444444"/>
                </a:solidFill>
              </a:defRPr>
            </a:pPr>
            <a:r>
              <a:t>Time series forecasting is a key application</a:t>
            </a:r>
          </a:p>
          <a:p>
            <a:pPr>
              <a:defRPr sz="2000">
                <a:solidFill>
                  <a:srgbClr val="444444"/>
                </a:solidFill>
              </a:defRPr>
            </a:pPr>
            <a:r>
              <a:t>RNNs can be used for text classification tasks</a:t>
            </a:r>
          </a:p>
          <a:p>
            <a:pPr>
              <a:defRPr sz="2000">
                <a:solidFill>
                  <a:srgbClr val="444444"/>
                </a:solidFill>
              </a:defRPr>
            </a:pPr>
            <a:r>
              <a:t>y(t) = sigma(Wx(t) + Uh(t-1)) equation applies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process sequential data</a:t>
            </a:r>
          </a:p>
          <a:p>
            <a:pPr>
              <a:defRPr sz="2000">
                <a:solidFill>
                  <a:srgbClr val="444444"/>
                </a:solidFill>
              </a:defRPr>
            </a:pPr>
            <a:r>
              <a:t>RNNs have feedback connections to capture temporal relationships</a:t>
            </a:r>
          </a:p>
          <a:p>
            <a:pPr>
              <a:defRPr sz="2000">
                <a:solidFill>
                  <a:srgbClr val="444444"/>
                </a:solidFill>
              </a:defRPr>
            </a:pPr>
            <a:r>
              <a:t>Simple RNNs are basic, with one hidden layer</a:t>
            </a:r>
          </a:p>
          <a:p>
            <a:pPr>
              <a:defRPr sz="2000">
                <a:solidFill>
                  <a:srgbClr val="444444"/>
                </a:solidFill>
              </a:defRPr>
            </a:pPr>
            <a:r>
              <a:t>LSTM networks use memory cells for long-term dependencies</a:t>
            </a:r>
          </a:p>
          <a:p>
            <a:pPr>
              <a:defRPr sz="2000">
                <a:solidFill>
                  <a:srgbClr val="444444"/>
                </a:solidFill>
              </a:defRPr>
            </a:pPr>
            <a:r>
              <a:t>GRU networks use update and reset gates for efficiency</a:t>
            </a:r>
          </a:p>
          <a:p>
            <a:pPr>
              <a:defRPr sz="2000">
                <a:solidFill>
                  <a:srgbClr val="444444"/>
                </a:solidFill>
              </a:defRPr>
            </a:pPr>
            <a:r>
              <a:t>Bidirectional RNNs process sequences in both directions</a:t>
            </a:r>
          </a:p>
          <a:p>
            <a:pPr>
              <a:defRPr sz="2000">
                <a:solidFill>
                  <a:srgbClr val="444444"/>
                </a:solidFill>
              </a:defRPr>
            </a:pPr>
            <a:r>
              <a:t>Deep RNNs stack multiple hidden layers for complexity</a:t>
            </a:r>
          </a:p>
          <a:p>
            <a:pPr>
              <a:defRPr sz="2000">
                <a:solidFill>
                  <a:srgbClr val="444444"/>
                </a:solidFill>
              </a:defRPr>
            </a:pPr>
            <a:r>
              <a:t>RNNs are used in language modeling and machine translation</a:t>
            </a:r>
          </a:p>
          <a:p>
            <a:pPr>
              <a:defRPr sz="2000">
                <a:solidFill>
                  <a:srgbClr val="444444"/>
                </a:solidFill>
              </a:defRPr>
            </a:pPr>
            <a:r>
              <a:t>RNNs are also used in speech recognition and time series forecasting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RNNs - Variants</a:t>
            </a:r>
          </a:p>
        </p:txBody>
      </p:sp>
      <p:sp>
        <p:nvSpPr>
          <p:cNvPr id="3" name="Content Placeholder 2"/>
          <p:cNvSpPr>
            <a:spLocks noGrp="1"/>
          </p:cNvSpPr>
          <p:nvPr>
            <p:ph idx="1"/>
          </p:nvPr>
        </p:nvSpPr>
        <p:spPr/>
        <p:txBody>
          <a:bodyPr/>
          <a:lstStyle/>
          <a:p>
            <a:pPr>
              <a:defRPr sz="2000">
                <a:solidFill>
                  <a:srgbClr val="444444"/>
                </a:solidFill>
              </a:defRPr>
            </a:pPr>
            <a:r>
              <a:t>Simple RNNs: basic recurrent neural network architecture</a:t>
            </a:r>
          </a:p>
          <a:p>
            <a:pPr>
              <a:defRPr sz="2000">
                <a:solidFill>
                  <a:srgbClr val="444444"/>
                </a:solidFill>
              </a:defRPr>
            </a:pPr>
            <a:r>
              <a:t>LSTM: long short-term memory networks for memory retention</a:t>
            </a:r>
          </a:p>
          <a:p>
            <a:pPr>
              <a:defRPr sz="2000">
                <a:solidFill>
                  <a:srgbClr val="444444"/>
                </a:solidFill>
              </a:defRPr>
            </a:pPr>
            <a:r>
              <a:t>GRU: gated recurrent units for fewer parameters</a:t>
            </a:r>
          </a:p>
          <a:p>
            <a:pPr>
              <a:defRPr sz="2000">
                <a:solidFill>
                  <a:srgbClr val="444444"/>
                </a:solidFill>
              </a:defRPr>
            </a:pPr>
            <a:r>
              <a:t>Bidirectional RNNs: combining forward and backward passes</a:t>
            </a:r>
          </a:p>
          <a:p>
            <a:pPr>
              <a:defRPr sz="2000">
                <a:solidFill>
                  <a:srgbClr val="444444"/>
                </a:solidFill>
              </a:defRPr>
            </a:pPr>
            <a:r>
              <a:t>Deep RNNs: stacking multiple RNN layers for complexity</a:t>
            </a:r>
          </a:p>
          <a:p>
            <a:pPr>
              <a:defRPr sz="2000">
                <a:solidFill>
                  <a:srgbClr val="444444"/>
                </a:solidFill>
              </a:defRPr>
            </a:pPr>
            <a:r>
              <a:t>Residual RNNs: using residual connections for better training</a:t>
            </a:r>
          </a:p>
          <a:p>
            <a:pPr>
              <a:defRPr sz="2000">
                <a:solidFill>
                  <a:srgbClr val="444444"/>
                </a:solidFill>
              </a:defRPr>
            </a:pPr>
            <a:r>
              <a:t>Convolutional RNNs: combining CNNs and RNNs for spatial data</a:t>
            </a:r>
          </a:p>
          <a:p>
            <a:pPr>
              <a:defRPr sz="2000">
                <a:solidFill>
                  <a:srgbClr val="444444"/>
                </a:solidFill>
              </a:defRPr>
            </a:pPr>
            <a:r>
              <a:t>Recurrent Highway Networks: using highway networks for depth</a:t>
            </a:r>
          </a:p>
          <a:p>
            <a:pPr>
              <a:defRPr sz="2000">
                <a:solidFill>
                  <a:srgbClr val="444444"/>
                </a:solidFill>
              </a:defRPr>
            </a:pPr>
            <a:r>
              <a:t>Clockwork RNNs: using clockwork mechanism for periodic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RNNs - Variants</a:t>
            </a:r>
          </a:p>
        </p:txBody>
      </p:sp>
      <p:sp>
        <p:nvSpPr>
          <p:cNvPr id="3" name="Content Placeholder 2"/>
          <p:cNvSpPr>
            <a:spLocks noGrp="1"/>
          </p:cNvSpPr>
          <p:nvPr>
            <p:ph idx="1"/>
          </p:nvPr>
        </p:nvSpPr>
        <p:spPr/>
        <p:txBody>
          <a:bodyPr/>
          <a:lstStyle/>
          <a:p>
            <a:pPr>
              <a:defRPr sz="2000">
                <a:solidFill>
                  <a:srgbClr val="444444"/>
                </a:solidFill>
              </a:defRPr>
            </a:pPr>
            <a:r>
              <a:t>Simple RNNs: basic recurrent neural network architecture</a:t>
            </a:r>
          </a:p>
          <a:p>
            <a:pPr>
              <a:defRPr sz="2000">
                <a:solidFill>
                  <a:srgbClr val="444444"/>
                </a:solidFill>
              </a:defRPr>
            </a:pPr>
            <a:r>
              <a:t>LSTM: long short-term memory networks for memory retention</a:t>
            </a:r>
          </a:p>
          <a:p>
            <a:pPr>
              <a:defRPr sz="2000">
                <a:solidFill>
                  <a:srgbClr val="444444"/>
                </a:solidFill>
              </a:defRPr>
            </a:pPr>
            <a:r>
              <a:t>GRU: gated recurrent units for efficient computation</a:t>
            </a:r>
          </a:p>
          <a:p>
            <a:pPr>
              <a:defRPr sz="2000">
                <a:solidFill>
                  <a:srgbClr val="444444"/>
                </a:solidFill>
              </a:defRPr>
            </a:pPr>
            <a:r>
              <a:t>Bidirectional RNNs: combining forward and backward passes</a:t>
            </a:r>
          </a:p>
          <a:p>
            <a:pPr>
              <a:defRPr sz="2000">
                <a:solidFill>
                  <a:srgbClr val="444444"/>
                </a:solidFill>
              </a:defRPr>
            </a:pPr>
            <a:r>
              <a:t>Deep RNNs: stacking multiple RNN layers for complexity</a:t>
            </a:r>
          </a:p>
          <a:p>
            <a:pPr>
              <a:defRPr sz="2000">
                <a:solidFill>
                  <a:srgbClr val="444444"/>
                </a:solidFill>
              </a:defRPr>
            </a:pPr>
            <a:r>
              <a:t>Residual RNNs: using residual connections for optimization</a:t>
            </a:r>
          </a:p>
          <a:p>
            <a:pPr>
              <a:defRPr sz="2000">
                <a:solidFill>
                  <a:srgbClr val="444444"/>
                </a:solidFill>
              </a:defRPr>
            </a:pPr>
            <a:r>
              <a:t>Attention-based RNNs: focusing on specific input sequences</a:t>
            </a:r>
          </a:p>
          <a:p>
            <a:pPr>
              <a:defRPr sz="2000">
                <a:solidFill>
                  <a:srgbClr val="444444"/>
                </a:solidFill>
              </a:defRPr>
            </a:pPr>
            <a:r>
              <a:t>Hybrid RNNs: combining different RNN variants for performance</a:t>
            </a:r>
          </a:p>
          <a:p>
            <a:pPr>
              <a:defRPr sz="2000">
                <a:solidFill>
                  <a:srgbClr val="444444"/>
                </a:solidFill>
              </a:defRPr>
            </a:pPr>
            <a:r>
              <a:t>Echo State Networks: using random weights for recurrence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Applications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for sequential data analysis</a:t>
            </a:r>
          </a:p>
          <a:p>
            <a:pPr>
              <a:defRPr sz="2000">
                <a:solidFill>
                  <a:srgbClr val="444444"/>
                </a:solidFill>
              </a:defRPr>
            </a:pPr>
            <a:r>
              <a:t>RNNs learn patterns in time series data effectively</a:t>
            </a:r>
          </a:p>
          <a:p>
            <a:pPr>
              <a:defRPr sz="2000">
                <a:solidFill>
                  <a:srgbClr val="444444"/>
                </a:solidFill>
              </a:defRPr>
            </a:pPr>
            <a:r>
              <a:t>Applications in speech recognition and synthesis</a:t>
            </a:r>
          </a:p>
          <a:p>
            <a:pPr>
              <a:defRPr sz="2000">
                <a:solidFill>
                  <a:srgbClr val="444444"/>
                </a:solidFill>
              </a:defRPr>
            </a:pPr>
            <a:r>
              <a:t>Natural Language Processing uses RNNs extensively</a:t>
            </a:r>
          </a:p>
          <a:p>
            <a:pPr>
              <a:defRPr sz="2000">
                <a:solidFill>
                  <a:srgbClr val="444444"/>
                </a:solidFill>
              </a:defRPr>
            </a:pPr>
            <a:r>
              <a:t>Sentiment analysis and text classification tasks</a:t>
            </a:r>
          </a:p>
          <a:p>
            <a:pPr>
              <a:defRPr sz="2000">
                <a:solidFill>
                  <a:srgbClr val="444444"/>
                </a:solidFill>
              </a:defRPr>
            </a:pPr>
            <a:r>
              <a:t>RNNs applied in machine translation systems</a:t>
            </a:r>
          </a:p>
          <a:p>
            <a:pPr>
              <a:defRPr sz="2000">
                <a:solidFill>
                  <a:srgbClr val="444444"/>
                </a:solidFill>
              </a:defRPr>
            </a:pPr>
            <a:r>
              <a:t>Time series forecasting with RNN architectures</a:t>
            </a:r>
          </a:p>
          <a:p>
            <a:pPr>
              <a:defRPr sz="2000">
                <a:solidFill>
                  <a:srgbClr val="444444"/>
                </a:solidFill>
              </a:defRPr>
            </a:pPr>
            <a:r>
              <a:t>Anomaly detection in sequential data streams</a:t>
            </a:r>
          </a:p>
          <a:p>
            <a:pPr>
              <a:defRPr sz="2000">
                <a:solidFill>
                  <a:srgbClr val="444444"/>
                </a:solidFill>
              </a:defRPr>
            </a:pPr>
            <a:r>
              <a:t>Recommendation systems utilizing RNN 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Applications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analyze sequential data</a:t>
            </a:r>
          </a:p>
          <a:p>
            <a:pPr>
              <a:defRPr sz="2000">
                <a:solidFill>
                  <a:srgbClr val="444444"/>
                </a:solidFill>
              </a:defRPr>
            </a:pPr>
            <a:r>
              <a:t>Time series forecasting is a primary RNN application</a:t>
            </a:r>
          </a:p>
          <a:p>
            <a:pPr>
              <a:defRPr sz="2000">
                <a:solidFill>
                  <a:srgbClr val="444444"/>
                </a:solidFill>
              </a:defRPr>
            </a:pPr>
            <a:r>
              <a:t>Natural Language Processing uses RNNs extensively</a:t>
            </a:r>
          </a:p>
          <a:p>
            <a:pPr>
              <a:defRPr sz="2000">
                <a:solidFill>
                  <a:srgbClr val="444444"/>
                </a:solidFill>
              </a:defRPr>
            </a:pPr>
            <a:r>
              <a:t>Speech recognition relies on RNNs for pattern matching</a:t>
            </a:r>
          </a:p>
          <a:p>
            <a:pPr>
              <a:defRPr sz="2000">
                <a:solidFill>
                  <a:srgbClr val="444444"/>
                </a:solidFill>
              </a:defRPr>
            </a:pPr>
            <a:r>
              <a:t>Text classification and sentiment analysis are key uses</a:t>
            </a:r>
          </a:p>
          <a:p>
            <a:pPr>
              <a:defRPr sz="2000">
                <a:solidFill>
                  <a:srgbClr val="444444"/>
                </a:solidFill>
              </a:defRPr>
            </a:pPr>
            <a:r>
              <a:t>Machine translation benefits from RNN architectures</a:t>
            </a:r>
          </a:p>
          <a:p>
            <a:pPr>
              <a:defRPr sz="2000">
                <a:solidFill>
                  <a:srgbClr val="444444"/>
                </a:solidFill>
              </a:defRPr>
            </a:pPr>
            <a:r>
              <a:t>RNNs are used in chatbots and virtual assistants</a:t>
            </a:r>
          </a:p>
          <a:p>
            <a:pPr>
              <a:defRPr sz="2000">
                <a:solidFill>
                  <a:srgbClr val="444444"/>
                </a:solidFill>
              </a:defRPr>
            </a:pPr>
            <a:r>
              <a:t>Predicting stock prices is another RNN application</a:t>
            </a:r>
          </a:p>
          <a:p>
            <a:pPr>
              <a:defRPr sz="2000">
                <a:solidFill>
                  <a:srgbClr val="444444"/>
                </a:solidFill>
              </a:defRPr>
            </a:pPr>
            <a:r>
              <a:t>RNNs are also used in music and video generation</a:t>
            </a:r>
          </a:p>
          <a:p>
            <a:pPr>
              <a:defRPr sz="2000">
                <a:solidFill>
                  <a:srgbClr val="444444"/>
                </a:solidFill>
              </a:defRPr>
            </a:pPr>
            <a:r>
              <a:t>Language modeling is a fundamental RNN task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Applications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for sequential data analysis</a:t>
            </a:r>
          </a:p>
          <a:p>
            <a:pPr>
              <a:defRPr sz="2000">
                <a:solidFill>
                  <a:srgbClr val="444444"/>
                </a:solidFill>
              </a:defRPr>
            </a:pPr>
            <a:r>
              <a:t>Time series forecasting with RNNs and LSTM</a:t>
            </a:r>
          </a:p>
          <a:p>
            <a:pPr>
              <a:defRPr sz="2000">
                <a:solidFill>
                  <a:srgbClr val="444444"/>
                </a:solidFill>
              </a:defRPr>
            </a:pPr>
            <a:r>
              <a:t>Natural Language Processing with RNNs</a:t>
            </a:r>
          </a:p>
          <a:p>
            <a:pPr>
              <a:defRPr sz="2000">
                <a:solidFill>
                  <a:srgbClr val="444444"/>
                </a:solidFill>
              </a:defRPr>
            </a:pPr>
            <a:r>
              <a:t>Speech recognition using RNN-based models</a:t>
            </a:r>
          </a:p>
          <a:p>
            <a:pPr>
              <a:defRPr sz="2000">
                <a:solidFill>
                  <a:srgbClr val="444444"/>
                </a:solidFill>
              </a:defRPr>
            </a:pPr>
            <a:r>
              <a:t>Text classification with RNN and word embeddings</a:t>
            </a:r>
          </a:p>
          <a:p>
            <a:pPr>
              <a:defRPr sz="2000">
                <a:solidFill>
                  <a:srgbClr val="444444"/>
                </a:solidFill>
              </a:defRPr>
            </a:pPr>
            <a:r>
              <a:t>Sentiment analysis using RNN and deep learning</a:t>
            </a:r>
          </a:p>
          <a:p>
            <a:pPr>
              <a:defRPr sz="2000">
                <a:solidFill>
                  <a:srgbClr val="444444"/>
                </a:solidFill>
              </a:defRPr>
            </a:pPr>
            <a:r>
              <a:t>Machine translation with sequence-to-sequence RNNs</a:t>
            </a:r>
          </a:p>
          <a:p>
            <a:pPr>
              <a:defRPr sz="2000">
                <a:solidFill>
                  <a:srgbClr val="444444"/>
                </a:solidFill>
              </a:defRPr>
            </a:pPr>
            <a:r>
              <a:t>RNNs for music and audio signal processing</a:t>
            </a:r>
          </a:p>
          <a:p>
            <a:pPr>
              <a:defRPr sz="2000">
                <a:solidFill>
                  <a:srgbClr val="444444"/>
                </a:solidFill>
              </a:defRPr>
            </a:pPr>
            <a:r>
              <a:t>RNN-based chatbots for customer service</a:t>
            </a:r>
          </a:p>
          <a:p>
            <a:pPr>
              <a:defRPr sz="2000">
                <a:solidFill>
                  <a:srgbClr val="444444"/>
                </a:solidFill>
              </a:defRPr>
            </a:pPr>
            <a:r>
              <a:t>RNN applications in finance and stock market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Challenges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face vanishing gradients issue</a:t>
            </a:r>
          </a:p>
          <a:p>
            <a:pPr>
              <a:defRPr sz="2000">
                <a:solidFill>
                  <a:srgbClr val="444444"/>
                </a:solidFill>
              </a:defRPr>
            </a:pPr>
            <a:r>
              <a:t>Exploding gradients problem affects RNN stability</a:t>
            </a:r>
          </a:p>
          <a:p>
            <a:pPr>
              <a:defRPr sz="2000">
                <a:solidFill>
                  <a:srgbClr val="444444"/>
                </a:solidFill>
              </a:defRPr>
            </a:pPr>
            <a:r>
              <a:t>Training RNNs requires careful parameter tuning</a:t>
            </a:r>
          </a:p>
          <a:p>
            <a:pPr>
              <a:defRPr sz="2000">
                <a:solidFill>
                  <a:srgbClr val="444444"/>
                </a:solidFill>
              </a:defRPr>
            </a:pPr>
            <a:r>
              <a:t>RNNs suffer from long-term dependency issues</a:t>
            </a:r>
          </a:p>
          <a:p>
            <a:pPr>
              <a:defRPr sz="2000">
                <a:solidFill>
                  <a:srgbClr val="444444"/>
                </a:solidFill>
              </a:defRPr>
            </a:pPr>
            <a:r>
              <a:t>Limited context understanding in simple RNNs</a:t>
            </a:r>
          </a:p>
          <a:p>
            <a:pPr>
              <a:defRPr sz="2000">
                <a:solidFill>
                  <a:srgbClr val="444444"/>
                </a:solidFill>
              </a:defRPr>
            </a:pPr>
            <a:r>
              <a:t>Difficulty in parallelizing RNN computations</a:t>
            </a:r>
          </a:p>
          <a:p>
            <a:pPr>
              <a:defRPr sz="2000">
                <a:solidFill>
                  <a:srgbClr val="444444"/>
                </a:solidFill>
              </a:defRPr>
            </a:pPr>
            <a:r>
              <a:t>RNNs are prone to overfitting and underfitting</a:t>
            </a:r>
          </a:p>
          <a:p>
            <a:pPr>
              <a:defRPr sz="2000">
                <a:solidFill>
                  <a:srgbClr val="444444"/>
                </a:solidFill>
              </a:defRPr>
            </a:pPr>
            <a:r>
              <a:t>Sensitivity to initial conditions and hyperparameters</a:t>
            </a:r>
          </a:p>
          <a:p>
            <a:pPr>
              <a:defRPr sz="2000">
                <a:solidFill>
                  <a:srgbClr val="444444"/>
                </a:solidFill>
              </a:defRPr>
            </a:pPr>
            <a:r>
              <a:t>Need for regularization techniques in RNNs</a:t>
            </a:r>
          </a:p>
          <a:p>
            <a:pPr>
              <a:defRPr sz="2000">
                <a:solidFill>
                  <a:srgbClr val="444444"/>
                </a:solidFill>
              </a:defRPr>
            </a:pPr>
            <a:r>
              <a:t>RNN challenges impact overall model performance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Challenges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face vanishing gradients issue</a:t>
            </a:r>
          </a:p>
          <a:p>
            <a:pPr>
              <a:defRPr sz="2000">
                <a:solidFill>
                  <a:srgbClr val="444444"/>
                </a:solidFill>
              </a:defRPr>
            </a:pPr>
            <a:r>
              <a:t>Exploding gradients problem affects RNN training</a:t>
            </a:r>
          </a:p>
          <a:p>
            <a:pPr>
              <a:defRPr sz="2000">
                <a:solidFill>
                  <a:srgbClr val="444444"/>
                </a:solidFill>
              </a:defRPr>
            </a:pPr>
            <a:r>
              <a:t>Long-term dependencies are hard to capture</a:t>
            </a:r>
          </a:p>
          <a:p>
            <a:pPr>
              <a:defRPr sz="2000">
                <a:solidFill>
                  <a:srgbClr val="444444"/>
                </a:solidFill>
              </a:defRPr>
            </a:pPr>
            <a:r>
              <a:t>Gradient clipping helps mitigate exploding gradients</a:t>
            </a:r>
          </a:p>
          <a:p>
            <a:pPr>
              <a:defRPr sz="2000">
                <a:solidFill>
                  <a:srgbClr val="444444"/>
                </a:solidFill>
              </a:defRPr>
            </a:pPr>
            <a:r>
              <a:t>RNNs struggle with sequential data of varying lengths</a:t>
            </a:r>
          </a:p>
          <a:p>
            <a:pPr>
              <a:defRPr sz="2000">
                <a:solidFill>
                  <a:srgbClr val="444444"/>
                </a:solidFill>
              </a:defRPr>
            </a:pPr>
            <a:r>
              <a:t>Truncated backpropagation addresses long sequences</a:t>
            </a:r>
          </a:p>
          <a:p>
            <a:pPr>
              <a:defRPr sz="2000">
                <a:solidFill>
                  <a:srgbClr val="444444"/>
                </a:solidFill>
              </a:defRPr>
            </a:pPr>
            <a:r>
              <a:t>RNNs require large datasets for effective training</a:t>
            </a:r>
          </a:p>
          <a:p>
            <a:pPr>
              <a:defRPr sz="2000">
                <a:solidFill>
                  <a:srgbClr val="444444"/>
                </a:solidFill>
              </a:defRPr>
            </a:pPr>
            <a:r>
              <a:t>Overfitting is a common challenge in RNN models</a:t>
            </a:r>
          </a:p>
          <a:p>
            <a:pPr>
              <a:defRPr sz="2000">
                <a:solidFill>
                  <a:srgbClr val="444444"/>
                </a:solidFill>
              </a:defRPr>
            </a:pPr>
            <a:r>
              <a:t>Regularization techniques help prevent overfitting</a:t>
            </a:r>
          </a:p>
          <a:p>
            <a:pPr>
              <a:defRPr sz="2000">
                <a:solidFill>
                  <a:srgbClr val="444444"/>
                </a:solidFill>
              </a:defRPr>
            </a:pPr>
            <a:r>
              <a:t>RNNs are sensitive to hyperparameter selection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Challenges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face training difficulties</a:t>
            </a:r>
          </a:p>
          <a:p>
            <a:pPr>
              <a:defRPr sz="2000">
                <a:solidFill>
                  <a:srgbClr val="444444"/>
                </a:solidFill>
              </a:defRPr>
            </a:pPr>
            <a:r>
              <a:t>Vanishing gradients affect deep learning models</a:t>
            </a:r>
          </a:p>
          <a:p>
            <a:pPr>
              <a:defRPr sz="2000">
                <a:solidFill>
                  <a:srgbClr val="444444"/>
                </a:solidFill>
              </a:defRPr>
            </a:pPr>
            <a:r>
              <a:t>Exploding gradients hinder RNN optimization</a:t>
            </a:r>
          </a:p>
          <a:p>
            <a:pPr>
              <a:defRPr sz="2000">
                <a:solidFill>
                  <a:srgbClr val="444444"/>
                </a:solidFill>
              </a:defRPr>
            </a:pPr>
            <a:r>
              <a:t>Long-term dependencies are hard to capture</a:t>
            </a:r>
          </a:p>
          <a:p>
            <a:pPr>
              <a:defRPr sz="2000">
                <a:solidFill>
                  <a:srgbClr val="444444"/>
                </a:solidFill>
              </a:defRPr>
            </a:pPr>
            <a:r>
              <a:t>Truncated BPTT affects model accuracy</a:t>
            </a:r>
          </a:p>
          <a:p>
            <a:pPr>
              <a:defRPr sz="2000">
                <a:solidFill>
                  <a:srgbClr val="444444"/>
                </a:solidFill>
              </a:defRPr>
            </a:pPr>
            <a:r>
              <a:t>RNNs require large amounts of training data</a:t>
            </a:r>
          </a:p>
          <a:p>
            <a:pPr>
              <a:defRPr sz="2000">
                <a:solidFill>
                  <a:srgbClr val="444444"/>
                </a:solidFill>
              </a:defRPr>
            </a:pPr>
            <a:r>
              <a:t>Overfitting is a common issue in RNNs</a:t>
            </a:r>
          </a:p>
          <a:p>
            <a:pPr>
              <a:defRPr sz="2000">
                <a:solidFill>
                  <a:srgbClr val="444444"/>
                </a:solidFill>
              </a:defRPr>
            </a:pPr>
            <a:r>
              <a:t>Regularization techniques are often necessary</a:t>
            </a:r>
          </a:p>
          <a:p>
            <a:pPr>
              <a:defRPr sz="2000">
                <a:solidFill>
                  <a:srgbClr val="444444"/>
                </a:solidFill>
              </a:defRPr>
            </a:pPr>
            <a:r>
              <a:t>LSTM and GRU variants address some challenges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