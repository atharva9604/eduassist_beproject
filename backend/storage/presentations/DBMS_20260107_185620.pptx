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DBMS presentation covering multiple topics. Today we'll explore: Create a 5-slide PPT on Indexing., Subject: DBMS, Slide titles:, Slide 1: Introduction, Slide 2: Application, Slide 3: Examples, Generate content for each slide based on its title..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Introduce the concept of indexing in databases, explaining how it enhances query performance and data retrieval. Provide examples of indexing types, such as clustered and non-clustered indexing. Discuss the importance of indexing in Database Management Systems, highlighting its role in reducing disk I/O operations and optimizing query execution plans. Ask students to consider scenarios where indexing would be particularly beneficial, such as in large-scale database systems. Key takeaways include understanding the basics of indexing and its applications in databases.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Introduce the concept of indexing in database management systems, explaining how it enhances query performance. Provide examples of different indexing techniques, such as B-tree and hash indexing. Discuss the benefits of indexing, including reduced disk I/O operations and faster data retrieval. Ask students to consider scenarios where indexing would be particularly useful, such as in large databases. Key takeaways include understanding the importance of indexing and the various types of indexing methods.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different variants of indexing, providing examples of each type and their applications. Discuss the advantages and disadvantages of each variant, such as B-Tree indexing being suitable for range queries, while Hash indexing is suitable for equality queries. Ask students to consider the type of data and query patterns when choosing an indexing variant. Key takeaways include understanding the trade-offs between different indexing methods and selecting the most appropriate variant for a given use case.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DBMS, explain that it is a software system that allows you to store, modify, and manage data in a structured and controlled manner. Provide examples of popular DBMS like MySQL and Oracle, and discuss the different data models they support. Emphasize the importance of data security and integrity features in DBMS. Ask students to think about how DBMS is used in real-world applications like banking and healthcare, and how it supports query languages like SQL and NoSQL. Key takeaways include understanding the basic concepts of DBMS and its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DBMS, emphasize its role in managing and securing data. Explain how DBMS supports multiple users and provides features for data integrity. Use examples like MySQL or Oracle to illustrate different types of DBMS. Discuss the importance of query languages like SQL or NoSQL. Ask students about potential applications of DBMS in real-world scenarios, such as e-commerce or social media platforms. Key takeaway: DBMS is a crucial tool for managing and utilizing data effectively in various industries.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DBMS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Create a 5-slide PPT on Indexing., Subject: DBMS, Slide titles:, Slide 1: Introduction, Slide 2: Application, Slide 3: Examples, Generate content for each slide based on its title.</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Create a 5-slide PPT on Indexing. - Introduction</a:t>
            </a:r>
          </a:p>
        </p:txBody>
      </p:sp>
      <p:sp>
        <p:nvSpPr>
          <p:cNvPr id="3" name="Content Placeholder 2"/>
          <p:cNvSpPr>
            <a:spLocks noGrp="1"/>
          </p:cNvSpPr>
          <p:nvPr>
            <p:ph idx="1"/>
          </p:nvPr>
        </p:nvSpPr>
        <p:spPr/>
        <p:txBody>
          <a:bodyPr/>
          <a:lstStyle/>
          <a:p>
            <a:pPr>
              <a:defRPr sz="2000">
                <a:solidFill>
                  <a:srgbClr val="444444"/>
                </a:solidFill>
              </a:defRPr>
            </a:pPr>
            <a:r>
              <a:t>Indexing improves query performance in databases</a:t>
            </a:r>
          </a:p>
          <a:p>
            <a:pPr>
              <a:defRPr sz="2000">
                <a:solidFill>
                  <a:srgbClr val="444444"/>
                </a:solidFill>
              </a:defRPr>
            </a:pPr>
            <a:r>
              <a:t>Faster data retrieval and access times achieved</a:t>
            </a:r>
          </a:p>
          <a:p>
            <a:pPr>
              <a:defRPr sz="2000">
                <a:solidFill>
                  <a:srgbClr val="444444"/>
                </a:solidFill>
              </a:defRPr>
            </a:pPr>
            <a:r>
              <a:t>Indexing types include clustered and non-clustered</a:t>
            </a:r>
          </a:p>
          <a:p>
            <a:pPr>
              <a:defRPr sz="2000">
                <a:solidFill>
                  <a:srgbClr val="444444"/>
                </a:solidFill>
              </a:defRPr>
            </a:pPr>
            <a:r>
              <a:t>Database Management Systems utilize indexing</a:t>
            </a:r>
          </a:p>
          <a:p>
            <a:pPr>
              <a:defRPr sz="2000">
                <a:solidFill>
                  <a:srgbClr val="444444"/>
                </a:solidFill>
              </a:defRPr>
            </a:pPr>
            <a:r>
              <a:t>Indexing supports efficient data storage and retrieval</a:t>
            </a:r>
          </a:p>
          <a:p>
            <a:pPr>
              <a:defRPr sz="2000">
                <a:solidFill>
                  <a:srgbClr val="444444"/>
                </a:solidFill>
              </a:defRPr>
            </a:pPr>
            <a:r>
              <a:t>Reducing disk I/O operations through indexing</a:t>
            </a:r>
          </a:p>
          <a:p>
            <a:pPr>
              <a:defRPr sz="2000">
                <a:solidFill>
                  <a:srgbClr val="444444"/>
                </a:solidFill>
              </a:defRPr>
            </a:pPr>
            <a:r>
              <a:t>Indexing algorithms optimize query execution plans</a:t>
            </a:r>
          </a:p>
          <a:p>
            <a:pPr>
              <a:defRPr sz="2000">
                <a:solidFill>
                  <a:srgbClr val="444444"/>
                </a:solidFill>
              </a:defRPr>
            </a:pPr>
            <a:r>
              <a:t>Indexing enhances database scalability and performance</a:t>
            </a:r>
          </a:p>
          <a:p>
            <a:pPr>
              <a:defRPr sz="2000">
                <a:solidFill>
                  <a:srgbClr val="444444"/>
                </a:solidFill>
              </a:defRPr>
            </a:pPr>
            <a:r>
              <a:t>Common indexing techniques include B-tree indexing</a:t>
            </a:r>
          </a:p>
          <a:p>
            <a:pPr>
              <a:defRPr sz="2000">
                <a:solidFill>
                  <a:srgbClr val="444444"/>
                </a:solidFill>
              </a:defRPr>
            </a:pPr>
            <a:r>
              <a:t>Indexing is crucial for large-scale database systems</a:t>
            </a:r>
          </a:p>
        </p:txBody>
      </p:sp>
      <p:pic>
        <p:nvPicPr>
          <p:cNvPr id="4" name="Picture 3" descr="b46b993eeba1481e8ce8566cd9a88cbf_create_a_5-slide_ppt_on_indexing_subject.jpg"/>
          <p:cNvPicPr>
            <a:picLocks noChangeAspect="1"/>
          </p:cNvPicPr>
          <p:nvPr/>
        </p:nvPicPr>
        <p:blipFill>
          <a:blip r:embed="rId2"/>
          <a:stretch>
            <a:fillRect/>
          </a:stretch>
        </p:blipFill>
        <p:spPr>
          <a:xfrm>
            <a:off x="7315200" y="1828800"/>
            <a:ext cx="4114800" cy="21717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Create a 5-slide PPT on Indexing. - Introduction</a:t>
            </a:r>
          </a:p>
        </p:txBody>
      </p:sp>
      <p:sp>
        <p:nvSpPr>
          <p:cNvPr id="3" name="Content Placeholder 2"/>
          <p:cNvSpPr>
            <a:spLocks noGrp="1"/>
          </p:cNvSpPr>
          <p:nvPr>
            <p:ph idx="1"/>
          </p:nvPr>
        </p:nvSpPr>
        <p:spPr/>
        <p:txBody>
          <a:bodyPr/>
          <a:lstStyle/>
          <a:p>
            <a:pPr>
              <a:defRPr sz="2000">
                <a:solidFill>
                  <a:srgbClr val="444444"/>
                </a:solidFill>
              </a:defRPr>
            </a:pPr>
            <a:r>
              <a:t>Indexing improves database query performance significantly</a:t>
            </a:r>
          </a:p>
          <a:p>
            <a:pPr>
              <a:defRPr sz="2000">
                <a:solidFill>
                  <a:srgbClr val="444444"/>
                </a:solidFill>
              </a:defRPr>
            </a:pPr>
            <a:r>
              <a:t>Faster data retrieval with indexing techniques</a:t>
            </a:r>
          </a:p>
          <a:p>
            <a:pPr>
              <a:defRPr sz="2000">
                <a:solidFill>
                  <a:srgbClr val="444444"/>
                </a:solidFill>
              </a:defRPr>
            </a:pPr>
            <a:r>
              <a:t>Indexing reduces disk I/O operations</a:t>
            </a:r>
          </a:p>
          <a:p>
            <a:pPr>
              <a:defRPr sz="2000">
                <a:solidFill>
                  <a:srgbClr val="444444"/>
                </a:solidFill>
              </a:defRPr>
            </a:pPr>
            <a:r>
              <a:t>B-tree indexing is a common method</a:t>
            </a:r>
          </a:p>
          <a:p>
            <a:pPr>
              <a:defRPr sz="2000">
                <a:solidFill>
                  <a:srgbClr val="444444"/>
                </a:solidFill>
              </a:defRPr>
            </a:pPr>
            <a:r>
              <a:t>Hash indexing is used for equality searches</a:t>
            </a:r>
          </a:p>
          <a:p>
            <a:pPr>
              <a:defRPr sz="2000">
                <a:solidFill>
                  <a:srgbClr val="444444"/>
                </a:solidFill>
              </a:defRPr>
            </a:pPr>
            <a:r>
              <a:t>Indexing can be created on single columns</a:t>
            </a:r>
          </a:p>
          <a:p>
            <a:pPr>
              <a:defRPr sz="2000">
                <a:solidFill>
                  <a:srgbClr val="444444"/>
                </a:solidFill>
              </a:defRPr>
            </a:pPr>
            <a:r>
              <a:t>Composite indexing involves multiple columns</a:t>
            </a:r>
          </a:p>
          <a:p>
            <a:pPr>
              <a:defRPr sz="2000">
                <a:solidFill>
                  <a:srgbClr val="444444"/>
                </a:solidFill>
              </a:defRPr>
            </a:pPr>
            <a:r>
              <a:t>Indexing types include clustered and non-clustered</a:t>
            </a:r>
          </a:p>
          <a:p>
            <a:pPr>
              <a:defRPr sz="2000">
                <a:solidFill>
                  <a:srgbClr val="444444"/>
                </a:solidFill>
              </a:defRPr>
            </a:pPr>
            <a:r>
              <a:t>Database systems support various indexing algorithms</a:t>
            </a:r>
          </a:p>
          <a:p>
            <a:pPr>
              <a:defRPr sz="2000">
                <a:solidFill>
                  <a:srgbClr val="444444"/>
                </a:solidFill>
              </a:defRPr>
            </a:pPr>
            <a:r>
              <a:t>Indexing is crucial for large databases</a:t>
            </a:r>
          </a:p>
        </p:txBody>
      </p:sp>
      <p:pic>
        <p:nvPicPr>
          <p:cNvPr id="4" name="Picture 3" descr="7d20d24e6cd6400f9a59074b4175bcb6_create_a_5-slide_ppt_on_indexing_subject.jpg"/>
          <p:cNvPicPr>
            <a:picLocks noChangeAspect="1"/>
          </p:cNvPicPr>
          <p:nvPr/>
        </p:nvPicPr>
        <p:blipFill>
          <a:blip r:embed="rId2"/>
          <a:stretch>
            <a:fillRect/>
          </a:stretch>
        </p:blipFill>
        <p:spPr>
          <a:xfrm>
            <a:off x="7315200" y="1828800"/>
            <a:ext cx="4114800" cy="30861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Create a 5-slide PPT on Indexing. - Variants</a:t>
            </a:r>
          </a:p>
        </p:txBody>
      </p:sp>
      <p:sp>
        <p:nvSpPr>
          <p:cNvPr id="3" name="Content Placeholder 2"/>
          <p:cNvSpPr>
            <a:spLocks noGrp="1"/>
          </p:cNvSpPr>
          <p:nvPr>
            <p:ph idx="1"/>
          </p:nvPr>
        </p:nvSpPr>
        <p:spPr/>
        <p:txBody>
          <a:bodyPr/>
          <a:lstStyle/>
          <a:p>
            <a:pPr>
              <a:defRPr sz="2000">
                <a:solidFill>
                  <a:srgbClr val="444444"/>
                </a:solidFill>
              </a:defRPr>
            </a:pPr>
            <a:r>
              <a:t>B-Tree Indexing for efficient data retrieval</a:t>
            </a:r>
          </a:p>
          <a:p>
            <a:pPr>
              <a:defRPr sz="2000">
                <a:solidFill>
                  <a:srgbClr val="444444"/>
                </a:solidFill>
              </a:defRPr>
            </a:pPr>
            <a:r>
              <a:t>Hash Indexing for fast data access and storage</a:t>
            </a:r>
          </a:p>
          <a:p>
            <a:pPr>
              <a:defRPr sz="2000">
                <a:solidFill>
                  <a:srgbClr val="444444"/>
                </a:solidFill>
              </a:defRPr>
            </a:pPr>
            <a:r>
              <a:t>Density Indexing for data compression and storage</a:t>
            </a:r>
          </a:p>
          <a:p>
            <a:pPr>
              <a:defRPr sz="2000">
                <a:solidFill>
                  <a:srgbClr val="444444"/>
                </a:solidFill>
              </a:defRPr>
            </a:pPr>
            <a:r>
              <a:t>Bitmapped Indexing for efficient data querying</a:t>
            </a:r>
          </a:p>
          <a:p>
            <a:pPr>
              <a:defRPr sz="2000">
                <a:solidFill>
                  <a:srgbClr val="444444"/>
                </a:solidFill>
              </a:defRPr>
            </a:pPr>
            <a:r>
              <a:t>Function-based Indexing for complex data operations</a:t>
            </a:r>
          </a:p>
          <a:p>
            <a:pPr>
              <a:defRPr sz="2000">
                <a:solidFill>
                  <a:srgbClr val="444444"/>
                </a:solidFill>
              </a:defRPr>
            </a:pPr>
            <a:r>
              <a:t>Text Indexing for efficient text data retrieval</a:t>
            </a:r>
          </a:p>
          <a:p>
            <a:pPr>
              <a:defRPr sz="2000">
                <a:solidFill>
                  <a:srgbClr val="444444"/>
                </a:solidFill>
              </a:defRPr>
            </a:pPr>
            <a:r>
              <a:t>Spatial Indexing for location-based data querying</a:t>
            </a:r>
          </a:p>
          <a:p>
            <a:pPr>
              <a:defRPr sz="2000">
                <a:solidFill>
                  <a:srgbClr val="444444"/>
                </a:solidFill>
              </a:defRPr>
            </a:pPr>
            <a:r>
              <a:t>Composite Indexing for multiple column data retrieval</a:t>
            </a:r>
          </a:p>
          <a:p>
            <a:pPr>
              <a:defRPr sz="2000">
                <a:solidFill>
                  <a:srgbClr val="444444"/>
                </a:solidFill>
              </a:defRPr>
            </a:pPr>
            <a:r>
              <a:t>Unique Indexing for preventing data duplication</a:t>
            </a:r>
          </a:p>
          <a:p>
            <a:pPr>
              <a:defRPr sz="2000">
                <a:solidFill>
                  <a:srgbClr val="444444"/>
                </a:solidFill>
              </a:defRPr>
            </a:pPr>
            <a:r>
              <a:t>Full-Text Indexing for efficient text search operations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Subject: DBMS - Introduction</a:t>
            </a:r>
          </a:p>
        </p:txBody>
      </p:sp>
      <p:sp>
        <p:nvSpPr>
          <p:cNvPr id="3" name="Content Placeholder 2"/>
          <p:cNvSpPr>
            <a:spLocks noGrp="1"/>
          </p:cNvSpPr>
          <p:nvPr>
            <p:ph idx="1"/>
          </p:nvPr>
        </p:nvSpPr>
        <p:spPr/>
        <p:txBody>
          <a:bodyPr/>
          <a:lstStyle/>
          <a:p>
            <a:pPr>
              <a:defRPr sz="2000">
                <a:solidFill>
                  <a:srgbClr val="444444"/>
                </a:solidFill>
              </a:defRPr>
            </a:pPr>
            <a:r>
              <a:t>Database Management System stores and manages data efficiently</a:t>
            </a:r>
          </a:p>
          <a:p>
            <a:pPr>
              <a:defRPr sz="2000">
                <a:solidFill>
                  <a:srgbClr val="444444"/>
                </a:solidFill>
              </a:defRPr>
            </a:pPr>
            <a:r>
              <a:t>DBMS provides data security and integrity features</a:t>
            </a:r>
          </a:p>
          <a:p>
            <a:pPr>
              <a:defRPr sz="2000">
                <a:solidFill>
                  <a:srgbClr val="444444"/>
                </a:solidFill>
              </a:defRPr>
            </a:pPr>
            <a:r>
              <a:t>Examples include MySQL, Oracle, Microsoft SQL Server</a:t>
            </a:r>
          </a:p>
          <a:p>
            <a:pPr>
              <a:defRPr sz="2000">
                <a:solidFill>
                  <a:srgbClr val="444444"/>
                </a:solidFill>
              </a:defRPr>
            </a:pPr>
            <a:r>
              <a:t>DBMS supports various data models like relational</a:t>
            </a:r>
          </a:p>
          <a:p>
            <a:pPr>
              <a:defRPr sz="2000">
                <a:solidFill>
                  <a:srgbClr val="444444"/>
                </a:solidFill>
              </a:defRPr>
            </a:pPr>
            <a:r>
              <a:t>Hierarchical and network data models are also supported</a:t>
            </a:r>
          </a:p>
          <a:p>
            <a:pPr>
              <a:defRPr sz="2000">
                <a:solidFill>
                  <a:srgbClr val="444444"/>
                </a:solidFill>
              </a:defRPr>
            </a:pPr>
            <a:r>
              <a:t>DBMS provides data abstraction and data independence</a:t>
            </a:r>
          </a:p>
          <a:p>
            <a:pPr>
              <a:defRPr sz="2000">
                <a:solidFill>
                  <a:srgbClr val="444444"/>
                </a:solidFill>
              </a:defRPr>
            </a:pPr>
            <a:r>
              <a:t>Data normalization is a key concept in DBMS</a:t>
            </a:r>
          </a:p>
          <a:p>
            <a:pPr>
              <a:defRPr sz="2000">
                <a:solidFill>
                  <a:srgbClr val="444444"/>
                </a:solidFill>
              </a:defRPr>
            </a:pPr>
            <a:r>
              <a:t>DBMS supports query languages like SQL and NoSQL</a:t>
            </a:r>
          </a:p>
          <a:p>
            <a:pPr>
              <a:defRPr sz="2000">
                <a:solidFill>
                  <a:srgbClr val="444444"/>
                </a:solidFill>
              </a:defRPr>
            </a:pPr>
            <a:r>
              <a:t>DBMS is used in various applications like banking and healthcare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Subject: DBMS - Introduction</a:t>
            </a:r>
          </a:p>
        </p:txBody>
      </p:sp>
      <p:sp>
        <p:nvSpPr>
          <p:cNvPr id="3" name="Content Placeholder 2"/>
          <p:cNvSpPr>
            <a:spLocks noGrp="1"/>
          </p:cNvSpPr>
          <p:nvPr>
            <p:ph idx="1"/>
          </p:nvPr>
        </p:nvSpPr>
        <p:spPr/>
        <p:txBody>
          <a:bodyPr/>
          <a:lstStyle/>
          <a:p>
            <a:pPr>
              <a:defRPr sz="2000">
                <a:solidFill>
                  <a:srgbClr val="444444"/>
                </a:solidFill>
              </a:defRPr>
            </a:pPr>
            <a:r>
              <a:t>DBMS stands for Database Management System</a:t>
            </a:r>
          </a:p>
          <a:p>
            <a:pPr>
              <a:defRPr sz="2000">
                <a:solidFill>
                  <a:srgbClr val="444444"/>
                </a:solidFill>
              </a:defRPr>
            </a:pPr>
            <a:r>
              <a:t>Manages data in a structured and controlled manner</a:t>
            </a:r>
          </a:p>
          <a:p>
            <a:pPr>
              <a:defRPr sz="2000">
                <a:solidFill>
                  <a:srgbClr val="444444"/>
                </a:solidFill>
              </a:defRPr>
            </a:pPr>
            <a:r>
              <a:t>Provides data security and integrity features</a:t>
            </a:r>
          </a:p>
          <a:p>
            <a:pPr>
              <a:defRPr sz="2000">
                <a:solidFill>
                  <a:srgbClr val="444444"/>
                </a:solidFill>
              </a:defRPr>
            </a:pPr>
            <a:r>
              <a:t>Supports multiple user access and concurrency</a:t>
            </a:r>
          </a:p>
          <a:p>
            <a:pPr>
              <a:defRPr sz="2000">
                <a:solidFill>
                  <a:srgbClr val="444444"/>
                </a:solidFill>
              </a:defRPr>
            </a:pPr>
            <a:r>
              <a:t>Examples include MySQL, Oracle, Microsoft SQL</a:t>
            </a:r>
          </a:p>
          <a:p>
            <a:pPr>
              <a:defRPr sz="2000">
                <a:solidFill>
                  <a:srgbClr val="444444"/>
                </a:solidFill>
              </a:defRPr>
            </a:pPr>
            <a:r>
              <a:t>DBMS uses query language like SQL or NoSQL</a:t>
            </a:r>
          </a:p>
          <a:p>
            <a:pPr>
              <a:defRPr sz="2000">
                <a:solidFill>
                  <a:srgbClr val="444444"/>
                </a:solidFill>
              </a:defRPr>
            </a:pPr>
            <a:r>
              <a:t>Enables data modeling and schema design</a:t>
            </a:r>
          </a:p>
          <a:p>
            <a:pPr>
              <a:defRPr sz="2000">
                <a:solidFill>
                  <a:srgbClr val="444444"/>
                </a:solidFill>
              </a:defRPr>
            </a:pPr>
            <a:r>
              <a:t>Improves data consistency and reduces redundancy</a:t>
            </a:r>
          </a:p>
          <a:p>
            <a:pPr>
              <a:defRPr sz="2000">
                <a:solidFill>
                  <a:srgbClr val="444444"/>
                </a:solidFill>
              </a:defRPr>
            </a:pPr>
            <a:r>
              <a:t>Key component of modern information systems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