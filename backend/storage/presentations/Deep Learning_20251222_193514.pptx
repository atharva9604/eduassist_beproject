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RNNs, LSTMs, GRUs.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process sequential data and their applications in speech recognition and NLP. Provide examples of how RNNs are used in real-world scenarios, such as language translation and text summarization. Ask students to consider the challenges of training RNNs, including vanishing gradients. Key takeaways include understanding the basic RNN architecture and its components, as well as the importance of temporal relationships in RNNs.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temporal relationships. Provide examples such as speech recognition, language translation, and time series forecasting. Explain the concept of feedback connections and how they allow RNNs to learn from previous inputs. Discuss the limitations of simple RNNs, such as vanishing gradients, and introduce variants like LSTMs and GRUs that address these issues. Ask students to consider how RNNs can be applied to real-world problems and what benefits they offer over traditional neural networks. Key takeaways should include the basics of RNN architecture, their applications, and the importance of variants like LSTMs and GRUs in overcoming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explain that they are designed to handle sequential data and have feedback connections that allow them to capture temporal relationships. Provide examples of applications such as speech recognition, natural language processing, and time series forecasting. Discuss the basic RNN architecture and the challenges associated with training RNNs, including the vanishing gradient problem. Ask students to consider how RNNs can be used in real-world scenarios, such as language modeling and machine translation, and encourage them to think about the limitations and potential solutions for these 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LSTMs, emphasize their ability to handle sequential data and learn long-term dependencies. Explain the basic architecture, including memory cells and gates. Provide examples such as speech recognition and language translation to illustrate their application. Ask students to consider how LSTMs can be used in their own projects or research. Key takeaways include understanding the components of LSTMs and their suitability for sequential data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LSTMs, explain the concept of vanishing gradients and how LSTMs address this issue. Provide examples of applications such as speech recognition and language translation. Ask students to consider how LSTMs can be used in their own projects, such as time series forecasting. Key takeaways include understanding the basic architecture of LSTMs and their ability to handle long-term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LSTMs, emphasize the role of gates in controlling information flow. Use examples of language models and chatbots to illustrate sequential data processing. Ask students to consider how LSTMs learn long-term dependencies and how this is useful in real-world applications. Key takeaways include understanding the components of LSTMs and their ability to handle sequential data. Provide visual aids to help students visualize the architecture and its components.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GRUs, start by comparing them to LSTMs, highlighting the reduction in gates and parameters. Discuss how this simplification affects performance and application in areas like NLP and speech recognition. Provide examples of sequence prediction tasks and ask students to consider how GRUs might be used in real-time systems. Key takeaways should include the advantages of GRUs over LSTMs in certain contexts and their suitability for embedded systems.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GRUs, emphasize their role in simplifying LSTMs by reducing the number of gates, making them computationally less expensive and faster to train. Explain the function of the update and reset gates in managing the hidden state, and provide examples of sequential data where GRUs are particularly useful, such as speech recognition or text analysis. Ask students to consider how the reduction in gates affects the model's ability to learn from data. Key takeaways should include the architecture of GRUs, their advantages over LSTMs in certain scenarios, and their applications in deep learning tasks, especially those involving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architecture of GRUs, emphasize the simplification of LSTMs and the role of update and reset gates. Explain how these gates control the flow of information into the hidden state. Provide examples of applications where GRUs are particularly useful, such as speech recognition and language modeling. Ask students to consider the trade-offs between GRUs and LSTMs in terms of complexity and performance. Key takeaways include understanding the components of GRUs and their advantages in certain sequence modeling tasks.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RNNs, LSTMs, GRUs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use feedback connections to store information</a:t>
            </a:r>
          </a:p>
          <a:p>
            <a:pPr>
              <a:defRPr sz="2000">
                <a:solidFill>
                  <a:srgbClr val="444444"/>
                </a:solidFill>
              </a:defRPr>
            </a:pPr>
            <a:r>
              <a:t>Temporal relationships are key in RNNs</a:t>
            </a:r>
          </a:p>
          <a:p>
            <a:pPr>
              <a:defRPr sz="2000">
                <a:solidFill>
                  <a:srgbClr val="444444"/>
                </a:solidFill>
              </a:defRPr>
            </a:pPr>
            <a:r>
              <a:t>Applications include speech recognition systems</a:t>
            </a:r>
          </a:p>
          <a:p>
            <a:pPr>
              <a:defRPr sz="2000">
                <a:solidFill>
                  <a:srgbClr val="444444"/>
                </a:solidFill>
              </a:defRPr>
            </a:pPr>
            <a:r>
              <a:t>Natural Language Processing uses RNNs extensively</a:t>
            </a:r>
          </a:p>
          <a:p>
            <a:pPr>
              <a:defRPr sz="2000">
                <a:solidFill>
                  <a:srgbClr val="444444"/>
                </a:solidFill>
              </a:defRPr>
            </a:pPr>
            <a:r>
              <a:t>RNNs can learn from experience and adapt</a:t>
            </a:r>
          </a:p>
          <a:p>
            <a:pPr>
              <a:defRPr sz="2000">
                <a:solidFill>
                  <a:srgbClr val="444444"/>
                </a:solidFill>
              </a:defRPr>
            </a:pPr>
            <a:r>
              <a:t>Basic RNN architecture includes input and output</a:t>
            </a:r>
          </a:p>
          <a:p>
            <a:pPr>
              <a:defRPr sz="2000">
                <a:solidFill>
                  <a:srgbClr val="444444"/>
                </a:solidFill>
              </a:defRPr>
            </a:pPr>
            <a:r>
              <a:t>Hidden state captures sequential information</a:t>
            </a:r>
          </a:p>
          <a:p>
            <a:pPr>
              <a:defRPr sz="2000">
                <a:solidFill>
                  <a:srgbClr val="444444"/>
                </a:solidFill>
              </a:defRPr>
            </a:pPr>
            <a:r>
              <a:t>Backpropagation is used for training RNNs</a:t>
            </a:r>
          </a:p>
          <a:p>
            <a:pPr>
              <a:defRPr sz="2000">
                <a:solidFill>
                  <a:srgbClr val="444444"/>
                </a:solidFill>
              </a:defRPr>
            </a:pPr>
            <a:r>
              <a:t>Vanishing gradients are a common issue</a:t>
            </a:r>
          </a:p>
        </p:txBody>
      </p:sp>
      <p:pic>
        <p:nvPicPr>
          <p:cNvPr id="4" name="Picture 3" descr="6f44289ba1304ff6b751b4b296ddaa1f_rnns_lstms_grus_deep_learning_architectu.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time series forecasting and natural language</a:t>
            </a:r>
          </a:p>
          <a:p>
            <a:pPr>
              <a:defRPr sz="2000">
                <a:solidFill>
                  <a:srgbClr val="444444"/>
                </a:solidFill>
              </a:defRPr>
            </a:pPr>
            <a:r>
              <a:t>RNNs learn patterns in sequential data streams</a:t>
            </a:r>
          </a:p>
          <a:p>
            <a:pPr>
              <a:defRPr sz="2000">
                <a:solidFill>
                  <a:srgbClr val="444444"/>
                </a:solidFill>
              </a:defRPr>
            </a:pPr>
            <a:r>
              <a:t>Can be trained on speech, text, or time series data</a:t>
            </a:r>
          </a:p>
          <a:p>
            <a:pPr>
              <a:defRPr sz="2000">
                <a:solidFill>
                  <a:srgbClr val="444444"/>
                </a:solidFill>
              </a:defRPr>
            </a:pPr>
            <a:r>
              <a:t>Simple RNNs have limitations due to vanishing gradients</a:t>
            </a:r>
          </a:p>
          <a:p>
            <a:pPr>
              <a:defRPr sz="2000">
                <a:solidFill>
                  <a:srgbClr val="444444"/>
                </a:solidFill>
              </a:defRPr>
            </a:pPr>
            <a:r>
              <a:t>Long Short-Term Memory networks mitigate this issue</a:t>
            </a:r>
          </a:p>
          <a:p>
            <a:pPr>
              <a:defRPr sz="2000">
                <a:solidFill>
                  <a:srgbClr val="444444"/>
                </a:solidFill>
              </a:defRPr>
            </a:pPr>
            <a:r>
              <a:t>Gated Recurrent Units are another variant of RNNs</a:t>
            </a:r>
          </a:p>
          <a:p>
            <a:pPr>
              <a:defRPr sz="2000">
                <a:solidFill>
                  <a:srgbClr val="444444"/>
                </a:solidFill>
              </a:defRPr>
            </a:pPr>
            <a:r>
              <a:t>RNNs are fundamental to deep learning architectures</a:t>
            </a:r>
          </a:p>
          <a:p>
            <a:pPr>
              <a:defRPr sz="2000">
                <a:solidFill>
                  <a:srgbClr val="444444"/>
                </a:solidFill>
              </a:defRPr>
            </a:pPr>
            <a:r>
              <a:t>Applications include language translation and speech recognition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and natural language processing</a:t>
            </a:r>
          </a:p>
          <a:p>
            <a:pPr>
              <a:defRPr sz="2000">
                <a:solidFill>
                  <a:srgbClr val="444444"/>
                </a:solidFill>
              </a:defRPr>
            </a:pPr>
            <a:r>
              <a:t>Capable of learning long-term dependencies in data</a:t>
            </a:r>
          </a:p>
          <a:p>
            <a:pPr>
              <a:defRPr sz="2000">
                <a:solidFill>
                  <a:srgbClr val="444444"/>
                </a:solidFill>
              </a:defRPr>
            </a:pPr>
            <a:r>
              <a:t>Basic RNNs suffer from vanishing gradient problem</a:t>
            </a:r>
          </a:p>
          <a:p>
            <a:pPr>
              <a:defRPr sz="2000">
                <a:solidFill>
                  <a:srgbClr val="444444"/>
                </a:solidFill>
              </a:defRPr>
            </a:pPr>
            <a:r>
              <a:t>Simple RNN architecture: input, hidden, output layers</a:t>
            </a:r>
          </a:p>
          <a:p>
            <a:pPr>
              <a:defRPr sz="2000">
                <a:solidFill>
                  <a:srgbClr val="444444"/>
                </a:solidFill>
              </a:defRPr>
            </a:pPr>
            <a:r>
              <a:t>Training RNNs involves backpropagation through time</a:t>
            </a:r>
          </a:p>
          <a:p>
            <a:pPr>
              <a:defRPr sz="2000">
                <a:solidFill>
                  <a:srgbClr val="444444"/>
                </a:solidFill>
              </a:defRPr>
            </a:pPr>
            <a:r>
              <a:t>RNNs are suitable for time series forecasting tasks</a:t>
            </a:r>
          </a:p>
          <a:p>
            <a:pPr>
              <a:defRPr sz="2000">
                <a:solidFill>
                  <a:srgbClr val="444444"/>
                </a:solidFill>
              </a:defRPr>
            </a:pPr>
            <a:r>
              <a:t>Common RNN applications include language modeling</a:t>
            </a:r>
          </a:p>
          <a:p>
            <a:pPr>
              <a:defRPr sz="2000">
                <a:solidFill>
                  <a:srgbClr val="444444"/>
                </a:solidFill>
              </a:defRPr>
            </a:pPr>
            <a:r>
              <a:t>RNNs can be used for machine translation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LSTMs - Introduction</a:t>
            </a:r>
          </a:p>
        </p:txBody>
      </p:sp>
      <p:sp>
        <p:nvSpPr>
          <p:cNvPr id="3" name="Content Placeholder 2"/>
          <p:cNvSpPr>
            <a:spLocks noGrp="1"/>
          </p:cNvSpPr>
          <p:nvPr>
            <p:ph idx="1"/>
          </p:nvPr>
        </p:nvSpPr>
        <p:spPr/>
        <p:txBody>
          <a:bodyPr/>
          <a:lstStyle/>
          <a:p>
            <a:pPr>
              <a:defRPr sz="2000">
                <a:solidFill>
                  <a:srgbClr val="444444"/>
                </a:solidFill>
              </a:defRPr>
            </a:pPr>
            <a:r>
              <a:t>Long Short-Term Memory networks handle sequential data</a:t>
            </a:r>
          </a:p>
          <a:p>
            <a:pPr>
              <a:defRPr sz="2000">
                <a:solidFill>
                  <a:srgbClr val="444444"/>
                </a:solidFill>
              </a:defRPr>
            </a:pPr>
            <a:r>
              <a:t>LSTMs are a type of Recurrent Neural Network</a:t>
            </a:r>
          </a:p>
          <a:p>
            <a:pPr>
              <a:defRPr sz="2000">
                <a:solidFill>
                  <a:srgbClr val="444444"/>
                </a:solidFill>
              </a:defRPr>
            </a:pPr>
            <a:r>
              <a:t>Used for natural language processing and time series</a:t>
            </a:r>
          </a:p>
          <a:p>
            <a:pPr>
              <a:defRPr sz="2000">
                <a:solidFill>
                  <a:srgbClr val="444444"/>
                </a:solidFill>
              </a:defRPr>
            </a:pPr>
            <a:r>
              <a:t>LSTMs learn long-term dependencies in data</a:t>
            </a:r>
          </a:p>
          <a:p>
            <a:pPr>
              <a:defRPr sz="2000">
                <a:solidFill>
                  <a:srgbClr val="444444"/>
                </a:solidFill>
              </a:defRPr>
            </a:pPr>
            <a:r>
              <a:t>Consist of memory cells and gates for control</a:t>
            </a:r>
          </a:p>
          <a:p>
            <a:pPr>
              <a:defRPr sz="2000">
                <a:solidFill>
                  <a:srgbClr val="444444"/>
                </a:solidFill>
              </a:defRPr>
            </a:pPr>
            <a:r>
              <a:t>Input gate controls new information addition</a:t>
            </a:r>
          </a:p>
          <a:p>
            <a:pPr>
              <a:defRPr sz="2000">
                <a:solidFill>
                  <a:srgbClr val="444444"/>
                </a:solidFill>
              </a:defRPr>
            </a:pPr>
            <a:r>
              <a:t>Output gate controls information output</a:t>
            </a:r>
          </a:p>
          <a:p>
            <a:pPr>
              <a:defRPr sz="2000">
                <a:solidFill>
                  <a:srgbClr val="444444"/>
                </a:solidFill>
              </a:defRPr>
            </a:pPr>
            <a:r>
              <a:t>Forget gate controls cell state reset</a:t>
            </a:r>
          </a:p>
          <a:p>
            <a:pPr>
              <a:defRPr sz="2000">
                <a:solidFill>
                  <a:srgbClr val="444444"/>
                </a:solidFill>
              </a:defRPr>
            </a:pPr>
            <a:r>
              <a:t>LSTMs are suitable for sequential data analysis</a:t>
            </a:r>
          </a:p>
          <a:p>
            <a:pPr>
              <a:defRPr sz="2000">
                <a:solidFill>
                  <a:srgbClr val="444444"/>
                </a:solidFill>
              </a:defRPr>
            </a:pPr>
            <a:r>
              <a:t>Examples include speech recognition and language translation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LSTMs - Introduction</a:t>
            </a:r>
          </a:p>
        </p:txBody>
      </p:sp>
      <p:sp>
        <p:nvSpPr>
          <p:cNvPr id="3" name="Content Placeholder 2"/>
          <p:cNvSpPr>
            <a:spLocks noGrp="1"/>
          </p:cNvSpPr>
          <p:nvPr>
            <p:ph idx="1"/>
          </p:nvPr>
        </p:nvSpPr>
        <p:spPr/>
        <p:txBody>
          <a:bodyPr/>
          <a:lstStyle/>
          <a:p>
            <a:pPr>
              <a:defRPr sz="2000">
                <a:solidFill>
                  <a:srgbClr val="444444"/>
                </a:solidFill>
              </a:defRPr>
            </a:pPr>
            <a:r>
              <a:t>Long Short-Term Memory networks introduced in 1997</a:t>
            </a:r>
          </a:p>
          <a:p>
            <a:pPr>
              <a:defRPr sz="2000">
                <a:solidFill>
                  <a:srgbClr val="444444"/>
                </a:solidFill>
              </a:defRPr>
            </a:pPr>
            <a:r>
              <a:t>Designed to handle vanishing gradient problem</a:t>
            </a:r>
          </a:p>
          <a:p>
            <a:pPr>
              <a:defRPr sz="2000">
                <a:solidFill>
                  <a:srgbClr val="444444"/>
                </a:solidFill>
              </a:defRPr>
            </a:pPr>
            <a:r>
              <a:t>Use memory cells to store information</a:t>
            </a:r>
          </a:p>
          <a:p>
            <a:pPr>
              <a:defRPr sz="2000">
                <a:solidFill>
                  <a:srgbClr val="444444"/>
                </a:solidFill>
              </a:defRPr>
            </a:pPr>
            <a:r>
              <a:t>Gates control information flow into cells</a:t>
            </a:r>
          </a:p>
          <a:p>
            <a:pPr>
              <a:defRPr sz="2000">
                <a:solidFill>
                  <a:srgbClr val="444444"/>
                </a:solidFill>
              </a:defRPr>
            </a:pPr>
            <a:r>
              <a:t>Input gate handles new information</a:t>
            </a:r>
          </a:p>
          <a:p>
            <a:pPr>
              <a:defRPr sz="2000">
                <a:solidFill>
                  <a:srgbClr val="444444"/>
                </a:solidFill>
              </a:defRPr>
            </a:pPr>
            <a:r>
              <a:t>Output gate generates final output</a:t>
            </a:r>
          </a:p>
          <a:p>
            <a:pPr>
              <a:defRPr sz="2000">
                <a:solidFill>
                  <a:srgbClr val="444444"/>
                </a:solidFill>
              </a:defRPr>
            </a:pPr>
            <a:r>
              <a:t>Forget gate resets cell state</a:t>
            </a:r>
          </a:p>
          <a:p>
            <a:pPr>
              <a:defRPr sz="2000">
                <a:solidFill>
                  <a:srgbClr val="444444"/>
                </a:solidFill>
              </a:defRPr>
            </a:pPr>
            <a:r>
              <a:t>LSTMs used in speech recognition systems</a:t>
            </a:r>
          </a:p>
          <a:p>
            <a:pPr>
              <a:defRPr sz="2000">
                <a:solidFill>
                  <a:srgbClr val="444444"/>
                </a:solidFill>
              </a:defRPr>
            </a:pPr>
            <a:r>
              <a:t>Also applied in language translation models</a:t>
            </a:r>
          </a:p>
          <a:p>
            <a:pPr>
              <a:defRPr sz="2000">
                <a:solidFill>
                  <a:srgbClr val="444444"/>
                </a:solidFill>
              </a:defRPr>
            </a:pPr>
            <a:r>
              <a:t>Effective in time series forecasting tasks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LSTMs - Architecture and Key Components</a:t>
            </a:r>
          </a:p>
        </p:txBody>
      </p:sp>
      <p:sp>
        <p:nvSpPr>
          <p:cNvPr id="3" name="Content Placeholder 2"/>
          <p:cNvSpPr>
            <a:spLocks noGrp="1"/>
          </p:cNvSpPr>
          <p:nvPr>
            <p:ph idx="1"/>
          </p:nvPr>
        </p:nvSpPr>
        <p:spPr/>
        <p:txBody>
          <a:bodyPr/>
          <a:lstStyle/>
          <a:p>
            <a:pPr>
              <a:defRPr sz="2000">
                <a:solidFill>
                  <a:srgbClr val="444444"/>
                </a:solidFill>
              </a:defRPr>
            </a:pPr>
            <a:r>
              <a:t>LSTMs consist of memory cells and gates</a:t>
            </a:r>
          </a:p>
          <a:p>
            <a:pPr>
              <a:defRPr sz="2000">
                <a:solidFill>
                  <a:srgbClr val="444444"/>
                </a:solidFill>
              </a:defRPr>
            </a:pPr>
            <a:r>
              <a:t>Input gate controls new information flow</a:t>
            </a:r>
          </a:p>
          <a:p>
            <a:pPr>
              <a:defRPr sz="2000">
                <a:solidFill>
                  <a:srgbClr val="444444"/>
                </a:solidFill>
              </a:defRPr>
            </a:pPr>
            <a:r>
              <a:t>Output gate generates hidden state</a:t>
            </a:r>
          </a:p>
          <a:p>
            <a:pPr>
              <a:defRPr sz="2000">
                <a:solidFill>
                  <a:srgbClr val="444444"/>
                </a:solidFill>
              </a:defRPr>
            </a:pPr>
            <a:r>
              <a:t>Forget gate manages cell state</a:t>
            </a:r>
          </a:p>
          <a:p>
            <a:pPr>
              <a:defRPr sz="2000">
                <a:solidFill>
                  <a:srgbClr val="444444"/>
                </a:solidFill>
              </a:defRPr>
            </a:pPr>
            <a:r>
              <a:t>Cell state retains long-term information</a:t>
            </a:r>
          </a:p>
          <a:p>
            <a:pPr>
              <a:defRPr sz="2000">
                <a:solidFill>
                  <a:srgbClr val="444444"/>
                </a:solidFill>
              </a:defRPr>
            </a:pPr>
            <a:r>
              <a:t>Hidden state used for predictions</a:t>
            </a:r>
          </a:p>
          <a:p>
            <a:pPr>
              <a:defRPr sz="2000">
                <a:solidFill>
                  <a:srgbClr val="444444"/>
                </a:solidFill>
              </a:defRPr>
            </a:pPr>
            <a:r>
              <a:t>LSTMs learn long-term dependencies</a:t>
            </a:r>
          </a:p>
          <a:p>
            <a:pPr>
              <a:defRPr sz="2000">
                <a:solidFill>
                  <a:srgbClr val="444444"/>
                </a:solidFill>
              </a:defRPr>
            </a:pPr>
            <a:r>
              <a:t>Effective for sequential data processing</a:t>
            </a:r>
          </a:p>
          <a:p>
            <a:pPr>
              <a:defRPr sz="2000">
                <a:solidFill>
                  <a:srgbClr val="444444"/>
                </a:solidFill>
              </a:defRPr>
            </a:pPr>
            <a:r>
              <a:t>Used in language models and chatbots</a:t>
            </a:r>
          </a:p>
          <a:p>
            <a:pPr>
              <a:defRPr sz="2000">
                <a:solidFill>
                  <a:srgbClr val="444444"/>
                </a:solidFill>
              </a:defRPr>
            </a:pPr>
            <a:r>
              <a:t>Equation: h_t = o_t * tanh(c_t)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GRUs - Introduction</a:t>
            </a:r>
          </a:p>
        </p:txBody>
      </p:sp>
      <p:sp>
        <p:nvSpPr>
          <p:cNvPr id="3" name="Content Placeholder 2"/>
          <p:cNvSpPr>
            <a:spLocks noGrp="1"/>
          </p:cNvSpPr>
          <p:nvPr>
            <p:ph idx="1"/>
          </p:nvPr>
        </p:nvSpPr>
        <p:spPr/>
        <p:txBody>
          <a:bodyPr/>
          <a:lstStyle/>
          <a:p>
            <a:pPr>
              <a:defRPr sz="2000">
                <a:solidFill>
                  <a:srgbClr val="444444"/>
                </a:solidFill>
              </a:defRPr>
            </a:pPr>
            <a:r>
              <a:t>Gated Recurrent Units simplify LSTMs with fewer gates</a:t>
            </a:r>
          </a:p>
          <a:p>
            <a:pPr>
              <a:defRPr sz="2000">
                <a:solidFill>
                  <a:srgbClr val="444444"/>
                </a:solidFill>
              </a:defRPr>
            </a:pPr>
            <a:r>
              <a:t>GRUs use update and reset gates for state management</a:t>
            </a:r>
          </a:p>
          <a:p>
            <a:pPr>
              <a:defRPr sz="2000">
                <a:solidFill>
                  <a:srgbClr val="444444"/>
                </a:solidFill>
              </a:defRPr>
            </a:pPr>
            <a:r>
              <a:t>Fewer parameters than LSTMs for similar tasks</a:t>
            </a:r>
          </a:p>
          <a:p>
            <a:pPr>
              <a:defRPr sz="2000">
                <a:solidFill>
                  <a:srgbClr val="444444"/>
                </a:solidFill>
              </a:defRPr>
            </a:pPr>
            <a:r>
              <a:t>Introduced in 2014 for sequence prediction tasks</a:t>
            </a:r>
          </a:p>
          <a:p>
            <a:pPr>
              <a:defRPr sz="2000">
                <a:solidFill>
                  <a:srgbClr val="444444"/>
                </a:solidFill>
              </a:defRPr>
            </a:pPr>
            <a:r>
              <a:t>GRUs are faster and more efficient than LSTMs</a:t>
            </a:r>
          </a:p>
          <a:p>
            <a:pPr>
              <a:defRPr sz="2000">
                <a:solidFill>
                  <a:srgbClr val="444444"/>
                </a:solidFill>
              </a:defRPr>
            </a:pPr>
            <a:r>
              <a:t>Used in natural language processing and speech recognition</a:t>
            </a:r>
          </a:p>
          <a:p>
            <a:pPr>
              <a:defRPr sz="2000">
                <a:solidFill>
                  <a:srgbClr val="444444"/>
                </a:solidFill>
              </a:defRPr>
            </a:pPr>
            <a:r>
              <a:t>GRUs handle vanishing gradients with gated mechanisms</a:t>
            </a:r>
          </a:p>
          <a:p>
            <a:pPr>
              <a:defRPr sz="2000">
                <a:solidFill>
                  <a:srgbClr val="444444"/>
                </a:solidFill>
              </a:defRPr>
            </a:pPr>
            <a:r>
              <a:t>Less complex architecture than traditional LSTMs</a:t>
            </a:r>
          </a:p>
          <a:p>
            <a:pPr>
              <a:defRPr sz="2000">
                <a:solidFill>
                  <a:srgbClr val="444444"/>
                </a:solidFill>
              </a:defRPr>
            </a:pPr>
            <a:r>
              <a:t>Suitable for real-time applications and embedded systems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GRUs - Introduction</a:t>
            </a:r>
          </a:p>
        </p:txBody>
      </p:sp>
      <p:sp>
        <p:nvSpPr>
          <p:cNvPr id="3" name="Content Placeholder 2"/>
          <p:cNvSpPr>
            <a:spLocks noGrp="1"/>
          </p:cNvSpPr>
          <p:nvPr>
            <p:ph idx="1"/>
          </p:nvPr>
        </p:nvSpPr>
        <p:spPr/>
        <p:txBody>
          <a:bodyPr/>
          <a:lstStyle/>
          <a:p>
            <a:pPr>
              <a:defRPr sz="2000">
                <a:solidFill>
                  <a:srgbClr val="444444"/>
                </a:solidFill>
              </a:defRPr>
            </a:pPr>
            <a:r>
              <a:t>Gated Recurrent Units simplify LSTMs with fewer gates</a:t>
            </a:r>
          </a:p>
          <a:p>
            <a:pPr>
              <a:defRPr sz="2000">
                <a:solidFill>
                  <a:srgbClr val="444444"/>
                </a:solidFill>
              </a:defRPr>
            </a:pPr>
            <a:r>
              <a:t>GRUs use update and reset gates for hidden state</a:t>
            </a:r>
          </a:p>
          <a:p>
            <a:pPr>
              <a:defRPr sz="2000">
                <a:solidFill>
                  <a:srgbClr val="444444"/>
                </a:solidFill>
              </a:defRPr>
            </a:pPr>
            <a:r>
              <a:t>Introduced to reduce computational complexity</a:t>
            </a:r>
          </a:p>
          <a:p>
            <a:pPr>
              <a:defRPr sz="2000">
                <a:solidFill>
                  <a:srgbClr val="444444"/>
                </a:solidFill>
              </a:defRPr>
            </a:pPr>
            <a:r>
              <a:t>Useful for sequential data like speech or text</a:t>
            </a:r>
          </a:p>
          <a:p>
            <a:pPr>
              <a:defRPr sz="2000">
                <a:solidFill>
                  <a:srgbClr val="444444"/>
                </a:solidFill>
              </a:defRPr>
            </a:pPr>
            <a:r>
              <a:t>GRUs are faster to train than traditional LSTMs</a:t>
            </a:r>
          </a:p>
          <a:p>
            <a:pPr>
              <a:defRPr sz="2000">
                <a:solidFill>
                  <a:srgbClr val="444444"/>
                </a:solidFill>
              </a:defRPr>
            </a:pPr>
            <a:r>
              <a:t>Hidden state updated based on previous state</a:t>
            </a:r>
          </a:p>
          <a:p>
            <a:pPr>
              <a:defRPr sz="2000">
                <a:solidFill>
                  <a:srgbClr val="444444"/>
                </a:solidFill>
              </a:defRPr>
            </a:pPr>
            <a:r>
              <a:t>Reset gate controls forgetting previous state</a:t>
            </a:r>
          </a:p>
          <a:p>
            <a:pPr>
              <a:defRPr sz="2000">
                <a:solidFill>
                  <a:srgbClr val="444444"/>
                </a:solidFill>
              </a:defRPr>
            </a:pPr>
            <a:r>
              <a:t>Update gate controls new information addition</a:t>
            </a:r>
          </a:p>
          <a:p>
            <a:pPr>
              <a:defRPr sz="2000">
                <a:solidFill>
                  <a:srgbClr val="444444"/>
                </a:solidFill>
              </a:defRPr>
            </a:pPr>
            <a:r>
              <a:t>Wide applications in natural language processing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GRUs - Architecture</a:t>
            </a:r>
          </a:p>
        </p:txBody>
      </p:sp>
      <p:sp>
        <p:nvSpPr>
          <p:cNvPr id="3" name="Content Placeholder 2"/>
          <p:cNvSpPr>
            <a:spLocks noGrp="1"/>
          </p:cNvSpPr>
          <p:nvPr>
            <p:ph idx="1"/>
          </p:nvPr>
        </p:nvSpPr>
        <p:spPr/>
        <p:txBody>
          <a:bodyPr/>
          <a:lstStyle/>
          <a:p>
            <a:pPr>
              <a:defRPr sz="2000">
                <a:solidFill>
                  <a:srgbClr val="444444"/>
                </a:solidFill>
              </a:defRPr>
            </a:pPr>
            <a:r>
              <a:t>Gated Recurrent Units simplify LSTMs with fewer gates</a:t>
            </a:r>
          </a:p>
          <a:p>
            <a:pPr>
              <a:defRPr sz="2000">
                <a:solidFill>
                  <a:srgbClr val="444444"/>
                </a:solidFill>
              </a:defRPr>
            </a:pPr>
            <a:r>
              <a:t>GRUs use update and reset gates for hidden state</a:t>
            </a:r>
          </a:p>
          <a:p>
            <a:pPr>
              <a:defRPr sz="2000">
                <a:solidFill>
                  <a:srgbClr val="444444"/>
                </a:solidFill>
              </a:defRPr>
            </a:pPr>
            <a:r>
              <a:t>Update gate controls new information addition</a:t>
            </a:r>
          </a:p>
          <a:p>
            <a:pPr>
              <a:defRPr sz="2000">
                <a:solidFill>
                  <a:srgbClr val="444444"/>
                </a:solidFill>
              </a:defRPr>
            </a:pPr>
            <a:r>
              <a:t>Reset gate controls forgetting previous information</a:t>
            </a:r>
          </a:p>
          <a:p>
            <a:pPr>
              <a:defRPr sz="2000">
                <a:solidFill>
                  <a:srgbClr val="444444"/>
                </a:solidFill>
              </a:defRPr>
            </a:pPr>
            <a:r>
              <a:t>No separate memory cell like in LSTMs</a:t>
            </a:r>
          </a:p>
          <a:p>
            <a:pPr>
              <a:defRPr sz="2000">
                <a:solidFill>
                  <a:srgbClr val="444444"/>
                </a:solidFill>
              </a:defRPr>
            </a:pPr>
            <a:r>
              <a:t>Fewer parameters reduce computational overhead</a:t>
            </a:r>
          </a:p>
          <a:p>
            <a:pPr>
              <a:defRPr sz="2000">
                <a:solidFill>
                  <a:srgbClr val="444444"/>
                </a:solidFill>
              </a:defRPr>
            </a:pPr>
            <a:r>
              <a:t>GRUs are faster and more efficient than LSTMs</a:t>
            </a:r>
          </a:p>
          <a:p>
            <a:pPr>
              <a:defRPr sz="2000">
                <a:solidFill>
                  <a:srgbClr val="444444"/>
                </a:solidFill>
              </a:defRPr>
            </a:pPr>
            <a:r>
              <a:t>Suitable for sequences with limited context</a:t>
            </a:r>
          </a:p>
          <a:p>
            <a:pPr>
              <a:defRPr sz="2000">
                <a:solidFill>
                  <a:srgbClr val="444444"/>
                </a:solidFill>
              </a:defRPr>
            </a:pPr>
            <a:r>
              <a:t>Example: speech recognition, language modeling</a:t>
            </a:r>
          </a:p>
          <a:p>
            <a:pPr>
              <a:defRPr sz="2000">
                <a:solidFill>
                  <a:srgbClr val="444444"/>
                </a:solidFill>
              </a:defRPr>
            </a:pPr>
            <a:r>
              <a:t>Equation: h_t = (1 - z_t) * h_{t-1} + z_t * h_t'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