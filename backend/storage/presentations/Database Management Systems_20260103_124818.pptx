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Database Management Systems presentation covering multiple topics. Today we'll explore: Introduction to Database Normalization, First Normal Form (1NF), Second Normal Form (2NF), Third Normal Form (3NF), Boyce-Codd Normal Form (BCNF), Normalization Example Walkthrough, Denormalization and Trade-offs, Best Practices and Summary.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database normalization, explain its importance in reducing data redundancy and improving data integrity. Provide examples of data anomalies and inconsistencies that can occur without normalization. Discuss the benefits of normalization, such as improved scalability and flexibility, and reduced storage costs. Emphasize the role of normalization rules and guidelines in ensuring data consistency. Ask students to consider scenarios where normalization would be essential, such as in e-commerce databases or financial systems. Key takeaways include understanding the purpose and benefits of normalization, as well as the different Normal Forms and their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database normalization, emphasize its importance in reducing data redundancy and improving data integrity. Explain each normal form, providing examples to illustrate the differences. Use a simple database schema to demonstrate how normalization eliminates data anomalies and improves query performance. Ask students to consider the trade-offs between normalization and data retrieval complexity. Key takeaways include understanding the benefits of normalization and being able to apply normal forms to a given database design.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importance of database normalization in reducing data redundancy and improving data integrity. Discuss the different normal forms, such as first, second, and third normal forms, and provide examples of how they are used to eliminate repeating groups, partial dependencies, and transitive dependencies. Emphasize the benefits of normalization, including improved scalability and flexibility, and highlight the potential consequences of improper normalization, such as data inconsistencies. Ask students to consider scenarios where denormalization might be necessary for performance optimization and discuss the trade-offs involved.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First Normal Form, emphasize its importance in eliminating repeating groups and ensuring atomic values in database tables. Provide examples of non-1NF tables with repeating groups and show how to transform them into 1NF. Explain how 1NF reduces data redundancy and improves scalability. Ask students to identify potential data anomalies that can arise from non-1NF tables and how 1NF helps to prevent them. Key takeaway: 1NF is the foundation for higher normal forms and essential for good relational database design.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First Normal Form, explain that it's the first step in normalizing a database to minimize data redundancy and dependency. Provide examples of tables that violate 1NF, such as a customer table with multiple phone numbers in a single row, and then show how to convert it into 1NF by separating phone numbers into different rows. Emphasize the importance of unique rows and single-value cells. Ask students to identify which tables in a given database are in 1NF and which are not, and how they would normalize the non-1NF tables. Key takeaway: 1NF is essential for efficient data management and retrieval.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concept of First Normal Form as the foundation of relational database design. Provide examples of tables that violate 1NF, such as a customer table with multiple phone numbers in a single field. Discuss how 1NF improves data management and prepares data for higher levels of normalization. Ask students to identify which fields in a given table could be repeated and how to restructure the table to meet 1NF requirements. Key takeaway: 1NF is crucial for ensuring data consistency and reducing errors in database management systems.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Second Normal Form, explain that it is a higher level of normalization that builds upon First Normal Form. Provide examples of tables that are in 1NF but not in 2NF, and walk the students through the process of converting them to 2NF. Emphasize the importance of eliminating partial dependencies to improve data integrity and reduce anomalies. Ask students to consider how 2NF applies to real-world database design scenarios and what benefits it provides in terms of data consistency and scalability. Key takeaways should include understanding the definition of 2NF, its requirements, and its role in relational database design and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Second Normal Form, explain its importance in database design and how it helps eliminate data redundancy and anomalies. Provide examples of tables that violate 2NF and demonstrate how to convert them into 2NF compliant tables. Ask students to identify partial dependencies and explain how 2NF ensures data integrity. Key takeaways include understanding the definition of 2NF, its application in database normalization, and its benefits in improving data consistency and scalability.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Database Management Systems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Database Normalization, First Normal Form (1NF), Second Normal Form (2NF), Third Normal Form (3NF), Boyce-Codd Normal Form (BCNF), Normalization Example Walkthrough, Denormalization and Trade-offs, Best Practices and Summary</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Database Normalization - Introduction</a:t>
            </a:r>
          </a:p>
        </p:txBody>
      </p:sp>
      <p:sp>
        <p:nvSpPr>
          <p:cNvPr id="3" name="Content Placeholder 2"/>
          <p:cNvSpPr>
            <a:spLocks noGrp="1"/>
          </p:cNvSpPr>
          <p:nvPr>
            <p:ph idx="1"/>
          </p:nvPr>
        </p:nvSpPr>
        <p:spPr/>
        <p:txBody>
          <a:bodyPr/>
          <a:lstStyle/>
          <a:p>
            <a:pPr>
              <a:defRPr sz="2000">
                <a:solidFill>
                  <a:srgbClr val="444444"/>
                </a:solidFill>
              </a:defRPr>
            </a:pPr>
            <a:r>
              <a:t>Database normalization reduces data redundancy and improves data integrity.</a:t>
            </a:r>
          </a:p>
          <a:p>
            <a:pPr>
              <a:defRPr sz="2000">
                <a:solidFill>
                  <a:srgbClr val="444444"/>
                </a:solidFill>
              </a:defRPr>
            </a:pPr>
            <a:r>
              <a:t>Normalization eliminates data anomalies and inconsistencies.</a:t>
            </a:r>
          </a:p>
          <a:p>
            <a:pPr>
              <a:defRPr sz="2000">
                <a:solidFill>
                  <a:srgbClr val="444444"/>
                </a:solidFill>
              </a:defRPr>
            </a:pPr>
            <a:r>
              <a:t>It ensures data consistency across the database.</a:t>
            </a:r>
          </a:p>
          <a:p>
            <a:pPr>
              <a:defRPr sz="2000">
                <a:solidFill>
                  <a:srgbClr val="444444"/>
                </a:solidFill>
              </a:defRPr>
            </a:pPr>
            <a:r>
              <a:t>Normalization improves data scalability and flexibility.</a:t>
            </a:r>
          </a:p>
          <a:p>
            <a:pPr>
              <a:defRPr sz="2000">
                <a:solidFill>
                  <a:srgbClr val="444444"/>
                </a:solidFill>
              </a:defRPr>
            </a:pPr>
            <a:r>
              <a:t>It reduces data storage requirements and costs.</a:t>
            </a:r>
          </a:p>
          <a:p>
            <a:pPr>
              <a:defRPr sz="2000">
                <a:solidFill>
                  <a:srgbClr val="444444"/>
                </a:solidFill>
              </a:defRPr>
            </a:pPr>
            <a:r>
              <a:t>Normalization enhances data security and access control.</a:t>
            </a:r>
          </a:p>
          <a:p>
            <a:pPr>
              <a:defRPr sz="2000">
                <a:solidFill>
                  <a:srgbClr val="444444"/>
                </a:solidFill>
              </a:defRPr>
            </a:pPr>
            <a:r>
              <a:t>Database normalization follows a set of rules and guidelines.</a:t>
            </a:r>
          </a:p>
          <a:p>
            <a:pPr>
              <a:defRPr sz="2000">
                <a:solidFill>
                  <a:srgbClr val="444444"/>
                </a:solidFill>
              </a:defRPr>
            </a:pPr>
            <a:r>
              <a:t>Normalization rules are based on dependencies and relationships.</a:t>
            </a:r>
          </a:p>
          <a:p>
            <a:pPr>
              <a:defRPr sz="2000">
                <a:solidFill>
                  <a:srgbClr val="444444"/>
                </a:solidFill>
              </a:defRPr>
            </a:pPr>
            <a:r>
              <a:t>First Normal Form (1NF) is the initial normalization step.</a:t>
            </a:r>
          </a:p>
          <a:p>
            <a:pPr>
              <a:defRPr sz="2000">
                <a:solidFill>
                  <a:srgbClr val="444444"/>
                </a:solidFill>
              </a:defRPr>
            </a:pPr>
            <a:r>
              <a:t>Higher Normal Forms (2NF, 3NF) further refine the database structure.</a:t>
            </a:r>
          </a:p>
        </p:txBody>
      </p:sp>
      <p:pic>
        <p:nvPicPr>
          <p:cNvPr id="4" name="Picture 3" descr="08c8ddc4cd174a3693988bbc91585d93.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Database Normalization - Fundamentals</a:t>
            </a:r>
          </a:p>
        </p:txBody>
      </p:sp>
      <p:sp>
        <p:nvSpPr>
          <p:cNvPr id="3" name="Content Placeholder 2"/>
          <p:cNvSpPr>
            <a:spLocks noGrp="1"/>
          </p:cNvSpPr>
          <p:nvPr>
            <p:ph idx="1"/>
          </p:nvPr>
        </p:nvSpPr>
        <p:spPr/>
        <p:txBody>
          <a:bodyPr/>
          <a:lstStyle/>
          <a:p>
            <a:pPr>
              <a:defRPr sz="2000">
                <a:solidFill>
                  <a:srgbClr val="444444"/>
                </a:solidFill>
              </a:defRPr>
            </a:pPr>
            <a:r>
              <a:t>Database normalization reduces data redundancy</a:t>
            </a:r>
          </a:p>
          <a:p>
            <a:pPr>
              <a:defRPr sz="2000">
                <a:solidFill>
                  <a:srgbClr val="444444"/>
                </a:solidFill>
              </a:defRPr>
            </a:pPr>
            <a:r>
              <a:t>Improves data integrity and scalability</a:t>
            </a:r>
          </a:p>
          <a:p>
            <a:pPr>
              <a:defRPr sz="2000">
                <a:solidFill>
                  <a:srgbClr val="444444"/>
                </a:solidFill>
              </a:defRPr>
            </a:pPr>
            <a:r>
              <a:t>Minimizes data anomalies and errors</a:t>
            </a:r>
          </a:p>
          <a:p>
            <a:pPr>
              <a:defRPr sz="2000">
                <a:solidFill>
                  <a:srgbClr val="444444"/>
                </a:solidFill>
              </a:defRPr>
            </a:pPr>
            <a:r>
              <a:t>Ensures data consistency across tables</a:t>
            </a:r>
          </a:p>
          <a:p>
            <a:pPr>
              <a:defRPr sz="2000">
                <a:solidFill>
                  <a:srgbClr val="444444"/>
                </a:solidFill>
              </a:defRPr>
            </a:pPr>
            <a:r>
              <a:t>Normal forms include 1NF, 2NF, 3NF, BCNF</a:t>
            </a:r>
          </a:p>
          <a:p>
            <a:pPr>
              <a:defRPr sz="2000">
                <a:solidFill>
                  <a:srgbClr val="444444"/>
                </a:solidFill>
              </a:defRPr>
            </a:pPr>
            <a:r>
              <a:t>First normal form eliminates repeating groups</a:t>
            </a:r>
          </a:p>
          <a:p>
            <a:pPr>
              <a:defRPr sz="2000">
                <a:solidFill>
                  <a:srgbClr val="444444"/>
                </a:solidFill>
              </a:defRPr>
            </a:pPr>
            <a:r>
              <a:t>Second normal form removes partial dependencies</a:t>
            </a:r>
          </a:p>
          <a:p>
            <a:pPr>
              <a:defRPr sz="2000">
                <a:solidFill>
                  <a:srgbClr val="444444"/>
                </a:solidFill>
              </a:defRPr>
            </a:pPr>
            <a:r>
              <a:t>Third normal form eliminates transitive dependencies</a:t>
            </a:r>
          </a:p>
          <a:p>
            <a:pPr>
              <a:defRPr sz="2000">
                <a:solidFill>
                  <a:srgbClr val="444444"/>
                </a:solidFill>
              </a:defRPr>
            </a:pPr>
            <a:r>
              <a:t>Normalization improves query performance and storage</a:t>
            </a:r>
          </a:p>
        </p:txBody>
      </p:sp>
      <p:pic>
        <p:nvPicPr>
          <p:cNvPr id="4" name="Picture 3" descr="83cf31f33bdc4bac87e6654932869259.jpg"/>
          <p:cNvPicPr>
            <a:picLocks noChangeAspect="1"/>
          </p:cNvPicPr>
          <p:nvPr/>
        </p:nvPicPr>
        <p:blipFill>
          <a:blip r:embed="rId2"/>
          <a:stretch>
            <a:fillRect/>
          </a:stretch>
        </p:blipFill>
        <p:spPr>
          <a:xfrm>
            <a:off x="7315200" y="1828800"/>
            <a:ext cx="4114800" cy="409651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Database Normalization - Fundamentals</a:t>
            </a:r>
          </a:p>
        </p:txBody>
      </p:sp>
      <p:sp>
        <p:nvSpPr>
          <p:cNvPr id="3" name="Content Placeholder 2"/>
          <p:cNvSpPr>
            <a:spLocks noGrp="1"/>
          </p:cNvSpPr>
          <p:nvPr>
            <p:ph idx="1"/>
          </p:nvPr>
        </p:nvSpPr>
        <p:spPr/>
        <p:txBody>
          <a:bodyPr/>
          <a:lstStyle/>
          <a:p>
            <a:pPr>
              <a:defRPr sz="2000">
                <a:solidFill>
                  <a:srgbClr val="444444"/>
                </a:solidFill>
              </a:defRPr>
            </a:pPr>
            <a:r>
              <a:t>Database normalization reduces data redundancy and dependency</a:t>
            </a:r>
          </a:p>
          <a:p>
            <a:pPr>
              <a:defRPr sz="2000">
                <a:solidFill>
                  <a:srgbClr val="444444"/>
                </a:solidFill>
              </a:defRPr>
            </a:pPr>
            <a:r>
              <a:t>Minimizes data anomalies and improves data integrity</a:t>
            </a:r>
          </a:p>
          <a:p>
            <a:pPr>
              <a:defRPr sz="2000">
                <a:solidFill>
                  <a:srgbClr val="444444"/>
                </a:solidFill>
              </a:defRPr>
            </a:pPr>
            <a:r>
              <a:t>Normal forms are used to measure normalization level</a:t>
            </a:r>
          </a:p>
          <a:p>
            <a:pPr>
              <a:defRPr sz="2000">
                <a:solidFill>
                  <a:srgbClr val="444444"/>
                </a:solidFill>
              </a:defRPr>
            </a:pPr>
            <a:r>
              <a:t>First normal form eliminates repeating groups</a:t>
            </a:r>
          </a:p>
          <a:p>
            <a:pPr>
              <a:defRPr sz="2000">
                <a:solidFill>
                  <a:srgbClr val="444444"/>
                </a:solidFill>
              </a:defRPr>
            </a:pPr>
            <a:r>
              <a:t>Second normal form eliminates partial dependencies</a:t>
            </a:r>
          </a:p>
          <a:p>
            <a:pPr>
              <a:defRPr sz="2000">
                <a:solidFill>
                  <a:srgbClr val="444444"/>
                </a:solidFill>
              </a:defRPr>
            </a:pPr>
            <a:r>
              <a:t>Third normal form eliminates transitive dependencies</a:t>
            </a:r>
          </a:p>
          <a:p>
            <a:pPr>
              <a:defRPr sz="2000">
                <a:solidFill>
                  <a:srgbClr val="444444"/>
                </a:solidFill>
              </a:defRPr>
            </a:pPr>
            <a:r>
              <a:t>Normalization improves scalability and flexibility</a:t>
            </a:r>
          </a:p>
          <a:p>
            <a:pPr>
              <a:defRPr sz="2000">
                <a:solidFill>
                  <a:srgbClr val="444444"/>
                </a:solidFill>
              </a:defRPr>
            </a:pPr>
            <a:r>
              <a:t>Denormalization is used for performance optimization</a:t>
            </a:r>
          </a:p>
          <a:p>
            <a:pPr>
              <a:defRPr sz="2000">
                <a:solidFill>
                  <a:srgbClr val="444444"/>
                </a:solidFill>
              </a:defRPr>
            </a:pPr>
            <a:r>
              <a:t>Normalization is crucial for database design and development</a:t>
            </a:r>
          </a:p>
          <a:p>
            <a:pPr>
              <a:defRPr sz="2000">
                <a:solidFill>
                  <a:srgbClr val="444444"/>
                </a:solidFill>
              </a:defRPr>
            </a:pPr>
            <a:r>
              <a:t>Improper normalization leads to data inconsistencies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First Normal Form (1NF) - Introduction</a:t>
            </a:r>
          </a:p>
        </p:txBody>
      </p:sp>
      <p:sp>
        <p:nvSpPr>
          <p:cNvPr id="3" name="Content Placeholder 2"/>
          <p:cNvSpPr>
            <a:spLocks noGrp="1"/>
          </p:cNvSpPr>
          <p:nvPr>
            <p:ph idx="1"/>
          </p:nvPr>
        </p:nvSpPr>
        <p:spPr/>
        <p:txBody>
          <a:bodyPr/>
          <a:lstStyle/>
          <a:p>
            <a:pPr>
              <a:defRPr sz="2000">
                <a:solidFill>
                  <a:srgbClr val="444444"/>
                </a:solidFill>
              </a:defRPr>
            </a:pPr>
            <a:r>
              <a:t>First Normal Form ensures atomic values in tables</a:t>
            </a:r>
          </a:p>
          <a:p>
            <a:pPr>
              <a:defRPr sz="2000">
                <a:solidFill>
                  <a:srgbClr val="444444"/>
                </a:solidFill>
              </a:defRPr>
            </a:pPr>
            <a:r>
              <a:t>Eliminates repeating groups or arrays in columns</a:t>
            </a:r>
          </a:p>
          <a:p>
            <a:pPr>
              <a:defRPr sz="2000">
                <a:solidFill>
                  <a:srgbClr val="444444"/>
                </a:solidFill>
              </a:defRPr>
            </a:pPr>
            <a:r>
              <a:t>Each cell contains single, unique value only</a:t>
            </a:r>
          </a:p>
          <a:p>
            <a:pPr>
              <a:defRPr sz="2000">
                <a:solidFill>
                  <a:srgbClr val="444444"/>
                </a:solidFill>
              </a:defRPr>
            </a:pPr>
            <a:r>
              <a:t>Reduces data redundancy and inconsistencies</a:t>
            </a:r>
          </a:p>
          <a:p>
            <a:pPr>
              <a:defRPr sz="2000">
                <a:solidFill>
                  <a:srgbClr val="444444"/>
                </a:solidFill>
              </a:defRPr>
            </a:pPr>
            <a:r>
              <a:t>Improves data scalability and flexibility</a:t>
            </a:r>
          </a:p>
          <a:p>
            <a:pPr>
              <a:defRPr sz="2000">
                <a:solidFill>
                  <a:srgbClr val="444444"/>
                </a:solidFill>
              </a:defRPr>
            </a:pPr>
            <a:r>
              <a:t>Essential for relational database design</a:t>
            </a:r>
          </a:p>
          <a:p>
            <a:pPr>
              <a:defRPr sz="2000">
                <a:solidFill>
                  <a:srgbClr val="444444"/>
                </a:solidFill>
              </a:defRPr>
            </a:pPr>
            <a:r>
              <a:t>Applies to relational databases only</a:t>
            </a:r>
          </a:p>
          <a:p>
            <a:pPr>
              <a:defRPr sz="2000">
                <a:solidFill>
                  <a:srgbClr val="444444"/>
                </a:solidFill>
              </a:defRPr>
            </a:pPr>
            <a:r>
              <a:t>Violations lead to data anomalies and errors</a:t>
            </a:r>
          </a:p>
          <a:p>
            <a:pPr>
              <a:defRPr sz="2000">
                <a:solidFill>
                  <a:srgbClr val="444444"/>
                </a:solidFill>
              </a:defRPr>
            </a:pPr>
            <a:r>
              <a:t>Normalization starts with 1NF as foundation</a:t>
            </a:r>
          </a:p>
          <a:p>
            <a:pPr>
              <a:defRPr sz="2000">
                <a:solidFill>
                  <a:srgbClr val="444444"/>
                </a:solidFill>
              </a:defRPr>
            </a:pPr>
            <a:r>
              <a:t>Higher normal forms build upon 1NF principles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First Normal Form (1NF) - Introduction</a:t>
            </a:r>
          </a:p>
        </p:txBody>
      </p:sp>
      <p:sp>
        <p:nvSpPr>
          <p:cNvPr id="3" name="Content Placeholder 2"/>
          <p:cNvSpPr>
            <a:spLocks noGrp="1"/>
          </p:cNvSpPr>
          <p:nvPr>
            <p:ph idx="1"/>
          </p:nvPr>
        </p:nvSpPr>
        <p:spPr/>
        <p:txBody>
          <a:bodyPr/>
          <a:lstStyle/>
          <a:p>
            <a:pPr>
              <a:defRPr sz="2000">
                <a:solidFill>
                  <a:srgbClr val="444444"/>
                </a:solidFill>
              </a:defRPr>
            </a:pPr>
            <a:r>
              <a:t>First Normal Form eliminates repeating groups</a:t>
            </a:r>
          </a:p>
          <a:p>
            <a:pPr>
              <a:defRPr sz="2000">
                <a:solidFill>
                  <a:srgbClr val="444444"/>
                </a:solidFill>
              </a:defRPr>
            </a:pPr>
            <a:r>
              <a:t>Each cell contains single value only</a:t>
            </a:r>
          </a:p>
          <a:p>
            <a:pPr>
              <a:defRPr sz="2000">
                <a:solidFill>
                  <a:srgbClr val="444444"/>
                </a:solidFill>
              </a:defRPr>
            </a:pPr>
            <a:r>
              <a:t>No repeating columns or groups allowed</a:t>
            </a:r>
          </a:p>
          <a:p>
            <a:pPr>
              <a:defRPr sz="2000">
                <a:solidFill>
                  <a:srgbClr val="444444"/>
                </a:solidFill>
              </a:defRPr>
            </a:pPr>
            <a:r>
              <a:t>Each row is unique in 1NF tables</a:t>
            </a:r>
          </a:p>
          <a:p>
            <a:pPr>
              <a:defRPr sz="2000">
                <a:solidFill>
                  <a:srgbClr val="444444"/>
                </a:solidFill>
              </a:defRPr>
            </a:pPr>
            <a:r>
              <a:t>No two rows have same primary key</a:t>
            </a:r>
          </a:p>
          <a:p>
            <a:pPr>
              <a:defRPr sz="2000">
                <a:solidFill>
                  <a:srgbClr val="444444"/>
                </a:solidFill>
              </a:defRPr>
            </a:pPr>
            <a:r>
              <a:t>Tables are organized into columns and rows</a:t>
            </a:r>
          </a:p>
          <a:p>
            <a:pPr>
              <a:defRPr sz="2000">
                <a:solidFill>
                  <a:srgbClr val="444444"/>
                </a:solidFill>
              </a:defRPr>
            </a:pPr>
            <a:r>
              <a:t>1NF is foundation for higher normal forms</a:t>
            </a:r>
          </a:p>
          <a:p>
            <a:pPr>
              <a:defRPr sz="2000">
                <a:solidFill>
                  <a:srgbClr val="444444"/>
                </a:solidFill>
              </a:defRPr>
            </a:pPr>
            <a:r>
              <a:t>Improves data integrity and reduces anomalies</a:t>
            </a:r>
          </a:p>
          <a:p>
            <a:pPr>
              <a:defRPr sz="2000">
                <a:solidFill>
                  <a:srgbClr val="444444"/>
                </a:solidFill>
              </a:defRPr>
            </a:pPr>
            <a:r>
              <a:t>Enhances scalability and data management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First Normal Form (1NF) - Introduction</a:t>
            </a:r>
          </a:p>
        </p:txBody>
      </p:sp>
      <p:sp>
        <p:nvSpPr>
          <p:cNvPr id="3" name="Content Placeholder 2"/>
          <p:cNvSpPr>
            <a:spLocks noGrp="1"/>
          </p:cNvSpPr>
          <p:nvPr>
            <p:ph idx="1"/>
          </p:nvPr>
        </p:nvSpPr>
        <p:spPr/>
        <p:txBody>
          <a:bodyPr/>
          <a:lstStyle/>
          <a:p>
            <a:pPr>
              <a:defRPr sz="2000">
                <a:solidFill>
                  <a:srgbClr val="444444"/>
                </a:solidFill>
              </a:defRPr>
            </a:pPr>
            <a:r>
              <a:t>First Normal Form defines a table with no repeating groups</a:t>
            </a:r>
          </a:p>
          <a:p>
            <a:pPr>
              <a:defRPr sz="2000">
                <a:solidFill>
                  <a:srgbClr val="444444"/>
                </a:solidFill>
              </a:defRPr>
            </a:pPr>
            <a:r>
              <a:t>Each cell contains a single value, no lists or arrays</a:t>
            </a:r>
          </a:p>
          <a:p>
            <a:pPr>
              <a:defRPr sz="2000">
                <a:solidFill>
                  <a:srgbClr val="444444"/>
                </a:solidFill>
              </a:defRPr>
            </a:pPr>
            <a:r>
              <a:t>Tables are organized into rows and columns</a:t>
            </a:r>
          </a:p>
          <a:p>
            <a:pPr>
              <a:defRPr sz="2000">
                <a:solidFill>
                  <a:srgbClr val="444444"/>
                </a:solidFill>
              </a:defRPr>
            </a:pPr>
            <a:r>
              <a:t>Each row represents a single record or tuple</a:t>
            </a:r>
          </a:p>
          <a:p>
            <a:pPr>
              <a:defRPr sz="2000">
                <a:solidFill>
                  <a:srgbClr val="444444"/>
                </a:solidFill>
              </a:defRPr>
            </a:pPr>
            <a:r>
              <a:t>Each column represents a field or attribute</a:t>
            </a:r>
          </a:p>
          <a:p>
            <a:pPr>
              <a:defRPr sz="2000">
                <a:solidFill>
                  <a:srgbClr val="444444"/>
                </a:solidFill>
              </a:defRPr>
            </a:pPr>
            <a:r>
              <a:t>1NF eliminates repeating data, reduces data redundancy</a:t>
            </a:r>
          </a:p>
          <a:p>
            <a:pPr>
              <a:defRPr sz="2000">
                <a:solidFill>
                  <a:srgbClr val="444444"/>
                </a:solidFill>
              </a:defRPr>
            </a:pPr>
            <a:r>
              <a:t>Improves data integrity, reduces data inconsistencies</a:t>
            </a:r>
          </a:p>
          <a:p>
            <a:pPr>
              <a:defRPr sz="2000">
                <a:solidFill>
                  <a:srgbClr val="444444"/>
                </a:solidFill>
              </a:defRPr>
            </a:pPr>
            <a:r>
              <a:t>Essential for relational database management systems</a:t>
            </a:r>
          </a:p>
          <a:p>
            <a:pPr>
              <a:defRPr sz="2000">
                <a:solidFill>
                  <a:srgbClr val="444444"/>
                </a:solidFill>
              </a:defRPr>
            </a:pPr>
            <a:r>
              <a:t>Prepares data for further normalization, if needed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Second Normal Form (2NF) - Introduction</a:t>
            </a:r>
          </a:p>
        </p:txBody>
      </p:sp>
      <p:sp>
        <p:nvSpPr>
          <p:cNvPr id="3" name="Content Placeholder 2"/>
          <p:cNvSpPr>
            <a:spLocks noGrp="1"/>
          </p:cNvSpPr>
          <p:nvPr>
            <p:ph idx="1"/>
          </p:nvPr>
        </p:nvSpPr>
        <p:spPr/>
        <p:txBody>
          <a:bodyPr/>
          <a:lstStyle/>
          <a:p>
            <a:pPr>
              <a:defRPr sz="2000">
                <a:solidFill>
                  <a:srgbClr val="444444"/>
                </a:solidFill>
              </a:defRPr>
            </a:pPr>
            <a:r>
              <a:t>Defines a database table with no partial dependencies</a:t>
            </a:r>
          </a:p>
          <a:p>
            <a:pPr>
              <a:defRPr sz="2000">
                <a:solidFill>
                  <a:srgbClr val="444444"/>
                </a:solidFill>
              </a:defRPr>
            </a:pPr>
            <a:r>
              <a:t>Each non-key attribute depends on the entire primary key</a:t>
            </a:r>
          </a:p>
          <a:p>
            <a:pPr>
              <a:defRPr sz="2000">
                <a:solidFill>
                  <a:srgbClr val="444444"/>
                </a:solidFill>
              </a:defRPr>
            </a:pPr>
            <a:r>
              <a:t>Eliminates data redundancy and anomalies</a:t>
            </a:r>
          </a:p>
          <a:p>
            <a:pPr>
              <a:defRPr sz="2000">
                <a:solidFill>
                  <a:srgbClr val="444444"/>
                </a:solidFill>
              </a:defRPr>
            </a:pPr>
            <a:r>
              <a:t>Improves data integrity and consistency</a:t>
            </a:r>
          </a:p>
          <a:p>
            <a:pPr>
              <a:defRPr sz="2000">
                <a:solidFill>
                  <a:srgbClr val="444444"/>
                </a:solidFill>
              </a:defRPr>
            </a:pPr>
            <a:r>
              <a:t>Requires a table to be in First Normal Form (1NF)</a:t>
            </a:r>
          </a:p>
          <a:p>
            <a:pPr>
              <a:defRPr sz="2000">
                <a:solidFill>
                  <a:srgbClr val="444444"/>
                </a:solidFill>
              </a:defRPr>
            </a:pPr>
            <a:r>
              <a:t>No non-key attribute depends on a subset of the primary key</a:t>
            </a:r>
          </a:p>
          <a:p>
            <a:pPr>
              <a:defRPr sz="2000">
                <a:solidFill>
                  <a:srgbClr val="444444"/>
                </a:solidFill>
              </a:defRPr>
            </a:pPr>
            <a:r>
              <a:t>Key attributes are uniquely identified</a:t>
            </a:r>
          </a:p>
          <a:p>
            <a:pPr>
              <a:defRPr sz="2000">
                <a:solidFill>
                  <a:srgbClr val="444444"/>
                </a:solidFill>
              </a:defRPr>
            </a:pPr>
            <a:r>
              <a:t>Reduces data duplication and improves scalability</a:t>
            </a:r>
          </a:p>
          <a:p>
            <a:pPr>
              <a:defRPr sz="2000">
                <a:solidFill>
                  <a:srgbClr val="444444"/>
                </a:solidFill>
              </a:defRPr>
            </a:pPr>
            <a:r>
              <a:t>Essential for relational database design and optimization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Second Normal Form (2NF) - Introduction</a:t>
            </a:r>
          </a:p>
        </p:txBody>
      </p:sp>
      <p:sp>
        <p:nvSpPr>
          <p:cNvPr id="3" name="Content Placeholder 2"/>
          <p:cNvSpPr>
            <a:spLocks noGrp="1"/>
          </p:cNvSpPr>
          <p:nvPr>
            <p:ph idx="1"/>
          </p:nvPr>
        </p:nvSpPr>
        <p:spPr/>
        <p:txBody>
          <a:bodyPr/>
          <a:lstStyle/>
          <a:p>
            <a:pPr>
              <a:defRPr sz="2000">
                <a:solidFill>
                  <a:srgbClr val="444444"/>
                </a:solidFill>
              </a:defRPr>
            </a:pPr>
            <a:r>
              <a:t>Define Second Normal Form as a database standard</a:t>
            </a:r>
          </a:p>
          <a:p>
            <a:pPr>
              <a:defRPr sz="2000">
                <a:solidFill>
                  <a:srgbClr val="444444"/>
                </a:solidFill>
              </a:defRPr>
            </a:pPr>
            <a:r>
              <a:t>Ensure no partial dependencies in a table</a:t>
            </a:r>
          </a:p>
          <a:p>
            <a:pPr>
              <a:defRPr sz="2000">
                <a:solidFill>
                  <a:srgbClr val="444444"/>
                </a:solidFill>
              </a:defRPr>
            </a:pPr>
            <a:r>
              <a:t>Each non-key attribute depends on entire primary key</a:t>
            </a:r>
          </a:p>
          <a:p>
            <a:pPr>
              <a:defRPr sz="2000">
                <a:solidFill>
                  <a:srgbClr val="444444"/>
                </a:solidFill>
              </a:defRPr>
            </a:pPr>
            <a:r>
              <a:t>Eliminate redundant data with 2NF compliance</a:t>
            </a:r>
          </a:p>
          <a:p>
            <a:pPr>
              <a:defRPr sz="2000">
                <a:solidFill>
                  <a:srgbClr val="444444"/>
                </a:solidFill>
              </a:defRPr>
            </a:pPr>
            <a:r>
              <a:t>Prevent data anomalies and inconsistencies</a:t>
            </a:r>
          </a:p>
          <a:p>
            <a:pPr>
              <a:defRPr sz="2000">
                <a:solidFill>
                  <a:srgbClr val="444444"/>
                </a:solidFill>
              </a:defRPr>
            </a:pPr>
            <a:r>
              <a:t>Improve data integrity and scalability</a:t>
            </a:r>
          </a:p>
          <a:p>
            <a:pPr>
              <a:defRPr sz="2000">
                <a:solidFill>
                  <a:srgbClr val="444444"/>
                </a:solidFill>
              </a:defRPr>
            </a:pPr>
            <a:r>
              <a:t>Support relational database management systems</a:t>
            </a:r>
          </a:p>
          <a:p>
            <a:pPr>
              <a:defRPr sz="2000">
                <a:solidFill>
                  <a:srgbClr val="444444"/>
                </a:solidFill>
              </a:defRPr>
            </a:pPr>
            <a:r>
              <a:t>Apply 2NF to resolve data normalization issues</a:t>
            </a:r>
          </a:p>
          <a:p>
            <a:pPr>
              <a:defRPr sz="2000">
                <a:solidFill>
                  <a:srgbClr val="444444"/>
                </a:solidFill>
              </a:defRPr>
            </a:pPr>
            <a:r>
              <a:t>Ensure data consistency across related tables</a:t>
            </a:r>
          </a:p>
          <a:p>
            <a:pPr>
              <a:defRPr sz="2000">
                <a:solidFill>
                  <a:srgbClr val="444444"/>
                </a:solidFill>
              </a:defRPr>
            </a:pPr>
            <a:r>
              <a:t>Facilitate efficient data retrieval and storage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