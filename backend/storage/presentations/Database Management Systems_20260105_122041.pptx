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Database Management Systems presentation covering multiple topics. Today we'll explore: Indexing, Hashing.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explain its role in improving database query performance. Provide examples of how indexing supports various data types and structures, and how it enhances data organization and management. Discuss the different indexing methods, such as hashing and B-tree indexing, and their applications. Ask students to consider the trade-offs between different indexing techniques and how they impact query execution time. Key takeaways include understanding the importance of indexing in database management and the various indexing methods and their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explain how it enhances database performance by allowing for faster data retrieval. Provide examples of different indexing methods, such as B-tree and hash indexing. Discuss how indexing reduces disk I/O operations and supports query optimization. Ask students to consider scenarios where indexing would be particularly beneficial, such as in large databases with frequent queries. Key takeaways include understanding the role of indexing in database management and its impact on query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indexing, explain its role in enhancing database performance, particularly for large datasets. Discuss how indexing reduces the time and resources needed for query execution. Provide examples of different types of indexes, such as B-Tree and Hash indexes, and explain their applications. Emphasize the importance of indexing in database management systems and how it supports efficient data retrieval and storage. Ask students to consider scenarios where indexing would be particularly beneficial, such as in e-commerce databases or social media platforms. Key takeaways should include the definition, types, and benefits of indexing in DBMS.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 concept of hashing and its importance in database management systems. Provide examples of hash functions and their applications, such as password storage and data indexing. Discuss the issue of collision resolution and its significance in hashing. Emphasize the benefits of hashing, including efficient data storage and retrieval. Ask students to consider the trade-offs between hash function strength and computational overhead. Key takeaways include understanding the role of hashing in database systems and its relevance to security and data management.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hashing, explain that it's a fundamental concept in database management systems, allowing for efficient data storage and retrieval. Provide examples of hashing in real-world applications, such as password storage and data indexing. Discuss the importance of hash functions being one-way operations and the potential for collisions. Ask students to consider the trade-offs between different hashing algorithms, such as security and speed. Key takeaways include understanding the basics of hashing and its applications in database management systems.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Management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Indexing, Hashing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Faster data retrieval and storage access</a:t>
            </a:r>
          </a:p>
          <a:p>
            <a:pPr>
              <a:defRPr sz="2000">
                <a:solidFill>
                  <a:srgbClr val="444444"/>
                </a:solidFill>
              </a:defRPr>
            </a:pPr>
            <a:r>
              <a:t>Supports various data types and structures</a:t>
            </a:r>
          </a:p>
          <a:p>
            <a:pPr>
              <a:defRPr sz="2000">
                <a:solidFill>
                  <a:srgbClr val="444444"/>
                </a:solidFill>
              </a:defRPr>
            </a:pPr>
            <a:r>
              <a:t>Enhances data organization and management</a:t>
            </a:r>
          </a:p>
          <a:p>
            <a:pPr>
              <a:defRPr sz="2000">
                <a:solidFill>
                  <a:srgbClr val="444444"/>
                </a:solidFill>
              </a:defRPr>
            </a:pPr>
            <a:r>
              <a:t>Reduces query execution time significantly</a:t>
            </a:r>
          </a:p>
          <a:p>
            <a:pPr>
              <a:defRPr sz="2000">
                <a:solidFill>
                  <a:srgbClr val="444444"/>
                </a:solidFill>
              </a:defRPr>
            </a:pPr>
            <a:r>
              <a:t>Optimizes database storage and retrieval</a:t>
            </a:r>
          </a:p>
          <a:p>
            <a:pPr>
              <a:defRPr sz="2000">
                <a:solidFill>
                  <a:srgbClr val="444444"/>
                </a:solidFill>
              </a:defRPr>
            </a:pPr>
            <a:r>
              <a:t>Common indexing methods include hashing</a:t>
            </a:r>
          </a:p>
          <a:p>
            <a:pPr>
              <a:defRPr sz="2000">
                <a:solidFill>
                  <a:srgbClr val="444444"/>
                </a:solidFill>
              </a:defRPr>
            </a:pPr>
            <a:r>
              <a:t>B-tree indexing for efficient data access</a:t>
            </a:r>
          </a:p>
          <a:p>
            <a:pPr>
              <a:defRPr sz="2000">
                <a:solidFill>
                  <a:srgbClr val="444444"/>
                </a:solidFill>
              </a:defRPr>
            </a:pPr>
            <a:r>
              <a:t>Clustered and non-clustered indexing types</a:t>
            </a:r>
          </a:p>
          <a:p>
            <a:pPr>
              <a:defRPr sz="2000">
                <a:solidFill>
                  <a:srgbClr val="444444"/>
                </a:solidFill>
              </a:defRPr>
            </a:pPr>
            <a:r>
              <a:t>Indexing is crucial for large databases</a:t>
            </a:r>
          </a:p>
        </p:txBody>
      </p:sp>
      <p:pic>
        <p:nvPicPr>
          <p:cNvPr id="4" name="Picture 3" descr="39b200dba6ef44e595e4a677a58da497_indexing_hashing_database_management_sys.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database query performance significantly</a:t>
            </a:r>
          </a:p>
          <a:p>
            <a:pPr>
              <a:defRPr sz="2000">
                <a:solidFill>
                  <a:srgbClr val="444444"/>
                </a:solidFill>
              </a:defRPr>
            </a:pPr>
            <a:r>
              <a:t>Indexes are data structures for fast data retrieval</a:t>
            </a:r>
          </a:p>
          <a:p>
            <a:pPr>
              <a:defRPr sz="2000">
                <a:solidFill>
                  <a:srgbClr val="444444"/>
                </a:solidFill>
              </a:defRPr>
            </a:pPr>
            <a:r>
              <a:t>B-tree indexing is a common indexing method used</a:t>
            </a:r>
          </a:p>
          <a:p>
            <a:pPr>
              <a:defRPr sz="2000">
                <a:solidFill>
                  <a:srgbClr val="444444"/>
                </a:solidFill>
              </a:defRPr>
            </a:pPr>
            <a:r>
              <a:t>Hash indexing is used for equality searches</a:t>
            </a:r>
          </a:p>
          <a:p>
            <a:pPr>
              <a:defRPr sz="2000">
                <a:solidFill>
                  <a:srgbClr val="444444"/>
                </a:solidFill>
              </a:defRPr>
            </a:pPr>
            <a:r>
              <a:t>Indexing reduces disk I/O operations</a:t>
            </a:r>
          </a:p>
          <a:p>
            <a:pPr>
              <a:defRPr sz="2000">
                <a:solidFill>
                  <a:srgbClr val="444444"/>
                </a:solidFill>
              </a:defRPr>
            </a:pPr>
            <a:r>
              <a:t>Creates a quick path to locate data</a:t>
            </a:r>
          </a:p>
          <a:p>
            <a:pPr>
              <a:defRPr sz="2000">
                <a:solidFill>
                  <a:srgbClr val="444444"/>
                </a:solidFill>
              </a:defRPr>
            </a:pPr>
            <a:r>
              <a:t>Supports query optimization techniques</a:t>
            </a:r>
          </a:p>
          <a:p>
            <a:pPr>
              <a:defRPr sz="2000">
                <a:solidFill>
                  <a:srgbClr val="444444"/>
                </a:solidFill>
              </a:defRPr>
            </a:pPr>
            <a:r>
              <a:t>Enhances data retrieval efficiency</a:t>
            </a:r>
          </a:p>
          <a:p>
            <a:pPr>
              <a:defRPr sz="2000">
                <a:solidFill>
                  <a:srgbClr val="444444"/>
                </a:solidFill>
              </a:defRPr>
            </a:pPr>
            <a:r>
              <a:t>Reduces query execution time</a:t>
            </a:r>
          </a:p>
        </p:txBody>
      </p:sp>
      <p:pic>
        <p:nvPicPr>
          <p:cNvPr id="4" name="Picture 3" descr="8a1a601c7e4d450d99e2b0e03e2e952b_indexing_hashing_database_management_sys.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Indexing - Introduction</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a:t>
            </a:r>
          </a:p>
          <a:p>
            <a:pPr>
              <a:defRPr sz="2000">
                <a:solidFill>
                  <a:srgbClr val="444444"/>
                </a:solidFill>
              </a:defRPr>
            </a:pPr>
            <a:r>
              <a:t>Faster data retrieval and storage operations</a:t>
            </a:r>
          </a:p>
          <a:p>
            <a:pPr>
              <a:defRPr sz="2000">
                <a:solidFill>
                  <a:srgbClr val="444444"/>
                </a:solidFill>
              </a:defRPr>
            </a:pPr>
            <a:r>
              <a:t>Reduces disk I/O and CPU usage significantly</a:t>
            </a:r>
          </a:p>
          <a:p>
            <a:pPr>
              <a:defRPr sz="2000">
                <a:solidFill>
                  <a:srgbClr val="444444"/>
                </a:solidFill>
              </a:defRPr>
            </a:pPr>
            <a:r>
              <a:t>Supports efficient data sorting and searching</a:t>
            </a:r>
          </a:p>
          <a:p>
            <a:pPr>
              <a:defRPr sz="2000">
                <a:solidFill>
                  <a:srgbClr val="444444"/>
                </a:solidFill>
              </a:defRPr>
            </a:pPr>
            <a:r>
              <a:t>Enhances overall database management efficiency</a:t>
            </a:r>
          </a:p>
          <a:p>
            <a:pPr>
              <a:defRPr sz="2000">
                <a:solidFill>
                  <a:srgbClr val="444444"/>
                </a:solidFill>
              </a:defRPr>
            </a:pPr>
            <a:r>
              <a:t>Types of indexes include B-Tree and Hash</a:t>
            </a:r>
          </a:p>
          <a:p>
            <a:pPr>
              <a:defRPr sz="2000">
                <a:solidFill>
                  <a:srgbClr val="444444"/>
                </a:solidFill>
              </a:defRPr>
            </a:pPr>
            <a:r>
              <a:t>Indexing is crucial for large databases management</a:t>
            </a:r>
          </a:p>
          <a:p>
            <a:pPr>
              <a:defRPr sz="2000">
                <a:solidFill>
                  <a:srgbClr val="444444"/>
                </a:solidFill>
              </a:defRPr>
            </a:pPr>
            <a:r>
              <a:t>Reduces query execution time and costs</a:t>
            </a:r>
          </a:p>
          <a:p>
            <a:pPr>
              <a:defRPr sz="2000">
                <a:solidFill>
                  <a:srgbClr val="444444"/>
                </a:solidFill>
              </a:defRPr>
            </a:pPr>
            <a:r>
              <a:t>Common indexing techniques used in DBMS</a:t>
            </a:r>
          </a:p>
          <a:p>
            <a:pPr>
              <a:defRPr sz="2000">
                <a:solidFill>
                  <a:srgbClr val="444444"/>
                </a:solidFill>
              </a:defRPr>
            </a:pPr>
            <a:r>
              <a:t>Indexing algorithms optimize database performance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Hashing - Introduction</a:t>
            </a:r>
          </a:p>
        </p:txBody>
      </p:sp>
      <p:sp>
        <p:nvSpPr>
          <p:cNvPr id="3" name="Content Placeholder 2"/>
          <p:cNvSpPr>
            <a:spLocks noGrp="1"/>
          </p:cNvSpPr>
          <p:nvPr>
            <p:ph idx="1"/>
          </p:nvPr>
        </p:nvSpPr>
        <p:spPr/>
        <p:txBody>
          <a:bodyPr/>
          <a:lstStyle/>
          <a:p>
            <a:pPr>
              <a:defRPr sz="2000">
                <a:solidFill>
                  <a:srgbClr val="444444"/>
                </a:solidFill>
              </a:defRPr>
            </a:pPr>
            <a:r>
              <a:t>Hashing maps large data to fixed-size values</a:t>
            </a:r>
          </a:p>
          <a:p>
            <a:pPr>
              <a:defRPr sz="2000">
                <a:solidFill>
                  <a:srgbClr val="444444"/>
                </a:solidFill>
              </a:defRPr>
            </a:pPr>
            <a:r>
              <a:t>Used for efficient data storage and retrieval</a:t>
            </a:r>
          </a:p>
          <a:p>
            <a:pPr>
              <a:defRPr sz="2000">
                <a:solidFill>
                  <a:srgbClr val="444444"/>
                </a:solidFill>
              </a:defRPr>
            </a:pPr>
            <a:r>
              <a:t>Hash functions are one-way, non-invertible</a:t>
            </a:r>
          </a:p>
          <a:p>
            <a:pPr>
              <a:defRPr sz="2000">
                <a:solidFill>
                  <a:srgbClr val="444444"/>
                </a:solidFill>
              </a:defRPr>
            </a:pPr>
            <a:r>
              <a:t>Common hash functions include MD5, SHA-1</a:t>
            </a:r>
          </a:p>
          <a:p>
            <a:pPr>
              <a:defRPr sz="2000">
                <a:solidFill>
                  <a:srgbClr val="444444"/>
                </a:solidFill>
              </a:defRPr>
            </a:pPr>
            <a:r>
              <a:t>Hashing applies to database indexing, caching</a:t>
            </a:r>
          </a:p>
          <a:p>
            <a:pPr>
              <a:defRPr sz="2000">
                <a:solidFill>
                  <a:srgbClr val="444444"/>
                </a:solidFill>
              </a:defRPr>
            </a:pPr>
            <a:r>
              <a:t>Collision resolution is crucial in hashing</a:t>
            </a:r>
          </a:p>
          <a:p>
            <a:pPr>
              <a:defRPr sz="2000">
                <a:solidFill>
                  <a:srgbClr val="444444"/>
                </a:solidFill>
              </a:defRPr>
            </a:pPr>
            <a:r>
              <a:t>Hash tables store key-value pairs efficiently</a:t>
            </a:r>
          </a:p>
          <a:p>
            <a:pPr>
              <a:defRPr sz="2000">
                <a:solidFill>
                  <a:srgbClr val="444444"/>
                </a:solidFill>
              </a:defRPr>
            </a:pPr>
            <a:r>
              <a:t>Hashing supports fast data lookup, insertion</a:t>
            </a:r>
          </a:p>
          <a:p>
            <a:pPr>
              <a:defRPr sz="2000">
                <a:solidFill>
                  <a:srgbClr val="444444"/>
                </a:solidFill>
              </a:defRPr>
            </a:pPr>
            <a:r>
              <a:t>Example: password storage uses hashing</a:t>
            </a:r>
          </a:p>
          <a:p>
            <a:pPr>
              <a:defRPr sz="2000">
                <a:solidFill>
                  <a:srgbClr val="444444"/>
                </a:solidFill>
              </a:defRPr>
            </a:pPr>
            <a:r>
              <a:t>Security relies on hash function strength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Hashing - Introduction</a:t>
            </a:r>
          </a:p>
        </p:txBody>
      </p:sp>
      <p:sp>
        <p:nvSpPr>
          <p:cNvPr id="3" name="Content Placeholder 2"/>
          <p:cNvSpPr>
            <a:spLocks noGrp="1"/>
          </p:cNvSpPr>
          <p:nvPr>
            <p:ph idx="1"/>
          </p:nvPr>
        </p:nvSpPr>
        <p:spPr/>
        <p:txBody>
          <a:bodyPr/>
          <a:lstStyle/>
          <a:p>
            <a:pPr>
              <a:defRPr sz="2000">
                <a:solidFill>
                  <a:srgbClr val="444444"/>
                </a:solidFill>
              </a:defRPr>
            </a:pPr>
            <a:r>
              <a:t>Hashing maps large data to fixed-size values</a:t>
            </a:r>
          </a:p>
          <a:p>
            <a:pPr>
              <a:defRPr sz="2000">
                <a:solidFill>
                  <a:srgbClr val="444444"/>
                </a:solidFill>
              </a:defRPr>
            </a:pPr>
            <a:r>
              <a:t>Used for data indexing and retrieval</a:t>
            </a:r>
          </a:p>
          <a:p>
            <a:pPr>
              <a:defRPr sz="2000">
                <a:solidFill>
                  <a:srgbClr val="444444"/>
                </a:solidFill>
              </a:defRPr>
            </a:pPr>
            <a:r>
              <a:t>Fast lookup, insertion, and deletion</a:t>
            </a:r>
          </a:p>
          <a:p>
            <a:pPr>
              <a:defRPr sz="2000">
                <a:solidFill>
                  <a:srgbClr val="444444"/>
                </a:solidFill>
              </a:defRPr>
            </a:pPr>
            <a:r>
              <a:t>Hash functions are one-way operations</a:t>
            </a:r>
          </a:p>
          <a:p>
            <a:pPr>
              <a:defRPr sz="2000">
                <a:solidFill>
                  <a:srgbClr val="444444"/>
                </a:solidFill>
              </a:defRPr>
            </a:pPr>
            <a:r>
              <a:t>Hash tables store key-value pairs</a:t>
            </a:r>
          </a:p>
          <a:p>
            <a:pPr>
              <a:defRPr sz="2000">
                <a:solidFill>
                  <a:srgbClr val="444444"/>
                </a:solidFill>
              </a:defRPr>
            </a:pPr>
            <a:r>
              <a:t>Collisions occur when two keys hash same</a:t>
            </a:r>
          </a:p>
          <a:p>
            <a:pPr>
              <a:defRPr sz="2000">
                <a:solidFill>
                  <a:srgbClr val="444444"/>
                </a:solidFill>
              </a:defRPr>
            </a:pPr>
            <a:r>
              <a:t>Hashing used in databases and file systems</a:t>
            </a:r>
          </a:p>
          <a:p>
            <a:pPr>
              <a:defRPr sz="2000">
                <a:solidFill>
                  <a:srgbClr val="444444"/>
                </a:solidFill>
              </a:defRPr>
            </a:pPr>
            <a:r>
              <a:t>Example: password storage uses hashing</a:t>
            </a:r>
          </a:p>
          <a:p>
            <a:pPr>
              <a:defRPr sz="2000">
                <a:solidFill>
                  <a:srgbClr val="444444"/>
                </a:solidFill>
              </a:defRPr>
            </a:pPr>
            <a:r>
              <a:t>Hashing algorithms include SHA-256 and MD5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