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topic of Recurrent Neural Networks, a fundamental component of deep learning. Today, we'll explore the architecture, variants, and applications of RNNs. Ask students if they have any prior knowledge of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RNNs are designed to handle sequential data, which is essential for many real-world applications. Provide examples such as speech recognition and language modeling. Ask students to think about how RNNs can be used in their own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Show the RNN architecture diagram and explain the key components, including the input gate, output gate, and cell state. Write the simple RNN equation on the board and explain its significance. Discuss the challenges of training RNNs, such as vanishing gradients and exploding gradients.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variants of RNNs, including LSTMs and GRUs, and explain their advantages and disadvantages. Provide examples of how these variants can be used in different applications. Ask students to consider which variant would be most suitable for a given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various applications of RNNs, including speech recognition and language modeling. Explain the advantages of using RNNs, such as their ability to handle sequential data. Also, discuss the limitations of RNNs, including vanishing gradients and overfitting. Ask students to think about how RNNs can be improved for real-world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lecture, including the architecture, variants, and applications of RNNs. Emphasize the importance of handling sequential data and the challenges of training RNNs. Ask students to reflect on what they have learned and how they can apply it to their own projects. Provide additional resources for further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Intro/Background</a:t>
            </a:r>
          </a:p>
        </p:txBody>
      </p:sp>
      <p:sp>
        <p:nvSpPr>
          <p:cNvPr id="3" name="Content Placeholder 2"/>
          <p:cNvSpPr>
            <a:spLocks noGrp="1"/>
          </p:cNvSpPr>
          <p:nvPr>
            <p:ph idx="1"/>
          </p:nvPr>
        </p:nvSpPr>
        <p:spPr/>
        <p:txBody>
          <a:bodyPr/>
          <a:lstStyle/>
          <a:p>
            <a:pPr>
              <a:defRPr sz="2000">
                <a:solidFill>
                  <a:srgbClr val="444444"/>
                </a:solidFill>
              </a:defRPr>
            </a:pPr>
            <a:r>
              <a:t>RNNs process sequential data</a:t>
            </a:r>
          </a:p>
          <a:p>
            <a:pPr>
              <a:defRPr sz="2000">
                <a:solidFill>
                  <a:srgbClr val="444444"/>
                </a:solidFill>
              </a:defRPr>
            </a:pPr>
            <a:r>
              <a:t>Used in speech recognition, language modeling</a:t>
            </a:r>
          </a:p>
          <a:p>
            <a:pPr>
              <a:defRPr sz="2000">
                <a:solidFill>
                  <a:srgbClr val="444444"/>
                </a:solidFill>
              </a:defRPr>
            </a:pPr>
            <a:r>
              <a:t>Can learn long-term dependencies</a:t>
            </a:r>
          </a:p>
          <a:p>
            <a:pPr>
              <a:defRPr sz="2000">
                <a:solidFill>
                  <a:srgbClr val="444444"/>
                </a:solidFill>
              </a:defRPr>
            </a:pPr>
            <a:r>
              <a:t>Handle variable-length inputs</a:t>
            </a:r>
          </a:p>
          <a:p>
            <a:pPr>
              <a:defRPr sz="2000">
                <a:solidFill>
                  <a:srgbClr val="444444"/>
                </a:solidFill>
              </a:defRPr>
            </a:pPr>
            <a:r>
              <a:t>Key to natural language processing</a:t>
            </a:r>
          </a:p>
          <a:p>
            <a:pPr>
              <a:defRPr sz="2000">
                <a:solidFill>
                  <a:srgbClr val="444444"/>
                </a:solidFill>
              </a:defRPr>
            </a:pPr>
            <a:r>
              <a:t>Time-series forecasting applications</a:t>
            </a:r>
          </a:p>
          <a:p>
            <a:pPr>
              <a:defRPr sz="2000">
                <a:solidFill>
                  <a:srgbClr val="444444"/>
                </a:solidFill>
              </a:defRPr>
            </a:pPr>
            <a:r>
              <a:t>Image captioning and machine translation</a:t>
            </a:r>
          </a:p>
          <a:p>
            <a:pPr>
              <a:defRPr sz="2000">
                <a:solidFill>
                  <a:srgbClr val="444444"/>
                </a:solidFill>
              </a:defRPr>
            </a:pPr>
            <a:r>
              <a:t>RNNs are a type of neural network</a:t>
            </a:r>
          </a:p>
          <a:p>
            <a:pPr>
              <a:defRPr sz="2000">
                <a:solidFill>
                  <a:srgbClr val="444444"/>
                </a:solidFill>
              </a:defRPr>
            </a:pPr>
            <a:r>
              <a:t>Inspired by human brain structure</a:t>
            </a:r>
          </a:p>
        </p:txBody>
      </p:sp>
      <p:pic>
        <p:nvPicPr>
          <p:cNvPr id="4" name="Picture 3" descr="00d7ee3d042f45658c4c273bee12f3f2_rnn_architecture_diagram.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&amp; Key Equation</a:t>
            </a:r>
          </a:p>
        </p:txBody>
      </p:sp>
      <p:sp>
        <p:nvSpPr>
          <p:cNvPr id="3" name="Content Placeholder 2"/>
          <p:cNvSpPr>
            <a:spLocks noGrp="1"/>
          </p:cNvSpPr>
          <p:nvPr>
            <p:ph idx="1"/>
          </p:nvPr>
        </p:nvSpPr>
        <p:spPr/>
        <p:txBody>
          <a:bodyPr/>
          <a:lstStyle/>
          <a:p>
            <a:pPr>
              <a:defRPr sz="2000">
                <a:solidFill>
                  <a:srgbClr val="444444"/>
                </a:solidFill>
              </a:defRPr>
            </a:pPr>
            <a:r>
              <a:t>Image query: RNN architecture diagram</a:t>
            </a:r>
          </a:p>
          <a:p>
            <a:pPr>
              <a:defRPr sz="2000">
                <a:solidFill>
                  <a:srgbClr val="444444"/>
                </a:solidFill>
              </a:defRPr>
            </a:pPr>
            <a:r>
              <a:t>Simple RNN equation: h_t = tanh(Wx_t + Uh_{t-1})</a:t>
            </a:r>
          </a:p>
          <a:p>
            <a:pPr>
              <a:defRPr sz="2000">
                <a:solidFill>
                  <a:srgbClr val="444444"/>
                </a:solidFill>
              </a:defRPr>
            </a:pPr>
            <a:r>
              <a:t>Input gate, output gate, and cell state</a:t>
            </a:r>
          </a:p>
          <a:p>
            <a:pPr>
              <a:defRPr sz="2000">
                <a:solidFill>
                  <a:srgbClr val="444444"/>
                </a:solidFill>
              </a:defRPr>
            </a:pPr>
            <a:r>
              <a:t>Backpropagation through time (BPTT)</a:t>
            </a:r>
          </a:p>
          <a:p>
            <a:pPr>
              <a:defRPr sz="2000">
                <a:solidFill>
                  <a:srgbClr val="444444"/>
                </a:solidFill>
              </a:defRPr>
            </a:pPr>
            <a:r>
              <a:t>Vanishing gradients and exploding gradients</a:t>
            </a:r>
          </a:p>
          <a:p>
            <a:pPr>
              <a:defRPr sz="2000">
                <a:solidFill>
                  <a:srgbClr val="444444"/>
                </a:solidFill>
              </a:defRPr>
            </a:pPr>
            <a:r>
              <a:t>RNNs can be trained using stochastic gradient descent</a:t>
            </a:r>
          </a:p>
          <a:p>
            <a:pPr>
              <a:defRPr sz="2000">
                <a:solidFill>
                  <a:srgbClr val="444444"/>
                </a:solidFill>
              </a:defRPr>
            </a:pPr>
            <a:r>
              <a:t>Regularization techniques to prevent overfitting</a:t>
            </a:r>
          </a:p>
          <a:p>
            <a:pPr>
              <a:defRPr sz="2000">
                <a:solidFill>
                  <a:srgbClr val="444444"/>
                </a:solidFill>
              </a:defRPr>
            </a:pPr>
            <a:r>
              <a:t>Initialization of weights and biases</a:t>
            </a:r>
          </a:p>
        </p:txBody>
      </p:sp>
      <p:pic>
        <p:nvPicPr>
          <p:cNvPr id="4" name="Picture 3" descr="9a6b76efdee24f4c827e3eca7fb562ee_rnns_deep_learning_architecture_diagram.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a:t>
            </a:r>
          </a:p>
          <a:p>
            <a:pPr>
              <a:defRPr sz="2000">
                <a:solidFill>
                  <a:srgbClr val="444444"/>
                </a:solidFill>
              </a:defRPr>
            </a:pPr>
            <a:r>
              <a:t>GRU (Gated Recurrent Unit) networks</a:t>
            </a:r>
          </a:p>
          <a:p>
            <a:pPr>
              <a:defRPr sz="2000">
                <a:solidFill>
                  <a:srgbClr val="444444"/>
                </a:solidFill>
              </a:defRPr>
            </a:pPr>
            <a:r>
              <a:t>Bidirectional RNNs for sequential data</a:t>
            </a:r>
          </a:p>
          <a:p>
            <a:pPr>
              <a:defRPr sz="2000">
                <a:solidFill>
                  <a:srgbClr val="444444"/>
                </a:solidFill>
              </a:defRPr>
            </a:pPr>
            <a:r>
              <a:t>Deep RNNs with multiple hidden layers</a:t>
            </a:r>
          </a:p>
          <a:p>
            <a:pPr>
              <a:defRPr sz="2000">
                <a:solidFill>
                  <a:srgbClr val="444444"/>
                </a:solidFill>
              </a:defRPr>
            </a:pPr>
            <a:r>
              <a:t>Residual connections for deeper RNNs</a:t>
            </a:r>
          </a:p>
          <a:p>
            <a:pPr>
              <a:defRPr sz="2000">
                <a:solidFill>
                  <a:srgbClr val="444444"/>
                </a:solidFill>
              </a:defRPr>
            </a:pPr>
            <a:r>
              <a:t>Attention mechanisms for focused processing</a:t>
            </a:r>
          </a:p>
          <a:p>
            <a:pPr>
              <a:defRPr sz="2000">
                <a:solidFill>
                  <a:srgbClr val="444444"/>
                </a:solidFill>
              </a:defRPr>
            </a:pPr>
            <a:r>
              <a:t>Recurrent Highway Networks (RHNs)</a:t>
            </a:r>
          </a:p>
          <a:p>
            <a:pPr>
              <a:defRPr sz="2000">
                <a:solidFill>
                  <a:srgbClr val="444444"/>
                </a:solidFill>
              </a:defRPr>
            </a:pPr>
            <a:r>
              <a:t>Clockwork RNNs for multi-scale processing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and speech synthesis</a:t>
            </a:r>
          </a:p>
          <a:p>
            <a:pPr>
              <a:defRPr sz="2000">
                <a:solidFill>
                  <a:srgbClr val="444444"/>
                </a:solidFill>
              </a:defRPr>
            </a:pPr>
            <a:r>
              <a:t>Language modeling and text generation</a:t>
            </a:r>
          </a:p>
          <a:p>
            <a:pPr>
              <a:defRPr sz="2000">
                <a:solidFill>
                  <a:srgbClr val="444444"/>
                </a:solidFill>
              </a:defRPr>
            </a:pPr>
            <a:r>
              <a:t>Machine translation and language understanding</a:t>
            </a:r>
          </a:p>
          <a:p>
            <a:pPr>
              <a:defRPr sz="2000">
                <a:solidFill>
                  <a:srgbClr val="444444"/>
                </a:solidFill>
              </a:defRPr>
            </a:pPr>
            <a:r>
              <a:t>Time-series forecasting and prediction</a:t>
            </a:r>
          </a:p>
          <a:p>
            <a:pPr>
              <a:defRPr sz="2000">
                <a:solidFill>
                  <a:srgbClr val="444444"/>
                </a:solidFill>
              </a:defRPr>
            </a:pPr>
            <a:r>
              <a:t>Image captioning and visual question answering</a:t>
            </a:r>
          </a:p>
          <a:p>
            <a:pPr>
              <a:defRPr sz="2000">
                <a:solidFill>
                  <a:srgbClr val="444444"/>
                </a:solidFill>
              </a:defRPr>
            </a:pPr>
            <a:r>
              <a:t>Advantages: handling sequential data</a:t>
            </a:r>
          </a:p>
          <a:p>
            <a:pPr>
              <a:defRPr sz="2000">
                <a:solidFill>
                  <a:srgbClr val="444444"/>
                </a:solidFill>
              </a:defRPr>
            </a:pPr>
            <a:r>
              <a:t>Limitations: vanishing gradients and overfitting</a:t>
            </a:r>
          </a:p>
          <a:p>
            <a:pPr>
              <a:defRPr sz="2000">
                <a:solidFill>
                  <a:srgbClr val="444444"/>
                </a:solidFill>
              </a:defRPr>
            </a:pPr>
            <a:r>
              <a:t>RNNs can be computationally expensive</a:t>
            </a:r>
          </a:p>
          <a:p>
            <a:pPr>
              <a:defRPr sz="2000">
                <a:solidFill>
                  <a:srgbClr val="444444"/>
                </a:solidFill>
              </a:defRPr>
            </a:pPr>
            <a:r>
              <a:t>Requires large amounts of training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a:t>
            </a:r>
          </a:p>
        </p:txBody>
      </p:sp>
      <p:sp>
        <p:nvSpPr>
          <p:cNvPr id="3" name="Content Placeholder 2"/>
          <p:cNvSpPr>
            <a:spLocks noGrp="1"/>
          </p:cNvSpPr>
          <p:nvPr>
            <p:ph idx="1"/>
          </p:nvPr>
        </p:nvSpPr>
        <p:spPr/>
        <p:txBody>
          <a:bodyPr/>
          <a:lstStyle/>
          <a:p>
            <a:pPr>
              <a:defRPr sz="2000">
                <a:solidFill>
                  <a:srgbClr val="444444"/>
                </a:solidFill>
              </a:defRPr>
            </a:pPr>
            <a:r>
              <a:t>RNNs process sequential data</a:t>
            </a:r>
          </a:p>
          <a:p>
            <a:pPr>
              <a:defRPr sz="2000">
                <a:solidFill>
                  <a:srgbClr val="444444"/>
                </a:solidFill>
              </a:defRPr>
            </a:pPr>
            <a:r>
              <a:t>Variants: LSTMs, GRUs, and bidirectional RNNs</a:t>
            </a:r>
          </a:p>
          <a:p>
            <a:pPr>
              <a:defRPr sz="2000">
                <a:solidFill>
                  <a:srgbClr val="444444"/>
                </a:solidFill>
              </a:defRPr>
            </a:pPr>
            <a:r>
              <a:t>Applications: speech recognition, language modeling</a:t>
            </a:r>
          </a:p>
          <a:p>
            <a:pPr>
              <a:defRPr sz="2000">
                <a:solidFill>
                  <a:srgbClr val="444444"/>
                </a:solidFill>
              </a:defRPr>
            </a:pPr>
            <a:r>
              <a:t>Advantages: handling sequential data</a:t>
            </a:r>
          </a:p>
          <a:p>
            <a:pPr>
              <a:defRPr sz="2000">
                <a:solidFill>
                  <a:srgbClr val="444444"/>
                </a:solidFill>
              </a:defRPr>
            </a:pPr>
            <a:r>
              <a:t>Limitations: vanishing gradients and overfitting</a:t>
            </a:r>
          </a:p>
          <a:p>
            <a:pPr>
              <a:defRPr sz="2000">
                <a:solidFill>
                  <a:srgbClr val="444444"/>
                </a:solidFill>
              </a:defRPr>
            </a:pPr>
            <a:r>
              <a:t>Real-world applications: time-series forecasting</a:t>
            </a:r>
          </a:p>
          <a:p>
            <a:pPr>
              <a:defRPr sz="2000">
                <a:solidFill>
                  <a:srgbClr val="444444"/>
                </a:solidFill>
              </a:defRPr>
            </a:pPr>
            <a:r>
              <a:t>Importance of regularization and initialization</a:t>
            </a:r>
          </a:p>
          <a:p>
            <a:pPr>
              <a:defRPr sz="2000">
                <a:solidFill>
                  <a:srgbClr val="444444"/>
                </a:solidFill>
              </a:defRPr>
            </a:pPr>
            <a:r>
              <a:t>Future directions: attention mechanisms and deep RNNs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