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Deep Learning presentation covering multiple topics. Today we'll explore: CNNs, Convolution Operation, Pooling Layers, CNN Architecture Example, Applications of CNNs.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CNNs, explain the biological inspiration behind their design and how they are particularly suited for image classification tasks. Provide examples of applications such as self-driving cars and facial recognition systems. Emphasize the role of convolutional and pooling layers in feature extraction and dimensionality reduction. Discuss the importance of regularization techniques and the use of activation functions like ReLU. Ask students to consider how CNNs can be applied to real-world problems and what advantages they offer over traditional neural networks.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CNNs, emphasize their ability to automatically and adaptively learn spatial hierarchies of features from images. Explain how the convolutional and pooling layers work together to achieve this. Provide examples of applications such as self-driving cars using CNNs for object detection and image classification. Ask students to consider how the architecture of a CNN allows it to learn complex patterns in data. Discuss the importance of activation functions and backpropagation in the training process. Key takeaways should include understanding the basic components of a CNN and their roles in image processing tasks.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architecture of CNNs, emphasize the role of each layer type, such as convolutional layers for feature extraction and pooling layers for dimensionality reduction. Provide examples of how these layers work together to classify images. Ask students to consider how the choice of activation function or regularization technique can impact model performance. Key takeaways include understanding the basic components of a CNN and how they contribute to its ability to learn complex patterns in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convolution operation, explain its significance in deep learning and its applications in image and signal processing. Provide examples of how CNNs use convolution to detect patterns and features in images. Ask students to consider how the convolution operation reduces spatial dimensions and helps in feature extraction. Key takeaways should include understanding the basics of convolution and its role in CNNs. You can also give examples of real-world applications, such as self-driving cars and facial recognition systems, to illustrate the importance of convolution operation in deep learning.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convolution operation, explain its role in deep learning and how it's used in convolutional neural networks. Provide examples of image classification and object detection tasks. Emphasize the importance of filters and how they learn to detect edges and patterns. Discuss the concepts of stride, padding, and activation functions, and how they contribute to the overall convolution operation. Use the simple neural network equation as a reference point to illustrate the introduction of non-linearity. Ask students to consider how the convolution operation enables the network to learn hierarchical representations of images. Key takeaways include understanding the convolution operation, its components, and its applications in deep learning.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convolution operation, explain how it's a fundamental component of convolutional neural networks. Provide examples of image classification tasks, such as recognizing objects in images. Emphasize how convolution preserves spatial relationships and how filters are used to extract features. Use simple equations like y = σ(w*x + b) to illustrate basic neural network concepts. Ask students to consider how stride and padding affect output dimensions and how this impacts network performance. Key takeaways include understanding the role of convolution in image processing and its application in deep learning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pooling layers, explain that they are a crucial component in deep learning, particularly in convolutional neural networks. Provide examples of how max pooling and average pooling work, and ask students to consider the benefits of using pooling layers, such as reduced overfitting and improved translation invariance. Key takeaways include understanding the purpose of pooling layers, their types, and their applications in deep learning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pooling layers, explain that they are a crucial component in deep learning, particularly in CNNs. Emphasize how they help in reducing the spatial dimensions of the data, which in turn reduces the number of parameters and the risk of overfitting. Provide examples of max pooling and average pooling, and explain how they differ. Discuss the benefits of using pooling layers, such as improved translation invariance and reduced computational cost. Ask students to consider how pooling layers might be applied to real-world image or signal processing tasks, and what the potential drawbacks might be. Key takeaways should include the types of pooling layers, their benefits, and common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pooling layers, explain that they reduce the spatial dimensions of feature maps, which helps prevent overfitting. Provide examples of max and average pooling, and ask students to consider the benefits of downsampling, such as reduced parameters and improved translational invariance. Key takeaways include understanding the purpose of pooling layers and their common types, as well as their impact on deep network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CNN architecture example, explain the basics of convolutional neural networks and their applications in image classification. Provide examples of pioneering architectures like LeNet-5 and AlexNet. Emphasize the importance of convolutional and pooling layers in feature extraction. Ask students to consider how CNNs can be applied in real-world tasks such as self-driving cars and facial recognition. Key takeaways include understanding local connectivity, shared weights, and the role of pooling layers in reducing parameters. Use the CIFAR-10 dataset as a concrete example for image classification tasks.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CNN architecture example, explain the inspiration behind CNNs and their typical applications. Emphasize the importance of convolutional and pooling layers, and how activation functions like ReLU introduce non-linearity. Provide examples of early CNN models like LeNet-5 and modern models like ResNet and Inception. Ask students to consider how CNNs can learn spatial hierarchies of features and how this applies to image classification and object detection tasks. Key takeaways include understanding the basic components of a CNN and their applications in deep learning.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the concept of CNN architecture, explaining each layer's role. Discuss how CNNs are inspired by the human visual cortex and how weight sharing and local connectivity contribute to their effectiveness. Provide examples of CNN applications, such as image classification and object detection. Ask students to consider the benefits and limitations of using CNNs for different tasks. Key takeaways include understanding the basic components of a CNN and their functions, as well as the importance of CNNs in deep learning.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applications of CNNs, emphasize their versatility across various domains. Explain how CNNs can be used for image classification, object detection, and image segmentation. Provide examples of real-world applications, such as self-driving cars and medical imaging analysis. Ask students to think about how CNNs can be applied to other fields, such as natural language processing and time-series forecasting. Key takeaways include understanding the breadth of CNN applications and their potential to drive innovation in multiple industries.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applications of CNNs, emphasize the versatility of these networks across various domains. Give examples of how CNNs are used in image classification, object detection, and segmentation. Explain how CNNs are applied in self-driving cars, facial recognition, and natural language processing. Ask students to consider the potential applications of CNNs in their own fields of interest. Key takeaways should include understanding the broad range of applications and the potential for innovation using CNNs.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applications of CNNs, emphasize the diversity of tasks they can perform, from image classification to natural language processing. Provide examples such as self-driving cars and medical diagnosis. Ask students to think about how CNNs can be applied to real-world problems. Key takeaways include understanding the versatility of CNNs and their ability to learn from data, enabling them to be applied across various domains.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CNNs, Convolution Operation, Pooling Layers, CNN Architecture Example, Applications of CNNs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CNNs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extract features from images</a:t>
            </a:r>
          </a:p>
          <a:p>
            <a:pPr>
              <a:defRPr sz="2000">
                <a:solidFill>
                  <a:srgbClr val="444444"/>
                </a:solidFill>
              </a:defRPr>
            </a:pPr>
            <a:r>
              <a:t>Inspired by biological neural networks and visual cortex</a:t>
            </a:r>
          </a:p>
          <a:p>
            <a:pPr>
              <a:defRPr sz="2000">
                <a:solidFill>
                  <a:srgbClr val="444444"/>
                </a:solidFill>
              </a:defRPr>
            </a:pPr>
            <a:r>
              <a:t>Use convolutional and pooling layers for feature extraction</a:t>
            </a:r>
          </a:p>
          <a:p>
            <a:pPr>
              <a:defRPr sz="2000">
                <a:solidFill>
                  <a:srgbClr val="444444"/>
                </a:solidFill>
              </a:defRPr>
            </a:pPr>
            <a:r>
              <a:t>Apply convolutional layers for image classification tasks</a:t>
            </a:r>
          </a:p>
          <a:p>
            <a:pPr>
              <a:defRPr sz="2000">
                <a:solidFill>
                  <a:srgbClr val="444444"/>
                </a:solidFill>
              </a:defRPr>
            </a:pPr>
            <a:r>
              <a:t>Pooling layers reduce spatial dimensions and retain features</a:t>
            </a:r>
          </a:p>
          <a:p>
            <a:pPr>
              <a:defRPr sz="2000">
                <a:solidFill>
                  <a:srgbClr val="444444"/>
                </a:solidFill>
              </a:defRPr>
            </a:pPr>
            <a:r>
              <a:t>Fully connected layers used for final classification output</a:t>
            </a:r>
          </a:p>
          <a:p>
            <a:pPr>
              <a:defRPr sz="2000">
                <a:solidFill>
                  <a:srgbClr val="444444"/>
                </a:solidFill>
              </a:defRPr>
            </a:pPr>
            <a:r>
              <a:t>CNNs trained using backpropagation and stochastic gradient</a:t>
            </a:r>
          </a:p>
          <a:p>
            <a:pPr>
              <a:defRPr sz="2000">
                <a:solidFill>
                  <a:srgbClr val="444444"/>
                </a:solidFill>
              </a:defRPr>
            </a:pPr>
            <a:r>
              <a:t>Regularization techniques prevent overfitting in CNNs</a:t>
            </a:r>
          </a:p>
          <a:p>
            <a:pPr>
              <a:defRPr sz="2000">
                <a:solidFill>
                  <a:srgbClr val="444444"/>
                </a:solidFill>
              </a:defRPr>
            </a:pPr>
            <a:r>
              <a:t>Activation functions like ReLU used for non-linearity introduction</a:t>
            </a:r>
          </a:p>
        </p:txBody>
      </p:sp>
      <p:pic>
        <p:nvPicPr>
          <p:cNvPr id="4" name="Picture 3" descr="22f4932c0b95495baf664bceb19fac53.jpeg"/>
          <p:cNvPicPr>
            <a:picLocks noChangeAspect="1"/>
          </p:cNvPicPr>
          <p:nvPr/>
        </p:nvPicPr>
        <p:blipFill>
          <a:blip r:embed="rId2"/>
          <a:stretch>
            <a:fillRect/>
          </a:stretch>
        </p:blipFill>
        <p:spPr>
          <a:xfrm>
            <a:off x="7315200" y="1828800"/>
            <a:ext cx="4114800" cy="204726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CNNs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process data with grid-like topology</a:t>
            </a:r>
          </a:p>
          <a:p>
            <a:pPr>
              <a:defRPr sz="2000">
                <a:solidFill>
                  <a:srgbClr val="444444"/>
                </a:solidFill>
              </a:defRPr>
            </a:pPr>
            <a:r>
              <a:t>Inspired by biological neural networks and visual cortex</a:t>
            </a:r>
          </a:p>
          <a:p>
            <a:pPr>
              <a:defRPr sz="2000">
                <a:solidFill>
                  <a:srgbClr val="444444"/>
                </a:solidFill>
              </a:defRPr>
            </a:pPr>
            <a:r>
              <a:t>Use convolutional and pooling layers for feature extraction</a:t>
            </a:r>
          </a:p>
          <a:p>
            <a:pPr>
              <a:defRPr sz="2000">
                <a:solidFill>
                  <a:srgbClr val="444444"/>
                </a:solidFill>
              </a:defRPr>
            </a:pPr>
            <a:r>
              <a:t>Key application areas include image classification and object detection</a:t>
            </a:r>
          </a:p>
          <a:p>
            <a:pPr>
              <a:defRPr sz="2000">
                <a:solidFill>
                  <a:srgbClr val="444444"/>
                </a:solidFill>
              </a:defRPr>
            </a:pPr>
            <a:r>
              <a:t>Effective in image processing, computer vision tasks</a:t>
            </a:r>
          </a:p>
          <a:p>
            <a:pPr>
              <a:defRPr sz="2000">
                <a:solidFill>
                  <a:srgbClr val="444444"/>
                </a:solidFill>
              </a:defRPr>
            </a:pPr>
            <a:r>
              <a:t>Can learn spatial hierarchies of features from images</a:t>
            </a:r>
          </a:p>
          <a:p>
            <a:pPr>
              <a:defRPr sz="2000">
                <a:solidFill>
                  <a:srgbClr val="444444"/>
                </a:solidFill>
              </a:defRPr>
            </a:pPr>
            <a:r>
              <a:t>Typically consist of convolution, activation, pooling layers</a:t>
            </a:r>
          </a:p>
          <a:p>
            <a:pPr>
              <a:defRPr sz="2000">
                <a:solidFill>
                  <a:srgbClr val="444444"/>
                </a:solidFill>
              </a:defRPr>
            </a:pPr>
            <a:r>
              <a:t>Training involves optimizing weights, biases for accuracy</a:t>
            </a:r>
          </a:p>
          <a:p>
            <a:pPr>
              <a:defRPr sz="2000">
                <a:solidFill>
                  <a:srgbClr val="444444"/>
                </a:solidFill>
              </a:defRPr>
            </a:pPr>
            <a:r>
              <a:t>Backpropagation used for training CNN models efficiently</a:t>
            </a:r>
          </a:p>
          <a:p>
            <a:pPr>
              <a:defRPr sz="2000">
                <a:solidFill>
                  <a:srgbClr val="444444"/>
                </a:solidFill>
              </a:defRPr>
            </a:pPr>
            <a:r>
              <a:t>Activation functions like ReLU introduce non-linearity</a:t>
            </a:r>
          </a:p>
        </p:txBody>
      </p:sp>
      <p:pic>
        <p:nvPicPr>
          <p:cNvPr id="4" name="Picture 3" descr="e97bea34b7914bf5a4e0ad0d92b6389c.jpeg"/>
          <p:cNvPicPr>
            <a:picLocks noChangeAspect="1"/>
          </p:cNvPicPr>
          <p:nvPr/>
        </p:nvPicPr>
        <p:blipFill>
          <a:blip r:embed="rId2"/>
          <a:stretch>
            <a:fillRect/>
          </a:stretch>
        </p:blipFill>
        <p:spPr>
          <a:xfrm>
            <a:off x="7315200" y="1828800"/>
            <a:ext cx="4114800" cy="198159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CNNs - Architecture</a:t>
            </a:r>
          </a:p>
        </p:txBody>
      </p:sp>
      <p:sp>
        <p:nvSpPr>
          <p:cNvPr id="3" name="Content Placeholder 2"/>
          <p:cNvSpPr>
            <a:spLocks noGrp="1"/>
          </p:cNvSpPr>
          <p:nvPr>
            <p:ph idx="1"/>
          </p:nvPr>
        </p:nvSpPr>
        <p:spPr/>
        <p:txBody>
          <a:bodyPr/>
          <a:lstStyle/>
          <a:p>
            <a:pPr>
              <a:defRPr sz="2000">
                <a:solidFill>
                  <a:srgbClr val="444444"/>
                </a:solidFill>
              </a:defRPr>
            </a:pPr>
            <a:r>
              <a:t>Convolutional Neural Networks use convolutional layers</a:t>
            </a:r>
          </a:p>
          <a:p>
            <a:pPr>
              <a:defRPr sz="2000">
                <a:solidFill>
                  <a:srgbClr val="444444"/>
                </a:solidFill>
              </a:defRPr>
            </a:pPr>
            <a:r>
              <a:t>Convolutional layers extract local features from data</a:t>
            </a:r>
          </a:p>
          <a:p>
            <a:pPr>
              <a:defRPr sz="2000">
                <a:solidFill>
                  <a:srgbClr val="444444"/>
                </a:solidFill>
              </a:defRPr>
            </a:pPr>
            <a:r>
              <a:t>Pooling layers reduce spatial dimensions of data</a:t>
            </a:r>
          </a:p>
          <a:p>
            <a:pPr>
              <a:defRPr sz="2000">
                <a:solidFill>
                  <a:srgbClr val="444444"/>
                </a:solidFill>
              </a:defRPr>
            </a:pPr>
            <a:r>
              <a:t>Fully connected layers classify extracted features</a:t>
            </a:r>
          </a:p>
          <a:p>
            <a:pPr>
              <a:defRPr sz="2000">
                <a:solidFill>
                  <a:srgbClr val="444444"/>
                </a:solidFill>
              </a:defRPr>
            </a:pPr>
            <a:r>
              <a:t>Activation functions introduce non-linearity to models</a:t>
            </a:r>
          </a:p>
          <a:p>
            <a:pPr>
              <a:defRPr sz="2000">
                <a:solidFill>
                  <a:srgbClr val="444444"/>
                </a:solidFill>
              </a:defRPr>
            </a:pPr>
            <a:r>
              <a:t>ReLU is a commonly used activation function</a:t>
            </a:r>
          </a:p>
          <a:p>
            <a:pPr>
              <a:defRPr sz="2000">
                <a:solidFill>
                  <a:srgbClr val="444444"/>
                </a:solidFill>
              </a:defRPr>
            </a:pPr>
            <a:r>
              <a:t>Batch normalization improves model training speed</a:t>
            </a:r>
          </a:p>
          <a:p>
            <a:pPr>
              <a:defRPr sz="2000">
                <a:solidFill>
                  <a:srgbClr val="444444"/>
                </a:solidFill>
              </a:defRPr>
            </a:pPr>
            <a:r>
              <a:t>Dropout prevents overfitting in deep neural networks</a:t>
            </a:r>
          </a:p>
          <a:p>
            <a:pPr>
              <a:defRPr sz="2000">
                <a:solidFill>
                  <a:srgbClr val="444444"/>
                </a:solidFill>
              </a:defRPr>
            </a:pPr>
            <a:r>
              <a:t>y = σ(Wx + b) is a basic neural network equation</a:t>
            </a:r>
          </a:p>
        </p:txBody>
      </p:sp>
      <p:pic>
        <p:nvPicPr>
          <p:cNvPr id="4" name="Picture 3" descr="19c88a075a114668b3381df06a3e6c17.png"/>
          <p:cNvPicPr>
            <a:picLocks noChangeAspect="1"/>
          </p:cNvPicPr>
          <p:nvPr/>
        </p:nvPicPr>
        <p:blipFill>
          <a:blip r:embed="rId2"/>
          <a:stretch>
            <a:fillRect/>
          </a:stretch>
        </p:blipFill>
        <p:spPr>
          <a:xfrm>
            <a:off x="7315200" y="1828800"/>
            <a:ext cx="4114800" cy="549432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Operation - Introduction</a:t>
            </a:r>
          </a:p>
        </p:txBody>
      </p:sp>
      <p:sp>
        <p:nvSpPr>
          <p:cNvPr id="3" name="Content Placeholder 2"/>
          <p:cNvSpPr>
            <a:spLocks noGrp="1"/>
          </p:cNvSpPr>
          <p:nvPr>
            <p:ph idx="1"/>
          </p:nvPr>
        </p:nvSpPr>
        <p:spPr/>
        <p:txBody>
          <a:bodyPr/>
          <a:lstStyle/>
          <a:p>
            <a:pPr>
              <a:defRPr sz="2000">
                <a:solidFill>
                  <a:srgbClr val="444444"/>
                </a:solidFill>
              </a:defRPr>
            </a:pPr>
            <a:r>
              <a:t>Convolution operation is a fundamental concept in deep learning</a:t>
            </a:r>
          </a:p>
          <a:p>
            <a:pPr>
              <a:defRPr sz="2000">
                <a:solidFill>
                  <a:srgbClr val="444444"/>
                </a:solidFill>
              </a:defRPr>
            </a:pPr>
            <a:r>
              <a:t>Used for image and signal processing tasks</a:t>
            </a:r>
          </a:p>
          <a:p>
            <a:pPr>
              <a:defRPr sz="2000">
                <a:solidFill>
                  <a:srgbClr val="444444"/>
                </a:solidFill>
              </a:defRPr>
            </a:pPr>
            <a:r>
              <a:t>Involves sliding filters over input data</a:t>
            </a:r>
          </a:p>
          <a:p>
            <a:pPr>
              <a:defRPr sz="2000">
                <a:solidFill>
                  <a:srgbClr val="444444"/>
                </a:solidFill>
              </a:defRPr>
            </a:pPr>
            <a:r>
              <a:t>Filters learn to detect specific patterns and features</a:t>
            </a:r>
          </a:p>
          <a:p>
            <a:pPr>
              <a:defRPr sz="2000">
                <a:solidFill>
                  <a:srgbClr val="444444"/>
                </a:solidFill>
              </a:defRPr>
            </a:pPr>
            <a:r>
              <a:t>Convolutional neural networks (CNNs) utilize this operation</a:t>
            </a:r>
          </a:p>
          <a:p>
            <a:pPr>
              <a:defRPr sz="2000">
                <a:solidFill>
                  <a:srgbClr val="444444"/>
                </a:solidFill>
              </a:defRPr>
            </a:pPr>
            <a:r>
              <a:t>CNNs are widely used in computer vision applications</a:t>
            </a:r>
          </a:p>
          <a:p>
            <a:pPr>
              <a:defRPr sz="2000">
                <a:solidFill>
                  <a:srgbClr val="444444"/>
                </a:solidFill>
              </a:defRPr>
            </a:pPr>
            <a:r>
              <a:t>Image classification and object detection are key applications</a:t>
            </a:r>
          </a:p>
          <a:p>
            <a:pPr>
              <a:defRPr sz="2000">
                <a:solidFill>
                  <a:srgbClr val="444444"/>
                </a:solidFill>
              </a:defRPr>
            </a:pPr>
            <a:r>
              <a:t>Convolution operation reduces spatial dimensions</a:t>
            </a:r>
          </a:p>
          <a:p>
            <a:pPr>
              <a:defRPr sz="2000">
                <a:solidFill>
                  <a:srgbClr val="444444"/>
                </a:solidFill>
              </a:defRPr>
            </a:pPr>
            <a:r>
              <a:t>Helps in extracting local and global features</a:t>
            </a:r>
          </a:p>
        </p:txBody>
      </p:sp>
      <p:pic>
        <p:nvPicPr>
          <p:cNvPr id="4" name="Picture 3" descr="08869d9c3ad84a62afd9f214748642aa.jpg"/>
          <p:cNvPicPr>
            <a:picLocks noChangeAspect="1"/>
          </p:cNvPicPr>
          <p:nvPr/>
        </p:nvPicPr>
        <p:blipFill>
          <a:blip r:embed="rId2"/>
          <a:stretch>
            <a:fillRect/>
          </a:stretch>
        </p:blipFill>
        <p:spPr>
          <a:xfrm>
            <a:off x="7315200" y="1828800"/>
            <a:ext cx="4114800" cy="585199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Operation - Introduction</a:t>
            </a:r>
          </a:p>
        </p:txBody>
      </p:sp>
      <p:sp>
        <p:nvSpPr>
          <p:cNvPr id="3" name="Content Placeholder 2"/>
          <p:cNvSpPr>
            <a:spLocks noGrp="1"/>
          </p:cNvSpPr>
          <p:nvPr>
            <p:ph idx="1"/>
          </p:nvPr>
        </p:nvSpPr>
        <p:spPr/>
        <p:txBody>
          <a:bodyPr/>
          <a:lstStyle/>
          <a:p>
            <a:pPr>
              <a:defRPr sz="2000">
                <a:solidFill>
                  <a:srgbClr val="444444"/>
                </a:solidFill>
              </a:defRPr>
            </a:pPr>
            <a:r>
              <a:t>Convolution operation combines images with filters</a:t>
            </a:r>
          </a:p>
          <a:p>
            <a:pPr>
              <a:defRPr sz="2000">
                <a:solidFill>
                  <a:srgbClr val="444444"/>
                </a:solidFill>
              </a:defRPr>
            </a:pPr>
            <a:r>
              <a:t>Applies filters to small regions of image</a:t>
            </a:r>
          </a:p>
          <a:p>
            <a:pPr>
              <a:defRPr sz="2000">
                <a:solidFill>
                  <a:srgbClr val="444444"/>
                </a:solidFill>
              </a:defRPr>
            </a:pPr>
            <a:r>
              <a:t>Produces feature maps with spatial hierarchy</a:t>
            </a:r>
          </a:p>
          <a:p>
            <a:pPr>
              <a:defRPr sz="2000">
                <a:solidFill>
                  <a:srgbClr val="444444"/>
                </a:solidFill>
              </a:defRPr>
            </a:pPr>
            <a:r>
              <a:t>Key component of convolutional neural networks</a:t>
            </a:r>
          </a:p>
          <a:p>
            <a:pPr>
              <a:defRPr sz="2000">
                <a:solidFill>
                  <a:srgbClr val="444444"/>
                </a:solidFill>
              </a:defRPr>
            </a:pPr>
            <a:r>
              <a:t>Used for image classification and object detection</a:t>
            </a:r>
          </a:p>
          <a:p>
            <a:pPr>
              <a:defRPr sz="2000">
                <a:solidFill>
                  <a:srgbClr val="444444"/>
                </a:solidFill>
              </a:defRPr>
            </a:pPr>
            <a:r>
              <a:t>Filters learn to detect edges and patterns</a:t>
            </a:r>
          </a:p>
          <a:p>
            <a:pPr>
              <a:defRPr sz="2000">
                <a:solidFill>
                  <a:srgbClr val="444444"/>
                </a:solidFill>
              </a:defRPr>
            </a:pPr>
            <a:r>
              <a:t>Stride and padding control convolution operation</a:t>
            </a:r>
          </a:p>
          <a:p>
            <a:pPr>
              <a:defRPr sz="2000">
                <a:solidFill>
                  <a:srgbClr val="444444"/>
                </a:solidFill>
              </a:defRPr>
            </a:pPr>
            <a:r>
              <a:t>Activation functions introduce non-linearity</a:t>
            </a:r>
          </a:p>
          <a:p>
            <a:pPr>
              <a:defRPr sz="2000">
                <a:solidFill>
                  <a:srgbClr val="444444"/>
                </a:solidFill>
              </a:defRPr>
            </a:pPr>
            <a:r>
              <a:t>Pooling layers reduce spatial dimensions</a:t>
            </a:r>
          </a:p>
          <a:p>
            <a:pPr>
              <a:defRPr sz="2000">
                <a:solidFill>
                  <a:srgbClr val="444444"/>
                </a:solidFill>
              </a:defRPr>
            </a:pPr>
            <a:r>
              <a:t>y = σ(w*x + b) simple neural network equation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Operation - Introduction</a:t>
            </a:r>
          </a:p>
        </p:txBody>
      </p:sp>
      <p:sp>
        <p:nvSpPr>
          <p:cNvPr id="3" name="Content Placeholder 2"/>
          <p:cNvSpPr>
            <a:spLocks noGrp="1"/>
          </p:cNvSpPr>
          <p:nvPr>
            <p:ph idx="1"/>
          </p:nvPr>
        </p:nvSpPr>
        <p:spPr/>
        <p:txBody>
          <a:bodyPr/>
          <a:lstStyle/>
          <a:p>
            <a:pPr>
              <a:defRPr sz="2000">
                <a:solidFill>
                  <a:srgbClr val="444444"/>
                </a:solidFill>
              </a:defRPr>
            </a:pPr>
            <a:r>
              <a:t>Convolution operation combines images with filters</a:t>
            </a:r>
          </a:p>
          <a:p>
            <a:pPr>
              <a:defRPr sz="2000">
                <a:solidFill>
                  <a:srgbClr val="444444"/>
                </a:solidFill>
              </a:defRPr>
            </a:pPr>
            <a:r>
              <a:t>Extracts features from small image regions</a:t>
            </a:r>
          </a:p>
          <a:p>
            <a:pPr>
              <a:defRPr sz="2000">
                <a:solidFill>
                  <a:srgbClr val="444444"/>
                </a:solidFill>
              </a:defRPr>
            </a:pPr>
            <a:r>
              <a:t>Typically used in image classification tasks</a:t>
            </a:r>
          </a:p>
          <a:p>
            <a:pPr>
              <a:defRPr sz="2000">
                <a:solidFill>
                  <a:srgbClr val="444444"/>
                </a:solidFill>
              </a:defRPr>
            </a:pPr>
            <a:r>
              <a:t>Filters scan images horizontally and vertically</a:t>
            </a:r>
          </a:p>
          <a:p>
            <a:pPr>
              <a:defRPr sz="2000">
                <a:solidFill>
                  <a:srgbClr val="444444"/>
                </a:solidFill>
              </a:defRPr>
            </a:pPr>
            <a:r>
              <a:t>Feature maps are generated from filter outputs</a:t>
            </a:r>
          </a:p>
          <a:p>
            <a:pPr>
              <a:defRPr sz="2000">
                <a:solidFill>
                  <a:srgbClr val="444444"/>
                </a:solidFill>
              </a:defRPr>
            </a:pPr>
            <a:r>
              <a:t>Convolution preserves spatial relationships</a:t>
            </a:r>
          </a:p>
          <a:p>
            <a:pPr>
              <a:defRPr sz="2000">
                <a:solidFill>
                  <a:srgbClr val="444444"/>
                </a:solidFill>
              </a:defRPr>
            </a:pPr>
            <a:r>
              <a:t>Stride and padding affect output dimensions</a:t>
            </a:r>
          </a:p>
          <a:p>
            <a:pPr>
              <a:defRPr sz="2000">
                <a:solidFill>
                  <a:srgbClr val="444444"/>
                </a:solidFill>
              </a:defRPr>
            </a:pPr>
            <a:r>
              <a:t>Conv2D layers used in neural network architectures</a:t>
            </a:r>
          </a:p>
          <a:p>
            <a:pPr>
              <a:defRPr sz="2000">
                <a:solidFill>
                  <a:srgbClr val="444444"/>
                </a:solidFill>
              </a:defRPr>
            </a:pPr>
            <a:r>
              <a:t>y = σ(w*x + b) simple neural network equation</a:t>
            </a:r>
          </a:p>
          <a:p>
            <a:pPr>
              <a:defRPr sz="2000">
                <a:solidFill>
                  <a:srgbClr val="444444"/>
                </a:solidFill>
              </a:defRPr>
            </a:pPr>
            <a:r>
              <a:t>Convolutional neural networks learn features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Pooling Layers - Introduction</a:t>
            </a:r>
          </a:p>
        </p:txBody>
      </p:sp>
      <p:sp>
        <p:nvSpPr>
          <p:cNvPr id="3" name="Content Placeholder 2"/>
          <p:cNvSpPr>
            <a:spLocks noGrp="1"/>
          </p:cNvSpPr>
          <p:nvPr>
            <p:ph idx="1"/>
          </p:nvPr>
        </p:nvSpPr>
        <p:spPr/>
        <p:txBody>
          <a:bodyPr/>
          <a:lstStyle/>
          <a:p>
            <a:pPr>
              <a:defRPr sz="2000">
                <a:solidFill>
                  <a:srgbClr val="444444"/>
                </a:solidFill>
              </a:defRPr>
            </a:pPr>
            <a:r>
              <a:t>Pooling layers reduce spatial dimensions of data</a:t>
            </a:r>
          </a:p>
          <a:p>
            <a:pPr>
              <a:defRPr sz="2000">
                <a:solidFill>
                  <a:srgbClr val="444444"/>
                </a:solidFill>
              </a:defRPr>
            </a:pPr>
            <a:r>
              <a:t>Downsampling technique for feature maps</a:t>
            </a:r>
          </a:p>
          <a:p>
            <a:pPr>
              <a:defRPr sz="2000">
                <a:solidFill>
                  <a:srgbClr val="444444"/>
                </a:solidFill>
              </a:defRPr>
            </a:pPr>
            <a:r>
              <a:t>Helps prevent overfitting in deep networks</a:t>
            </a:r>
          </a:p>
          <a:p>
            <a:pPr>
              <a:defRPr sz="2000">
                <a:solidFill>
                  <a:srgbClr val="444444"/>
                </a:solidFill>
              </a:defRPr>
            </a:pPr>
            <a:r>
              <a:t>Reduces number of parameters and computations</a:t>
            </a:r>
          </a:p>
          <a:p>
            <a:pPr>
              <a:defRPr sz="2000">
                <a:solidFill>
                  <a:srgbClr val="444444"/>
                </a:solidFill>
              </a:defRPr>
            </a:pPr>
            <a:r>
              <a:t>Max pooling is most commonly used variant</a:t>
            </a:r>
          </a:p>
          <a:p>
            <a:pPr>
              <a:defRPr sz="2000">
                <a:solidFill>
                  <a:srgbClr val="444444"/>
                </a:solidFill>
              </a:defRPr>
            </a:pPr>
            <a:r>
              <a:t>Average pooling is another type of pooling</a:t>
            </a:r>
          </a:p>
          <a:p>
            <a:pPr>
              <a:defRPr sz="2000">
                <a:solidFill>
                  <a:srgbClr val="444444"/>
                </a:solidFill>
              </a:defRPr>
            </a:pPr>
            <a:r>
              <a:t>Pooling layers are used in convolutional networks</a:t>
            </a:r>
          </a:p>
          <a:p>
            <a:pPr>
              <a:defRPr sz="2000">
                <a:solidFill>
                  <a:srgbClr val="444444"/>
                </a:solidFill>
              </a:defRPr>
            </a:pPr>
            <a:r>
              <a:t>Improves translation invariance of features</a:t>
            </a:r>
          </a:p>
          <a:p>
            <a:pPr>
              <a:defRPr sz="2000">
                <a:solidFill>
                  <a:srgbClr val="444444"/>
                </a:solidFill>
              </a:defRPr>
            </a:pPr>
            <a:r>
              <a:t>Enhances robustness to small transformations</a:t>
            </a:r>
          </a:p>
          <a:p>
            <a:pPr>
              <a:defRPr sz="2000">
                <a:solidFill>
                  <a:srgbClr val="444444"/>
                </a:solidFill>
              </a:defRPr>
            </a:pPr>
            <a:r>
              <a:t>Simplifies the architecture of deep models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Pooling Layers - Introduction</a:t>
            </a:r>
          </a:p>
        </p:txBody>
      </p:sp>
      <p:sp>
        <p:nvSpPr>
          <p:cNvPr id="3" name="Content Placeholder 2"/>
          <p:cNvSpPr>
            <a:spLocks noGrp="1"/>
          </p:cNvSpPr>
          <p:nvPr>
            <p:ph idx="1"/>
          </p:nvPr>
        </p:nvSpPr>
        <p:spPr/>
        <p:txBody>
          <a:bodyPr/>
          <a:lstStyle/>
          <a:p>
            <a:pPr>
              <a:defRPr sz="2000">
                <a:solidFill>
                  <a:srgbClr val="444444"/>
                </a:solidFill>
              </a:defRPr>
            </a:pPr>
            <a:r>
              <a:t>Reduce spatial dimensions of data with pooling layers</a:t>
            </a:r>
          </a:p>
          <a:p>
            <a:pPr>
              <a:defRPr sz="2000">
                <a:solidFill>
                  <a:srgbClr val="444444"/>
                </a:solidFill>
              </a:defRPr>
            </a:pPr>
            <a:r>
              <a:t>Downsample feature maps to reduce parameters</a:t>
            </a:r>
          </a:p>
          <a:p>
            <a:pPr>
              <a:defRPr sz="2000">
                <a:solidFill>
                  <a:srgbClr val="444444"/>
                </a:solidFill>
              </a:defRPr>
            </a:pPr>
            <a:r>
              <a:t>Helps prevent overfitting in deep neural networks</a:t>
            </a:r>
          </a:p>
          <a:p>
            <a:pPr>
              <a:defRPr sz="2000">
                <a:solidFill>
                  <a:srgbClr val="444444"/>
                </a:solidFill>
              </a:defRPr>
            </a:pPr>
            <a:r>
              <a:t>Max pooling and average pooling are common types</a:t>
            </a:r>
          </a:p>
          <a:p>
            <a:pPr>
              <a:defRPr sz="2000">
                <a:solidFill>
                  <a:srgbClr val="444444"/>
                </a:solidFill>
              </a:defRPr>
            </a:pPr>
            <a:r>
              <a:t>Used in convolutional neural networks (CNNs)</a:t>
            </a:r>
          </a:p>
          <a:p>
            <a:pPr>
              <a:defRPr sz="2000">
                <a:solidFill>
                  <a:srgbClr val="444444"/>
                </a:solidFill>
              </a:defRPr>
            </a:pPr>
            <a:r>
              <a:t>Improves translation invariance of features</a:t>
            </a:r>
          </a:p>
          <a:p>
            <a:pPr>
              <a:defRPr sz="2000">
                <a:solidFill>
                  <a:srgbClr val="444444"/>
                </a:solidFill>
              </a:defRPr>
            </a:pPr>
            <a:r>
              <a:t>Reduces computational cost of subsequent layers</a:t>
            </a:r>
          </a:p>
          <a:p>
            <a:pPr>
              <a:defRPr sz="2000">
                <a:solidFill>
                  <a:srgbClr val="444444"/>
                </a:solidFill>
              </a:defRPr>
            </a:pPr>
            <a:r>
              <a:t>Increases robustness to small transformations</a:t>
            </a:r>
          </a:p>
          <a:p>
            <a:pPr>
              <a:defRPr sz="2000">
                <a:solidFill>
                  <a:srgbClr val="444444"/>
                </a:solidFill>
              </a:defRPr>
            </a:pPr>
            <a:r>
              <a:t>Commonly used in image and signal processing</a:t>
            </a:r>
          </a:p>
          <a:p>
            <a:pPr>
              <a:defRPr sz="2000">
                <a:solidFill>
                  <a:srgbClr val="444444"/>
                </a:solidFill>
              </a:defRPr>
            </a:pPr>
            <a:r>
              <a:t>Enhances model performance on limited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Pooling Layers - Introduction</a:t>
            </a:r>
          </a:p>
        </p:txBody>
      </p:sp>
      <p:sp>
        <p:nvSpPr>
          <p:cNvPr id="3" name="Content Placeholder 2"/>
          <p:cNvSpPr>
            <a:spLocks noGrp="1"/>
          </p:cNvSpPr>
          <p:nvPr>
            <p:ph idx="1"/>
          </p:nvPr>
        </p:nvSpPr>
        <p:spPr/>
        <p:txBody>
          <a:bodyPr/>
          <a:lstStyle/>
          <a:p>
            <a:pPr>
              <a:defRPr sz="2000">
                <a:solidFill>
                  <a:srgbClr val="444444"/>
                </a:solidFill>
              </a:defRPr>
            </a:pPr>
            <a:r>
              <a:t>Reducing spatial dimensions of feature maps</a:t>
            </a:r>
          </a:p>
          <a:p>
            <a:pPr>
              <a:defRPr sz="2000">
                <a:solidFill>
                  <a:srgbClr val="444444"/>
                </a:solidFill>
              </a:defRPr>
            </a:pPr>
            <a:r>
              <a:t>Downsampling technique for data reduction</a:t>
            </a:r>
          </a:p>
          <a:p>
            <a:pPr>
              <a:defRPr sz="2000">
                <a:solidFill>
                  <a:srgbClr val="444444"/>
                </a:solidFill>
              </a:defRPr>
            </a:pPr>
            <a:r>
              <a:t>Helps prevent overfitting in deep networks</a:t>
            </a:r>
          </a:p>
          <a:p>
            <a:pPr>
              <a:defRPr sz="2000">
                <a:solidFill>
                  <a:srgbClr val="444444"/>
                </a:solidFill>
              </a:defRPr>
            </a:pPr>
            <a:r>
              <a:t>Pooling layers follow convolutional layers</a:t>
            </a:r>
          </a:p>
          <a:p>
            <a:pPr>
              <a:defRPr sz="2000">
                <a:solidFill>
                  <a:srgbClr val="444444"/>
                </a:solidFill>
              </a:defRPr>
            </a:pPr>
            <a:r>
              <a:t>Max pooling is most commonly used</a:t>
            </a:r>
          </a:p>
          <a:p>
            <a:pPr>
              <a:defRPr sz="2000">
                <a:solidFill>
                  <a:srgbClr val="444444"/>
                </a:solidFill>
              </a:defRPr>
            </a:pPr>
            <a:r>
              <a:t>Average pooling also used in some cases</a:t>
            </a:r>
          </a:p>
          <a:p>
            <a:pPr>
              <a:defRPr sz="2000">
                <a:solidFill>
                  <a:srgbClr val="444444"/>
                </a:solidFill>
              </a:defRPr>
            </a:pPr>
            <a:r>
              <a:t>Pooling layer reduces number of parameters</a:t>
            </a:r>
          </a:p>
          <a:p>
            <a:pPr>
              <a:defRPr sz="2000">
                <a:solidFill>
                  <a:srgbClr val="444444"/>
                </a:solidFill>
              </a:defRPr>
            </a:pPr>
            <a:r>
              <a:t>Improves robustness to small transformations</a:t>
            </a:r>
          </a:p>
          <a:p>
            <a:pPr>
              <a:defRPr sz="2000">
                <a:solidFill>
                  <a:srgbClr val="444444"/>
                </a:solidFill>
              </a:defRPr>
            </a:pPr>
            <a:r>
              <a:t>Enhances translational invariance property</a:t>
            </a:r>
          </a:p>
          <a:p>
            <a:pPr>
              <a:defRPr sz="2000">
                <a:solidFill>
                  <a:srgbClr val="444444"/>
                </a:solidFill>
              </a:defRPr>
            </a:pPr>
            <a:r>
              <a:t>Simplifies computation and memory usage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 Architecture Example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(CNNs) for image classification</a:t>
            </a:r>
          </a:p>
          <a:p>
            <a:pPr>
              <a:defRPr sz="2000">
                <a:solidFill>
                  <a:srgbClr val="444444"/>
                </a:solidFill>
              </a:defRPr>
            </a:pPr>
            <a:r>
              <a:t>Utilize convolutional and pooling layers for feature extraction</a:t>
            </a:r>
          </a:p>
          <a:p>
            <a:pPr>
              <a:defRPr sz="2000">
                <a:solidFill>
                  <a:srgbClr val="444444"/>
                </a:solidFill>
              </a:defRPr>
            </a:pPr>
            <a:r>
              <a:t>LeNet-5 and AlexNet as pioneering CNN architectures</a:t>
            </a:r>
          </a:p>
          <a:p>
            <a:pPr>
              <a:defRPr sz="2000">
                <a:solidFill>
                  <a:srgbClr val="444444"/>
                </a:solidFill>
              </a:defRPr>
            </a:pPr>
            <a:r>
              <a:t>CNNs applied in self-driving cars and facial recognition</a:t>
            </a:r>
          </a:p>
          <a:p>
            <a:pPr>
              <a:defRPr sz="2000">
                <a:solidFill>
                  <a:srgbClr val="444444"/>
                </a:solidFill>
              </a:defRPr>
            </a:pPr>
            <a:r>
              <a:t>Image processing and computer vision tasks</a:t>
            </a:r>
          </a:p>
          <a:p>
            <a:pPr>
              <a:defRPr sz="2000">
                <a:solidFill>
                  <a:srgbClr val="444444"/>
                </a:solidFill>
              </a:defRPr>
            </a:pPr>
            <a:r>
              <a:t>Learning spatial hierarchies of features</a:t>
            </a:r>
          </a:p>
          <a:p>
            <a:pPr>
              <a:defRPr sz="2000">
                <a:solidFill>
                  <a:srgbClr val="444444"/>
                </a:solidFill>
              </a:defRPr>
            </a:pPr>
            <a:r>
              <a:t>Local connectivity and shared weights</a:t>
            </a:r>
          </a:p>
          <a:p>
            <a:pPr>
              <a:defRPr sz="2000">
                <a:solidFill>
                  <a:srgbClr val="444444"/>
                </a:solidFill>
              </a:defRPr>
            </a:pPr>
            <a:r>
              <a:t>Reducing parameters with pooling layers</a:t>
            </a:r>
          </a:p>
          <a:p>
            <a:pPr>
              <a:defRPr sz="2000">
                <a:solidFill>
                  <a:srgbClr val="444444"/>
                </a:solidFill>
              </a:defRPr>
            </a:pPr>
            <a:r>
              <a:t>Improving performance with deeper networks</a:t>
            </a:r>
          </a:p>
          <a:p>
            <a:pPr>
              <a:defRPr sz="2000">
                <a:solidFill>
                  <a:srgbClr val="444444"/>
                </a:solidFill>
              </a:defRPr>
            </a:pPr>
            <a:r>
              <a:t>Example: CIFAR-10 dataset for image classification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 Architecture Example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process data with grid-like topology</a:t>
            </a:r>
          </a:p>
          <a:p>
            <a:pPr>
              <a:defRPr sz="2000">
                <a:solidFill>
                  <a:srgbClr val="444444"/>
                </a:solidFill>
              </a:defRPr>
            </a:pPr>
            <a:r>
              <a:t>Inspired by biological neural networks and visual cortex</a:t>
            </a:r>
          </a:p>
          <a:p>
            <a:pPr>
              <a:defRPr sz="2000">
                <a:solidFill>
                  <a:srgbClr val="444444"/>
                </a:solidFill>
              </a:defRPr>
            </a:pPr>
            <a:r>
              <a:t>Typical applications include image classification and object detection</a:t>
            </a:r>
          </a:p>
          <a:p>
            <a:pPr>
              <a:defRPr sz="2000">
                <a:solidFill>
                  <a:srgbClr val="444444"/>
                </a:solidFill>
              </a:defRPr>
            </a:pPr>
            <a:r>
              <a:t>CNNs consist of convolutional and pooling layers</a:t>
            </a:r>
          </a:p>
          <a:p>
            <a:pPr>
              <a:defRPr sz="2000">
                <a:solidFill>
                  <a:srgbClr val="444444"/>
                </a:solidFill>
              </a:defRPr>
            </a:pPr>
            <a:r>
              <a:t>Activation functions introduce non-linearity to the model</a:t>
            </a:r>
          </a:p>
          <a:p>
            <a:pPr>
              <a:defRPr sz="2000">
                <a:solidFill>
                  <a:srgbClr val="444444"/>
                </a:solidFill>
              </a:defRPr>
            </a:pPr>
            <a:r>
              <a:t>ReLU is a commonly used activation function</a:t>
            </a:r>
          </a:p>
          <a:p>
            <a:pPr>
              <a:defRPr sz="2000">
                <a:solidFill>
                  <a:srgbClr val="444444"/>
                </a:solidFill>
              </a:defRPr>
            </a:pPr>
            <a:r>
              <a:t>CNNs can learn spatial hierarchies of features</a:t>
            </a:r>
          </a:p>
          <a:p>
            <a:pPr>
              <a:defRPr sz="2000">
                <a:solidFill>
                  <a:srgbClr val="444444"/>
                </a:solidFill>
              </a:defRPr>
            </a:pPr>
            <a:r>
              <a:t>LeNet-5 is an early example of a CNN architecture</a:t>
            </a:r>
          </a:p>
          <a:p>
            <a:pPr>
              <a:defRPr sz="2000">
                <a:solidFill>
                  <a:srgbClr val="444444"/>
                </a:solidFill>
              </a:defRPr>
            </a:pPr>
            <a:r>
              <a:t>Modern CNNs include ResNet and Inception models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 Architecture Example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(CNNs) for image classification</a:t>
            </a:r>
          </a:p>
          <a:p>
            <a:pPr>
              <a:defRPr sz="2000">
                <a:solidFill>
                  <a:srgbClr val="444444"/>
                </a:solidFill>
              </a:defRPr>
            </a:pPr>
            <a:r>
              <a:t>CNNs consist of convolutional and pooling layers</a:t>
            </a:r>
          </a:p>
          <a:p>
            <a:pPr>
              <a:defRPr sz="2000">
                <a:solidFill>
                  <a:srgbClr val="444444"/>
                </a:solidFill>
              </a:defRPr>
            </a:pPr>
            <a:r>
              <a:t>Activation functions like ReLU used for feature extraction</a:t>
            </a:r>
          </a:p>
          <a:p>
            <a:pPr>
              <a:defRPr sz="2000">
                <a:solidFill>
                  <a:srgbClr val="444444"/>
                </a:solidFill>
              </a:defRPr>
            </a:pPr>
            <a:r>
              <a:t>Flatten layer used to transform data for dense layers</a:t>
            </a:r>
          </a:p>
          <a:p>
            <a:pPr>
              <a:defRPr sz="2000">
                <a:solidFill>
                  <a:srgbClr val="444444"/>
                </a:solidFill>
              </a:defRPr>
            </a:pPr>
            <a:r>
              <a:t>Dense layers for classification and regression tasks</a:t>
            </a:r>
          </a:p>
          <a:p>
            <a:pPr>
              <a:defRPr sz="2000">
                <a:solidFill>
                  <a:srgbClr val="444444"/>
                </a:solidFill>
              </a:defRPr>
            </a:pPr>
            <a:r>
              <a:t>CNN architecture inspired by human visual cortex</a:t>
            </a:r>
          </a:p>
          <a:p>
            <a:pPr>
              <a:defRPr sz="2000">
                <a:solidFill>
                  <a:srgbClr val="444444"/>
                </a:solidFill>
              </a:defRPr>
            </a:pPr>
            <a:r>
              <a:t>Weight sharing reduces number of trainable parameters</a:t>
            </a:r>
          </a:p>
          <a:p>
            <a:pPr>
              <a:defRPr sz="2000">
                <a:solidFill>
                  <a:srgbClr val="444444"/>
                </a:solidFill>
              </a:defRPr>
            </a:pPr>
            <a:r>
              <a:t>Local connectivity for spatial hierarchies of features</a:t>
            </a:r>
          </a:p>
          <a:p>
            <a:pPr>
              <a:defRPr sz="2000">
                <a:solidFill>
                  <a:srgbClr val="444444"/>
                </a:solidFill>
              </a:defRPr>
            </a:pPr>
            <a:r>
              <a:t>y = σ(Wx + b) for neural network computation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of CNNs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for image classification</a:t>
            </a:r>
          </a:p>
          <a:p>
            <a:pPr>
              <a:defRPr sz="2000">
                <a:solidFill>
                  <a:srgbClr val="444444"/>
                </a:solidFill>
              </a:defRPr>
            </a:pPr>
            <a:r>
              <a:t>Object detection with YOLO and SSD algorithms</a:t>
            </a:r>
          </a:p>
          <a:p>
            <a:pPr>
              <a:defRPr sz="2000">
                <a:solidFill>
                  <a:srgbClr val="444444"/>
                </a:solidFill>
              </a:defRPr>
            </a:pPr>
            <a:r>
              <a:t>Image segmentation using U-Net architecture</a:t>
            </a:r>
          </a:p>
          <a:p>
            <a:pPr>
              <a:defRPr sz="2000">
                <a:solidFill>
                  <a:srgbClr val="444444"/>
                </a:solidFill>
              </a:defRPr>
            </a:pPr>
            <a:r>
              <a:t>Facial recognition with CNN-based models</a:t>
            </a:r>
          </a:p>
          <a:p>
            <a:pPr>
              <a:defRPr sz="2000">
                <a:solidFill>
                  <a:srgbClr val="444444"/>
                </a:solidFill>
              </a:defRPr>
            </a:pPr>
            <a:r>
              <a:t>Self-driving cars using CNNs for scene understanding</a:t>
            </a:r>
          </a:p>
          <a:p>
            <a:pPr>
              <a:defRPr sz="2000">
                <a:solidFill>
                  <a:srgbClr val="444444"/>
                </a:solidFill>
              </a:defRPr>
            </a:pPr>
            <a:r>
              <a:t>Medical imaging analysis with CNNs for diagnosis</a:t>
            </a:r>
          </a:p>
          <a:p>
            <a:pPr>
              <a:defRPr sz="2000">
                <a:solidFill>
                  <a:srgbClr val="444444"/>
                </a:solidFill>
              </a:defRPr>
            </a:pPr>
            <a:r>
              <a:t>CNNs for natural language processing tasks</a:t>
            </a:r>
          </a:p>
          <a:p>
            <a:pPr>
              <a:defRPr sz="2000">
                <a:solidFill>
                  <a:srgbClr val="444444"/>
                </a:solidFill>
              </a:defRPr>
            </a:pPr>
            <a:r>
              <a:t>Time-series forecasting with CNN-based models</a:t>
            </a:r>
          </a:p>
          <a:p>
            <a:pPr>
              <a:defRPr sz="2000">
                <a:solidFill>
                  <a:srgbClr val="444444"/>
                </a:solidFill>
              </a:defRPr>
            </a:pPr>
            <a:r>
              <a:t>Recommendation systems using CNNs for user behavior</a:t>
            </a:r>
          </a:p>
          <a:p>
            <a:pPr>
              <a:defRPr sz="2000">
                <a:solidFill>
                  <a:srgbClr val="444444"/>
                </a:solidFill>
              </a:defRPr>
            </a:pPr>
            <a:r>
              <a:t>Real-world applications in robotics and surveillance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of CNNs - Introduction</a:t>
            </a:r>
          </a:p>
        </p:txBody>
      </p:sp>
      <p:sp>
        <p:nvSpPr>
          <p:cNvPr id="3" name="Content Placeholder 2"/>
          <p:cNvSpPr>
            <a:spLocks noGrp="1"/>
          </p:cNvSpPr>
          <p:nvPr>
            <p:ph idx="1"/>
          </p:nvPr>
        </p:nvSpPr>
        <p:spPr/>
        <p:txBody>
          <a:bodyPr/>
          <a:lstStyle/>
          <a:p>
            <a:pPr>
              <a:defRPr sz="2000">
                <a:solidFill>
                  <a:srgbClr val="444444"/>
                </a:solidFill>
              </a:defRPr>
            </a:pPr>
            <a:r>
              <a:t>Image classification using CNNs is widely used</a:t>
            </a:r>
          </a:p>
          <a:p>
            <a:pPr>
              <a:defRPr sz="2000">
                <a:solidFill>
                  <a:srgbClr val="444444"/>
                </a:solidFill>
              </a:defRPr>
            </a:pPr>
            <a:r>
              <a:t>Object detection with YOLO and SSD algorithms</a:t>
            </a:r>
          </a:p>
          <a:p>
            <a:pPr>
              <a:defRPr sz="2000">
                <a:solidFill>
                  <a:srgbClr val="444444"/>
                </a:solidFill>
              </a:defRPr>
            </a:pPr>
            <a:r>
              <a:t>Segmentation for medical imaging analysis</a:t>
            </a:r>
          </a:p>
          <a:p>
            <a:pPr>
              <a:defRPr sz="2000">
                <a:solidFill>
                  <a:srgbClr val="444444"/>
                </a:solidFill>
              </a:defRPr>
            </a:pPr>
            <a:r>
              <a:t>Facial recognition for security applications</a:t>
            </a:r>
          </a:p>
          <a:p>
            <a:pPr>
              <a:defRPr sz="2000">
                <a:solidFill>
                  <a:srgbClr val="444444"/>
                </a:solidFill>
              </a:defRPr>
            </a:pPr>
            <a:r>
              <a:t>Self-driving cars using CNNs for navigation</a:t>
            </a:r>
          </a:p>
          <a:p>
            <a:pPr>
              <a:defRPr sz="2000">
                <a:solidFill>
                  <a:srgbClr val="444444"/>
                </a:solidFill>
              </a:defRPr>
            </a:pPr>
            <a:r>
              <a:t>Image generation with GANs and CNNs</a:t>
            </a:r>
          </a:p>
          <a:p>
            <a:pPr>
              <a:defRPr sz="2000">
                <a:solidFill>
                  <a:srgbClr val="444444"/>
                </a:solidFill>
              </a:defRPr>
            </a:pPr>
            <a:r>
              <a:t>Natural Language Processing with CNNs</a:t>
            </a:r>
          </a:p>
          <a:p>
            <a:pPr>
              <a:defRPr sz="2000">
                <a:solidFill>
                  <a:srgbClr val="444444"/>
                </a:solidFill>
              </a:defRPr>
            </a:pPr>
            <a:r>
              <a:t>Time series forecasting using CNNs</a:t>
            </a:r>
          </a:p>
          <a:p>
            <a:pPr>
              <a:defRPr sz="2000">
                <a:solidFill>
                  <a:srgbClr val="444444"/>
                </a:solidFill>
              </a:defRPr>
            </a:pPr>
            <a:r>
              <a:t>Recommendation systems with CNN-based models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of CNNs - Applications</a:t>
            </a:r>
          </a:p>
        </p:txBody>
      </p:sp>
      <p:sp>
        <p:nvSpPr>
          <p:cNvPr id="3" name="Content Placeholder 2"/>
          <p:cNvSpPr>
            <a:spLocks noGrp="1"/>
          </p:cNvSpPr>
          <p:nvPr>
            <p:ph idx="1"/>
          </p:nvPr>
        </p:nvSpPr>
        <p:spPr/>
        <p:txBody>
          <a:bodyPr/>
          <a:lstStyle/>
          <a:p>
            <a:pPr>
              <a:defRPr sz="2000">
                <a:solidFill>
                  <a:srgbClr val="444444"/>
                </a:solidFill>
              </a:defRPr>
            </a:pPr>
            <a:r>
              <a:t>Image classification using CNNs is widely used</a:t>
            </a:r>
          </a:p>
          <a:p>
            <a:pPr>
              <a:defRPr sz="2000">
                <a:solidFill>
                  <a:srgbClr val="444444"/>
                </a:solidFill>
              </a:defRPr>
            </a:pPr>
            <a:r>
              <a:t>Object detection in images and videos</a:t>
            </a:r>
          </a:p>
          <a:p>
            <a:pPr>
              <a:defRPr sz="2000">
                <a:solidFill>
                  <a:srgbClr val="444444"/>
                </a:solidFill>
              </a:defRPr>
            </a:pPr>
            <a:r>
              <a:t>Segmentation of medical images for diagnosis</a:t>
            </a:r>
          </a:p>
          <a:p>
            <a:pPr>
              <a:defRPr sz="2000">
                <a:solidFill>
                  <a:srgbClr val="444444"/>
                </a:solidFill>
              </a:defRPr>
            </a:pPr>
            <a:r>
              <a:t>Facial recognition in security systems</a:t>
            </a:r>
          </a:p>
          <a:p>
            <a:pPr>
              <a:defRPr sz="2000">
                <a:solidFill>
                  <a:srgbClr val="444444"/>
                </a:solidFill>
              </a:defRPr>
            </a:pPr>
            <a:r>
              <a:t>Self-driving cars use CNNs for navigation</a:t>
            </a:r>
          </a:p>
          <a:p>
            <a:pPr>
              <a:defRPr sz="2000">
                <a:solidFill>
                  <a:srgbClr val="444444"/>
                </a:solidFill>
              </a:defRPr>
            </a:pPr>
            <a:r>
              <a:t>Image generation using Generative Adversarial Networks</a:t>
            </a:r>
          </a:p>
          <a:p>
            <a:pPr>
              <a:defRPr sz="2000">
                <a:solidFill>
                  <a:srgbClr val="444444"/>
                </a:solidFill>
              </a:defRPr>
            </a:pPr>
            <a:r>
              <a:t>CNNs are used in robotics for perception</a:t>
            </a:r>
          </a:p>
          <a:p>
            <a:pPr>
              <a:defRPr sz="2000">
                <a:solidFill>
                  <a:srgbClr val="444444"/>
                </a:solidFill>
              </a:defRPr>
            </a:pPr>
            <a:r>
              <a:t>Predicting stock prices using CNNs and time series</a:t>
            </a:r>
          </a:p>
          <a:p>
            <a:pPr>
              <a:defRPr sz="2000">
                <a:solidFill>
                  <a:srgbClr val="444444"/>
                </a:solidFill>
              </a:defRPr>
            </a:pPr>
            <a:r>
              <a:t>Sentiment analysis from text images using CNNs</a:t>
            </a:r>
          </a:p>
          <a:p>
            <a:pPr>
              <a:defRPr sz="2000">
                <a:solidFill>
                  <a:srgbClr val="444444"/>
                </a:solidFill>
              </a:defRPr>
            </a:pPr>
            <a:r>
              <a:t>Medical diagnosis from X-rays and scans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