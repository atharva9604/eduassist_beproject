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pPr>
            <a:r>
              <a:t>Welcome to the Convolutional Neural Networks (CNNs) presentation covering multiple topics. Today we'll explore: Convolutional Neural Networks (CNNs), Introduction to CNNs, Convolution Operation, Pooling Layers, CNN Architecture Example, Applications of CNNs.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When introducing CNNs, emphasize their biological inspiration and ability to learn spatial hierarchies. Explain the role of convolutional and pooling layers in reducing spatial dimensions while retaining important information. Provide examples of key applications, such as image classification, object detection, and segmentation. Ask students to consider how CNNs can be used in real-world scenarios, like self-driving cars and robotics, and what benefits they offer over traditional computer vision techniques. Key takeaways should include understanding the basics of CNN architecture and their versatility in handling visual data.</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When introducing CNNs, explain the biological inspiration behind their architecture and how they are particularly suited for image and signal processing tasks. Provide examples of applications such as self-driving cars, facial recognition, and medical image analysis. Emphasize the importance of convolutional and pooling layers in automatically extracting features from data. Ask students to consider how CNNs differ from fully connected neural networks and what advantages they offer in terms of computational efficiency and ability to handle large datasets. Key takeaways should include understanding the basic components of a CNN and their role in image classification and object detection tasks.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When explaining the architecture of CNNs, emphasize the role of convolutional and pooling layers in feature extraction and dimension reduction. Provide examples of how activation functions like ReLU introduce non-linearity, and how batch normalization and dropout are used to improve model stability and prevent overfitting. Ask students to consider how the architecture of a CNN would change for different applications, such as image classification versus object detection. Key takeaways include understanding the basic components of a CNN and how they work together to enable deep learning.</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When introducing CNNs, emphasize their ability to analyze visual data and their inspiration from the human brain's visual cortex. Provide examples of applications such as image classification, self-driving cars, and facial recognition. Explain that CNNs can learn features from raw data, automating the feature extraction process, and highlight the importance of large datasets and computational resources. Ask students to consider the potential benefits and challenges of using CNNs in real-world scenarios, and encourage them to think about the ethical implications of these technologies.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jp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jp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1828800"/>
            <a:ext cx="10360152" cy="1828800"/>
          </a:xfrm>
          <a:prstGeom prst="rect">
            <a:avLst/>
          </a:prstGeom>
          <a:noFill/>
        </p:spPr>
        <p:txBody>
          <a:bodyPr wrap="none">
            <a:spAutoFit/>
          </a:bodyPr>
          <a:lstStyle/>
          <a:p>
            <a:pPr algn="ctr"/>
            <a:r>
              <a:rPr sz="4400" b="1">
                <a:solidFill>
                  <a:srgbClr val="1F497D"/>
                </a:solidFill>
              </a:rPr>
              <a:t>Convolutional Neural Networks (CNNs)</a:t>
            </a:r>
          </a:p>
        </p:txBody>
      </p:sp>
      <p:sp>
        <p:nvSpPr>
          <p:cNvPr id="3" name="TextBox 2"/>
          <p:cNvSpPr txBox="1"/>
          <p:nvPr/>
        </p:nvSpPr>
        <p:spPr>
          <a:xfrm>
            <a:off x="914400" y="4114800"/>
            <a:ext cx="10360152" cy="914400"/>
          </a:xfrm>
          <a:prstGeom prst="rect">
            <a:avLst/>
          </a:prstGeom>
          <a:noFill/>
        </p:spPr>
        <p:txBody>
          <a:bodyPr wrap="none">
            <a:spAutoFit/>
          </a:bodyPr>
          <a:lstStyle/>
          <a:p>
            <a:pPr algn="ctr"/>
            <a:r>
              <a:rPr sz="2400">
                <a:solidFill>
                  <a:srgbClr val="4472C4"/>
                </a:solidFill>
              </a:rPr>
              <a:t>Generated for: Convolutional Neural Networks (CNNs), Introduction to CNNs, Convolution Operation, Pooling Layers, CNN Architecture Example, Applications of CNNs</a:t>
            </a:r>
          </a:p>
        </p:txBody>
      </p:sp>
      <p:sp>
        <p:nvSpPr>
          <p:cNvPr id="4" name="Rectangle 3"/>
          <p:cNvSpPr/>
          <p:nvPr/>
        </p:nvSpPr>
        <p:spPr>
          <a:xfrm>
            <a:off x="914400" y="5943600"/>
            <a:ext cx="10360152" cy="274320"/>
          </a:xfrm>
          <a:prstGeom prst="rect">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Convolutional Neural Networks (CNNs) - Introduction</a:t>
            </a:r>
          </a:p>
        </p:txBody>
      </p:sp>
      <p:sp>
        <p:nvSpPr>
          <p:cNvPr id="3" name="Content Placeholder 2"/>
          <p:cNvSpPr>
            <a:spLocks noGrp="1"/>
          </p:cNvSpPr>
          <p:nvPr>
            <p:ph idx="1"/>
          </p:nvPr>
        </p:nvSpPr>
        <p:spPr/>
        <p:txBody>
          <a:bodyPr/>
          <a:lstStyle/>
          <a:p>
            <a:pPr>
              <a:defRPr sz="2000">
                <a:solidFill>
                  <a:srgbClr val="444444"/>
                </a:solidFill>
              </a:defRPr>
            </a:pPr>
            <a:r>
              <a:t>CNNs inspired by biological neural networks</a:t>
            </a:r>
          </a:p>
          <a:p>
            <a:pPr>
              <a:defRPr sz="2000">
                <a:solidFill>
                  <a:srgbClr val="444444"/>
                </a:solidFill>
              </a:defRPr>
            </a:pPr>
            <a:r>
              <a:t>Use convolutional and pooling layers</a:t>
            </a:r>
          </a:p>
          <a:p>
            <a:pPr>
              <a:defRPr sz="2000">
                <a:solidFill>
                  <a:srgbClr val="444444"/>
                </a:solidFill>
              </a:defRPr>
            </a:pPr>
            <a:r>
              <a:t>Primarily for image and video processing</a:t>
            </a:r>
          </a:p>
          <a:p>
            <a:pPr>
              <a:defRPr sz="2000">
                <a:solidFill>
                  <a:srgbClr val="444444"/>
                </a:solidFill>
              </a:defRPr>
            </a:pPr>
            <a:r>
              <a:t>Can learn spatial hierarchies of features</a:t>
            </a:r>
          </a:p>
          <a:p>
            <a:pPr>
              <a:defRPr sz="2000">
                <a:solidFill>
                  <a:srgbClr val="444444"/>
                </a:solidFill>
              </a:defRPr>
            </a:pPr>
            <a:r>
              <a:t>Robust to small transformations and distortions</a:t>
            </a:r>
          </a:p>
          <a:p>
            <a:pPr>
              <a:defRPr sz="2000">
                <a:solidFill>
                  <a:srgbClr val="444444"/>
                </a:solidFill>
              </a:defRPr>
            </a:pPr>
            <a:r>
              <a:t>Key applications in computer vision</a:t>
            </a:r>
          </a:p>
          <a:p>
            <a:pPr>
              <a:defRPr sz="2000">
                <a:solidFill>
                  <a:srgbClr val="444444"/>
                </a:solidFill>
              </a:defRPr>
            </a:pPr>
            <a:r>
              <a:t>Image classification and object detection</a:t>
            </a:r>
          </a:p>
          <a:p>
            <a:pPr>
              <a:defRPr sz="2000">
                <a:solidFill>
                  <a:srgbClr val="444444"/>
                </a:solidFill>
              </a:defRPr>
            </a:pPr>
            <a:r>
              <a:t>Segmentation and localization tasks</a:t>
            </a:r>
          </a:p>
          <a:p>
            <a:pPr>
              <a:defRPr sz="2000">
                <a:solidFill>
                  <a:srgbClr val="444444"/>
                </a:solidFill>
              </a:defRPr>
            </a:pPr>
            <a:r>
              <a:t>Used in self-driving cars and robotics</a:t>
            </a:r>
          </a:p>
          <a:p>
            <a:pPr>
              <a:defRPr sz="2000">
                <a:solidFill>
                  <a:srgbClr val="444444"/>
                </a:solidFill>
              </a:defRPr>
            </a:pPr>
            <a:r>
              <a:t>Enable deep learning for visual data</a:t>
            </a:r>
          </a:p>
        </p:txBody>
      </p:sp>
      <p:pic>
        <p:nvPicPr>
          <p:cNvPr id="4" name="Picture 3" descr="bc18210bc5f34c5aac3c9e2d7d1ded48_convolutional_neural_networks_cnns_intro.jpg"/>
          <p:cNvPicPr>
            <a:picLocks noChangeAspect="1"/>
          </p:cNvPicPr>
          <p:nvPr/>
        </p:nvPicPr>
        <p:blipFill>
          <a:blip r:embed="rId2"/>
          <a:stretch>
            <a:fillRect/>
          </a:stretch>
        </p:blipFill>
        <p:spPr>
          <a:xfrm>
            <a:off x="7315200" y="1828800"/>
            <a:ext cx="4114800" cy="274320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Convolutional Neural Networks (CNNs) - Introduction</a:t>
            </a:r>
          </a:p>
        </p:txBody>
      </p:sp>
      <p:sp>
        <p:nvSpPr>
          <p:cNvPr id="3" name="Content Placeholder 2"/>
          <p:cNvSpPr>
            <a:spLocks noGrp="1"/>
          </p:cNvSpPr>
          <p:nvPr>
            <p:ph idx="1"/>
          </p:nvPr>
        </p:nvSpPr>
        <p:spPr/>
        <p:txBody>
          <a:bodyPr/>
          <a:lstStyle/>
          <a:p>
            <a:pPr>
              <a:defRPr sz="2000">
                <a:solidFill>
                  <a:srgbClr val="444444"/>
                </a:solidFill>
              </a:defRPr>
            </a:pPr>
            <a:r>
              <a:t>CNNs are deep learning models for image classification tasks</a:t>
            </a:r>
          </a:p>
          <a:p>
            <a:pPr>
              <a:defRPr sz="2000">
                <a:solidFill>
                  <a:srgbClr val="444444"/>
                </a:solidFill>
              </a:defRPr>
            </a:pPr>
            <a:r>
              <a:t>Inspired by human visual cortex structure and function</a:t>
            </a:r>
          </a:p>
          <a:p>
            <a:pPr>
              <a:defRPr sz="2000">
                <a:solidFill>
                  <a:srgbClr val="444444"/>
                </a:solidFill>
              </a:defRPr>
            </a:pPr>
            <a:r>
              <a:t>Use convolutional and pooling layers for feature extraction</a:t>
            </a:r>
          </a:p>
          <a:p>
            <a:pPr>
              <a:defRPr sz="2000">
                <a:solidFill>
                  <a:srgbClr val="444444"/>
                </a:solidFill>
              </a:defRPr>
            </a:pPr>
            <a:r>
              <a:t>Automatically learn spatial hierarchies of features</a:t>
            </a:r>
          </a:p>
          <a:p>
            <a:pPr>
              <a:defRPr sz="2000">
                <a:solidFill>
                  <a:srgbClr val="444444"/>
                </a:solidFill>
              </a:defRPr>
            </a:pPr>
            <a:r>
              <a:t>Typically used for object detection and image recognition</a:t>
            </a:r>
          </a:p>
          <a:p>
            <a:pPr>
              <a:defRPr sz="2000">
                <a:solidFill>
                  <a:srgbClr val="444444"/>
                </a:solidFill>
              </a:defRPr>
            </a:pPr>
            <a:r>
              <a:t>Can be applied to signal processing and natural language</a:t>
            </a:r>
          </a:p>
          <a:p>
            <a:pPr>
              <a:defRPr sz="2000">
                <a:solidFill>
                  <a:srgbClr val="444444"/>
                </a:solidFill>
              </a:defRPr>
            </a:pPr>
            <a:r>
              <a:t>Convolutional layers use filters for feature detection</a:t>
            </a:r>
          </a:p>
          <a:p>
            <a:pPr>
              <a:defRPr sz="2000">
                <a:solidFill>
                  <a:srgbClr val="444444"/>
                </a:solidFill>
              </a:defRPr>
            </a:pPr>
            <a:r>
              <a:t>Pooling layers reduce spatial dimensions for efficiency</a:t>
            </a:r>
          </a:p>
          <a:p>
            <a:pPr>
              <a:defRPr sz="2000">
                <a:solidFill>
                  <a:srgbClr val="444444"/>
                </a:solidFill>
              </a:defRPr>
            </a:pPr>
            <a:r>
              <a:t>Fully connected layers for final classification output</a:t>
            </a:r>
          </a:p>
          <a:p>
            <a:pPr>
              <a:defRPr sz="2000">
                <a:solidFill>
                  <a:srgbClr val="444444"/>
                </a:solidFill>
              </a:defRPr>
            </a:pPr>
            <a:r>
              <a:t>Activation functions introduce non-linearity in models</a:t>
            </a:r>
          </a:p>
        </p:txBody>
      </p:sp>
      <p:pic>
        <p:nvPicPr>
          <p:cNvPr id="4" name="Picture 3" descr="8e0ac956470545a5a9df6b9ee4cb4da9_convolutional_neural_networks_cnns_intro.jpg"/>
          <p:cNvPicPr>
            <a:picLocks noChangeAspect="1"/>
          </p:cNvPicPr>
          <p:nvPr/>
        </p:nvPicPr>
        <p:blipFill>
          <a:blip r:embed="rId2"/>
          <a:stretch>
            <a:fillRect/>
          </a:stretch>
        </p:blipFill>
        <p:spPr>
          <a:xfrm>
            <a:off x="7315200" y="1828800"/>
            <a:ext cx="4114800" cy="231267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Convolutional Neural Networks (CNNs) - Architecture</a:t>
            </a:r>
          </a:p>
        </p:txBody>
      </p:sp>
      <p:sp>
        <p:nvSpPr>
          <p:cNvPr id="3" name="Content Placeholder 2"/>
          <p:cNvSpPr>
            <a:spLocks noGrp="1"/>
          </p:cNvSpPr>
          <p:nvPr>
            <p:ph idx="1"/>
          </p:nvPr>
        </p:nvSpPr>
        <p:spPr/>
        <p:txBody>
          <a:bodyPr/>
          <a:lstStyle/>
          <a:p>
            <a:pPr>
              <a:defRPr sz="2000">
                <a:solidFill>
                  <a:srgbClr val="444444"/>
                </a:solidFill>
              </a:defRPr>
            </a:pPr>
            <a:r>
              <a:t>CNNs composed of convolutional and pooling layers</a:t>
            </a:r>
          </a:p>
          <a:p>
            <a:pPr>
              <a:defRPr sz="2000">
                <a:solidFill>
                  <a:srgbClr val="444444"/>
                </a:solidFill>
              </a:defRPr>
            </a:pPr>
            <a:r>
              <a:t>Convolutional layers extract local features</a:t>
            </a:r>
          </a:p>
          <a:p>
            <a:pPr>
              <a:defRPr sz="2000">
                <a:solidFill>
                  <a:srgbClr val="444444"/>
                </a:solidFill>
              </a:defRPr>
            </a:pPr>
            <a:r>
              <a:t>Pooling layers reduce spatial dimensions</a:t>
            </a:r>
          </a:p>
          <a:p>
            <a:pPr>
              <a:defRPr sz="2000">
                <a:solidFill>
                  <a:srgbClr val="444444"/>
                </a:solidFill>
              </a:defRPr>
            </a:pPr>
            <a:r>
              <a:t>Fully connected layers for classification</a:t>
            </a:r>
          </a:p>
          <a:p>
            <a:pPr>
              <a:defRPr sz="2000">
                <a:solidFill>
                  <a:srgbClr val="444444"/>
                </a:solidFill>
              </a:defRPr>
            </a:pPr>
            <a:r>
              <a:t>Activation functions introduce non-linearity</a:t>
            </a:r>
          </a:p>
          <a:p>
            <a:pPr>
              <a:defRPr sz="2000">
                <a:solidFill>
                  <a:srgbClr val="444444"/>
                </a:solidFill>
              </a:defRPr>
            </a:pPr>
            <a:r>
              <a:t>ReLU activation function commonly used</a:t>
            </a:r>
          </a:p>
          <a:p>
            <a:pPr>
              <a:defRPr sz="2000">
                <a:solidFill>
                  <a:srgbClr val="444444"/>
                </a:solidFill>
              </a:defRPr>
            </a:pPr>
            <a:r>
              <a:t>Batch normalization improves stability</a:t>
            </a:r>
          </a:p>
          <a:p>
            <a:pPr>
              <a:defRPr sz="2000">
                <a:solidFill>
                  <a:srgbClr val="444444"/>
                </a:solidFill>
              </a:defRPr>
            </a:pPr>
            <a:r>
              <a:t>Dropout prevents overfitting</a:t>
            </a:r>
          </a:p>
          <a:p>
            <a:pPr>
              <a:defRPr sz="2000">
                <a:solidFill>
                  <a:srgbClr val="444444"/>
                </a:solidFill>
              </a:defRPr>
            </a:pPr>
            <a:r>
              <a:t>Convolutional layers use filters</a:t>
            </a:r>
          </a:p>
          <a:p>
            <a:pPr>
              <a:defRPr sz="2000">
                <a:solidFill>
                  <a:srgbClr val="444444"/>
                </a:solidFill>
              </a:defRPr>
            </a:pPr>
            <a:r>
              <a:t>y = σ(Wx + b) simple neural equation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Introduction to CNNs - Introduction</a:t>
            </a:r>
          </a:p>
        </p:txBody>
      </p:sp>
      <p:sp>
        <p:nvSpPr>
          <p:cNvPr id="3" name="Content Placeholder 2"/>
          <p:cNvSpPr>
            <a:spLocks noGrp="1"/>
          </p:cNvSpPr>
          <p:nvPr>
            <p:ph idx="1"/>
          </p:nvPr>
        </p:nvSpPr>
        <p:spPr/>
        <p:txBody>
          <a:bodyPr/>
          <a:lstStyle/>
          <a:p>
            <a:pPr>
              <a:defRPr sz="2000">
                <a:solidFill>
                  <a:srgbClr val="444444"/>
                </a:solidFill>
              </a:defRPr>
            </a:pPr>
            <a:r>
              <a:t>Convolutional Neural Networks (CNNs) analyze visual data</a:t>
            </a:r>
          </a:p>
          <a:p>
            <a:pPr>
              <a:defRPr sz="2000">
                <a:solidFill>
                  <a:srgbClr val="444444"/>
                </a:solidFill>
              </a:defRPr>
            </a:pPr>
            <a:r>
              <a:t>Inspired by human brain's visual cortex structure</a:t>
            </a:r>
          </a:p>
          <a:p>
            <a:pPr>
              <a:defRPr sz="2000">
                <a:solidFill>
                  <a:srgbClr val="444444"/>
                </a:solidFill>
              </a:defRPr>
            </a:pPr>
            <a:r>
              <a:t>Use convolutional and pooling layers</a:t>
            </a:r>
          </a:p>
          <a:p>
            <a:pPr>
              <a:defRPr sz="2000">
                <a:solidFill>
                  <a:srgbClr val="444444"/>
                </a:solidFill>
              </a:defRPr>
            </a:pPr>
            <a:r>
              <a:t>Apply to image classification tasks</a:t>
            </a:r>
          </a:p>
          <a:p>
            <a:pPr>
              <a:defRPr sz="2000">
                <a:solidFill>
                  <a:srgbClr val="444444"/>
                </a:solidFill>
              </a:defRPr>
            </a:pPr>
            <a:r>
              <a:t>Used in self-driving cars and facial recognition</a:t>
            </a:r>
          </a:p>
          <a:p>
            <a:pPr>
              <a:defRPr sz="2000">
                <a:solidFill>
                  <a:srgbClr val="444444"/>
                </a:solidFill>
              </a:defRPr>
            </a:pPr>
            <a:r>
              <a:t>Can learn features from raw data</a:t>
            </a:r>
          </a:p>
          <a:p>
            <a:pPr>
              <a:defRPr sz="2000">
                <a:solidFill>
                  <a:srgbClr val="444444"/>
                </a:solidFill>
              </a:defRPr>
            </a:pPr>
            <a:r>
              <a:t>Automate feature extraction process</a:t>
            </a:r>
          </a:p>
          <a:p>
            <a:pPr>
              <a:defRPr sz="2000">
                <a:solidFill>
                  <a:srgbClr val="444444"/>
                </a:solidFill>
              </a:defRPr>
            </a:pPr>
            <a:r>
              <a:t>Improve performance with large datasets</a:t>
            </a:r>
          </a:p>
          <a:p>
            <a:pPr>
              <a:defRPr sz="2000">
                <a:solidFill>
                  <a:srgbClr val="444444"/>
                </a:solidFill>
              </a:defRPr>
            </a:pPr>
            <a:r>
              <a:t>Require significant computational resources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