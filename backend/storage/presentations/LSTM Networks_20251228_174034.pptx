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LSTM Networks.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LSTM networks, explaining their role in deep learning and their ability to handle sequential data. Provide examples of applications where LSTMs are commonly used, such as natural language processing and speech recognition. Ask students to consider the challenges of working with sequential data and how LSTMs can help address these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motivation behind the development of LSTMs, highlighting the limitations of traditional RNNs and how LSTMs address these limitations. Discuss the role of memory cells and gates in LSTMs, and provide examples of how LSTMs can be applied to real-world problems. Ask students to think about how LSTMs can be used to improve the performance of traditional RNNs.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architecture of LSTMs, highlighting the different components and how they interact. Use the user-provided content to guide the discussion, and provide examples to illustrate the key concepts. Ask students to consider how the architecture of LSTMs enables them to learn complex patterns in sequential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role of gates in LSTMs, discussing how they control the flow of information in and out of the memory cells. Provide examples of how the gates are used to regulate the memory cells, and discuss the importance of gates in the performance of LSTMs. Ask students to consider how the gates enable LSTMs to learn complex patterns in sequential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details of training LSTMs, explaining the process of backpropagation through time and the importance of regularization techniques. Provide examples of optimization algorithms and regularization techniques that can be used to train LSTMs, and discuss the importance of training LSTMs on large datasets. Ask students to consider the challenges of training LSTMs and how to address these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various applications of LSTMs, highlighting their use in natural language processing, speech recognition, and time-series forecasting. Provide examples of how LSTMs can be used for both classification and regression tasks, and discuss the importance of LSTMs in both supervised and unsupervised learning. Ask students to think about how LSTMs can be applied to real-world problems and the potential benefits of using LSTMs in these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highlighting the importance of LSTMs in deep learning and their ability to handle sequential data. Emphasize the key components of LSTMs, including memory cells and gates, and discuss the various applications of LSTMs. Ask students to reflect on what they have learned and how they can apply LSTMs to real-world problems. Provide final thoughts and encourage students to explore LSTMs further.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LSTM Networks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LSTM stands for Long Short-Term Memory</a:t>
            </a:r>
          </a:p>
          <a:p>
            <a:pPr>
              <a:defRPr sz="2000">
                <a:solidFill>
                  <a:srgbClr val="444444"/>
                </a:solidFill>
              </a:defRPr>
            </a:pPr>
            <a:r>
              <a:t>Type of Recurrent Neural Network (RNN)</a:t>
            </a:r>
          </a:p>
          <a:p>
            <a:pPr>
              <a:defRPr sz="2000">
                <a:solidFill>
                  <a:srgbClr val="444444"/>
                </a:solidFill>
              </a:defRPr>
            </a:pPr>
            <a:r>
              <a:t>Used for sequential data processing</a:t>
            </a:r>
          </a:p>
          <a:p>
            <a:pPr>
              <a:defRPr sz="2000">
                <a:solidFill>
                  <a:srgbClr val="444444"/>
                </a:solidFill>
              </a:defRPr>
            </a:pPr>
            <a:r>
              <a:t>Effective in handling vanishing gradients</a:t>
            </a:r>
          </a:p>
          <a:p>
            <a:pPr>
              <a:defRPr sz="2000">
                <a:solidFill>
                  <a:srgbClr val="444444"/>
                </a:solidFill>
              </a:defRPr>
            </a:pPr>
            <a:r>
              <a:t>Key component in many deep learning models</a:t>
            </a:r>
          </a:p>
          <a:p>
            <a:pPr>
              <a:defRPr sz="2000">
                <a:solidFill>
                  <a:srgbClr val="444444"/>
                </a:solidFill>
              </a:defRPr>
            </a:pPr>
            <a:r>
              <a:t>LSTM networks have feedback connections</a:t>
            </a:r>
          </a:p>
          <a:p>
            <a:pPr>
              <a:defRPr sz="2000">
                <a:solidFill>
                  <a:srgbClr val="444444"/>
                </a:solidFill>
              </a:defRPr>
            </a:pPr>
            <a:r>
              <a:t>Allowing information to flow in a loop</a:t>
            </a:r>
          </a:p>
          <a:p>
            <a:pPr>
              <a:defRPr sz="2000">
                <a:solidFill>
                  <a:srgbClr val="444444"/>
                </a:solidFill>
              </a:defRPr>
            </a:pPr>
            <a:r>
              <a:t>Enabling the network to keep track of state</a:t>
            </a:r>
          </a:p>
          <a:p>
            <a:pPr>
              <a:defRPr sz="2000">
                <a:solidFill>
                  <a:srgbClr val="444444"/>
                </a:solidFill>
              </a:defRPr>
            </a:pPr>
            <a:r>
              <a:t>Over time, making predictions more accurate</a:t>
            </a:r>
          </a:p>
        </p:txBody>
      </p:sp>
      <p:pic>
        <p:nvPicPr>
          <p:cNvPr id="4" name="Picture 3" descr="2d3c337ddc3c45e983e509d01569c011_lstm_networks_deep_learning_overview.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Motivation for LSTMs</a:t>
            </a:r>
          </a:p>
        </p:txBody>
      </p:sp>
      <p:sp>
        <p:nvSpPr>
          <p:cNvPr id="3" name="Content Placeholder 2"/>
          <p:cNvSpPr>
            <a:spLocks noGrp="1"/>
          </p:cNvSpPr>
          <p:nvPr>
            <p:ph idx="1"/>
          </p:nvPr>
        </p:nvSpPr>
        <p:spPr/>
        <p:txBody>
          <a:bodyPr/>
          <a:lstStyle/>
          <a:p>
            <a:pPr>
              <a:defRPr sz="2000">
                <a:solidFill>
                  <a:srgbClr val="444444"/>
                </a:solidFill>
              </a:defRPr>
            </a:pPr>
            <a:r>
              <a:t>Traditional RNNs suffer from vanishing gradients</a:t>
            </a:r>
          </a:p>
          <a:p>
            <a:pPr>
              <a:defRPr sz="2000">
                <a:solidFill>
                  <a:srgbClr val="444444"/>
                </a:solidFill>
              </a:defRPr>
            </a:pPr>
            <a:r>
              <a:t>Making it difficult to learn long-term dependencies</a:t>
            </a:r>
          </a:p>
          <a:p>
            <a:pPr>
              <a:defRPr sz="2000">
                <a:solidFill>
                  <a:srgbClr val="444444"/>
                </a:solidFill>
              </a:defRPr>
            </a:pPr>
            <a:r>
              <a:t>LSTMs introduce memory cells to store information</a:t>
            </a:r>
          </a:p>
          <a:p>
            <a:pPr>
              <a:defRPr sz="2000">
                <a:solidFill>
                  <a:srgbClr val="444444"/>
                </a:solidFill>
              </a:defRPr>
            </a:pPr>
            <a:r>
              <a:t>Enabling the network to learn complex patterns</a:t>
            </a:r>
          </a:p>
          <a:p>
            <a:pPr>
              <a:defRPr sz="2000">
                <a:solidFill>
                  <a:srgbClr val="444444"/>
                </a:solidFill>
              </a:defRPr>
            </a:pPr>
            <a:r>
              <a:t>Gates control the flow of information in and out</a:t>
            </a:r>
          </a:p>
          <a:p>
            <a:pPr>
              <a:defRPr sz="2000">
                <a:solidFill>
                  <a:srgbClr val="444444"/>
                </a:solidFill>
              </a:defRPr>
            </a:pPr>
            <a:r>
              <a:t>Of the memory cells, allowing for selective forgetting</a:t>
            </a:r>
          </a:p>
          <a:p>
            <a:pPr>
              <a:defRPr sz="2000">
                <a:solidFill>
                  <a:srgbClr val="444444"/>
                </a:solidFill>
              </a:defRPr>
            </a:pPr>
            <a:r>
              <a:t>LSTMs can handle sequential data with varying lengths</a:t>
            </a:r>
          </a:p>
          <a:p>
            <a:pPr>
              <a:defRPr sz="2000">
                <a:solidFill>
                  <a:srgbClr val="444444"/>
                </a:solidFill>
              </a:defRPr>
            </a:pPr>
            <a:r>
              <a:t>And can be used for both classification and regression tasks</a:t>
            </a:r>
          </a:p>
          <a:p>
            <a:pPr>
              <a:defRPr sz="2000">
                <a:solidFill>
                  <a:srgbClr val="444444"/>
                </a:solidFill>
              </a:defRPr>
            </a:pPr>
            <a:r>
              <a:t>LSTMs are particularly useful for time-series forecasting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LSTM Architecture</a:t>
            </a:r>
          </a:p>
        </p:txBody>
      </p:sp>
      <p:sp>
        <p:nvSpPr>
          <p:cNvPr id="3" name="Content Placeholder 2"/>
          <p:cNvSpPr>
            <a:spLocks noGrp="1"/>
          </p:cNvSpPr>
          <p:nvPr>
            <p:ph idx="1"/>
          </p:nvPr>
        </p:nvSpPr>
        <p:spPr/>
        <p:txBody>
          <a:bodyPr/>
          <a:lstStyle/>
          <a:p>
            <a:pPr>
              <a:defRPr sz="2000">
                <a:solidFill>
                  <a:srgbClr val="444444"/>
                </a:solidFill>
              </a:defRPr>
            </a:pPr>
            <a:r>
              <a:t>LSTM uses memory cells to store long-term information across time steps</a:t>
            </a:r>
          </a:p>
          <a:p>
            <a:pPr>
              <a:defRPr sz="2000">
                <a:solidFill>
                  <a:srgbClr val="444444"/>
                </a:solidFill>
              </a:defRPr>
            </a:pPr>
            <a:r>
              <a:t>Each cell has input, forget and output gates controlling information flow</a:t>
            </a:r>
          </a:p>
          <a:p>
            <a:pPr>
              <a:defRPr sz="2000">
                <a:solidFill>
                  <a:srgbClr val="444444"/>
                </a:solidFill>
              </a:defRPr>
            </a:pPr>
            <a:r>
              <a:t>Cell state acts as a conveyor belt preserving important signals over long sequences</a:t>
            </a:r>
          </a:p>
          <a:p>
            <a:pPr>
              <a:defRPr sz="2000">
                <a:solidFill>
                  <a:srgbClr val="444444"/>
                </a:solidFill>
              </a:defRPr>
            </a:pPr>
            <a:r>
              <a:t>Gates use sigmoid activations to decide what to keep, update or discard</a:t>
            </a:r>
          </a:p>
          <a:p>
            <a:pPr>
              <a:defRPr sz="2000">
                <a:solidFill>
                  <a:srgbClr val="444444"/>
                </a:solidFill>
              </a:defRPr>
            </a:pPr>
            <a:r>
              <a:t>Hidden state exposes filtered information to the next layer or time step</a:t>
            </a:r>
          </a:p>
        </p:txBody>
      </p:sp>
      <p:pic>
        <p:nvPicPr>
          <p:cNvPr id="4" name="Picture 3" descr="75fab4438b28498489c947e65327ab46_lstm_networks_deep_learning_architecture.jpg"/>
          <p:cNvPicPr>
            <a:picLocks noChangeAspect="1"/>
          </p:cNvPicPr>
          <p:nvPr/>
        </p:nvPicPr>
        <p:blipFill>
          <a:blip r:embed="rId2"/>
          <a:stretch>
            <a:fillRect/>
          </a:stretch>
        </p:blipFill>
        <p:spPr>
          <a:xfrm>
            <a:off x="7315200" y="1828800"/>
            <a:ext cx="4114800" cy="273939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Gates in LSTM</a:t>
            </a:r>
          </a:p>
        </p:txBody>
      </p:sp>
      <p:sp>
        <p:nvSpPr>
          <p:cNvPr id="3" name="Content Placeholder 2"/>
          <p:cNvSpPr>
            <a:spLocks noGrp="1"/>
          </p:cNvSpPr>
          <p:nvPr>
            <p:ph idx="1"/>
          </p:nvPr>
        </p:nvSpPr>
        <p:spPr/>
        <p:txBody>
          <a:bodyPr/>
          <a:lstStyle/>
          <a:p>
            <a:pPr>
              <a:defRPr sz="2000">
                <a:solidFill>
                  <a:srgbClr val="444444"/>
                </a:solidFill>
              </a:defRPr>
            </a:pPr>
            <a:r>
              <a:t>Input gate controls the flow of new information</a:t>
            </a:r>
          </a:p>
          <a:p>
            <a:pPr>
              <a:defRPr sz="2000">
                <a:solidFill>
                  <a:srgbClr val="444444"/>
                </a:solidFill>
              </a:defRPr>
            </a:pPr>
            <a:r>
              <a:t>Output gate controls the flow of information out</a:t>
            </a:r>
          </a:p>
          <a:p>
            <a:pPr>
              <a:defRPr sz="2000">
                <a:solidFill>
                  <a:srgbClr val="444444"/>
                </a:solidFill>
              </a:defRPr>
            </a:pPr>
            <a:r>
              <a:t>Forget gate controls what to forget from previous steps</a:t>
            </a:r>
          </a:p>
          <a:p>
            <a:pPr>
              <a:defRPr sz="2000">
                <a:solidFill>
                  <a:srgbClr val="444444"/>
                </a:solidFill>
              </a:defRPr>
            </a:pPr>
            <a:r>
              <a:t>Gates are used to regulate the memory cells</a:t>
            </a:r>
          </a:p>
          <a:p>
            <a:pPr>
              <a:defRPr sz="2000">
                <a:solidFill>
                  <a:srgbClr val="444444"/>
                </a:solidFill>
              </a:defRPr>
            </a:pPr>
            <a:r>
              <a:t>Enabling the network to learn what to remember</a:t>
            </a:r>
          </a:p>
          <a:p>
            <a:pPr>
              <a:defRPr sz="2000">
                <a:solidFill>
                  <a:srgbClr val="444444"/>
                </a:solidFill>
              </a:defRPr>
            </a:pPr>
            <a:r>
              <a:t>And what to forget, allowing for selective memory</a:t>
            </a:r>
          </a:p>
          <a:p>
            <a:pPr>
              <a:defRPr sz="2000">
                <a:solidFill>
                  <a:srgbClr val="444444"/>
                </a:solidFill>
              </a:defRPr>
            </a:pPr>
            <a:r>
              <a:t>Gates are implemented using sigmoid and tanh functions</a:t>
            </a:r>
          </a:p>
          <a:p>
            <a:pPr>
              <a:defRPr sz="2000">
                <a:solidFill>
                  <a:srgbClr val="444444"/>
                </a:solidFill>
              </a:defRPr>
            </a:pPr>
            <a:r>
              <a:t>Allowing for non-linear interactions between gates</a:t>
            </a:r>
          </a:p>
          <a:p>
            <a:pPr>
              <a:defRPr sz="2000">
                <a:solidFill>
                  <a:srgbClr val="444444"/>
                </a:solidFill>
              </a:defRPr>
            </a:pPr>
            <a:r>
              <a:t>Gates play a crucial role in the performance of LSTMs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Training Details</a:t>
            </a:r>
          </a:p>
        </p:txBody>
      </p:sp>
      <p:sp>
        <p:nvSpPr>
          <p:cNvPr id="3" name="Content Placeholder 2"/>
          <p:cNvSpPr>
            <a:spLocks noGrp="1"/>
          </p:cNvSpPr>
          <p:nvPr>
            <p:ph idx="1"/>
          </p:nvPr>
        </p:nvSpPr>
        <p:spPr/>
        <p:txBody>
          <a:bodyPr/>
          <a:lstStyle/>
          <a:p>
            <a:pPr>
              <a:defRPr sz="2000">
                <a:solidFill>
                  <a:srgbClr val="444444"/>
                </a:solidFill>
              </a:defRPr>
            </a:pPr>
            <a:r>
              <a:t>LSTMs are trained using backpropagation through time</a:t>
            </a:r>
          </a:p>
          <a:p>
            <a:pPr>
              <a:defRPr sz="2000">
                <a:solidFill>
                  <a:srgbClr val="444444"/>
                </a:solidFill>
              </a:defRPr>
            </a:pPr>
            <a:r>
              <a:t>Involves unrolling the network in time</a:t>
            </a:r>
          </a:p>
          <a:p>
            <a:pPr>
              <a:defRPr sz="2000">
                <a:solidFill>
                  <a:srgbClr val="444444"/>
                </a:solidFill>
              </a:defRPr>
            </a:pPr>
            <a:r>
              <a:t>And computing the gradients of the loss function</a:t>
            </a:r>
          </a:p>
          <a:p>
            <a:pPr>
              <a:defRPr sz="2000">
                <a:solidFill>
                  <a:srgbClr val="444444"/>
                </a:solidFill>
              </a:defRPr>
            </a:pPr>
            <a:r>
              <a:t>LSTMs can be trained using various optimization algorithms</a:t>
            </a:r>
          </a:p>
          <a:p>
            <a:pPr>
              <a:defRPr sz="2000">
                <a:solidFill>
                  <a:srgbClr val="444444"/>
                </a:solidFill>
              </a:defRPr>
            </a:pPr>
            <a:r>
              <a:t>Such as stochastic gradient descent and Adam</a:t>
            </a:r>
          </a:p>
          <a:p>
            <a:pPr>
              <a:defRPr sz="2000">
                <a:solidFill>
                  <a:srgbClr val="444444"/>
                </a:solidFill>
              </a:defRPr>
            </a:pPr>
            <a:r>
              <a:t>Regularization techniques can be used to prevent overfitting</a:t>
            </a:r>
          </a:p>
          <a:p>
            <a:pPr>
              <a:defRPr sz="2000">
                <a:solidFill>
                  <a:srgbClr val="444444"/>
                </a:solidFill>
              </a:defRPr>
            </a:pPr>
            <a:r>
              <a:t>Such as dropout and weight decay</a:t>
            </a:r>
          </a:p>
          <a:p>
            <a:pPr>
              <a:defRPr sz="2000">
                <a:solidFill>
                  <a:srgbClr val="444444"/>
                </a:solidFill>
              </a:defRPr>
            </a:pPr>
            <a:r>
              <a:t>LSTMs can be trained on large datasets</a:t>
            </a:r>
          </a:p>
          <a:p>
            <a:pPr>
              <a:defRPr sz="2000">
                <a:solidFill>
                  <a:srgbClr val="444444"/>
                </a:solidFill>
              </a:defRPr>
            </a:pPr>
            <a:r>
              <a:t>And can be used for both supervised and unsupervised learning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a:t>
            </a:r>
          </a:p>
        </p:txBody>
      </p:sp>
      <p:sp>
        <p:nvSpPr>
          <p:cNvPr id="3" name="Content Placeholder 2"/>
          <p:cNvSpPr>
            <a:spLocks noGrp="1"/>
          </p:cNvSpPr>
          <p:nvPr>
            <p:ph idx="1"/>
          </p:nvPr>
        </p:nvSpPr>
        <p:spPr/>
        <p:txBody>
          <a:bodyPr/>
          <a:lstStyle/>
          <a:p>
            <a:pPr>
              <a:defRPr sz="2000">
                <a:solidFill>
                  <a:srgbClr val="444444"/>
                </a:solidFill>
              </a:defRPr>
            </a:pPr>
            <a:r>
              <a:t>Natural language processing and speech recognition</a:t>
            </a:r>
          </a:p>
          <a:p>
            <a:pPr>
              <a:defRPr sz="2000">
                <a:solidFill>
                  <a:srgbClr val="444444"/>
                </a:solidFill>
              </a:defRPr>
            </a:pPr>
            <a:r>
              <a:t>Time-series forecasting and prediction</a:t>
            </a:r>
          </a:p>
          <a:p>
            <a:pPr>
              <a:defRPr sz="2000">
                <a:solidFill>
                  <a:srgbClr val="444444"/>
                </a:solidFill>
              </a:defRPr>
            </a:pPr>
            <a:r>
              <a:t>Sentiment analysis and text classification</a:t>
            </a:r>
          </a:p>
          <a:p>
            <a:pPr>
              <a:defRPr sz="2000">
                <a:solidFill>
                  <a:srgbClr val="444444"/>
                </a:solidFill>
              </a:defRPr>
            </a:pPr>
            <a:r>
              <a:t>Machine translation and language modeling</a:t>
            </a:r>
          </a:p>
          <a:p>
            <a:pPr>
              <a:defRPr sz="2000">
                <a:solidFill>
                  <a:srgbClr val="444444"/>
                </a:solidFill>
              </a:defRPr>
            </a:pPr>
            <a:r>
              <a:t>Speech synthesis and music generation</a:t>
            </a:r>
          </a:p>
          <a:p>
            <a:pPr>
              <a:defRPr sz="2000">
                <a:solidFill>
                  <a:srgbClr val="444444"/>
                </a:solidFill>
              </a:defRPr>
            </a:pPr>
            <a:r>
              <a:t>LSTMs can be used for both classification and regression tasks</a:t>
            </a:r>
          </a:p>
          <a:p>
            <a:pPr>
              <a:defRPr sz="2000">
                <a:solidFill>
                  <a:srgbClr val="444444"/>
                </a:solidFill>
              </a:defRPr>
            </a:pPr>
            <a:r>
              <a:t>LSTMs can be used for both supervised and unsupervised learning</a:t>
            </a:r>
          </a:p>
          <a:p>
            <a:pPr>
              <a:defRPr sz="2000">
                <a:solidFill>
                  <a:srgbClr val="444444"/>
                </a:solidFill>
              </a:defRPr>
            </a:pPr>
            <a:r>
              <a:t>LSTMs have many real-world applications</a:t>
            </a:r>
          </a:p>
          <a:p>
            <a:pPr>
              <a:defRPr sz="2000">
                <a:solidFill>
                  <a:srgbClr val="444444"/>
                </a:solidFill>
              </a:defRPr>
            </a:pPr>
            <a:r>
              <a:t>And are widely used in industry and academia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a:t>
            </a:r>
          </a:p>
        </p:txBody>
      </p:sp>
      <p:sp>
        <p:nvSpPr>
          <p:cNvPr id="3" name="Content Placeholder 2"/>
          <p:cNvSpPr>
            <a:spLocks noGrp="1"/>
          </p:cNvSpPr>
          <p:nvPr>
            <p:ph idx="1"/>
          </p:nvPr>
        </p:nvSpPr>
        <p:spPr/>
        <p:txBody>
          <a:bodyPr/>
          <a:lstStyle/>
          <a:p>
            <a:pPr>
              <a:defRPr sz="2000">
                <a:solidFill>
                  <a:srgbClr val="444444"/>
                </a:solidFill>
              </a:defRPr>
            </a:pPr>
            <a:r>
              <a:t>LSTMs are a type of RNN</a:t>
            </a:r>
          </a:p>
          <a:p>
            <a:pPr>
              <a:defRPr sz="2000">
                <a:solidFill>
                  <a:srgbClr val="444444"/>
                </a:solidFill>
              </a:defRPr>
            </a:pPr>
            <a:r>
              <a:t>Used for sequential data processing</a:t>
            </a:r>
          </a:p>
          <a:p>
            <a:pPr>
              <a:defRPr sz="2000">
                <a:solidFill>
                  <a:srgbClr val="444444"/>
                </a:solidFill>
              </a:defRPr>
            </a:pPr>
            <a:r>
              <a:t>LSTMs have memory cells and gates</a:t>
            </a:r>
          </a:p>
          <a:p>
            <a:pPr>
              <a:defRPr sz="2000">
                <a:solidFill>
                  <a:srgbClr val="444444"/>
                </a:solidFill>
              </a:defRPr>
            </a:pPr>
            <a:r>
              <a:t>Enabling the network to learn complex patterns</a:t>
            </a:r>
          </a:p>
          <a:p>
            <a:pPr>
              <a:defRPr sz="2000">
                <a:solidFill>
                  <a:srgbClr val="444444"/>
                </a:solidFill>
              </a:defRPr>
            </a:pPr>
            <a:r>
              <a:t>LSTMs can be used for both classification and regression tasks</a:t>
            </a:r>
          </a:p>
          <a:p>
            <a:pPr>
              <a:defRPr sz="2000">
                <a:solidFill>
                  <a:srgbClr val="444444"/>
                </a:solidFill>
              </a:defRPr>
            </a:pPr>
            <a:r>
              <a:t>LSTMs have many real-world applications</a:t>
            </a:r>
          </a:p>
          <a:p>
            <a:pPr>
              <a:defRPr sz="2000">
                <a:solidFill>
                  <a:srgbClr val="444444"/>
                </a:solidFill>
              </a:defRPr>
            </a:pPr>
            <a:r>
              <a:t>LSTMs are widely used in industry and academia</a:t>
            </a:r>
          </a:p>
          <a:p>
            <a:pPr>
              <a:defRPr sz="2000">
                <a:solidFill>
                  <a:srgbClr val="444444"/>
                </a:solidFill>
              </a:defRPr>
            </a:pPr>
            <a:r>
              <a:t>LSTMs are a powerful tool for deep learning</a:t>
            </a:r>
          </a:p>
          <a:p>
            <a:pPr>
              <a:defRPr sz="2000">
                <a:solidFill>
                  <a:srgbClr val="444444"/>
                </a:solidFill>
              </a:defRPr>
            </a:pPr>
            <a:r>
              <a:t>And can be used to improve the performance of traditional RNNs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