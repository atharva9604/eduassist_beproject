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Core Idea</a:t>
            </a:r>
          </a:p>
        </p:txBody>
      </p:sp>
      <p:sp>
        <p:nvSpPr>
          <p:cNvPr id="3" name="Content Placeholder 2"/>
          <p:cNvSpPr>
            <a:spLocks noGrp="1"/>
          </p:cNvSpPr>
          <p:nvPr>
            <p:ph idx="1"/>
          </p:nvPr>
        </p:nvSpPr>
        <p:spPr/>
        <p:txBody>
          <a:bodyPr/>
          <a:lstStyle/>
          <a:p>
            <a:pPr>
              <a:defRPr sz="2000">
                <a:solidFill>
                  <a:srgbClr val="444444"/>
                </a:solidFill>
              </a:defRPr>
            </a:pPr>
            <a:r>
              <a:t>Limitations of Traditional Networks: Standard Feedforward Neural Networks (FNNs) and CNNs process inputs independently. They lack 'memory,' making them ill-suited for tasks involving sequential data (e.g., text, speech, time series) where the order and context of information are critical.</a:t>
            </a:r>
          </a:p>
          <a:p>
            <a:pPr>
              <a:defRPr sz="2000">
                <a:solidFill>
                  <a:srgbClr val="444444"/>
                </a:solidFill>
              </a:defRPr>
            </a:pPr>
            <a:r>
              <a:t>Introducing the 'Recurrent' Loop: RNNs solve this with a feedback loop. The hidden state (a vector representing 'memory') from one time step is fed back as an additional input to the next time step. This loop allows information to persist and influence future outputs.</a:t>
            </a:r>
          </a:p>
          <a:p>
            <a:pPr>
              <a:defRPr sz="2000">
                <a:solidFill>
                  <a:srgbClr val="444444"/>
                </a:solidFill>
              </a:defRPr>
            </a:pPr>
            <a:r>
              <a:t>The 'Unrolled' Architecture: An RNN can be visualized as a deep chain, 'unrolled' across time. Each link in the chain processes one element of the sequence. Crucially, the same set of weights are shared across all time steps, allowing the model to apply the same learned rules at different positions in the sequence.</a:t>
            </a:r>
          </a:p>
          <a:p>
            <a:pPr>
              <a:defRPr sz="2000">
                <a:solidFill>
                  <a:srgbClr val="444444"/>
                </a:solidFill>
              </a:defRPr>
            </a:pPr>
            <a:r>
              <a:t>Primary Use Case - Processing Sequences: This unique structure makes RNNs the foundational model for tasks involving ordered data, such as natural language processing (predicting the next word), speech recognition, and time-series forecasting.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The Core Idea: Loops &amp; Memory</a:t>
            </a:r>
          </a:p>
        </p:txBody>
      </p:sp>
      <p:sp>
        <p:nvSpPr>
          <p:cNvPr id="3" name="Content Placeholder 2"/>
          <p:cNvSpPr>
            <a:spLocks noGrp="1"/>
          </p:cNvSpPr>
          <p:nvPr>
            <p:ph idx="1"/>
          </p:nvPr>
        </p:nvSpPr>
        <p:spPr/>
        <p:txBody>
          <a:bodyPr/>
          <a:lstStyle/>
          <a:p>
            <a:pPr>
              <a:defRPr sz="2000">
                <a:solidFill>
                  <a:srgbClr val="444444"/>
                </a:solidFill>
              </a:defRPr>
            </a:pPr>
            <a:r>
              <a:t>**The Feedback Loop:** Unlike a standard feedforward network, an RNN's key feature is a loop. The output from a layer at one time step is fed back as an input to the *same* layer in the next time step, creating a cycle that allows information to persist.</a:t>
            </a:r>
          </a:p>
          <a:p>
            <a:pPr>
              <a:defRPr sz="2000">
                <a:solidFill>
                  <a:srgbClr val="444444"/>
                </a:solidFill>
              </a:defRPr>
            </a:pPr>
            <a:r>
              <a:t>**The Hidden State as 'Memory':** This loop creates a 'hidden state' (hₜ), which acts as the network's memory. It's a vector that captures a summary of information from all previous steps. The new hidden state is calculated based on the current input (xₜ) and the previous hidden state (hₜ₋₁).</a:t>
            </a:r>
          </a:p>
          <a:p>
            <a:pPr>
              <a:defRPr sz="2000">
                <a:solidFill>
                  <a:srgbClr val="444444"/>
                </a:solidFill>
              </a:defRPr>
            </a:pPr>
            <a:r>
              <a:t>**Parameter Sharing Through Time:** A crucial concept is that the same set of weights (parameters) and activation function are used at every single time step. This makes the model efficient and allows it to generalize a learned rule across different positions in a sequence and handle inputs of variable lengths.</a:t>
            </a:r>
          </a:p>
          <a:p>
            <a:pPr>
              <a:defRPr sz="2000">
                <a:solidFill>
                  <a:srgbClr val="444444"/>
                </a:solidFill>
              </a:defRPr>
            </a:pPr>
            <a:r>
              <a:t>**Visualizing the 'Unrolled' Network:** To better understand the flow of information, the RNN loop can be visualized as being 'unrolled' or 'unfolded' through time. This transforms it into a deep feedforward network where each layer represents a time step, and the weights are shared across all of these 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The Core Mechanism</a:t>
            </a:r>
          </a:p>
        </p:txBody>
      </p:sp>
      <p:sp>
        <p:nvSpPr>
          <p:cNvPr id="3" name="Content Placeholder 2"/>
          <p:cNvSpPr>
            <a:spLocks noGrp="1"/>
          </p:cNvSpPr>
          <p:nvPr>
            <p:ph idx="1"/>
          </p:nvPr>
        </p:nvSpPr>
        <p:spPr/>
        <p:txBody>
          <a:bodyPr/>
          <a:lstStyle/>
          <a:p>
            <a:pPr>
              <a:defRPr sz="2000">
                <a:solidFill>
                  <a:srgbClr val="444444"/>
                </a:solidFill>
              </a:defRPr>
            </a:pPr>
            <a:r>
              <a:t>The Hidden State (h_t): This is the central concept, acting as the network's 'memory'. It's a vector that captures information from all previous time steps, summarizing the sequence seen so far. At each step, the hidden state is updated to incorporate new information.</a:t>
            </a:r>
          </a:p>
          <a:p>
            <a:pPr>
              <a:defRPr sz="2000">
                <a:solidFill>
                  <a:srgbClr val="444444"/>
                </a:solidFill>
              </a:defRPr>
            </a:pPr>
            <a:r>
              <a:t>The Recurrence Formula: The 'loop' is mathematically defined by a recurrence relation. The new hidden state (h_t) is a function of the previous hidden state (h_{t-1}) and the current input (x_t). The formula is: h_t = tanh(W_hh * h_{t-1} + W_xh * x_t + b_h).</a:t>
            </a:r>
          </a:p>
          <a:p>
            <a:pPr>
              <a:defRPr sz="2000">
                <a:solidFill>
                  <a:srgbClr val="444444"/>
                </a:solidFill>
              </a:defRPr>
            </a:pPr>
            <a:r>
              <a:t>Shared Weights Across Time: A crucial feature is that the same weight matrices (W_hh, W_xh) and bias (b_h) are used at every single time step. This allows the model to apply the same learned rules across the sequence, dramatically reducing the number of parameters and enabling it to handle sequences of variable length.</a:t>
            </a:r>
          </a:p>
          <a:p>
            <a:pPr>
              <a:defRPr sz="2000">
                <a:solidFill>
                  <a:srgbClr val="444444"/>
                </a:solidFill>
              </a:defRPr>
            </a:pPr>
            <a:r>
              <a:t>Generating an Output (y_t): An output can be produced at each time step. It is typically calculated based on the hidden state for that specific step: y_t = W_hy * h_t + b_y. This makes RNNs suitable for tasks like part-of-speech tagging where a prediction is needed for every input.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