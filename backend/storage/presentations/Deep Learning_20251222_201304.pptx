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Create a PPT on Recurrent Neural Networks (RNNs), subject Deep Learning, with 6 slides., &gt; Follow this exact slide structure:, &gt; - Slide 1 title: Introduction, &gt; - Slide 2 title: Architecture, &gt; - Slide 3 title: Mathematical Formulation, &gt; - Slide 4 title: Training and Backpropagation Through Time, &gt; - Slide 5 title: Applications, &gt; - Slide 6 title: Advantages and Limitations, &gt; You generate all the bullet points and speaker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Recurrent Neural Networks as a type of Deep Learning model that handles sequential data. Explain that RNNs are used in applications such as time series forecasting, Natural Language Processing, and speech recognition. Provide examples of each and ask students to consider how RNNs differ from traditional neural networks. Discuss the basic architecture and key components of RNNs, including inputs, outputs, and activation functions. Highlight the challenges of training RNNs and preview the topics to be covered in subsequent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Recurrent Neural Networks, their ability to process sequential data, and their applications in deep learning. Explain the basic architecture of RNNs, including feedback connections and internal state. Provide examples of sequential data, such as time series data or natural language text. Ask students to think about how RNNs can be used in real-world applications, such as language translation or speech recognition. Key takeaways include understanding the basics of RNNs and their potential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RNN variants, emphasize the trade-offs between complexity and performance. Provide examples of LSTMs in language modeling and GRUs in speech recognition. Ask students to consider how different variants might be applied to real-world problems, such as text classification or time series forecasting. Key takeaways include understanding the strengths and weaknesses of each variant and how to choose the most suitable one for a given task.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type of machine learning that's inspired by the brain's neural networks. Give examples of its applications, such as image recognition and speech processing. Ask students if they've encountered any products that use deep learning, like virtual assistants or self-driving cars. Emphasize that deep learning requires large amounts of data and computing power, and that it has many variants, which will be explored in later slides. Key takeaways include understanding the basics of deep learning and its potential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emphasize its ability to learn from large datasets and the inspiration from the human brain. Provide examples of applications such as image recognition and speech processing. Ask students about potential benefits and challenges of deep learning. Key takeaways include understanding the basic neural network equation and the types of neural networks used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variants of deep learning, emphasize the importance of selecting the right architecture for the problem at hand. Provide examples of how Convolutional Neural Networks are used in image classification tasks, and how Recurrent Neural Networks are used in speech recognition. Ask students to consider the strengths and weaknesses of each variant, and how they can be applied to real-world problems. Key takeaways include understanding the differences between each variant and being able to choose the most suitable one for a given task.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type of machine learning that mimics the human brain's structure and function. Provide examples of its applications, such as image and speech recognition, and self-driving cars. Ask students if they have any experience with machine learning or neural networks. Emphasize the importance of large datasets and computational power in deep learning. Discuss how deep learning improves with more data and power, and how it's being used in various industries. Key takeaways include understanding the basics of deep learning and its potential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type of machine learning that mimics the human brain's structure and function. Provide examples of its applications, such as image recognition and speech recognition. Ask students if they have any experience with deep learning or machine learning. Emphasize the importance of large datasets and computational power in deep learning. Discuss the various fields that use deep learning, such as healthcare and finance, and ask students to think about potential uses in their own fields of interest.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emphasize its ability to learn from data without being explicitly programmed. Provide examples of its applications, such as self-driving cars and virtual assistants. Explain that deep learning is inspired by the human brain and uses artificial neural networks to process information. Ask students to consider the potential benefits and challenges of using deep learning in various fields. Key takeaways include understanding the basic concept of deep learning and its potential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architecture of deep learning, explain the basic components such as layers, connections, and activation functions. Provide examples of different architecture types, such as feedforward, convolutional, and recurrent neural networks, and their applications. Discuss how the choice of architecture depends on the problem and data type. Use the equation y = σ(Wx + b) to illustrate a basic neural network equation and ask students to consider how different architectures can be used to solve real-world problems.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architecture, emphasize the importance of neural network design. Explain feedforward networks as the foundation, and then discuss more complex architectures like CNNs and RNNs. Provide examples of applications for each, such as image classification for CNNs and language modeling for RNNs. Ask students to consider the trade-offs between model complexity and interpretability. Key takeaways include understanding the role of activation functions and the benefits of transfer learning and batch normalization in deep learning models.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architecture, explain the basic components such as input, hidden, and output layers. Provide examples of activation functions like sigmoid and ReLU. Discuss the importance of backpropagation and regularization techniques. Ask students to consider the trade-off between bias and variance. Key takeaways include understanding the role of each layer and the need for regularization to prevent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mathematical formulation of deep learning, emphasize the importance of linear algebra and calculus. Explain how activation functions, such as sigmoid or ReLU, introduce non-linearity to models. Discuss the role of backpropagation in efficient error computation and the use of loss functions, such as mean squared error or cross-entropy, to measure model performance. Provide examples of how gradient descent is used to optimize model parameters and how regularization techniques, like L1 or L2 regularization, prevent overfitting. Ask students to consider the mathematical formulation of a simple neural network and how it can be applied to a real-world problem, such as image classification or natural language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mathematical formulation of deep learning, explain the importance of linear algebra and calculus in building and optimizing neural networks. Provide examples of activation functions, such as sigmoid and ReLU, and discuss their role in introducing nonlinearity. Emphasize the use of backpropagation for weight updates and loss functions for measuring model performance. Ask students to consider the implications of different loss functions, such as mean squared error and cross-entropy, on model training. Key takeaways include understanding the mathematical foundations of deep learning and the role of optimization in model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mathematical formulation of deep learning, emphasize the importance of linear algebra and calculus in developing neural network models. Provide examples of how activation functions, such as sigmoid or ReLU, introduce non-linearity to the model. Discuss the role of optimization algorithms, like stochastic gradient descent, in adjusting model parameters to minimize loss and maximize accuracy. Ask students to consider how mathematical formulation enables model interpretability and explainability, and how it can be used to prevent overfitting and underfitting. Key takeaways include understanding the mathematical foundations of deep learning and how they are used in model development and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Training and Backpropagation Through Time, emphasize the importance of optimizing model parameters and the role of BPTT in training Recurrent Neural Networks. Provide examples of how BPTT is used in sequence prediction tasks, such as language modeling or time series forecasting. Discuss the challenges of vanishing gradients and the need for regularization techniques. Ask students to consider how BPTT can be applied to real-world problems, such as speech recognition or natural language processing. Key takeaways include understanding the basics of BPTT and its applications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training and backpropagation through time, emphasize the concept of unrolling time-dependent data and transforming the RNN into a feedforward network for computation. Discuss the challenges of backpropagation through time, including computational expense and the need for gradient clipping. Provide examples of how optimizers like Adam are used for weight updates and ask students to consider the implications of truncated backpropagation. Key takeaways include understanding the process of backpropagation through time and its importance in training recurrent neural networks.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training and backpropagation through time, emphasize the importance of unfolding RNNs into feedforward networks. Discuss how backpropagation through time is used for weight updates and how truncated backpropagation can improve efficiency. Provide examples of teacher forcing and its role in stable training. Highlight the challenges of vanishing and exploding gradients, and explain how techniques like gradient clipping and regularization can mitigate these issues. Ask students to consider the impact of batch normalization on RNN training and to think critically about the trade-offs between different techniques.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applications of deep learning, emphasize the breadth of fields where it's applied, from image recognition to natural language processing. Provide examples such as how self-driving cars use deep learning for navigation and object detection. Ask students to consider how deep learning could be applied in their own areas of interest. Key takeaways should include the versatility and potential of deep learning across various disciplines.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applications of deep learning, emphasize its widespread use across various industries. Provide examples such as self-driving cars, virtual assistants, and medical diagnosis. Ask students to consider how deep learning can be applied to real-world problems and what benefits it can bring. Key takeaways include the versatility and potential of deep learning in transforming numerous fields.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teaching this section, emphasize the breadth of deep learning applications across various industries. Provide examples of how companies like Google and Amazon use deep learning for image recognition and recommendation systems. Ask students to think about potential applications in their own fields of interest and how deep learning can solve real-world problems. Key takeaways include understanding the versatility of deep learning and its potential to drive innovation in multiple sectors.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advantages and limitations of deep learning, highlight its ability to achieve high accuracy in image recognition tasks and its capacity for automatic feature extraction. Emphasize how deep learning supports complex pattern recognition in speech and text, and how it improves predictive modeling with large datasets. Discuss the requirement for significant computational resources and data, and provide examples of its applications in healthcare and finance, such as disease diagnosis and personalized recommendations. Ask students to consider the trade-offs between the benefits and limitations of deep learning and how they can be addressed in real-world scenarios.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advantages and limitations of deep learning, emphasize its ability to improve accuracy in tasks like image recognition and natural language processing. Provide examples of applications such as self-driving cars and virtual assistants. Discuss how deep learning can learn from large datasets and extract features automatically. Highlight the importance of computational resources and large datasets for training deep learning models. Ask students to consider the trade-offs between model complexity and performance. Key takeaways include understanding the benefits and challenges of deep learning and its potential to drive innovation in various fields.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advantages and limitations of deep learning, emphasize its ability to learn from large datasets and improve performance over time. Provide examples of applications in image recognition, natural language processing, and predictive analytics. Ask students to consider the potential benefits and drawbacks of relying on deep learning in various industries, such as healthcare and finance. Key takeaways include the importance of large datasets, the potential for automation, and the need for careful evaluation of deep learning models.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emphasize its connection to machine learning and the human brain. Explain that deep learning allows computers to learn from experience, improving with more data. Provide examples of applications such as image recognition, natural language processing, self-driving cars, and facial recognition. Ask students what they think are the most significant benefits and challenges of deep learning. Key takeaways include understanding the basics of deep learning, its dependence on large datasets, and its role in recent AI advancements.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emphasize its connection to machine learning and the inspiration from the human brain. Provide examples of how deep learning is used in everyday applications such as image recognition in self-driving cars or speech recognition in virtual assistants. Ask students to consider the potential benefits and limitations of deep learning. Key takeaways should include understanding the basics of neural networks and the importance of large datasets in training deep learning models.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emphasize its connection to machine learning and neural networks. Explain that deep learning uses multiple layers to analyze complex data, allowing it to learn from large datasets with minimal preprocessing. Provide examples of key applications such as image recognition and speech. Discuss the importance of backpropagation in training deep learning models and introduce activation functions as a way to introduce non-linearity. Mention popular deep learning frameworks like TensorFlow and encourage students to explore their applications. Ask students to consider the ethical implications of deep learning and its potential impact on various industries. Key takeaways should include understanding the basics of deep learning, its applications, and the role of frameworks like TensorFlow.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PPT on Recurrent Neural Networks (RNNs), subject Deep Learning, with 6 slides., &gt; Follow this exact slide structure:, &gt; - Slide 1 title: Introduction, &gt; - Slide 2 title: Architecture, &gt; - Slide 3 title: Mathematical Formulation, &gt; - Slide 4 title: Training and Backpropagation Through Time, &gt; - Slide 5 title: Applications, &gt; - Slide 6 title: Advantages and Limitations, &gt; You generate all the bullet points and speaker notes.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PPT on Recurrent Neural Networks (RNNs), subject Deep Learning, with 6 slides.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(RNNs) overview</a:t>
            </a:r>
          </a:p>
          <a:p>
            <a:pPr>
              <a:defRPr sz="2000">
                <a:solidFill>
                  <a:srgbClr val="444444"/>
                </a:solidFill>
              </a:defRPr>
            </a:pPr>
            <a:r>
              <a:t>RNNs handle sequential data inputs</a:t>
            </a:r>
          </a:p>
          <a:p>
            <a:pPr>
              <a:defRPr sz="2000">
                <a:solidFill>
                  <a:srgbClr val="444444"/>
                </a:solidFill>
              </a:defRPr>
            </a:pPr>
            <a:r>
              <a:t>Time series forecasting applications</a:t>
            </a:r>
          </a:p>
          <a:p>
            <a:pPr>
              <a:defRPr sz="2000">
                <a:solidFill>
                  <a:srgbClr val="444444"/>
                </a:solidFill>
              </a:defRPr>
            </a:pPr>
            <a:r>
              <a:t>Natural Language Processing uses</a:t>
            </a:r>
          </a:p>
          <a:p>
            <a:pPr>
              <a:defRPr sz="2000">
                <a:solidFill>
                  <a:srgbClr val="444444"/>
                </a:solidFill>
              </a:defRPr>
            </a:pPr>
            <a:r>
              <a:t>Speech recognition examples</a:t>
            </a:r>
          </a:p>
          <a:p>
            <a:pPr>
              <a:defRPr sz="2000">
                <a:solidFill>
                  <a:srgbClr val="444444"/>
                </a:solidFill>
              </a:defRPr>
            </a:pPr>
            <a:r>
              <a:t>Basic RNN architecture</a:t>
            </a:r>
          </a:p>
          <a:p>
            <a:pPr>
              <a:defRPr sz="2000">
                <a:solidFill>
                  <a:srgbClr val="444444"/>
                </a:solidFill>
              </a:defRPr>
            </a:pPr>
            <a:r>
              <a:t>RNNs vs traditional neural networks</a:t>
            </a:r>
          </a:p>
          <a:p>
            <a:pPr>
              <a:defRPr sz="2000">
                <a:solidFill>
                  <a:srgbClr val="444444"/>
                </a:solidFill>
              </a:defRPr>
            </a:pPr>
            <a:r>
              <a:t>Key RNN components: inputs, outputs</a:t>
            </a:r>
          </a:p>
          <a:p>
            <a:pPr>
              <a:defRPr sz="2000">
                <a:solidFill>
                  <a:srgbClr val="444444"/>
                </a:solidFill>
              </a:defRPr>
            </a:pPr>
            <a:r>
              <a:t>Activation functions in RNNs</a:t>
            </a:r>
          </a:p>
          <a:p>
            <a:pPr>
              <a:defRPr sz="2000">
                <a:solidFill>
                  <a:srgbClr val="444444"/>
                </a:solidFill>
              </a:defRPr>
            </a:pPr>
            <a:r>
              <a:t>RNN training challenges</a:t>
            </a:r>
          </a:p>
        </p:txBody>
      </p:sp>
      <p:pic>
        <p:nvPicPr>
          <p:cNvPr id="4" name="Picture 3" descr="aad603dfdb1944cd8438559d9e1a7a76_create_a_ppt_on_recurrent_neural_network.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PPT on Recurrent Neural Networks (RNNs), subject Deep Learning, with 6 slides.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between layers</a:t>
            </a:r>
          </a:p>
          <a:p>
            <a:pPr>
              <a:defRPr sz="2000">
                <a:solidFill>
                  <a:srgbClr val="444444"/>
                </a:solidFill>
              </a:defRPr>
            </a:pPr>
            <a:r>
              <a:t>They maintain internal state over time</a:t>
            </a:r>
          </a:p>
          <a:p>
            <a:pPr>
              <a:defRPr sz="2000">
                <a:solidFill>
                  <a:srgbClr val="444444"/>
                </a:solidFill>
              </a:defRPr>
            </a:pPr>
            <a:r>
              <a:t>Used for time series forecasting and prediction</a:t>
            </a:r>
          </a:p>
          <a:p>
            <a:pPr>
              <a:defRPr sz="2000">
                <a:solidFill>
                  <a:srgbClr val="444444"/>
                </a:solidFill>
              </a:defRPr>
            </a:pPr>
            <a:r>
              <a:t>RNNs are a type of supervised learning model</a:t>
            </a:r>
          </a:p>
          <a:p>
            <a:pPr>
              <a:defRPr sz="2000">
                <a:solidFill>
                  <a:srgbClr val="444444"/>
                </a:solidFill>
              </a:defRPr>
            </a:pPr>
            <a:r>
              <a:t>They can learn from sequential data patterns</a:t>
            </a:r>
          </a:p>
          <a:p>
            <a:pPr>
              <a:defRPr sz="2000">
                <a:solidFill>
                  <a:srgbClr val="444444"/>
                </a:solidFill>
              </a:defRPr>
            </a:pPr>
            <a:r>
              <a:t>RNNs are used in natural language processing</a:t>
            </a:r>
          </a:p>
          <a:p>
            <a:pPr>
              <a:defRPr sz="2000">
                <a:solidFill>
                  <a:srgbClr val="444444"/>
                </a:solidFill>
              </a:defRPr>
            </a:pPr>
            <a:r>
              <a:t>They are suitable for sequential data analysis</a:t>
            </a:r>
          </a:p>
          <a:p>
            <a:pPr>
              <a:defRPr sz="2000">
                <a:solidFill>
                  <a:srgbClr val="444444"/>
                </a:solidFill>
              </a:defRPr>
            </a:pPr>
            <a:r>
              <a:t>RNNs can be trained using backpropagation</a:t>
            </a:r>
          </a:p>
          <a:p>
            <a:pPr>
              <a:defRPr sz="2000">
                <a:solidFill>
                  <a:srgbClr val="444444"/>
                </a:solidFill>
              </a:defRPr>
            </a:pPr>
            <a:r>
              <a:t>RNNs have many applications in deep learning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PPT on Recurrent Neural Networks (RNNs), subject Deep Learning, with 6 slides. - Variants</a:t>
            </a:r>
          </a:p>
        </p:txBody>
      </p:sp>
      <p:sp>
        <p:nvSpPr>
          <p:cNvPr id="3" name="Content Placeholder 2"/>
          <p:cNvSpPr>
            <a:spLocks noGrp="1"/>
          </p:cNvSpPr>
          <p:nvPr>
            <p:ph idx="1"/>
          </p:nvPr>
        </p:nvSpPr>
        <p:spPr/>
        <p:txBody>
          <a:bodyPr/>
          <a:lstStyle/>
          <a:p>
            <a:pPr>
              <a:defRPr sz="2000">
                <a:solidFill>
                  <a:srgbClr val="444444"/>
                </a:solidFill>
              </a:defRPr>
            </a:pPr>
            <a:r>
              <a:t>Simple RNNs use feedback connections to store information</a:t>
            </a:r>
          </a:p>
          <a:p>
            <a:pPr>
              <a:defRPr sz="2000">
                <a:solidFill>
                  <a:srgbClr val="444444"/>
                </a:solidFill>
              </a:defRPr>
            </a:pPr>
            <a:r>
              <a:t>Long Short-Term Memory (LSTM) networks handle vanishing gradients</a:t>
            </a:r>
          </a:p>
          <a:p>
            <a:pPr>
              <a:defRPr sz="2000">
                <a:solidFill>
                  <a:srgbClr val="444444"/>
                </a:solidFill>
              </a:defRPr>
            </a:pPr>
            <a:r>
              <a:t>Gated Recurrent Units (GRUs) simplify LSTMs with fewer gates</a:t>
            </a:r>
          </a:p>
          <a:p>
            <a:pPr>
              <a:defRPr sz="2000">
                <a:solidFill>
                  <a:srgbClr val="444444"/>
                </a:solidFill>
              </a:defRPr>
            </a:pPr>
            <a:r>
              <a:t>Bidirectional RNNs process input sequences in both directions</a:t>
            </a:r>
          </a:p>
          <a:p>
            <a:pPr>
              <a:defRPr sz="2000">
                <a:solidFill>
                  <a:srgbClr val="444444"/>
                </a:solidFill>
              </a:defRPr>
            </a:pPr>
            <a:r>
              <a:t>Deep RNNs stack multiple layers for complex patterns</a:t>
            </a:r>
          </a:p>
          <a:p>
            <a:pPr>
              <a:defRPr sz="2000">
                <a:solidFill>
                  <a:srgbClr val="444444"/>
                </a:solidFill>
              </a:defRPr>
            </a:pPr>
            <a:r>
              <a:t>Residual RNNs use skip connections for easier training</a:t>
            </a:r>
          </a:p>
          <a:p>
            <a:pPr>
              <a:defRPr sz="2000">
                <a:solidFill>
                  <a:srgbClr val="444444"/>
                </a:solidFill>
              </a:defRPr>
            </a:pPr>
            <a:r>
              <a:t>Recurrent Convolutional Neural Networks (RCNNs) combine RNNs and CNNs</a:t>
            </a:r>
          </a:p>
          <a:p>
            <a:pPr>
              <a:defRPr sz="2000">
                <a:solidFill>
                  <a:srgbClr val="444444"/>
                </a:solidFill>
              </a:defRPr>
            </a:pPr>
            <a:r>
              <a:t>Recurrent Neural Network architectures vary by application</a:t>
            </a:r>
          </a:p>
          <a:p>
            <a:pPr>
              <a:defRPr sz="2000">
                <a:solidFill>
                  <a:srgbClr val="444444"/>
                </a:solidFill>
              </a:defRPr>
            </a:pPr>
            <a:r>
              <a:t>Each variant has its strengths and weaknesses in Deep Learning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Follow this exact slide structure: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Enables computers to learn from experience</a:t>
            </a:r>
          </a:p>
          <a:p>
            <a:pPr>
              <a:defRPr sz="2000">
                <a:solidFill>
                  <a:srgbClr val="444444"/>
                </a:solidFill>
              </a:defRPr>
            </a:pPr>
            <a:r>
              <a:t>Improves performance on complex tasks</a:t>
            </a:r>
          </a:p>
          <a:p>
            <a:pPr>
              <a:defRPr sz="2000">
                <a:solidFill>
                  <a:srgbClr val="444444"/>
                </a:solidFill>
              </a:defRPr>
            </a:pPr>
            <a:r>
              <a:t>Applications in image recognition and speech processing</a:t>
            </a:r>
          </a:p>
          <a:p>
            <a:pPr>
              <a:defRPr sz="2000">
                <a:solidFill>
                  <a:srgbClr val="444444"/>
                </a:solidFill>
              </a:defRPr>
            </a:pPr>
            <a:r>
              <a:t>Requires large amounts of data and computing power</a:t>
            </a:r>
          </a:p>
          <a:p>
            <a:pPr>
              <a:defRPr sz="2000">
                <a:solidFill>
                  <a:srgbClr val="444444"/>
                </a:solidFill>
              </a:defRPr>
            </a:pPr>
            <a:r>
              <a:t>Has many variants, including CNNs and RNNs</a:t>
            </a:r>
          </a:p>
          <a:p>
            <a:pPr>
              <a:defRPr sz="2000">
                <a:solidFill>
                  <a:srgbClr val="444444"/>
                </a:solidFill>
              </a:defRPr>
            </a:pPr>
            <a:r>
              <a:t>Used in self-driving cars and medical diagnosis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Follow this exact slide structure: - Introduction to Deep Learning</a:t>
            </a:r>
          </a:p>
        </p:txBody>
      </p:sp>
      <p:sp>
        <p:nvSpPr>
          <p:cNvPr id="3" name="Content Placeholder 2"/>
          <p:cNvSpPr>
            <a:spLocks noGrp="1"/>
          </p:cNvSpPr>
          <p:nvPr>
            <p:ph idx="1"/>
          </p:nvPr>
        </p:nvSpPr>
        <p:spPr/>
        <p:txBody>
          <a:bodyPr/>
          <a:lstStyle/>
          <a:p>
            <a:pPr>
              <a:defRPr sz="2000">
                <a:solidFill>
                  <a:srgbClr val="444444"/>
                </a:solidFill>
              </a:defRPr>
            </a:pPr>
            <a:r>
              <a:t>Deep learning utilizes neural networks with multiple layers</a:t>
            </a:r>
          </a:p>
          <a:p>
            <a:pPr>
              <a:defRPr sz="2000">
                <a:solidFill>
                  <a:srgbClr val="444444"/>
                </a:solidFill>
              </a:defRPr>
            </a:pPr>
            <a:r>
              <a:t>Inspired by human brain structure and function</a:t>
            </a:r>
          </a:p>
          <a:p>
            <a:pPr>
              <a:defRPr sz="2000">
                <a:solidFill>
                  <a:srgbClr val="444444"/>
                </a:solidFill>
              </a:defRPr>
            </a:pPr>
            <a:r>
              <a:t>Enables machines to learn from large datasets</a:t>
            </a:r>
          </a:p>
          <a:p>
            <a:pPr>
              <a:defRPr sz="2000">
                <a:solidFill>
                  <a:srgbClr val="444444"/>
                </a:solidFill>
              </a:defRPr>
            </a:pPr>
            <a:r>
              <a:t>Requires significant computational power and data</a:t>
            </a:r>
          </a:p>
          <a:p>
            <a:pPr>
              <a:defRPr sz="2000">
                <a:solidFill>
                  <a:srgbClr val="444444"/>
                </a:solidFill>
              </a:defRPr>
            </a:pPr>
            <a:r>
              <a:t>Used in image recognition, speech processing, and natural language</a:t>
            </a:r>
          </a:p>
          <a:p>
            <a:pPr>
              <a:defRPr sz="2000">
                <a:solidFill>
                  <a:srgbClr val="444444"/>
                </a:solidFill>
              </a:defRPr>
            </a:pPr>
            <a:r>
              <a:t>Can learn from raw, unprocessed data inputs</a:t>
            </a:r>
          </a:p>
          <a:p>
            <a:pPr>
              <a:defRPr sz="2000">
                <a:solidFill>
                  <a:srgbClr val="444444"/>
                </a:solidFill>
              </a:defRPr>
            </a:pPr>
            <a:r>
              <a:t>Includes convolutional, recurrent, and autoencoder networks</a:t>
            </a:r>
          </a:p>
          <a:p>
            <a:pPr>
              <a:defRPr sz="2000">
                <a:solidFill>
                  <a:srgbClr val="444444"/>
                </a:solidFill>
              </a:defRPr>
            </a:pPr>
            <a:r>
              <a:t>Deep learning models can be trained using backpropagation</a:t>
            </a:r>
          </a:p>
          <a:p>
            <a:pPr>
              <a:defRPr sz="2000">
                <a:solidFill>
                  <a:srgbClr val="444444"/>
                </a:solidFill>
              </a:defRPr>
            </a:pPr>
            <a:r>
              <a:t>Y = σ(WX + b) is a basic neural network equation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Follow this exact slide structure: - Variants</a:t>
            </a:r>
          </a:p>
        </p:txBody>
      </p:sp>
      <p:sp>
        <p:nvSpPr>
          <p:cNvPr id="3" name="Content Placeholder 2"/>
          <p:cNvSpPr>
            <a:spLocks noGrp="1"/>
          </p:cNvSpPr>
          <p:nvPr>
            <p:ph idx="1"/>
          </p:nvPr>
        </p:nvSpPr>
        <p:spPr/>
        <p:txBody>
          <a:bodyPr/>
          <a:lstStyle/>
          <a:p>
            <a:pPr>
              <a:defRPr sz="2000">
                <a:solidFill>
                  <a:srgbClr val="444444"/>
                </a:solidFill>
              </a:defRPr>
            </a:pPr>
            <a:r>
              <a:t>Convolutional Neural Networks for image processing</a:t>
            </a:r>
          </a:p>
          <a:p>
            <a:pPr>
              <a:defRPr sz="2000">
                <a:solidFill>
                  <a:srgbClr val="444444"/>
                </a:solidFill>
              </a:defRPr>
            </a:pPr>
            <a:r>
              <a:t>Recurrent Neural Networks for sequential data</a:t>
            </a:r>
          </a:p>
          <a:p>
            <a:pPr>
              <a:defRPr sz="2000">
                <a:solidFill>
                  <a:srgbClr val="444444"/>
                </a:solidFill>
              </a:defRPr>
            </a:pPr>
            <a:r>
              <a:t>Autoencoders for dimensionality reduction tasks</a:t>
            </a:r>
          </a:p>
          <a:p>
            <a:pPr>
              <a:defRPr sz="2000">
                <a:solidFill>
                  <a:srgbClr val="444444"/>
                </a:solidFill>
              </a:defRPr>
            </a:pPr>
            <a:r>
              <a:t>Generative Adversarial Networks for data generation</a:t>
            </a:r>
          </a:p>
          <a:p>
            <a:pPr>
              <a:defRPr sz="2000">
                <a:solidFill>
                  <a:srgbClr val="444444"/>
                </a:solidFill>
              </a:defRPr>
            </a:pPr>
            <a:r>
              <a:t>Transformers for natural language processing tasks</a:t>
            </a:r>
          </a:p>
          <a:p>
            <a:pPr>
              <a:defRPr sz="2000">
                <a:solidFill>
                  <a:srgbClr val="444444"/>
                </a:solidFill>
              </a:defRPr>
            </a:pPr>
            <a:r>
              <a:t>Long Short-Term Memory networks for time series data</a:t>
            </a:r>
          </a:p>
          <a:p>
            <a:pPr>
              <a:defRPr sz="2000">
                <a:solidFill>
                  <a:srgbClr val="444444"/>
                </a:solidFill>
              </a:defRPr>
            </a:pPr>
            <a:r>
              <a:t>Deep Belief Networks for probabilistic modeling</a:t>
            </a:r>
          </a:p>
          <a:p>
            <a:pPr>
              <a:defRPr sz="2000">
                <a:solidFill>
                  <a:srgbClr val="444444"/>
                </a:solidFill>
              </a:defRPr>
            </a:pPr>
            <a:r>
              <a:t>Deep Boltzmann Machines for energy-based models</a:t>
            </a:r>
          </a:p>
          <a:p>
            <a:pPr>
              <a:defRPr sz="2000">
                <a:solidFill>
                  <a:srgbClr val="444444"/>
                </a:solidFill>
              </a:defRPr>
            </a:pPr>
            <a:r>
              <a:t>Residual Networks for deep neural network 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1 title: Introduction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structure and function of human brain</a:t>
            </a:r>
          </a:p>
          <a:p>
            <a:pPr>
              <a:defRPr sz="2000">
                <a:solidFill>
                  <a:srgbClr val="444444"/>
                </a:solidFill>
              </a:defRPr>
            </a:pPr>
            <a:r>
              <a:t>Enables computers to learn from data without programming</a:t>
            </a:r>
          </a:p>
          <a:p>
            <a:pPr>
              <a:defRPr sz="2000">
                <a:solidFill>
                  <a:srgbClr val="444444"/>
                </a:solidFill>
              </a:defRPr>
            </a:pPr>
            <a:r>
              <a:t>Uses neural networks with multiple layers</a:t>
            </a:r>
          </a:p>
          <a:p>
            <a:pPr>
              <a:defRPr sz="2000">
                <a:solidFill>
                  <a:srgbClr val="444444"/>
                </a:solidFill>
              </a:defRPr>
            </a:pPr>
            <a:r>
              <a:t>Can learn complex patterns in large datasets</a:t>
            </a:r>
          </a:p>
          <a:p>
            <a:pPr>
              <a:defRPr sz="2000">
                <a:solidFill>
                  <a:srgbClr val="444444"/>
                </a:solidFill>
              </a:defRPr>
            </a:pPr>
            <a:r>
              <a:t>Applications in image recognition, speech recognition</a:t>
            </a:r>
          </a:p>
          <a:p>
            <a:pPr>
              <a:defRPr sz="2000">
                <a:solidFill>
                  <a:srgbClr val="444444"/>
                </a:solidFill>
              </a:defRPr>
            </a:pPr>
            <a:r>
              <a:t>Used in self-driving cars, facial recognition systems</a:t>
            </a:r>
          </a:p>
          <a:p>
            <a:pPr>
              <a:defRPr sz="2000">
                <a:solidFill>
                  <a:srgbClr val="444444"/>
                </a:solidFill>
              </a:defRPr>
            </a:pPr>
            <a:r>
              <a:t>Improves with more data and computational power</a:t>
            </a:r>
          </a:p>
          <a:p>
            <a:pPr>
              <a:defRPr sz="2000">
                <a:solidFill>
                  <a:srgbClr val="444444"/>
                </a:solidFill>
              </a:defRPr>
            </a:pPr>
            <a:r>
              <a:t>Requires large amounts of labeled training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1 title: Introduction - Overview</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structure and function of human brain</a:t>
            </a:r>
          </a:p>
          <a:p>
            <a:pPr>
              <a:defRPr sz="2000">
                <a:solidFill>
                  <a:srgbClr val="444444"/>
                </a:solidFill>
              </a:defRPr>
            </a:pPr>
            <a:r>
              <a:t>Enables computers to learn from data without programming</a:t>
            </a:r>
          </a:p>
          <a:p>
            <a:pPr>
              <a:defRPr sz="2000">
                <a:solidFill>
                  <a:srgbClr val="444444"/>
                </a:solidFill>
              </a:defRPr>
            </a:pPr>
            <a:r>
              <a:t>Used in image recognition, speech recognition, and natural language</a:t>
            </a:r>
          </a:p>
          <a:p>
            <a:pPr>
              <a:defRPr sz="2000">
                <a:solidFill>
                  <a:srgbClr val="444444"/>
                </a:solidFill>
              </a:defRPr>
            </a:pPr>
            <a:r>
              <a:t>Can learn from large datasets with multiple layers</a:t>
            </a:r>
          </a:p>
          <a:p>
            <a:pPr>
              <a:defRPr sz="2000">
                <a:solidFill>
                  <a:srgbClr val="444444"/>
                </a:solidFill>
              </a:defRPr>
            </a:pPr>
            <a:r>
              <a:t>Improves accuracy with more data and computational power</a:t>
            </a:r>
          </a:p>
          <a:p>
            <a:pPr>
              <a:defRPr sz="2000">
                <a:solidFill>
                  <a:srgbClr val="444444"/>
                </a:solidFill>
              </a:defRPr>
            </a:pPr>
            <a:r>
              <a:t>Key applications include self-driving cars and personal assistants</a:t>
            </a:r>
          </a:p>
          <a:p>
            <a:pPr>
              <a:defRPr sz="2000">
                <a:solidFill>
                  <a:srgbClr val="444444"/>
                </a:solidFill>
              </a:defRPr>
            </a:pPr>
            <a:r>
              <a:t>Requires significant computational resources and data storage</a:t>
            </a:r>
          </a:p>
          <a:p>
            <a:pPr>
              <a:defRPr sz="2000">
                <a:solidFill>
                  <a:srgbClr val="444444"/>
                </a:solidFill>
              </a:defRPr>
            </a:pPr>
            <a:r>
              <a:t>Has many variants, including convolutional and recurrent networks</a:t>
            </a:r>
          </a:p>
          <a:p>
            <a:pPr>
              <a:defRPr sz="2000">
                <a:solidFill>
                  <a:srgbClr val="444444"/>
                </a:solidFill>
              </a:defRPr>
            </a:pPr>
            <a:r>
              <a:t>Used in various fields, including healthcare and finance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1 title: Introduction - Overview</a:t>
            </a:r>
          </a:p>
        </p:txBody>
      </p:sp>
      <p:sp>
        <p:nvSpPr>
          <p:cNvPr id="3" name="Content Placeholder 2"/>
          <p:cNvSpPr>
            <a:spLocks noGrp="1"/>
          </p:cNvSpPr>
          <p:nvPr>
            <p:ph idx="1"/>
          </p:nvPr>
        </p:nvSpPr>
        <p:spPr/>
        <p:txBody>
          <a:bodyPr/>
          <a:lstStyle/>
          <a:p>
            <a:pPr>
              <a:defRPr sz="2000">
                <a:solidFill>
                  <a:srgbClr val="444444"/>
                </a:solidFill>
              </a:defRPr>
            </a:pPr>
            <a:r>
              <a:t>Deep learning enables machines to learn from data</a:t>
            </a:r>
          </a:p>
          <a:p>
            <a:pPr>
              <a:defRPr sz="2000">
                <a:solidFill>
                  <a:srgbClr val="444444"/>
                </a:solidFill>
              </a:defRPr>
            </a:pPr>
            <a:r>
              <a:t>Inspired by human brain structure and function</a:t>
            </a:r>
          </a:p>
          <a:p>
            <a:pPr>
              <a:defRPr sz="2000">
                <a:solidFill>
                  <a:srgbClr val="444444"/>
                </a:solidFill>
              </a:defRPr>
            </a:pPr>
            <a:r>
              <a:t>Uses artificial neural networks for processing</a:t>
            </a:r>
          </a:p>
          <a:p>
            <a:pPr>
              <a:defRPr sz="2000">
                <a:solidFill>
                  <a:srgbClr val="444444"/>
                </a:solidFill>
              </a:defRPr>
            </a:pPr>
            <a:r>
              <a:t>Can learn from large datasets with minimal human intervention</a:t>
            </a:r>
          </a:p>
          <a:p>
            <a:pPr>
              <a:defRPr sz="2000">
                <a:solidFill>
                  <a:srgbClr val="444444"/>
                </a:solidFill>
              </a:defRPr>
            </a:pPr>
            <a:r>
              <a:t>Applications in image recognition, speech recognition, and natural language processing</a:t>
            </a:r>
          </a:p>
          <a:p>
            <a:pPr>
              <a:defRPr sz="2000">
                <a:solidFill>
                  <a:srgbClr val="444444"/>
                </a:solidFill>
              </a:defRPr>
            </a:pPr>
            <a:r>
              <a:t>Key aspect is automatic feature extraction from raw data</a:t>
            </a:r>
          </a:p>
          <a:p>
            <a:pPr>
              <a:defRPr sz="2000">
                <a:solidFill>
                  <a:srgbClr val="444444"/>
                </a:solidFill>
              </a:defRPr>
            </a:pPr>
            <a:r>
              <a:t>Requires significant computational resources and data storage</a:t>
            </a:r>
          </a:p>
          <a:p>
            <a:pPr>
              <a:defRPr sz="2000">
                <a:solidFill>
                  <a:srgbClr val="444444"/>
                </a:solidFill>
              </a:defRPr>
            </a:pPr>
            <a:r>
              <a:t>Improves performance with increasing dataset size and complexity</a:t>
            </a:r>
          </a:p>
          <a:p>
            <a:pPr>
              <a:defRPr sz="2000">
                <a:solidFill>
                  <a:srgbClr val="444444"/>
                </a:solidFill>
              </a:defRPr>
            </a:pPr>
            <a:r>
              <a:t>Has many variants, including convolutional and recurrent networks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2 title: Architecture - Introduction</a:t>
            </a:r>
          </a:p>
        </p:txBody>
      </p:sp>
      <p:sp>
        <p:nvSpPr>
          <p:cNvPr id="3" name="Content Placeholder 2"/>
          <p:cNvSpPr>
            <a:spLocks noGrp="1"/>
          </p:cNvSpPr>
          <p:nvPr>
            <p:ph idx="1"/>
          </p:nvPr>
        </p:nvSpPr>
        <p:spPr/>
        <p:txBody>
          <a:bodyPr/>
          <a:lstStyle/>
          <a:p>
            <a:pPr>
              <a:defRPr sz="2000">
                <a:solidFill>
                  <a:srgbClr val="444444"/>
                </a:solidFill>
              </a:defRPr>
            </a:pPr>
            <a:r>
              <a:t>Deep learning architecture refers to neural network design</a:t>
            </a:r>
          </a:p>
          <a:p>
            <a:pPr>
              <a:defRPr sz="2000">
                <a:solidFill>
                  <a:srgbClr val="444444"/>
                </a:solidFill>
              </a:defRPr>
            </a:pPr>
            <a:r>
              <a:t>Consists of layers, connections, and activation functions</a:t>
            </a:r>
          </a:p>
          <a:p>
            <a:pPr>
              <a:defRPr sz="2000">
                <a:solidFill>
                  <a:srgbClr val="444444"/>
                </a:solidFill>
              </a:defRPr>
            </a:pPr>
            <a:r>
              <a:t>Feedforward networks are basic architecture type</a:t>
            </a:r>
          </a:p>
          <a:p>
            <a:pPr>
              <a:defRPr sz="2000">
                <a:solidFill>
                  <a:srgbClr val="444444"/>
                </a:solidFill>
              </a:defRPr>
            </a:pPr>
            <a:r>
              <a:t>Convolutional neural networks for image processing</a:t>
            </a:r>
          </a:p>
          <a:p>
            <a:pPr>
              <a:defRPr sz="2000">
                <a:solidFill>
                  <a:srgbClr val="444444"/>
                </a:solidFill>
              </a:defRPr>
            </a:pPr>
            <a:r>
              <a:t>Recurrent neural networks for sequential data</a:t>
            </a:r>
          </a:p>
          <a:p>
            <a:pPr>
              <a:defRPr sz="2000">
                <a:solidFill>
                  <a:srgbClr val="444444"/>
                </a:solidFill>
              </a:defRPr>
            </a:pPr>
            <a:r>
              <a:t>Autoencoders for dimensionality reduction and feature learning</a:t>
            </a:r>
          </a:p>
          <a:p>
            <a:pPr>
              <a:defRPr sz="2000">
                <a:solidFill>
                  <a:srgbClr val="444444"/>
                </a:solidFill>
              </a:defRPr>
            </a:pPr>
            <a:r>
              <a:t>Architecture choice depends on problem and data type</a:t>
            </a:r>
          </a:p>
          <a:p>
            <a:pPr>
              <a:defRPr sz="2000">
                <a:solidFill>
                  <a:srgbClr val="444444"/>
                </a:solidFill>
              </a:defRPr>
            </a:pPr>
            <a:r>
              <a:t>Key components include input, hidden, and output layers</a:t>
            </a:r>
          </a:p>
          <a:p>
            <a:pPr>
              <a:defRPr sz="2000">
                <a:solidFill>
                  <a:srgbClr val="444444"/>
                </a:solidFill>
              </a:defRPr>
            </a:pPr>
            <a:r>
              <a:t>Activation functions introduce non-linearity to models</a:t>
            </a:r>
          </a:p>
          <a:p>
            <a:pPr>
              <a:defRPr sz="2000">
                <a:solidFill>
                  <a:srgbClr val="444444"/>
                </a:solidFill>
              </a:defRPr>
            </a:pPr>
            <a:r>
              <a:t>y = σ(Wx + b) is a basic neural network equation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2 title: Architecture - Introduction</a:t>
            </a:r>
          </a:p>
        </p:txBody>
      </p:sp>
      <p:sp>
        <p:nvSpPr>
          <p:cNvPr id="3" name="Content Placeholder 2"/>
          <p:cNvSpPr>
            <a:spLocks noGrp="1"/>
          </p:cNvSpPr>
          <p:nvPr>
            <p:ph idx="1"/>
          </p:nvPr>
        </p:nvSpPr>
        <p:spPr/>
        <p:txBody>
          <a:bodyPr/>
          <a:lstStyle/>
          <a:p>
            <a:pPr>
              <a:defRPr sz="2000">
                <a:solidFill>
                  <a:srgbClr val="444444"/>
                </a:solidFill>
              </a:defRPr>
            </a:pPr>
            <a:r>
              <a:t>Deep learning architecture refers to neural network design</a:t>
            </a:r>
          </a:p>
          <a:p>
            <a:pPr>
              <a:defRPr sz="2000">
                <a:solidFill>
                  <a:srgbClr val="444444"/>
                </a:solidFill>
              </a:defRPr>
            </a:pPr>
            <a:r>
              <a:t>Feedforward networks are basic deep learning architecture</a:t>
            </a:r>
          </a:p>
          <a:p>
            <a:pPr>
              <a:defRPr sz="2000">
                <a:solidFill>
                  <a:srgbClr val="444444"/>
                </a:solidFill>
              </a:defRPr>
            </a:pPr>
            <a:r>
              <a:t>Convolutional neural networks for image processing</a:t>
            </a:r>
          </a:p>
          <a:p>
            <a:pPr>
              <a:defRPr sz="2000">
                <a:solidFill>
                  <a:srgbClr val="444444"/>
                </a:solidFill>
              </a:defRPr>
            </a:pPr>
            <a:r>
              <a:t>Recurrent neural networks for sequential data analysis</a:t>
            </a:r>
          </a:p>
          <a:p>
            <a:pPr>
              <a:defRPr sz="2000">
                <a:solidFill>
                  <a:srgbClr val="444444"/>
                </a:solidFill>
              </a:defRPr>
            </a:pPr>
            <a:r>
              <a:t>Autoencoders for dimensionality reduction and feature learning</a:t>
            </a:r>
          </a:p>
          <a:p>
            <a:pPr>
              <a:defRPr sz="2000">
                <a:solidFill>
                  <a:srgbClr val="444444"/>
                </a:solidFill>
              </a:defRPr>
            </a:pPr>
            <a:r>
              <a:t>Transfer learning enables pre-trained model reuse</a:t>
            </a:r>
          </a:p>
          <a:p>
            <a:pPr>
              <a:defRPr sz="2000">
                <a:solidFill>
                  <a:srgbClr val="444444"/>
                </a:solidFill>
              </a:defRPr>
            </a:pPr>
            <a:r>
              <a:t>Batch normalization improves training speed and stability</a:t>
            </a:r>
          </a:p>
          <a:p>
            <a:pPr>
              <a:defRPr sz="2000">
                <a:solidFill>
                  <a:srgbClr val="444444"/>
                </a:solidFill>
              </a:defRPr>
            </a:pPr>
            <a:r>
              <a:t>Residual connections facilitate deep network optimization</a:t>
            </a:r>
          </a:p>
          <a:p>
            <a:pPr>
              <a:defRPr sz="2000">
                <a:solidFill>
                  <a:srgbClr val="444444"/>
                </a:solidFill>
              </a:defRPr>
            </a:pPr>
            <a:r>
              <a:t>Activation functions introduce non-linearity to models</a:t>
            </a:r>
          </a:p>
          <a:p>
            <a:pPr>
              <a:defRPr sz="2000">
                <a:solidFill>
                  <a:srgbClr val="444444"/>
                </a:solidFill>
              </a:defRPr>
            </a:pPr>
            <a:r>
              <a:t>y = σ(Wx + b) represents a basic neural network layer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2 title: Architecture - Introduction</a:t>
            </a:r>
          </a:p>
        </p:txBody>
      </p:sp>
      <p:sp>
        <p:nvSpPr>
          <p:cNvPr id="3" name="Content Placeholder 2"/>
          <p:cNvSpPr>
            <a:spLocks noGrp="1"/>
          </p:cNvSpPr>
          <p:nvPr>
            <p:ph idx="1"/>
          </p:nvPr>
        </p:nvSpPr>
        <p:spPr/>
        <p:txBody>
          <a:bodyPr/>
          <a:lstStyle/>
          <a:p>
            <a:pPr>
              <a:defRPr sz="2000">
                <a:solidFill>
                  <a:srgbClr val="444444"/>
                </a:solidFill>
              </a:defRPr>
            </a:pPr>
            <a:r>
              <a:t>Deep learning architecture refers to neural network design</a:t>
            </a:r>
          </a:p>
          <a:p>
            <a:pPr>
              <a:defRPr sz="2000">
                <a:solidFill>
                  <a:srgbClr val="444444"/>
                </a:solidFill>
              </a:defRPr>
            </a:pPr>
            <a:r>
              <a:t>Consists of multiple layers for data processing</a:t>
            </a:r>
          </a:p>
          <a:p>
            <a:pPr>
              <a:defRPr sz="2000">
                <a:solidFill>
                  <a:srgbClr val="444444"/>
                </a:solidFill>
              </a:defRPr>
            </a:pPr>
            <a:r>
              <a:t>Includes input, hidden, and output layers</a:t>
            </a:r>
          </a:p>
          <a:p>
            <a:pPr>
              <a:defRPr sz="2000">
                <a:solidFill>
                  <a:srgbClr val="444444"/>
                </a:solidFill>
              </a:defRPr>
            </a:pPr>
            <a:r>
              <a:t>Each layer has specific functions and connections</a:t>
            </a:r>
          </a:p>
          <a:p>
            <a:pPr>
              <a:defRPr sz="2000">
                <a:solidFill>
                  <a:srgbClr val="444444"/>
                </a:solidFill>
              </a:defRPr>
            </a:pPr>
            <a:r>
              <a:t>Activation functions introduce non-linearity</a:t>
            </a:r>
          </a:p>
          <a:p>
            <a:pPr>
              <a:defRPr sz="2000">
                <a:solidFill>
                  <a:srgbClr val="444444"/>
                </a:solidFill>
              </a:defRPr>
            </a:pPr>
            <a:r>
              <a:t>Backpropagation algorithm adjusts weights</a:t>
            </a:r>
          </a:p>
          <a:p>
            <a:pPr>
              <a:defRPr sz="2000">
                <a:solidFill>
                  <a:srgbClr val="444444"/>
                </a:solidFill>
              </a:defRPr>
            </a:pPr>
            <a:r>
              <a:t>Bias and variance trade-off is crucial</a:t>
            </a:r>
          </a:p>
          <a:p>
            <a:pPr>
              <a:defRPr sz="2000">
                <a:solidFill>
                  <a:srgbClr val="444444"/>
                </a:solidFill>
              </a:defRPr>
            </a:pPr>
            <a:r>
              <a:t>Regularization techniques prevent overfitting</a:t>
            </a:r>
          </a:p>
          <a:p>
            <a:pPr>
              <a:defRPr sz="2000">
                <a:solidFill>
                  <a:srgbClr val="444444"/>
                </a:solidFill>
              </a:defRPr>
            </a:pPr>
            <a:r>
              <a:t>Batch normalization improves training speed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3 title: Mathematical Formulation - Introduction</a:t>
            </a:r>
          </a:p>
        </p:txBody>
      </p:sp>
      <p:sp>
        <p:nvSpPr>
          <p:cNvPr id="3" name="Content Placeholder 2"/>
          <p:cNvSpPr>
            <a:spLocks noGrp="1"/>
          </p:cNvSpPr>
          <p:nvPr>
            <p:ph idx="1"/>
          </p:nvPr>
        </p:nvSpPr>
        <p:spPr/>
        <p:txBody>
          <a:bodyPr/>
          <a:lstStyle/>
          <a:p>
            <a:pPr>
              <a:defRPr sz="2000">
                <a:solidFill>
                  <a:srgbClr val="444444"/>
                </a:solidFill>
              </a:defRPr>
            </a:pPr>
            <a:r>
              <a:t>Deep learning models utilize complex math formulations</a:t>
            </a:r>
          </a:p>
          <a:p>
            <a:pPr>
              <a:defRPr sz="2000">
                <a:solidFill>
                  <a:srgbClr val="444444"/>
                </a:solidFill>
              </a:defRPr>
            </a:pPr>
            <a:r>
              <a:t>Linear algebra and calculus are fundamental components</a:t>
            </a:r>
          </a:p>
          <a:p>
            <a:pPr>
              <a:defRPr sz="2000">
                <a:solidFill>
                  <a:srgbClr val="444444"/>
                </a:solidFill>
              </a:defRPr>
            </a:pPr>
            <a:r>
              <a:t>Neural networks rely on optimization techniques</a:t>
            </a:r>
          </a:p>
          <a:p>
            <a:pPr>
              <a:defRPr sz="2000">
                <a:solidFill>
                  <a:srgbClr val="444444"/>
                </a:solidFill>
              </a:defRPr>
            </a:pPr>
            <a:r>
              <a:t>Activation functions introduce non-linearity to models</a:t>
            </a:r>
          </a:p>
          <a:p>
            <a:pPr>
              <a:defRPr sz="2000">
                <a:solidFill>
                  <a:srgbClr val="444444"/>
                </a:solidFill>
              </a:defRPr>
            </a:pPr>
            <a:r>
              <a:t>Backpropagation enables efficient error computation</a:t>
            </a:r>
          </a:p>
          <a:p>
            <a:pPr>
              <a:defRPr sz="2000">
                <a:solidFill>
                  <a:srgbClr val="444444"/>
                </a:solidFill>
              </a:defRPr>
            </a:pPr>
            <a:r>
              <a:t>Loss functions measure model performance</a:t>
            </a:r>
          </a:p>
          <a:p>
            <a:pPr>
              <a:defRPr sz="2000">
                <a:solidFill>
                  <a:srgbClr val="444444"/>
                </a:solidFill>
              </a:defRPr>
            </a:pPr>
            <a:r>
              <a:t>Gradient descent optimizes model parameters</a:t>
            </a:r>
          </a:p>
          <a:p>
            <a:pPr>
              <a:defRPr sz="2000">
                <a:solidFill>
                  <a:srgbClr val="444444"/>
                </a:solidFill>
              </a:defRPr>
            </a:pPr>
            <a:r>
              <a:t>Regularization techniques prevent overfitting</a:t>
            </a:r>
          </a:p>
          <a:p>
            <a:pPr>
              <a:defRPr sz="2000">
                <a:solidFill>
                  <a:srgbClr val="444444"/>
                </a:solidFill>
              </a:defRPr>
            </a:pPr>
            <a:r>
              <a:t>Mathematical formulation is crucial for model development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3 title: Mathematical Formulation - Introduction</a:t>
            </a:r>
          </a:p>
        </p:txBody>
      </p:sp>
      <p:sp>
        <p:nvSpPr>
          <p:cNvPr id="3" name="Content Placeholder 2"/>
          <p:cNvSpPr>
            <a:spLocks noGrp="1"/>
          </p:cNvSpPr>
          <p:nvPr>
            <p:ph idx="1"/>
          </p:nvPr>
        </p:nvSpPr>
        <p:spPr/>
        <p:txBody>
          <a:bodyPr/>
          <a:lstStyle/>
          <a:p>
            <a:pPr>
              <a:defRPr sz="2000">
                <a:solidFill>
                  <a:srgbClr val="444444"/>
                </a:solidFill>
              </a:defRPr>
            </a:pPr>
            <a:r>
              <a:t>Deep learning models utilize linear algebra and calculus</a:t>
            </a:r>
          </a:p>
          <a:p>
            <a:pPr>
              <a:defRPr sz="2000">
                <a:solidFill>
                  <a:srgbClr val="444444"/>
                </a:solidFill>
              </a:defRPr>
            </a:pPr>
            <a:r>
              <a:t>Neural networks are composed of multiple layers</a:t>
            </a:r>
          </a:p>
          <a:p>
            <a:pPr>
              <a:defRPr sz="2000">
                <a:solidFill>
                  <a:srgbClr val="444444"/>
                </a:solidFill>
              </a:defRPr>
            </a:pPr>
            <a:r>
              <a:t>Each layer applies a nonlinear transformation</a:t>
            </a:r>
          </a:p>
          <a:p>
            <a:pPr>
              <a:defRPr sz="2000">
                <a:solidFill>
                  <a:srgbClr val="444444"/>
                </a:solidFill>
              </a:defRPr>
            </a:pPr>
            <a:r>
              <a:t>Activation functions introduce nonlinearity</a:t>
            </a:r>
          </a:p>
          <a:p>
            <a:pPr>
              <a:defRPr sz="2000">
                <a:solidFill>
                  <a:srgbClr val="444444"/>
                </a:solidFill>
              </a:defRPr>
            </a:pPr>
            <a:r>
              <a:t>Sigmoid function: σ(x) = 1 / (1 + e^(-x))</a:t>
            </a:r>
          </a:p>
          <a:p>
            <a:pPr>
              <a:defRPr sz="2000">
                <a:solidFill>
                  <a:srgbClr val="444444"/>
                </a:solidFill>
              </a:defRPr>
            </a:pPr>
            <a:r>
              <a:t>ReLU function: f(x) = max(0, x)</a:t>
            </a:r>
          </a:p>
          <a:p>
            <a:pPr>
              <a:defRPr sz="2000">
                <a:solidFill>
                  <a:srgbClr val="444444"/>
                </a:solidFill>
              </a:defRPr>
            </a:pPr>
            <a:r>
              <a:t>Mathematical formulation enables optimization</a:t>
            </a:r>
          </a:p>
          <a:p>
            <a:pPr>
              <a:defRPr sz="2000">
                <a:solidFill>
                  <a:srgbClr val="444444"/>
                </a:solidFill>
              </a:defRPr>
            </a:pPr>
            <a:r>
              <a:t>Backpropagation algorithm for weight updates</a:t>
            </a:r>
          </a:p>
          <a:p>
            <a:pPr>
              <a:defRPr sz="2000">
                <a:solidFill>
                  <a:srgbClr val="444444"/>
                </a:solidFill>
              </a:defRPr>
            </a:pPr>
            <a:r>
              <a:t>Loss functions measure model performance</a:t>
            </a:r>
          </a:p>
          <a:p>
            <a:pPr>
              <a:defRPr sz="2000">
                <a:solidFill>
                  <a:srgbClr val="444444"/>
                </a:solidFill>
              </a:defRPr>
            </a:pPr>
            <a:r>
              <a:t>Mean squared error and cross-entropy examples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3 title: Mathematical Formulation - Introduction</a:t>
            </a:r>
          </a:p>
        </p:txBody>
      </p:sp>
      <p:sp>
        <p:nvSpPr>
          <p:cNvPr id="3" name="Content Placeholder 2"/>
          <p:cNvSpPr>
            <a:spLocks noGrp="1"/>
          </p:cNvSpPr>
          <p:nvPr>
            <p:ph idx="1"/>
          </p:nvPr>
        </p:nvSpPr>
        <p:spPr/>
        <p:txBody>
          <a:bodyPr/>
          <a:lstStyle/>
          <a:p>
            <a:pPr>
              <a:defRPr sz="2000">
                <a:solidFill>
                  <a:srgbClr val="444444"/>
                </a:solidFill>
              </a:defRPr>
            </a:pPr>
            <a:r>
              <a:t>Deep learning uses linear algebra and calculus for model development</a:t>
            </a:r>
          </a:p>
          <a:p>
            <a:pPr>
              <a:defRPr sz="2000">
                <a:solidFill>
                  <a:srgbClr val="444444"/>
                </a:solidFill>
              </a:defRPr>
            </a:pPr>
            <a:r>
              <a:t>Mathematical formulation is crucial for neural network architecture</a:t>
            </a:r>
          </a:p>
          <a:p>
            <a:pPr>
              <a:defRPr sz="2000">
                <a:solidFill>
                  <a:srgbClr val="444444"/>
                </a:solidFill>
              </a:defRPr>
            </a:pPr>
            <a:r>
              <a:t>Activation functions introduce non-linearity to models</a:t>
            </a:r>
          </a:p>
          <a:p>
            <a:pPr>
              <a:defRPr sz="2000">
                <a:solidFill>
                  <a:srgbClr val="444444"/>
                </a:solidFill>
              </a:defRPr>
            </a:pPr>
            <a:r>
              <a:t>Optimization algorithms adjust model parameters</a:t>
            </a:r>
          </a:p>
          <a:p>
            <a:pPr>
              <a:defRPr sz="2000">
                <a:solidFill>
                  <a:srgbClr val="444444"/>
                </a:solidFill>
              </a:defRPr>
            </a:pPr>
            <a:r>
              <a:t>Loss functions measure model performance and error</a:t>
            </a:r>
          </a:p>
          <a:p>
            <a:pPr>
              <a:defRPr sz="2000">
                <a:solidFill>
                  <a:srgbClr val="444444"/>
                </a:solidFill>
              </a:defRPr>
            </a:pPr>
            <a:r>
              <a:t>Backpropagation computes gradients for weight updates</a:t>
            </a:r>
          </a:p>
          <a:p>
            <a:pPr>
              <a:defRPr sz="2000">
                <a:solidFill>
                  <a:srgbClr val="444444"/>
                </a:solidFill>
              </a:defRPr>
            </a:pPr>
            <a:r>
              <a:t>Gradient descent minimizes loss and maximizes accuracy</a:t>
            </a:r>
          </a:p>
          <a:p>
            <a:pPr>
              <a:defRPr sz="2000">
                <a:solidFill>
                  <a:srgbClr val="444444"/>
                </a:solidFill>
              </a:defRPr>
            </a:pPr>
            <a:r>
              <a:t>Regularization techniques prevent overfitting and underfitting</a:t>
            </a:r>
          </a:p>
          <a:p>
            <a:pPr>
              <a:defRPr sz="2000">
                <a:solidFill>
                  <a:srgbClr val="444444"/>
                </a:solidFill>
              </a:defRPr>
            </a:pPr>
            <a:r>
              <a:t>Mathematical formulation enables model interpretability and explainability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4 title: Training and Backpropagation Through Time - Introduction</a:t>
            </a:r>
          </a:p>
        </p:txBody>
      </p:sp>
      <p:sp>
        <p:nvSpPr>
          <p:cNvPr id="3" name="Content Placeholder 2"/>
          <p:cNvSpPr>
            <a:spLocks noGrp="1"/>
          </p:cNvSpPr>
          <p:nvPr>
            <p:ph idx="1"/>
          </p:nvPr>
        </p:nvSpPr>
        <p:spPr/>
        <p:txBody>
          <a:bodyPr/>
          <a:lstStyle/>
          <a:p>
            <a:pPr>
              <a:defRPr sz="2000">
                <a:solidFill>
                  <a:srgbClr val="444444"/>
                </a:solidFill>
              </a:defRPr>
            </a:pPr>
            <a:r>
              <a:t>Training involves optimizing model parameters</a:t>
            </a:r>
          </a:p>
          <a:p>
            <a:pPr>
              <a:defRPr sz="2000">
                <a:solidFill>
                  <a:srgbClr val="444444"/>
                </a:solidFill>
              </a:defRPr>
            </a:pPr>
            <a:r>
              <a:t>Backpropagation Through Time (BPTT) is a key algorithm</a:t>
            </a:r>
          </a:p>
          <a:p>
            <a:pPr>
              <a:defRPr sz="2000">
                <a:solidFill>
                  <a:srgbClr val="444444"/>
                </a:solidFill>
              </a:defRPr>
            </a:pPr>
            <a:r>
              <a:t>BPTT is used for training Recurrent Neural Networks</a:t>
            </a:r>
          </a:p>
          <a:p>
            <a:pPr>
              <a:defRPr sz="2000">
                <a:solidFill>
                  <a:srgbClr val="444444"/>
                </a:solidFill>
              </a:defRPr>
            </a:pPr>
            <a:r>
              <a:t>It unfolds the network in time</a:t>
            </a:r>
          </a:p>
          <a:p>
            <a:pPr>
              <a:defRPr sz="2000">
                <a:solidFill>
                  <a:srgbClr val="444444"/>
                </a:solidFill>
              </a:defRPr>
            </a:pPr>
            <a:r>
              <a:t>Computes gradients of loss function</a:t>
            </a:r>
          </a:p>
          <a:p>
            <a:pPr>
              <a:defRPr sz="2000">
                <a:solidFill>
                  <a:srgbClr val="444444"/>
                </a:solidFill>
              </a:defRPr>
            </a:pPr>
            <a:r>
              <a:t>Uses chain rule for gradient computation</a:t>
            </a:r>
          </a:p>
          <a:p>
            <a:pPr>
              <a:defRPr sz="2000">
                <a:solidFill>
                  <a:srgbClr val="444444"/>
                </a:solidFill>
              </a:defRPr>
            </a:pPr>
            <a:r>
              <a:t>Truncated BPTT is used for long sequences</a:t>
            </a:r>
          </a:p>
          <a:p>
            <a:pPr>
              <a:defRPr sz="2000">
                <a:solidFill>
                  <a:srgbClr val="444444"/>
                </a:solidFill>
              </a:defRPr>
            </a:pPr>
            <a:r>
              <a:t>BPTT is sensitive to vanishing gradients</a:t>
            </a:r>
          </a:p>
          <a:p>
            <a:pPr>
              <a:defRPr sz="2000">
                <a:solidFill>
                  <a:srgbClr val="444444"/>
                </a:solidFill>
              </a:defRPr>
            </a:pPr>
            <a:r>
              <a:t>Regularization techniques are used to prevent overfitting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4 title: Training and Backpropagation Through Time - Introduction</a:t>
            </a:r>
          </a:p>
        </p:txBody>
      </p:sp>
      <p:sp>
        <p:nvSpPr>
          <p:cNvPr id="3" name="Content Placeholder 2"/>
          <p:cNvSpPr>
            <a:spLocks noGrp="1"/>
          </p:cNvSpPr>
          <p:nvPr>
            <p:ph idx="1"/>
          </p:nvPr>
        </p:nvSpPr>
        <p:spPr/>
        <p:txBody>
          <a:bodyPr/>
          <a:lstStyle/>
          <a:p>
            <a:pPr>
              <a:defRPr sz="2000">
                <a:solidFill>
                  <a:srgbClr val="444444"/>
                </a:solidFill>
              </a:defRPr>
            </a:pPr>
            <a:r>
              <a:t>Training recurrent neural networks requires backpropagation through time</a:t>
            </a:r>
          </a:p>
          <a:p>
            <a:pPr>
              <a:defRPr sz="2000">
                <a:solidFill>
                  <a:srgbClr val="444444"/>
                </a:solidFill>
              </a:defRPr>
            </a:pPr>
            <a:r>
              <a:t>Backpropagation calculates gradients for weight updates</a:t>
            </a:r>
          </a:p>
          <a:p>
            <a:pPr>
              <a:defRPr sz="2000">
                <a:solidFill>
                  <a:srgbClr val="444444"/>
                </a:solidFill>
              </a:defRPr>
            </a:pPr>
            <a:r>
              <a:t>Time-dependent data is unrolled for computation</a:t>
            </a:r>
          </a:p>
          <a:p>
            <a:pPr>
              <a:defRPr sz="2000">
                <a:solidFill>
                  <a:srgbClr val="444444"/>
                </a:solidFill>
              </a:defRPr>
            </a:pPr>
            <a:r>
              <a:t>Unrolling transforms RNN into feedforward network</a:t>
            </a:r>
          </a:p>
          <a:p>
            <a:pPr>
              <a:defRPr sz="2000">
                <a:solidFill>
                  <a:srgbClr val="444444"/>
                </a:solidFill>
              </a:defRPr>
            </a:pPr>
            <a:r>
              <a:t>Truncated backpropagation reduces computation</a:t>
            </a:r>
          </a:p>
          <a:p>
            <a:pPr>
              <a:defRPr sz="2000">
                <a:solidFill>
                  <a:srgbClr val="444444"/>
                </a:solidFill>
              </a:defRPr>
            </a:pPr>
            <a:r>
              <a:t>Backpropagation through time is computationally expensive</a:t>
            </a:r>
          </a:p>
          <a:p>
            <a:pPr>
              <a:defRPr sz="2000">
                <a:solidFill>
                  <a:srgbClr val="444444"/>
                </a:solidFill>
              </a:defRPr>
            </a:pPr>
            <a:r>
              <a:t>It involves multiple iterations of forward pass</a:t>
            </a:r>
          </a:p>
          <a:p>
            <a:pPr>
              <a:defRPr sz="2000">
                <a:solidFill>
                  <a:srgbClr val="444444"/>
                </a:solidFill>
              </a:defRPr>
            </a:pPr>
            <a:r>
              <a:t>Gradient clipping prevents exploding gradients</a:t>
            </a:r>
          </a:p>
          <a:p>
            <a:pPr>
              <a:defRPr sz="2000">
                <a:solidFill>
                  <a:srgbClr val="444444"/>
                </a:solidFill>
              </a:defRPr>
            </a:pPr>
            <a:r>
              <a:t>Weight updates are based on calculated gradients</a:t>
            </a:r>
          </a:p>
          <a:p>
            <a:pPr>
              <a:defRPr sz="2000">
                <a:solidFill>
                  <a:srgbClr val="444444"/>
                </a:solidFill>
              </a:defRPr>
            </a:pPr>
            <a:r>
              <a:t>Optimizers like Adam are used for weight updates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4 title: Training and Backpropagation Through Time - Introduction</a:t>
            </a:r>
          </a:p>
        </p:txBody>
      </p:sp>
      <p:sp>
        <p:nvSpPr>
          <p:cNvPr id="3" name="Content Placeholder 2"/>
          <p:cNvSpPr>
            <a:spLocks noGrp="1"/>
          </p:cNvSpPr>
          <p:nvPr>
            <p:ph idx="1"/>
          </p:nvPr>
        </p:nvSpPr>
        <p:spPr/>
        <p:txBody>
          <a:bodyPr/>
          <a:lstStyle/>
          <a:p>
            <a:pPr>
              <a:defRPr sz="2000">
                <a:solidFill>
                  <a:srgbClr val="444444"/>
                </a:solidFill>
              </a:defRPr>
            </a:pPr>
            <a:r>
              <a:t>Training recurrent neural networks involves backpropagation through time</a:t>
            </a:r>
          </a:p>
          <a:p>
            <a:pPr>
              <a:defRPr sz="2000">
                <a:solidFill>
                  <a:srgbClr val="444444"/>
                </a:solidFill>
              </a:defRPr>
            </a:pPr>
            <a:r>
              <a:t>Unfolding RNNs into feedforward networks for computation</a:t>
            </a:r>
          </a:p>
          <a:p>
            <a:pPr>
              <a:defRPr sz="2000">
                <a:solidFill>
                  <a:srgbClr val="444444"/>
                </a:solidFill>
              </a:defRPr>
            </a:pPr>
            <a:r>
              <a:t>Backpropagation through time for weight updates</a:t>
            </a:r>
          </a:p>
          <a:p>
            <a:pPr>
              <a:defRPr sz="2000">
                <a:solidFill>
                  <a:srgbClr val="444444"/>
                </a:solidFill>
              </a:defRPr>
            </a:pPr>
            <a:r>
              <a:t>Truncated backpropagation for efficient computation</a:t>
            </a:r>
          </a:p>
          <a:p>
            <a:pPr>
              <a:defRPr sz="2000">
                <a:solidFill>
                  <a:srgbClr val="444444"/>
                </a:solidFill>
              </a:defRPr>
            </a:pPr>
            <a:r>
              <a:t>Teacher forcing for stable training</a:t>
            </a:r>
          </a:p>
          <a:p>
            <a:pPr>
              <a:defRPr sz="2000">
                <a:solidFill>
                  <a:srgbClr val="444444"/>
                </a:solidFill>
              </a:defRPr>
            </a:pPr>
            <a:r>
              <a:t>Vanishing gradients affect deep RNNs</a:t>
            </a:r>
          </a:p>
          <a:p>
            <a:pPr>
              <a:defRPr sz="2000">
                <a:solidFill>
                  <a:srgbClr val="444444"/>
                </a:solidFill>
              </a:defRPr>
            </a:pPr>
            <a:r>
              <a:t>Exploding gradients impact convergence</a:t>
            </a:r>
          </a:p>
          <a:p>
            <a:pPr>
              <a:defRPr sz="2000">
                <a:solidFill>
                  <a:srgbClr val="444444"/>
                </a:solidFill>
              </a:defRPr>
            </a:pPr>
            <a:r>
              <a:t>Gradient clipping for stable training</a:t>
            </a:r>
          </a:p>
          <a:p>
            <a:pPr>
              <a:defRPr sz="2000">
                <a:solidFill>
                  <a:srgbClr val="444444"/>
                </a:solidFill>
              </a:defRPr>
            </a:pPr>
            <a:r>
              <a:t>Regularization techniques for RNNs</a:t>
            </a:r>
          </a:p>
          <a:p>
            <a:pPr>
              <a:defRPr sz="2000">
                <a:solidFill>
                  <a:srgbClr val="444444"/>
                </a:solidFill>
              </a:defRPr>
            </a:pPr>
            <a:r>
              <a:t>Batch normalization for improved training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5 title: Applications - Introduction</a:t>
            </a:r>
          </a:p>
        </p:txBody>
      </p:sp>
      <p:sp>
        <p:nvSpPr>
          <p:cNvPr id="3" name="Content Placeholder 2"/>
          <p:cNvSpPr>
            <a:spLocks noGrp="1"/>
          </p:cNvSpPr>
          <p:nvPr>
            <p:ph idx="1"/>
          </p:nvPr>
        </p:nvSpPr>
        <p:spPr/>
        <p:txBody>
          <a:bodyPr/>
          <a:lstStyle/>
          <a:p>
            <a:pPr>
              <a:defRPr sz="2000">
                <a:solidFill>
                  <a:srgbClr val="444444"/>
                </a:solidFill>
              </a:defRPr>
            </a:pPr>
            <a:r>
              <a:t>Deep learning applies to image recognition tasks</a:t>
            </a:r>
          </a:p>
          <a:p>
            <a:pPr>
              <a:defRPr sz="2000">
                <a:solidFill>
                  <a:srgbClr val="444444"/>
                </a:solidFill>
              </a:defRPr>
            </a:pPr>
            <a:r>
              <a:t>Natural language processing uses deep learning models</a:t>
            </a:r>
          </a:p>
          <a:p>
            <a:pPr>
              <a:defRPr sz="2000">
                <a:solidFill>
                  <a:srgbClr val="444444"/>
                </a:solidFill>
              </a:defRPr>
            </a:pPr>
            <a:r>
              <a:t>Speech recognition relies on deep learning techniques</a:t>
            </a:r>
          </a:p>
          <a:p>
            <a:pPr>
              <a:defRPr sz="2000">
                <a:solidFill>
                  <a:srgbClr val="444444"/>
                </a:solidFill>
              </a:defRPr>
            </a:pPr>
            <a:r>
              <a:t>Self-driving cars utilize deep learning algorithms</a:t>
            </a:r>
          </a:p>
          <a:p>
            <a:pPr>
              <a:defRPr sz="2000">
                <a:solidFill>
                  <a:srgbClr val="444444"/>
                </a:solidFill>
              </a:defRPr>
            </a:pPr>
            <a:r>
              <a:t>Medical diagnosis benefits from deep learning insights</a:t>
            </a:r>
          </a:p>
          <a:p>
            <a:pPr>
              <a:defRPr sz="2000">
                <a:solidFill>
                  <a:srgbClr val="444444"/>
                </a:solidFill>
              </a:defRPr>
            </a:pPr>
            <a:r>
              <a:t>Time series forecasting uses deep learning methods</a:t>
            </a:r>
          </a:p>
          <a:p>
            <a:pPr>
              <a:defRPr sz="2000">
                <a:solidFill>
                  <a:srgbClr val="444444"/>
                </a:solidFill>
              </a:defRPr>
            </a:pPr>
            <a:r>
              <a:t>Recommendation systems leverage deep learning models</a:t>
            </a:r>
          </a:p>
          <a:p>
            <a:pPr>
              <a:defRPr sz="2000">
                <a:solidFill>
                  <a:srgbClr val="444444"/>
                </a:solidFill>
              </a:defRPr>
            </a:pPr>
            <a:r>
              <a:t>Game playing robots use deep learning strategies</a:t>
            </a:r>
          </a:p>
          <a:p>
            <a:pPr>
              <a:defRPr sz="2000">
                <a:solidFill>
                  <a:srgbClr val="444444"/>
                </a:solidFill>
              </a:defRPr>
            </a:pPr>
            <a:r>
              <a:t>Robotics and control systems apply deep learning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5 title: Applications - Introduction</a:t>
            </a:r>
          </a:p>
        </p:txBody>
      </p:sp>
      <p:sp>
        <p:nvSpPr>
          <p:cNvPr id="3" name="Content Placeholder 2"/>
          <p:cNvSpPr>
            <a:spLocks noGrp="1"/>
          </p:cNvSpPr>
          <p:nvPr>
            <p:ph idx="1"/>
          </p:nvPr>
        </p:nvSpPr>
        <p:spPr/>
        <p:txBody>
          <a:bodyPr/>
          <a:lstStyle/>
          <a:p>
            <a:pPr>
              <a:defRPr sz="2000">
                <a:solidFill>
                  <a:srgbClr val="444444"/>
                </a:solidFill>
              </a:defRPr>
            </a:pPr>
            <a:r>
              <a:t>Computer vision applies deep learning for image recognition</a:t>
            </a:r>
          </a:p>
          <a:p>
            <a:pPr>
              <a:defRPr sz="2000">
                <a:solidFill>
                  <a:srgbClr val="444444"/>
                </a:solidFill>
              </a:defRPr>
            </a:pPr>
            <a:r>
              <a:t>Natural language processing uses deep learning for text analysis</a:t>
            </a:r>
          </a:p>
          <a:p>
            <a:pPr>
              <a:defRPr sz="2000">
                <a:solidFill>
                  <a:srgbClr val="444444"/>
                </a:solidFill>
              </a:defRPr>
            </a:pPr>
            <a:r>
              <a:t>Speech recognition relies on deep learning for voice commands</a:t>
            </a:r>
          </a:p>
          <a:p>
            <a:pPr>
              <a:defRPr sz="2000">
                <a:solidFill>
                  <a:srgbClr val="444444"/>
                </a:solidFill>
              </a:defRPr>
            </a:pPr>
            <a:r>
              <a:t>Robotics utilizes deep learning for autonomous navigation</a:t>
            </a:r>
          </a:p>
          <a:p>
            <a:pPr>
              <a:defRPr sz="2000">
                <a:solidFill>
                  <a:srgbClr val="444444"/>
                </a:solidFill>
              </a:defRPr>
            </a:pPr>
            <a:r>
              <a:t>Healthcare applies deep learning for disease diagnosis</a:t>
            </a:r>
          </a:p>
          <a:p>
            <a:pPr>
              <a:defRPr sz="2000">
                <a:solidFill>
                  <a:srgbClr val="444444"/>
                </a:solidFill>
              </a:defRPr>
            </a:pPr>
            <a:r>
              <a:t>Finance uses deep learning for predictive market analysis</a:t>
            </a:r>
          </a:p>
          <a:p>
            <a:pPr>
              <a:defRPr sz="2000">
                <a:solidFill>
                  <a:srgbClr val="444444"/>
                </a:solidFill>
              </a:defRPr>
            </a:pPr>
            <a:r>
              <a:t>Autonomous vehicles rely on deep learning for real-time decisions</a:t>
            </a:r>
          </a:p>
          <a:p>
            <a:pPr>
              <a:defRPr sz="2000">
                <a:solidFill>
                  <a:srgbClr val="444444"/>
                </a:solidFill>
              </a:defRPr>
            </a:pPr>
            <a:r>
              <a:t>Cybersecurity applies deep learning for threat detection</a:t>
            </a:r>
          </a:p>
          <a:p>
            <a:pPr>
              <a:defRPr sz="2000">
                <a:solidFill>
                  <a:srgbClr val="444444"/>
                </a:solidFill>
              </a:defRPr>
            </a:pPr>
            <a:r>
              <a:t>Recommendation systems use deep learning for personalized suggestions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5 title: Applications - Introduction</a:t>
            </a:r>
          </a:p>
        </p:txBody>
      </p:sp>
      <p:sp>
        <p:nvSpPr>
          <p:cNvPr id="3" name="Content Placeholder 2"/>
          <p:cNvSpPr>
            <a:spLocks noGrp="1"/>
          </p:cNvSpPr>
          <p:nvPr>
            <p:ph idx="1"/>
          </p:nvPr>
        </p:nvSpPr>
        <p:spPr/>
        <p:txBody>
          <a:bodyPr/>
          <a:lstStyle/>
          <a:p>
            <a:pPr>
              <a:defRPr sz="2000">
                <a:solidFill>
                  <a:srgbClr val="444444"/>
                </a:solidFill>
              </a:defRPr>
            </a:pPr>
            <a:r>
              <a:t>Deep learning applies to image recognition systems</a:t>
            </a:r>
          </a:p>
          <a:p>
            <a:pPr>
              <a:defRPr sz="2000">
                <a:solidFill>
                  <a:srgbClr val="444444"/>
                </a:solidFill>
              </a:defRPr>
            </a:pPr>
            <a:r>
              <a:t>Natural language processing for speech recognition</a:t>
            </a:r>
          </a:p>
          <a:p>
            <a:pPr>
              <a:defRPr sz="2000">
                <a:solidFill>
                  <a:srgbClr val="444444"/>
                </a:solidFill>
              </a:defRPr>
            </a:pPr>
            <a:r>
              <a:t>Predictive modeling in finance and economics</a:t>
            </a:r>
          </a:p>
          <a:p>
            <a:pPr>
              <a:defRPr sz="2000">
                <a:solidFill>
                  <a:srgbClr val="444444"/>
                </a:solidFill>
              </a:defRPr>
            </a:pPr>
            <a:r>
              <a:t>Medical diagnosis with convolutional neural networks</a:t>
            </a:r>
          </a:p>
          <a:p>
            <a:pPr>
              <a:defRPr sz="2000">
                <a:solidFill>
                  <a:srgbClr val="444444"/>
                </a:solidFill>
              </a:defRPr>
            </a:pPr>
            <a:r>
              <a:t>Self-driving cars use deep learning algorithms</a:t>
            </a:r>
          </a:p>
          <a:p>
            <a:pPr>
              <a:defRPr sz="2000">
                <a:solidFill>
                  <a:srgbClr val="444444"/>
                </a:solidFill>
              </a:defRPr>
            </a:pPr>
            <a:r>
              <a:t>Recommendation systems for e-commerce platforms</a:t>
            </a:r>
          </a:p>
          <a:p>
            <a:pPr>
              <a:defRPr sz="2000">
                <a:solidFill>
                  <a:srgbClr val="444444"/>
                </a:solidFill>
              </a:defRPr>
            </a:pPr>
            <a:r>
              <a:t>Time series forecasting in weather prediction</a:t>
            </a:r>
          </a:p>
          <a:p>
            <a:pPr>
              <a:defRPr sz="2000">
                <a:solidFill>
                  <a:srgbClr val="444444"/>
                </a:solidFill>
              </a:defRPr>
            </a:pPr>
            <a:r>
              <a:t>Deep learning in robotics for autonomous control</a:t>
            </a:r>
          </a:p>
          <a:p>
            <a:pPr>
              <a:defRPr sz="2000">
                <a:solidFill>
                  <a:srgbClr val="444444"/>
                </a:solidFill>
              </a:defRPr>
            </a:pPr>
            <a:r>
              <a:t>Sentiment analysis for social media monitoring</a:t>
            </a:r>
          </a:p>
          <a:p>
            <a:pPr>
              <a:defRPr sz="2000">
                <a:solidFill>
                  <a:srgbClr val="444444"/>
                </a:solidFill>
              </a:defRPr>
            </a:pPr>
            <a:r>
              <a:t>Facial recognition for security and surveillance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6 title: Advantages and Limitations - Introduction</a:t>
            </a:r>
          </a:p>
        </p:txBody>
      </p:sp>
      <p:sp>
        <p:nvSpPr>
          <p:cNvPr id="3" name="Content Placeholder 2"/>
          <p:cNvSpPr>
            <a:spLocks noGrp="1"/>
          </p:cNvSpPr>
          <p:nvPr>
            <p:ph idx="1"/>
          </p:nvPr>
        </p:nvSpPr>
        <p:spPr/>
        <p:txBody>
          <a:bodyPr/>
          <a:lstStyle/>
          <a:p>
            <a:pPr>
              <a:defRPr sz="2000">
                <a:solidFill>
                  <a:srgbClr val="444444"/>
                </a:solidFill>
              </a:defRPr>
            </a:pPr>
            <a:r>
              <a:t>Deep learning offers high accuracy in image recognition tasks</a:t>
            </a:r>
          </a:p>
          <a:p>
            <a:pPr>
              <a:defRPr sz="2000">
                <a:solidFill>
                  <a:srgbClr val="444444"/>
                </a:solidFill>
              </a:defRPr>
            </a:pPr>
            <a:r>
              <a:t>Enables automatic feature extraction from raw data</a:t>
            </a:r>
          </a:p>
          <a:p>
            <a:pPr>
              <a:defRPr sz="2000">
                <a:solidFill>
                  <a:srgbClr val="444444"/>
                </a:solidFill>
              </a:defRPr>
            </a:pPr>
            <a:r>
              <a:t>Supports complex pattern recognition in speech and text</a:t>
            </a:r>
          </a:p>
          <a:p>
            <a:pPr>
              <a:defRPr sz="2000">
                <a:solidFill>
                  <a:srgbClr val="444444"/>
                </a:solidFill>
              </a:defRPr>
            </a:pPr>
            <a:r>
              <a:t>Improves predictive modeling with large datasets</a:t>
            </a:r>
          </a:p>
          <a:p>
            <a:pPr>
              <a:defRPr sz="2000">
                <a:solidFill>
                  <a:srgbClr val="444444"/>
                </a:solidFill>
              </a:defRPr>
            </a:pPr>
            <a:r>
              <a:t>Enhances decision-making with data-driven insights</a:t>
            </a:r>
          </a:p>
          <a:p>
            <a:pPr>
              <a:defRPr sz="2000">
                <a:solidFill>
                  <a:srgbClr val="444444"/>
                </a:solidFill>
              </a:defRPr>
            </a:pPr>
            <a:r>
              <a:t>Facilitates real-time processing and analysis</a:t>
            </a:r>
          </a:p>
          <a:p>
            <a:pPr>
              <a:defRPr sz="2000">
                <a:solidFill>
                  <a:srgbClr val="444444"/>
                </a:solidFill>
              </a:defRPr>
            </a:pPr>
            <a:r>
              <a:t>Allows for transfer learning across related tasks</a:t>
            </a:r>
          </a:p>
          <a:p>
            <a:pPr>
              <a:defRPr sz="2000">
                <a:solidFill>
                  <a:srgbClr val="444444"/>
                </a:solidFill>
              </a:defRPr>
            </a:pPr>
            <a:r>
              <a:t>Requires significant computational resources and data</a:t>
            </a:r>
          </a:p>
          <a:p>
            <a:pPr>
              <a:defRPr sz="2000">
                <a:solidFill>
                  <a:srgbClr val="444444"/>
                </a:solidFill>
              </a:defRPr>
            </a:pPr>
            <a:r>
              <a:t>Supports various applications in healthcare and finance</a:t>
            </a:r>
          </a:p>
          <a:p>
            <a:pPr>
              <a:defRPr sz="2000">
                <a:solidFill>
                  <a:srgbClr val="444444"/>
                </a:solidFill>
              </a:defRPr>
            </a:pPr>
            <a:r>
              <a:t>Enables personalized recommendations and services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6 title: Advantages and Limitations - Introduction</a:t>
            </a:r>
          </a:p>
        </p:txBody>
      </p:sp>
      <p:sp>
        <p:nvSpPr>
          <p:cNvPr id="3" name="Content Placeholder 2"/>
          <p:cNvSpPr>
            <a:spLocks noGrp="1"/>
          </p:cNvSpPr>
          <p:nvPr>
            <p:ph idx="1"/>
          </p:nvPr>
        </p:nvSpPr>
        <p:spPr/>
        <p:txBody>
          <a:bodyPr/>
          <a:lstStyle/>
          <a:p>
            <a:pPr>
              <a:defRPr sz="2000">
                <a:solidFill>
                  <a:srgbClr val="444444"/>
                </a:solidFill>
              </a:defRPr>
            </a:pPr>
            <a:r>
              <a:t>Deep learning offers improved accuracy in image recognition tasks</a:t>
            </a:r>
          </a:p>
          <a:p>
            <a:pPr>
              <a:defRPr sz="2000">
                <a:solidFill>
                  <a:srgbClr val="444444"/>
                </a:solidFill>
              </a:defRPr>
            </a:pPr>
            <a:r>
              <a:t>Enhanced natural language processing capabilities</a:t>
            </a:r>
          </a:p>
          <a:p>
            <a:pPr>
              <a:defRPr sz="2000">
                <a:solidFill>
                  <a:srgbClr val="444444"/>
                </a:solidFill>
              </a:defRPr>
            </a:pPr>
            <a:r>
              <a:t>Ability to learn from large datasets</a:t>
            </a:r>
          </a:p>
          <a:p>
            <a:pPr>
              <a:defRPr sz="2000">
                <a:solidFill>
                  <a:srgbClr val="444444"/>
                </a:solidFill>
              </a:defRPr>
            </a:pPr>
            <a:r>
              <a:t>Automatic feature extraction from raw data</a:t>
            </a:r>
          </a:p>
          <a:p>
            <a:pPr>
              <a:defRPr sz="2000">
                <a:solidFill>
                  <a:srgbClr val="444444"/>
                </a:solidFill>
              </a:defRPr>
            </a:pPr>
            <a:r>
              <a:t>Robust performance in noisy or missing data scenarios</a:t>
            </a:r>
          </a:p>
          <a:p>
            <a:pPr>
              <a:defRPr sz="2000">
                <a:solidFill>
                  <a:srgbClr val="444444"/>
                </a:solidFill>
              </a:defRPr>
            </a:pPr>
            <a:r>
              <a:t>Supports transfer learning and fine-tuning</a:t>
            </a:r>
          </a:p>
          <a:p>
            <a:pPr>
              <a:defRPr sz="2000">
                <a:solidFill>
                  <a:srgbClr val="444444"/>
                </a:solidFill>
              </a:defRPr>
            </a:pPr>
            <a:r>
              <a:t>Enables real-time processing and prediction</a:t>
            </a:r>
          </a:p>
          <a:p>
            <a:pPr>
              <a:defRPr sz="2000">
                <a:solidFill>
                  <a:srgbClr val="444444"/>
                </a:solidFill>
              </a:defRPr>
            </a:pPr>
            <a:r>
              <a:t>Facilitates autonomous decision-making systems</a:t>
            </a:r>
          </a:p>
          <a:p>
            <a:pPr>
              <a:defRPr sz="2000">
                <a:solidFill>
                  <a:srgbClr val="444444"/>
                </a:solidFill>
              </a:defRPr>
            </a:pPr>
            <a:r>
              <a:t>Requires significant computational resources and data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&gt; - Slide 6 title: Advantages and Limitations - Introduction</a:t>
            </a:r>
          </a:p>
        </p:txBody>
      </p:sp>
      <p:sp>
        <p:nvSpPr>
          <p:cNvPr id="3" name="Content Placeholder 2"/>
          <p:cNvSpPr>
            <a:spLocks noGrp="1"/>
          </p:cNvSpPr>
          <p:nvPr>
            <p:ph idx="1"/>
          </p:nvPr>
        </p:nvSpPr>
        <p:spPr/>
        <p:txBody>
          <a:bodyPr/>
          <a:lstStyle/>
          <a:p>
            <a:pPr>
              <a:defRPr sz="2000">
                <a:solidFill>
                  <a:srgbClr val="444444"/>
                </a:solidFill>
              </a:defRPr>
            </a:pPr>
            <a:r>
              <a:t>Deep learning offers high accuracy in image recognition tasks</a:t>
            </a:r>
          </a:p>
          <a:p>
            <a:pPr>
              <a:defRPr sz="2000">
                <a:solidFill>
                  <a:srgbClr val="444444"/>
                </a:solidFill>
              </a:defRPr>
            </a:pPr>
            <a:r>
              <a:t>Enables natural language processing with human-like understanding</a:t>
            </a:r>
          </a:p>
          <a:p>
            <a:pPr>
              <a:defRPr sz="2000">
                <a:solidFill>
                  <a:srgbClr val="444444"/>
                </a:solidFill>
              </a:defRPr>
            </a:pPr>
            <a:r>
              <a:t>Can learn from large datasets with minimal human intervention</a:t>
            </a:r>
          </a:p>
          <a:p>
            <a:pPr>
              <a:defRPr sz="2000">
                <a:solidFill>
                  <a:srgbClr val="444444"/>
                </a:solidFill>
              </a:defRPr>
            </a:pPr>
            <a:r>
              <a:t>Improves performance with increased dataset size and complexity</a:t>
            </a:r>
          </a:p>
          <a:p>
            <a:pPr>
              <a:defRPr sz="2000">
                <a:solidFill>
                  <a:srgbClr val="444444"/>
                </a:solidFill>
              </a:defRPr>
            </a:pPr>
            <a:r>
              <a:t>Supports real-time data processing and analysis</a:t>
            </a:r>
          </a:p>
          <a:p>
            <a:pPr>
              <a:defRPr sz="2000">
                <a:solidFill>
                  <a:srgbClr val="444444"/>
                </a:solidFill>
              </a:defRPr>
            </a:pPr>
            <a:r>
              <a:t>Enhances decision-making with predictive analytics</a:t>
            </a:r>
          </a:p>
          <a:p>
            <a:pPr>
              <a:defRPr sz="2000">
                <a:solidFill>
                  <a:srgbClr val="444444"/>
                </a:solidFill>
              </a:defRPr>
            </a:pPr>
            <a:r>
              <a:t>Allows for automation of repetitive and mundane tasks</a:t>
            </a:r>
          </a:p>
          <a:p>
            <a:pPr>
              <a:defRPr sz="2000">
                <a:solidFill>
                  <a:srgbClr val="444444"/>
                </a:solidFill>
              </a:defRPr>
            </a:pPr>
            <a:r>
              <a:t>Facilitates personalized recommendations and services</a:t>
            </a:r>
          </a:p>
          <a:p>
            <a:pPr>
              <a:defRPr sz="2000">
                <a:solidFill>
                  <a:srgbClr val="444444"/>
                </a:solidFill>
              </a:defRPr>
            </a:pPr>
            <a:r>
              <a:t>Enables robust feature learning and representation</a:t>
            </a:r>
          </a:p>
          <a:p>
            <a:pPr>
              <a:defRPr sz="2000">
                <a:solidFill>
                  <a:srgbClr val="444444"/>
                </a:solidFill>
              </a:defRPr>
            </a:pPr>
            <a:r>
              <a:t>Supports applications in healthcare, finance, and transportation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Deep Learning</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structure and function of human brain</a:t>
            </a:r>
          </a:p>
          <a:p>
            <a:pPr>
              <a:defRPr sz="2000">
                <a:solidFill>
                  <a:srgbClr val="444444"/>
                </a:solidFill>
              </a:defRPr>
            </a:pPr>
            <a:r>
              <a:t>Uses artificial neural networks to analyze data</a:t>
            </a:r>
          </a:p>
          <a:p>
            <a:pPr>
              <a:defRPr sz="2000">
                <a:solidFill>
                  <a:srgbClr val="444444"/>
                </a:solidFill>
              </a:defRPr>
            </a:pPr>
            <a:r>
              <a:t>Enables computers to learn from experience</a:t>
            </a:r>
          </a:p>
          <a:p>
            <a:pPr>
              <a:defRPr sz="2000">
                <a:solidFill>
                  <a:srgbClr val="444444"/>
                </a:solidFill>
              </a:defRPr>
            </a:pPr>
            <a:r>
              <a:t>Improves performance with large datasets</a:t>
            </a:r>
          </a:p>
          <a:p>
            <a:pPr>
              <a:defRPr sz="2000">
                <a:solidFill>
                  <a:srgbClr val="444444"/>
                </a:solidFill>
              </a:defRPr>
            </a:pPr>
            <a:r>
              <a:t>Applications in image recognition and natural language</a:t>
            </a:r>
          </a:p>
          <a:p>
            <a:pPr>
              <a:defRPr sz="2000">
                <a:solidFill>
                  <a:srgbClr val="444444"/>
                </a:solidFill>
              </a:defRPr>
            </a:pPr>
            <a:r>
              <a:t>Can learn complex patterns in data</a:t>
            </a:r>
          </a:p>
          <a:p>
            <a:pPr>
              <a:defRPr sz="2000">
                <a:solidFill>
                  <a:srgbClr val="444444"/>
                </a:solidFill>
              </a:defRPr>
            </a:pPr>
            <a:r>
              <a:t>Requires significant computational resources</a:t>
            </a:r>
          </a:p>
          <a:p>
            <a:pPr>
              <a:defRPr sz="2000">
                <a:solidFill>
                  <a:srgbClr val="444444"/>
                </a:solidFill>
              </a:defRPr>
            </a:pPr>
            <a:r>
              <a:t>Used in self-driving cars and facial recognition</a:t>
            </a:r>
          </a:p>
          <a:p>
            <a:pPr>
              <a:defRPr sz="2000">
                <a:solidFill>
                  <a:srgbClr val="444444"/>
                </a:solidFill>
              </a:defRPr>
            </a:pPr>
            <a:r>
              <a:t>Key to many recent AI advancements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Can learn from large amounts of data automatically</a:t>
            </a:r>
          </a:p>
          <a:p>
            <a:pPr>
              <a:defRPr sz="2000">
                <a:solidFill>
                  <a:srgbClr val="444444"/>
                </a:solidFill>
              </a:defRPr>
            </a:pPr>
            <a:r>
              <a:t>Makes predictions or decisions with high accuracy</a:t>
            </a:r>
          </a:p>
          <a:p>
            <a:pPr>
              <a:defRPr sz="2000">
                <a:solidFill>
                  <a:srgbClr val="444444"/>
                </a:solidFill>
              </a:defRPr>
            </a:pPr>
            <a:r>
              <a:t>Key applications include image recognition and speech</a:t>
            </a:r>
          </a:p>
          <a:p>
            <a:pPr>
              <a:defRPr sz="2000">
                <a:solidFill>
                  <a:srgbClr val="444444"/>
                </a:solidFill>
              </a:defRPr>
            </a:pPr>
            <a:r>
              <a:t>Deep learning models can be trained on various datasets</a:t>
            </a:r>
          </a:p>
          <a:p>
            <a:pPr>
              <a:defRPr sz="2000">
                <a:solidFill>
                  <a:srgbClr val="444444"/>
                </a:solidFill>
              </a:defRPr>
            </a:pPr>
            <a:r>
              <a:t>Requires significant computational power and resources</a:t>
            </a:r>
          </a:p>
          <a:p>
            <a:pPr>
              <a:defRPr sz="2000">
                <a:solidFill>
                  <a:srgbClr val="444444"/>
                </a:solidFill>
              </a:defRPr>
            </a:pPr>
            <a:r>
              <a:t>Enables automation of complex tasks and processes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neural networks in the human brain</a:t>
            </a:r>
          </a:p>
          <a:p>
            <a:pPr>
              <a:defRPr sz="2000">
                <a:solidFill>
                  <a:srgbClr val="444444"/>
                </a:solidFill>
              </a:defRPr>
            </a:pPr>
            <a:r>
              <a:t>Uses multiple layers to analyze complex data</a:t>
            </a:r>
          </a:p>
          <a:p>
            <a:pPr>
              <a:defRPr sz="2000">
                <a:solidFill>
                  <a:srgbClr val="444444"/>
                </a:solidFill>
              </a:defRPr>
            </a:pPr>
            <a:r>
              <a:t>Can learn from large datasets with minimal preprocessing</a:t>
            </a:r>
          </a:p>
          <a:p>
            <a:pPr>
              <a:defRPr sz="2000">
                <a:solidFill>
                  <a:srgbClr val="444444"/>
                </a:solidFill>
              </a:defRPr>
            </a:pPr>
            <a:r>
              <a:t>Key applications include image recognition and speech</a:t>
            </a:r>
          </a:p>
          <a:p>
            <a:pPr>
              <a:defRPr sz="2000">
                <a:solidFill>
                  <a:srgbClr val="444444"/>
                </a:solidFill>
              </a:defRPr>
            </a:pPr>
            <a:r>
              <a:t>Deep learning models are trained using backpropagation</a:t>
            </a:r>
          </a:p>
          <a:p>
            <a:pPr>
              <a:defRPr sz="2000">
                <a:solidFill>
                  <a:srgbClr val="444444"/>
                </a:solidFill>
              </a:defRPr>
            </a:pPr>
            <a:r>
              <a:t>Activation functions introduce non-linearity to models</a:t>
            </a:r>
          </a:p>
          <a:p>
            <a:pPr>
              <a:defRPr sz="2000">
                <a:solidFill>
                  <a:srgbClr val="444444"/>
                </a:solidFill>
              </a:defRPr>
            </a:pPr>
            <a:r>
              <a:t>Popular deep learning frameworks include TensorFlow</a:t>
            </a:r>
          </a:p>
          <a:p>
            <a:pPr>
              <a:defRPr sz="2000">
                <a:solidFill>
                  <a:srgbClr val="444444"/>
                </a:solidFill>
              </a:defRPr>
            </a:pPr>
            <a:r>
              <a:t>Deep learning has many real-world applications and uses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