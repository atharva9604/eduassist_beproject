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Deep Learning presentation covering multiple topics. Today we'll explore: RNNs, Deep Learning.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RNNs, explain the concept of sequential data and how RNNs process it. Provide examples of speech recognition and natural language processing. Discuss the basic RNN architecture and the challenges of vanishing gradients. Use the equation y = sigmoid(Wx + b) to illustrate the activation function. Ask students to consider how RNNs can be applied to real-world problems, such as time series forecasting and sentiment analysis. Key takeaways include understanding the strengths and limitations of RNNs and their applications in deep learning.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RNNs, emphasize their ability to handle sequential data and their internal state. Explain the concept of backpropagation through time and how it affects training. Provide examples of applications such as speech recognition and language modeling. Discuss the challenges of vanishing gradients and long-term dependencies. Ask students to consider how RNNs can be applied to real-world problems and what advantages they offer over other neural network architectures. Key takeaways should include understanding the basic architecture of RNNs and their limitations.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RNNs, emphasize their ability to handle sequential data and their application in speech recognition and language modeling. Explain the basic architecture, including input, output, and hidden layers. Discuss the challenge of vanishing gradients and how LSTM helps mitigate this issue. Provide examples of unidirectional and bidirectional RNNs and ask students to consider scenarios where each would be more appropriate. Key takeaways include understanding the role of feedback connections and the importance of addressing vanishing gradients in RNN design.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teaching this slide, start by introducing the concept of deep learning and its relation to machine learning. Provide examples of how deep learning is used in real-world applications, such as image recognition and speech analysis. Emphasize the importance of large datasets and computational resources in deep learning. Ask students to consider the potential applications and limitations of deep learning in various industries. Key takeaways include the concept of artificial neural networks, the importance of data and computing power, and the potential impact of deep learning on decision-making capabilities.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deep learning, explain that it's a type of machine learning that uses neural networks with multiple layers to learn from data. Provide examples of applications such as image recognition, speech recognition, and natural language processing. Ask students if they have any experience with machine learning or neural networks. Discuss the importance of large datasets and computational power in deep learning. Key takeaways include understanding the basics of deep learning and its applications, and recognizing the differences between deep learning and other machine learning methods.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discussing deep learning fundamentals, emphasize the inspiration from the human brain and the use of artificial neural networks. Explain that deep learning is a subset of machine learning and highlight its ability to learn complex patterns. Provide examples of applications such as image recognition, speech recognition, and natural language processing. Ask students to consider the limitations and challenges of deep learning, including the need for large datasets and significant computational resources. Key takeaways include understanding the concept of representation learning and the ability of deep learning models to automatically extract features from data.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Deep Learning</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RNNs, Deep Learning</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RNNs - Introduction</a:t>
            </a:r>
          </a:p>
        </p:txBody>
      </p:sp>
      <p:sp>
        <p:nvSpPr>
          <p:cNvPr id="3" name="Content Placeholder 2"/>
          <p:cNvSpPr>
            <a:spLocks noGrp="1"/>
          </p:cNvSpPr>
          <p:nvPr>
            <p:ph idx="1"/>
          </p:nvPr>
        </p:nvSpPr>
        <p:spPr/>
        <p:txBody>
          <a:bodyPr/>
          <a:lstStyle/>
          <a:p>
            <a:pPr>
              <a:defRPr sz="2000">
                <a:solidFill>
                  <a:srgbClr val="444444"/>
                </a:solidFill>
              </a:defRPr>
            </a:pPr>
            <a:r>
              <a:t>Recurrent Neural Networks process sequential data</a:t>
            </a:r>
          </a:p>
          <a:p>
            <a:pPr>
              <a:defRPr sz="2000">
                <a:solidFill>
                  <a:srgbClr val="444444"/>
                </a:solidFill>
              </a:defRPr>
            </a:pPr>
            <a:r>
              <a:t>RNNs have feedback connections for temporal relationships</a:t>
            </a:r>
          </a:p>
          <a:p>
            <a:pPr>
              <a:defRPr sz="2000">
                <a:solidFill>
                  <a:srgbClr val="444444"/>
                </a:solidFill>
              </a:defRPr>
            </a:pPr>
            <a:r>
              <a:t>Used for speech recognition and natural language processing</a:t>
            </a:r>
          </a:p>
          <a:p>
            <a:pPr>
              <a:defRPr sz="2000">
                <a:solidFill>
                  <a:srgbClr val="444444"/>
                </a:solidFill>
              </a:defRPr>
            </a:pPr>
            <a:r>
              <a:t>RNNs can learn from experience and improve over time</a:t>
            </a:r>
          </a:p>
          <a:p>
            <a:pPr>
              <a:defRPr sz="2000">
                <a:solidFill>
                  <a:srgbClr val="444444"/>
                </a:solidFill>
              </a:defRPr>
            </a:pPr>
            <a:r>
              <a:t>Basic RNN architecture consists of input, hidden, output layers</a:t>
            </a:r>
          </a:p>
          <a:p>
            <a:pPr>
              <a:defRPr sz="2000">
                <a:solidFill>
                  <a:srgbClr val="444444"/>
                </a:solidFill>
              </a:defRPr>
            </a:pPr>
            <a:r>
              <a:t>Vanishing gradients affect RNNs during backpropagation</a:t>
            </a:r>
          </a:p>
          <a:p>
            <a:pPr>
              <a:defRPr sz="2000">
                <a:solidFill>
                  <a:srgbClr val="444444"/>
                </a:solidFill>
              </a:defRPr>
            </a:pPr>
            <a:r>
              <a:t>RNNs are trained using backpropagation through time</a:t>
            </a:r>
          </a:p>
          <a:p>
            <a:pPr>
              <a:defRPr sz="2000">
                <a:solidFill>
                  <a:srgbClr val="444444"/>
                </a:solidFill>
              </a:defRPr>
            </a:pPr>
            <a:r>
              <a:t>Long Short-Term Memory networks address vanishing gradients</a:t>
            </a:r>
          </a:p>
          <a:p>
            <a:pPr>
              <a:defRPr sz="2000">
                <a:solidFill>
                  <a:srgbClr val="444444"/>
                </a:solidFill>
              </a:defRPr>
            </a:pPr>
            <a:r>
              <a:t>RNNs have applications in time series forecasting and prediction</a:t>
            </a:r>
          </a:p>
          <a:p>
            <a:pPr>
              <a:defRPr sz="2000">
                <a:solidFill>
                  <a:srgbClr val="444444"/>
                </a:solidFill>
              </a:defRPr>
            </a:pPr>
            <a:r>
              <a:t>RNNs can be used for sentiment analysis and text classification</a:t>
            </a:r>
          </a:p>
        </p:txBody>
      </p:sp>
      <p:pic>
        <p:nvPicPr>
          <p:cNvPr id="4" name="Picture 3" descr="efa08f9c96ae4c99afaa8e4d3587daf1_rnns_deep_learning_deep_learning_archite.jpg"/>
          <p:cNvPicPr>
            <a:picLocks noChangeAspect="1"/>
          </p:cNvPicPr>
          <p:nvPr/>
        </p:nvPicPr>
        <p:blipFill>
          <a:blip r:embed="rId2"/>
          <a:stretch>
            <a:fillRect/>
          </a:stretch>
        </p:blipFill>
        <p:spPr>
          <a:xfrm>
            <a:off x="7315200" y="1828800"/>
            <a:ext cx="4114800" cy="27432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RNNs - Introduction</a:t>
            </a:r>
          </a:p>
        </p:txBody>
      </p:sp>
      <p:sp>
        <p:nvSpPr>
          <p:cNvPr id="3" name="Content Placeholder 2"/>
          <p:cNvSpPr>
            <a:spLocks noGrp="1"/>
          </p:cNvSpPr>
          <p:nvPr>
            <p:ph idx="1"/>
          </p:nvPr>
        </p:nvSpPr>
        <p:spPr/>
        <p:txBody>
          <a:bodyPr/>
          <a:lstStyle/>
          <a:p>
            <a:pPr>
              <a:defRPr sz="2000">
                <a:solidFill>
                  <a:srgbClr val="444444"/>
                </a:solidFill>
              </a:defRPr>
            </a:pPr>
            <a:r>
              <a:t>Recurrent Neural Networks process sequential data</a:t>
            </a:r>
          </a:p>
          <a:p>
            <a:pPr>
              <a:defRPr sz="2000">
                <a:solidFill>
                  <a:srgbClr val="444444"/>
                </a:solidFill>
              </a:defRPr>
            </a:pPr>
            <a:r>
              <a:t>Use feedback connections to capture temporal relationships</a:t>
            </a:r>
          </a:p>
          <a:p>
            <a:pPr>
              <a:defRPr sz="2000">
                <a:solidFill>
                  <a:srgbClr val="444444"/>
                </a:solidFill>
              </a:defRPr>
            </a:pPr>
            <a:r>
              <a:t>Suitable for speech, text, time series data analysis</a:t>
            </a:r>
          </a:p>
          <a:p>
            <a:pPr>
              <a:defRPr sz="2000">
                <a:solidFill>
                  <a:srgbClr val="444444"/>
                </a:solidFill>
              </a:defRPr>
            </a:pPr>
            <a:r>
              <a:t>Trained using backpropagation through time algorithm</a:t>
            </a:r>
          </a:p>
          <a:p>
            <a:pPr>
              <a:defRPr sz="2000">
                <a:solidFill>
                  <a:srgbClr val="444444"/>
                </a:solidFill>
              </a:defRPr>
            </a:pPr>
            <a:r>
              <a:t>RNNs have internal state to store information</a:t>
            </a:r>
          </a:p>
          <a:p>
            <a:pPr>
              <a:defRPr sz="2000">
                <a:solidFill>
                  <a:srgbClr val="444444"/>
                </a:solidFill>
              </a:defRPr>
            </a:pPr>
            <a:r>
              <a:t>Vanishing gradients affect RNN training stability</a:t>
            </a:r>
          </a:p>
          <a:p>
            <a:pPr>
              <a:defRPr sz="2000">
                <a:solidFill>
                  <a:srgbClr val="444444"/>
                </a:solidFill>
              </a:defRPr>
            </a:pPr>
            <a:r>
              <a:t>Simple RNNs struggle with long-term dependencies</a:t>
            </a:r>
          </a:p>
          <a:p>
            <a:pPr>
              <a:defRPr sz="2000">
                <a:solidFill>
                  <a:srgbClr val="444444"/>
                </a:solidFill>
              </a:defRPr>
            </a:pPr>
            <a:r>
              <a:t>Used in language modeling, machine translation tasks</a:t>
            </a:r>
          </a:p>
          <a:p>
            <a:pPr>
              <a:defRPr sz="2000">
                <a:solidFill>
                  <a:srgbClr val="444444"/>
                </a:solidFill>
              </a:defRPr>
            </a:pPr>
            <a:r>
              <a:t>RNNs are basis for more complex models like LSTMs</a:t>
            </a:r>
          </a:p>
          <a:p>
            <a:pPr>
              <a:defRPr sz="2000">
                <a:solidFill>
                  <a:srgbClr val="444444"/>
                </a:solidFill>
              </a:defRPr>
            </a:pPr>
            <a:r>
              <a:t>Effective in handling variable-length input sequences</a:t>
            </a:r>
          </a:p>
        </p:txBody>
      </p:sp>
      <p:pic>
        <p:nvPicPr>
          <p:cNvPr id="4" name="Picture 3" descr="57fb650053ae43f5bed9605c5ed1e3ee.jpg"/>
          <p:cNvPicPr>
            <a:picLocks noChangeAspect="1"/>
          </p:cNvPicPr>
          <p:nvPr/>
        </p:nvPicPr>
        <p:blipFill>
          <a:blip r:embed="rId2"/>
          <a:stretch>
            <a:fillRect/>
          </a:stretch>
        </p:blipFill>
        <p:spPr>
          <a:xfrm>
            <a:off x="7315200" y="1828800"/>
            <a:ext cx="4114800" cy="1382233"/>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RNNs - Introduction</a:t>
            </a:r>
          </a:p>
        </p:txBody>
      </p:sp>
      <p:sp>
        <p:nvSpPr>
          <p:cNvPr id="3" name="Content Placeholder 2"/>
          <p:cNvSpPr>
            <a:spLocks noGrp="1"/>
          </p:cNvSpPr>
          <p:nvPr>
            <p:ph idx="1"/>
          </p:nvPr>
        </p:nvSpPr>
        <p:spPr/>
        <p:txBody>
          <a:bodyPr/>
          <a:lstStyle/>
          <a:p>
            <a:pPr>
              <a:defRPr sz="2000">
                <a:solidFill>
                  <a:srgbClr val="444444"/>
                </a:solidFill>
              </a:defRPr>
            </a:pPr>
            <a:r>
              <a:t>Recurrent Neural Networks process sequential data</a:t>
            </a:r>
          </a:p>
          <a:p>
            <a:pPr>
              <a:defRPr sz="2000">
                <a:solidFill>
                  <a:srgbClr val="444444"/>
                </a:solidFill>
              </a:defRPr>
            </a:pPr>
            <a:r>
              <a:t>RNNs have feedback connections, allowing memory</a:t>
            </a:r>
          </a:p>
          <a:p>
            <a:pPr>
              <a:defRPr sz="2000">
                <a:solidFill>
                  <a:srgbClr val="444444"/>
                </a:solidFill>
              </a:defRPr>
            </a:pPr>
            <a:r>
              <a:t>Used for speech recognition, language modeling</a:t>
            </a:r>
          </a:p>
          <a:p>
            <a:pPr>
              <a:defRPr sz="2000">
                <a:solidFill>
                  <a:srgbClr val="444444"/>
                </a:solidFill>
              </a:defRPr>
            </a:pPr>
            <a:r>
              <a:t>RNNs learn patterns in time series data</a:t>
            </a:r>
          </a:p>
          <a:p>
            <a:pPr>
              <a:defRPr sz="2000">
                <a:solidFill>
                  <a:srgbClr val="444444"/>
                </a:solidFill>
              </a:defRPr>
            </a:pPr>
            <a:r>
              <a:t>Input, output, and hidden layers are key</a:t>
            </a:r>
          </a:p>
          <a:p>
            <a:pPr>
              <a:defRPr sz="2000">
                <a:solidFill>
                  <a:srgbClr val="444444"/>
                </a:solidFill>
              </a:defRPr>
            </a:pPr>
            <a:r>
              <a:t>Backpropagation through time is used for training</a:t>
            </a:r>
          </a:p>
          <a:p>
            <a:pPr>
              <a:defRPr sz="2000">
                <a:solidFill>
                  <a:srgbClr val="444444"/>
                </a:solidFill>
              </a:defRPr>
            </a:pPr>
            <a:r>
              <a:t>Vanishing gradients affect RNN performance</a:t>
            </a:r>
          </a:p>
          <a:p>
            <a:pPr>
              <a:defRPr sz="2000">
                <a:solidFill>
                  <a:srgbClr val="444444"/>
                </a:solidFill>
              </a:defRPr>
            </a:pPr>
            <a:r>
              <a:t>Long Short-Term Memory solves this issue</a:t>
            </a:r>
          </a:p>
          <a:p>
            <a:pPr>
              <a:defRPr sz="2000">
                <a:solidFill>
                  <a:srgbClr val="444444"/>
                </a:solidFill>
              </a:defRPr>
            </a:pPr>
            <a:r>
              <a:t>RNNs can be unidirectional or bidirectional</a:t>
            </a:r>
          </a:p>
          <a:p>
            <a:pPr>
              <a:defRPr sz="2000">
                <a:solidFill>
                  <a:srgbClr val="444444"/>
                </a:solidFill>
              </a:defRPr>
            </a:pPr>
            <a:r>
              <a:t>Simple RNNs are foundation for more complex models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Deep Learning - Introduction</a:t>
            </a:r>
          </a:p>
        </p:txBody>
      </p:sp>
      <p:sp>
        <p:nvSpPr>
          <p:cNvPr id="3" name="Content Placeholder 2"/>
          <p:cNvSpPr>
            <a:spLocks noGrp="1"/>
          </p:cNvSpPr>
          <p:nvPr>
            <p:ph idx="1"/>
          </p:nvPr>
        </p:nvSpPr>
        <p:spPr/>
        <p:txBody>
          <a:bodyPr/>
          <a:lstStyle/>
          <a:p>
            <a:pPr>
              <a:defRPr sz="2000">
                <a:solidFill>
                  <a:srgbClr val="444444"/>
                </a:solidFill>
              </a:defRPr>
            </a:pPr>
            <a:r>
              <a:t>Deep learning is a subset of machine learning algorithms</a:t>
            </a:r>
          </a:p>
          <a:p>
            <a:pPr>
              <a:defRPr sz="2000">
                <a:solidFill>
                  <a:srgbClr val="444444"/>
                </a:solidFill>
              </a:defRPr>
            </a:pPr>
            <a:r>
              <a:t>Inspired by the structure and function of the brain</a:t>
            </a:r>
          </a:p>
          <a:p>
            <a:pPr>
              <a:defRPr sz="2000">
                <a:solidFill>
                  <a:srgbClr val="444444"/>
                </a:solidFill>
              </a:defRPr>
            </a:pPr>
            <a:r>
              <a:t>Uses artificial neural networks to analyze data</a:t>
            </a:r>
          </a:p>
          <a:p>
            <a:pPr>
              <a:defRPr sz="2000">
                <a:solidFill>
                  <a:srgbClr val="444444"/>
                </a:solidFill>
              </a:defRPr>
            </a:pPr>
            <a:r>
              <a:t>Enables computers to learn from experience</a:t>
            </a:r>
          </a:p>
          <a:p>
            <a:pPr>
              <a:defRPr sz="2000">
                <a:solidFill>
                  <a:srgbClr val="444444"/>
                </a:solidFill>
              </a:defRPr>
            </a:pPr>
            <a:r>
              <a:t>Improves performance with more data and computing power</a:t>
            </a:r>
          </a:p>
          <a:p>
            <a:pPr>
              <a:defRPr sz="2000">
                <a:solidFill>
                  <a:srgbClr val="444444"/>
                </a:solidFill>
              </a:defRPr>
            </a:pPr>
            <a:r>
              <a:t>Key applications include image recognition and speech analysis</a:t>
            </a:r>
          </a:p>
          <a:p>
            <a:pPr>
              <a:defRPr sz="2000">
                <a:solidFill>
                  <a:srgbClr val="444444"/>
                </a:solidFill>
              </a:defRPr>
            </a:pPr>
            <a:r>
              <a:t>Deep learning techniques include convolutional and recurrent networks</a:t>
            </a:r>
          </a:p>
          <a:p>
            <a:pPr>
              <a:defRPr sz="2000">
                <a:solidFill>
                  <a:srgbClr val="444444"/>
                </a:solidFill>
              </a:defRPr>
            </a:pPr>
            <a:r>
              <a:t>Requires large datasets and significant computational resources</a:t>
            </a:r>
          </a:p>
          <a:p>
            <a:pPr>
              <a:defRPr sz="2000">
                <a:solidFill>
                  <a:srgbClr val="444444"/>
                </a:solidFill>
              </a:defRPr>
            </a:pPr>
            <a:r>
              <a:t>Used in self-driving cars, facial recognition, and language translation</a:t>
            </a:r>
          </a:p>
          <a:p>
            <a:pPr>
              <a:defRPr sz="2000">
                <a:solidFill>
                  <a:srgbClr val="444444"/>
                </a:solidFill>
              </a:defRPr>
            </a:pPr>
            <a:r>
              <a:t>Enhances decision-making capabilities in various industries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Deep Learning - Introduction</a:t>
            </a:r>
          </a:p>
        </p:txBody>
      </p:sp>
      <p:sp>
        <p:nvSpPr>
          <p:cNvPr id="3" name="Content Placeholder 2"/>
          <p:cNvSpPr>
            <a:spLocks noGrp="1"/>
          </p:cNvSpPr>
          <p:nvPr>
            <p:ph idx="1"/>
          </p:nvPr>
        </p:nvSpPr>
        <p:spPr/>
        <p:txBody>
          <a:bodyPr/>
          <a:lstStyle/>
          <a:p>
            <a:pPr>
              <a:defRPr sz="2000">
                <a:solidFill>
                  <a:srgbClr val="444444"/>
                </a:solidFill>
              </a:defRPr>
            </a:pPr>
            <a:r>
              <a:t>Deep learning is a subset of machine learning methods</a:t>
            </a:r>
          </a:p>
          <a:p>
            <a:pPr>
              <a:defRPr sz="2000">
                <a:solidFill>
                  <a:srgbClr val="444444"/>
                </a:solidFill>
              </a:defRPr>
            </a:pPr>
            <a:r>
              <a:t>Inspired by the structure and function of the brain</a:t>
            </a:r>
          </a:p>
          <a:p>
            <a:pPr>
              <a:defRPr sz="2000">
                <a:solidFill>
                  <a:srgbClr val="444444"/>
                </a:solidFill>
              </a:defRPr>
            </a:pPr>
            <a:r>
              <a:t>Uses artificial neural networks with many layers</a:t>
            </a:r>
          </a:p>
          <a:p>
            <a:pPr>
              <a:defRPr sz="2000">
                <a:solidFill>
                  <a:srgbClr val="444444"/>
                </a:solidFill>
              </a:defRPr>
            </a:pPr>
            <a:r>
              <a:t>Enables computers to learn from data without programming</a:t>
            </a:r>
          </a:p>
          <a:p>
            <a:pPr>
              <a:defRPr sz="2000">
                <a:solidFill>
                  <a:srgbClr val="444444"/>
                </a:solidFill>
              </a:defRPr>
            </a:pPr>
            <a:r>
              <a:t>Can learn from large amounts of data automatically</a:t>
            </a:r>
          </a:p>
          <a:p>
            <a:pPr>
              <a:defRPr sz="2000">
                <a:solidFill>
                  <a:srgbClr val="444444"/>
                </a:solidFill>
              </a:defRPr>
            </a:pPr>
            <a:r>
              <a:t>Used in image and speech recognition applications</a:t>
            </a:r>
          </a:p>
          <a:p>
            <a:pPr>
              <a:defRPr sz="2000">
                <a:solidFill>
                  <a:srgbClr val="444444"/>
                </a:solidFill>
              </a:defRPr>
            </a:pPr>
            <a:r>
              <a:t>Requires significant computational power and data</a:t>
            </a:r>
          </a:p>
          <a:p>
            <a:pPr>
              <a:defRPr sz="2000">
                <a:solidFill>
                  <a:srgbClr val="444444"/>
                </a:solidFill>
              </a:defRPr>
            </a:pPr>
            <a:r>
              <a:t>Has many applications in industry and research</a:t>
            </a:r>
          </a:p>
          <a:p>
            <a:pPr>
              <a:defRPr sz="2000">
                <a:solidFill>
                  <a:srgbClr val="444444"/>
                </a:solidFill>
              </a:defRPr>
            </a:pPr>
            <a:r>
              <a:t>Includes techniques like convolutional and recurrent nets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Deep Learning - Fundamentals</a:t>
            </a:r>
          </a:p>
        </p:txBody>
      </p:sp>
      <p:sp>
        <p:nvSpPr>
          <p:cNvPr id="3" name="Content Placeholder 2"/>
          <p:cNvSpPr>
            <a:spLocks noGrp="1"/>
          </p:cNvSpPr>
          <p:nvPr>
            <p:ph idx="1"/>
          </p:nvPr>
        </p:nvSpPr>
        <p:spPr/>
        <p:txBody>
          <a:bodyPr/>
          <a:lstStyle/>
          <a:p>
            <a:pPr>
              <a:defRPr sz="2000">
                <a:solidFill>
                  <a:srgbClr val="444444"/>
                </a:solidFill>
              </a:defRPr>
            </a:pPr>
            <a:r>
              <a:t>Deep learning is a subset of machine learning methods</a:t>
            </a:r>
          </a:p>
          <a:p>
            <a:pPr>
              <a:defRPr sz="2000">
                <a:solidFill>
                  <a:srgbClr val="444444"/>
                </a:solidFill>
              </a:defRPr>
            </a:pPr>
            <a:r>
              <a:t>Inspired by structure and function of human brain</a:t>
            </a:r>
          </a:p>
          <a:p>
            <a:pPr>
              <a:defRPr sz="2000">
                <a:solidFill>
                  <a:srgbClr val="444444"/>
                </a:solidFill>
              </a:defRPr>
            </a:pPr>
            <a:r>
              <a:t>Uses artificial neural networks with multiple layers</a:t>
            </a:r>
          </a:p>
          <a:p>
            <a:pPr>
              <a:defRPr sz="2000">
                <a:solidFill>
                  <a:srgbClr val="444444"/>
                </a:solidFill>
              </a:defRPr>
            </a:pPr>
            <a:r>
              <a:t>Trained by minimizing loss function using backpropagation</a:t>
            </a:r>
          </a:p>
          <a:p>
            <a:pPr>
              <a:defRPr sz="2000">
                <a:solidFill>
                  <a:srgbClr val="444444"/>
                </a:solidFill>
              </a:defRPr>
            </a:pPr>
            <a:r>
              <a:t>Can learn complex patterns in large datasets</a:t>
            </a:r>
          </a:p>
          <a:p>
            <a:pPr>
              <a:defRPr sz="2000">
                <a:solidFill>
                  <a:srgbClr val="444444"/>
                </a:solidFill>
              </a:defRPr>
            </a:pPr>
            <a:r>
              <a:t>Applications in image and speech recognition</a:t>
            </a:r>
          </a:p>
          <a:p>
            <a:pPr>
              <a:defRPr sz="2000">
                <a:solidFill>
                  <a:srgbClr val="444444"/>
                </a:solidFill>
              </a:defRPr>
            </a:pPr>
            <a:r>
              <a:t>Requires significant computational resources and data</a:t>
            </a:r>
          </a:p>
          <a:p>
            <a:pPr>
              <a:defRPr sz="2000">
                <a:solidFill>
                  <a:srgbClr val="444444"/>
                </a:solidFill>
              </a:defRPr>
            </a:pPr>
            <a:r>
              <a:t>Key concept: representation learning and abstraction</a:t>
            </a:r>
          </a:p>
          <a:p>
            <a:pPr>
              <a:defRPr sz="2000">
                <a:solidFill>
                  <a:srgbClr val="444444"/>
                </a:solidFill>
              </a:defRPr>
            </a:pPr>
            <a:r>
              <a:t>Enables automatic feature extraction and learning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