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students to the topic of Deep Learning, specifically focusing on Recurrent Neural Networks. Ask students if they have any prior knowledge of neural networks or deep learning. Provide a brief overview of what will be covered in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that RNNs are designed to handle sequential data, such as speech or text. Provide examples of how RNNs are used in real-world applications, like language translation or speech recognition. Ask students to consider how RNNs could be used in their own projects or interests.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different variants of RNNs, including LSTMs and GRUs. Explain how these variants address the vanishing gradient problem. Provide examples of when to use each type of RNN. Ask students to consider how the different architectures could be applied to their own projects.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various applications of RNNs, including language modeling and speech recognition. Discuss the advantages and limitations of RNNs, such as their ability to handle sequential data and their potential for computational expense. Ask students to consider how RNNs could be used in their own projects or interests. Provide examples of real-world applications that use RNNs.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key points of the presentation, including the basics of RNNs, their variants, and their applications. Ask students to reflect on what they have learned and how they can apply it to their own projects or interests. Provide final thoughts on the importance of RNNs in deep learning and their potential for future development.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 RNNs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Recurrent Neural Networks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RNNs</a:t>
            </a:r>
          </a:p>
        </p:txBody>
      </p:sp>
      <p:sp>
        <p:nvSpPr>
          <p:cNvPr id="3" name="Content Placeholder 2"/>
          <p:cNvSpPr>
            <a:spLocks noGrp="1"/>
          </p:cNvSpPr>
          <p:nvPr>
            <p:ph idx="1"/>
          </p:nvPr>
        </p:nvSpPr>
        <p:spPr/>
        <p:txBody>
          <a:bodyPr/>
          <a:lstStyle/>
          <a:p>
            <a:pPr>
              <a:defRPr sz="2000">
                <a:solidFill>
                  <a:srgbClr val="444444"/>
                </a:solidFill>
              </a:defRPr>
            </a:pPr>
            <a:r>
              <a:t>RNNs handle sequential data</a:t>
            </a:r>
          </a:p>
          <a:p>
            <a:pPr>
              <a:defRPr sz="2000">
                <a:solidFill>
                  <a:srgbClr val="444444"/>
                </a:solidFill>
              </a:defRPr>
            </a:pPr>
            <a:r>
              <a:t>Used in language modeling and speech recognition</a:t>
            </a:r>
          </a:p>
          <a:p>
            <a:pPr>
              <a:defRPr sz="2000">
                <a:solidFill>
                  <a:srgbClr val="444444"/>
                </a:solidFill>
              </a:defRPr>
            </a:pPr>
            <a:r>
              <a:t>Can learn patterns in time series data</a:t>
            </a:r>
          </a:p>
          <a:p>
            <a:pPr>
              <a:defRPr sz="2000">
                <a:solidFill>
                  <a:srgbClr val="444444"/>
                </a:solidFill>
              </a:defRPr>
            </a:pPr>
            <a:r>
              <a:t>Effective for predicting future values</a:t>
            </a:r>
          </a:p>
          <a:p>
            <a:pPr>
              <a:defRPr sz="2000">
                <a:solidFill>
                  <a:srgbClr val="444444"/>
                </a:solidFill>
              </a:defRPr>
            </a:pPr>
            <a:r>
              <a:t>Can be trained using backpropagation</a:t>
            </a:r>
          </a:p>
          <a:p>
            <a:pPr>
              <a:defRPr sz="2000">
                <a:solidFill>
                  <a:srgbClr val="444444"/>
                </a:solidFill>
              </a:defRPr>
            </a:pPr>
            <a:r>
              <a:t>RNNs have feedback connections</a:t>
            </a:r>
          </a:p>
          <a:p>
            <a:pPr>
              <a:defRPr sz="2000">
                <a:solidFill>
                  <a:srgbClr val="444444"/>
                </a:solidFill>
              </a:defRPr>
            </a:pPr>
            <a:r>
              <a:t>Allowing information to loop back</a:t>
            </a:r>
          </a:p>
          <a:p>
            <a:pPr>
              <a:defRPr sz="2000">
                <a:solidFill>
                  <a:srgbClr val="444444"/>
                </a:solidFill>
              </a:defRPr>
            </a:pPr>
            <a:r>
              <a:t>Enabling the network to keep track of state</a:t>
            </a:r>
          </a:p>
          <a:p>
            <a:pPr>
              <a:defRPr sz="2000">
                <a:solidFill>
                  <a:srgbClr val="444444"/>
                </a:solidFill>
              </a:defRPr>
            </a:pPr>
            <a:r>
              <a:t>Over time, RNNs can learn complex patterns</a:t>
            </a:r>
          </a:p>
        </p:txBody>
      </p:sp>
      <p:pic>
        <p:nvPicPr>
          <p:cNvPr id="4" name="Picture 3" descr="1a13afa1cd6948f282e43556086c200c_rnns_deep_learning_overview.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Architecture</a:t>
            </a:r>
          </a:p>
        </p:txBody>
      </p:sp>
      <p:sp>
        <p:nvSpPr>
          <p:cNvPr id="3" name="Content Placeholder 2"/>
          <p:cNvSpPr>
            <a:spLocks noGrp="1"/>
          </p:cNvSpPr>
          <p:nvPr>
            <p:ph idx="1"/>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Variants and Equations</a:t>
            </a:r>
          </a:p>
        </p:txBody>
      </p:sp>
      <p:sp>
        <p:nvSpPr>
          <p:cNvPr id="3" name="Content Placeholder 2"/>
          <p:cNvSpPr>
            <a:spLocks noGrp="1"/>
          </p:cNvSpPr>
          <p:nvPr>
            <p:ph idx="1"/>
          </p:nvPr>
        </p:nvSpPr>
        <p:spPr/>
        <p:txBody>
          <a:bodyPr/>
          <a:lstStyle/>
          <a:p>
            <a:pPr>
              <a:defRPr sz="2000">
                <a:solidFill>
                  <a:srgbClr val="444444"/>
                </a:solidFill>
              </a:defRPr>
            </a:pPr>
            <a:r>
              <a:t>Simple RNNs: basic architecture</a:t>
            </a:r>
          </a:p>
          <a:p>
            <a:pPr>
              <a:defRPr sz="2000">
                <a:solidFill>
                  <a:srgbClr val="444444"/>
                </a:solidFill>
              </a:defRPr>
            </a:pPr>
            <a:r>
              <a:t>LSTMs: long short-term memory</a:t>
            </a:r>
          </a:p>
          <a:p>
            <a:pPr>
              <a:defRPr sz="2000">
                <a:solidFill>
                  <a:srgbClr val="444444"/>
                </a:solidFill>
              </a:defRPr>
            </a:pPr>
            <a:r>
              <a:t>GRUs: gated recurrent units</a:t>
            </a:r>
          </a:p>
          <a:p>
            <a:pPr>
              <a:defRPr sz="2000">
                <a:solidFill>
                  <a:srgbClr val="444444"/>
                </a:solidFill>
              </a:defRPr>
            </a:pPr>
            <a:r>
              <a:t>Bidirectional RNNs: handle both past and future</a:t>
            </a:r>
          </a:p>
          <a:p>
            <a:pPr>
              <a:defRPr sz="2000">
                <a:solidFill>
                  <a:srgbClr val="444444"/>
                </a:solidFill>
              </a:defRPr>
            </a:pPr>
            <a:r>
              <a:t>Equation: y_t = sigmoid(W*x_t + U*h_(t-1))</a:t>
            </a:r>
          </a:p>
          <a:p>
            <a:pPr>
              <a:defRPr sz="2000">
                <a:solidFill>
                  <a:srgbClr val="444444"/>
                </a:solidFill>
              </a:defRPr>
            </a:pPr>
            <a:r>
              <a:t>LSTMs use memory cells for better performance</a:t>
            </a:r>
          </a:p>
          <a:p>
            <a:pPr>
              <a:defRPr sz="2000">
                <a:solidFill>
                  <a:srgbClr val="444444"/>
                </a:solidFill>
              </a:defRPr>
            </a:pPr>
            <a:r>
              <a:t>GRUs use gates for better performance</a:t>
            </a:r>
          </a:p>
          <a:p>
            <a:pPr>
              <a:defRPr sz="2000">
                <a:solidFill>
                  <a:srgbClr val="444444"/>
                </a:solidFill>
              </a:defRPr>
            </a:pPr>
            <a:r>
              <a:t>Both LSTMs and GRUs reduce vanishing gradients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and Advantages/Limitations</a:t>
            </a:r>
          </a:p>
        </p:txBody>
      </p:sp>
      <p:sp>
        <p:nvSpPr>
          <p:cNvPr id="3" name="Content Placeholder 2"/>
          <p:cNvSpPr>
            <a:spLocks noGrp="1"/>
          </p:cNvSpPr>
          <p:nvPr>
            <p:ph idx="1"/>
          </p:nvPr>
        </p:nvSpPr>
        <p:spPr/>
        <p:txBody>
          <a:bodyPr/>
          <a:lstStyle/>
          <a:p>
            <a:pPr>
              <a:defRPr sz="2000">
                <a:solidFill>
                  <a:srgbClr val="444444"/>
                </a:solidFill>
              </a:defRPr>
            </a:pPr>
            <a:r>
              <a:t>Language modeling and translation</a:t>
            </a:r>
          </a:p>
          <a:p>
            <a:pPr>
              <a:defRPr sz="2000">
                <a:solidFill>
                  <a:srgbClr val="444444"/>
                </a:solidFill>
              </a:defRPr>
            </a:pPr>
            <a:r>
              <a:t>Speech recognition and synthesis</a:t>
            </a:r>
          </a:p>
          <a:p>
            <a:pPr>
              <a:defRPr sz="2000">
                <a:solidFill>
                  <a:srgbClr val="444444"/>
                </a:solidFill>
              </a:defRPr>
            </a:pPr>
            <a:r>
              <a:t>Time series forecasting and prediction</a:t>
            </a:r>
          </a:p>
          <a:p>
            <a:pPr>
              <a:defRPr sz="2000">
                <a:solidFill>
                  <a:srgbClr val="444444"/>
                </a:solidFill>
              </a:defRPr>
            </a:pPr>
            <a:r>
              <a:t>Advantage: handle sequential data</a:t>
            </a:r>
          </a:p>
          <a:p>
            <a:pPr>
              <a:defRPr sz="2000">
                <a:solidFill>
                  <a:srgbClr val="444444"/>
                </a:solidFill>
              </a:defRPr>
            </a:pPr>
            <a:r>
              <a:t>Limitation: can be computationally expensive</a:t>
            </a:r>
          </a:p>
          <a:p>
            <a:pPr>
              <a:defRPr sz="2000">
                <a:solidFill>
                  <a:srgbClr val="444444"/>
                </a:solidFill>
              </a:defRPr>
            </a:pPr>
            <a:r>
              <a:t>Advantage: can learn complex patterns</a:t>
            </a:r>
          </a:p>
          <a:p>
            <a:pPr>
              <a:defRPr sz="2000">
                <a:solidFill>
                  <a:srgbClr val="444444"/>
                </a:solidFill>
              </a:defRPr>
            </a:pPr>
            <a:r>
              <a:t>Limitation: can suffer from vanishing gradients</a:t>
            </a:r>
          </a:p>
          <a:p>
            <a:pPr>
              <a:defRPr sz="2000">
                <a:solidFill>
                  <a:srgbClr val="444444"/>
                </a:solidFill>
              </a:defRPr>
            </a:pPr>
            <a:r>
              <a:t>Used in many real-world applications</a:t>
            </a:r>
          </a:p>
          <a:p>
            <a:pPr>
              <a:defRPr sz="2000">
                <a:solidFill>
                  <a:srgbClr val="444444"/>
                </a:solidFill>
              </a:defRPr>
            </a:pPr>
            <a:r>
              <a:t>Including chatbots and virtual assistants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C00000"/>
                </a:solidFill>
              </a:defRPr>
            </a:pPr>
            <a:r>
              <a:t>Summary</a:t>
            </a:r>
          </a:p>
        </p:txBody>
      </p:sp>
      <p:sp>
        <p:nvSpPr>
          <p:cNvPr id="3" name="Content Placeholder 2"/>
          <p:cNvSpPr>
            <a:spLocks noGrp="1"/>
          </p:cNvSpPr>
          <p:nvPr>
            <p:ph idx="1"/>
          </p:nvPr>
        </p:nvSpPr>
        <p:spPr/>
        <p:txBody>
          <a:bodyPr/>
          <a:lstStyle/>
          <a:p>
            <a:pPr>
              <a:defRPr sz="2200" b="1">
                <a:solidFill>
                  <a:srgbClr val="1F497D"/>
                </a:solidFill>
              </a:defRPr>
            </a:pPr>
            <a:r>
              <a:t>RNNs handle sequential data</a:t>
            </a:r>
          </a:p>
          <a:p>
            <a:pPr>
              <a:defRPr sz="2200" b="1">
                <a:solidFill>
                  <a:srgbClr val="1F497D"/>
                </a:solidFill>
              </a:defRPr>
            </a:pPr>
            <a:r>
              <a:t>Simple RNNs: basic architecture</a:t>
            </a:r>
          </a:p>
          <a:p>
            <a:pPr>
              <a:defRPr sz="2200" b="1">
                <a:solidFill>
                  <a:srgbClr val="1F497D"/>
                </a:solidFill>
              </a:defRPr>
            </a:pPr>
            <a:r>
              <a:t>Language modeling and translation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