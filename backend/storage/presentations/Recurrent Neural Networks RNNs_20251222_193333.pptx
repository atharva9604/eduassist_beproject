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RNNs as a crucial component of deep learning, highlighting their ability to handle sequential data and temporal relationships. Explain how RNNs are inspired by the human brain and have numerous applications. Ask students to consider how RNNs can be used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RNN architecture, emphasizing the role of feedback connections and the hidden state. Show an image of the RNN architecture diagram and explain each component. Discuss how the simple structure of RNNs allows for complex pattern recognition and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dynamics of an RNN cell, using the equation h(t) = f(h(t-1), x(t)) to illustrate how the hidden state is updated. Discuss the role of activation functions and the introduction of non-linearity. Emphasize how the cell dynamics allow RNNs to learn complex patterns in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challenges of training RNNs and introduce backpropagation through time (BPTT) as a solution. Explain the importance of truncated BPTT, SGD, and mini-batch training. Emphasize the need for regularization techniques, such as dropout and early stopping, to prevent overfitting and improve training stability.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Highlight the diverse range of RNN applications, from speech and language processing to image and video analysis. Emphasize the importance of RNNs in real-world applications, such as chatbots, sentiment analysis, and financial prediction. Ask students to consider how RNNs can be used to improve existing products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problem of vanishing and exploding gradients in RNNs, highlighting the role of sigmoid and tanh functions. Discuss various techniques to mitigate this issue, such as gradient clipping, weight initialization, and batch normalization. Introduce GRUs and LSTMs as alternative RNN architectures that can help alleviate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LSTMs as a variant of RNNs that can learn long-term dependencies. Explain the role of memory cells and gates in controlling information flow. Discuss the advantages of LSTMs, including their ability to mitigate vanishing gradients and learn complex patterns. Highlight various applications of LSTMs, including speech, language, and music processing.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emphasizing the importance of RNNs in deep learning. Highlight the advantages of LSTMs and GRUs, and discuss the diverse range of RNN applications. Encourage students to continue exploring RNNs and their applications, and emphasize the need for ongoing research and development in this field.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Applications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Architecture</a:t>
            </a:r>
          </a:p>
        </p:txBody>
      </p:sp>
      <p:sp>
        <p:nvSpPr>
          <p:cNvPr id="3" name="Content Placeholder 2"/>
          <p:cNvSpPr>
            <a:spLocks noGrp="1"/>
          </p:cNvSpPr>
          <p:nvPr>
            <p:ph idx="1"/>
          </p:nvPr>
        </p:nvSpPr>
        <p:spPr/>
        <p:txBody>
          <a:bodyPr/>
          <a:lstStyle/>
          <a:p>
            <a:pPr>
              <a:defRPr sz="2000">
                <a:solidFill>
                  <a:srgbClr val="444444"/>
                </a:solidFill>
              </a:defRPr>
            </a:pPr>
            <a:r>
              <a:t>Feedback connections allow loops</a:t>
            </a:r>
          </a:p>
          <a:p>
            <a:pPr>
              <a:defRPr sz="2000">
                <a:solidFill>
                  <a:srgbClr val="444444"/>
                </a:solidFill>
              </a:defRPr>
            </a:pPr>
            <a:r>
              <a:t>Hidden state captures history</a:t>
            </a:r>
          </a:p>
          <a:p>
            <a:pPr>
              <a:defRPr sz="2000">
                <a:solidFill>
                  <a:srgbClr val="444444"/>
                </a:solidFill>
              </a:defRPr>
            </a:pPr>
            <a:r>
              <a:t>Input, output, and hidden layers</a:t>
            </a:r>
          </a:p>
          <a:p>
            <a:pPr>
              <a:defRPr sz="2000">
                <a:solidFill>
                  <a:srgbClr val="444444"/>
                </a:solidFill>
              </a:defRPr>
            </a:pPr>
            <a:r>
              <a:t>Simple, yet powerful structure</a:t>
            </a:r>
          </a:p>
          <a:p>
            <a:pPr>
              <a:defRPr sz="2000">
                <a:solidFill>
                  <a:srgbClr val="444444"/>
                </a:solidFill>
              </a:defRPr>
            </a:pPr>
            <a:r>
              <a:t>Image_query: RNN architecture diagram</a:t>
            </a:r>
          </a:p>
          <a:p>
            <a:pPr>
              <a:defRPr sz="2000">
                <a:solidFill>
                  <a:srgbClr val="444444"/>
                </a:solidFill>
              </a:defRPr>
            </a:pPr>
            <a:r>
              <a:t>Feedforward, feedback, and output</a:t>
            </a:r>
          </a:p>
          <a:p>
            <a:pPr>
              <a:defRPr sz="2000">
                <a:solidFill>
                  <a:srgbClr val="444444"/>
                </a:solidFill>
              </a:defRPr>
            </a:pPr>
            <a:r>
              <a:t>Recurrent connections enable memory</a:t>
            </a:r>
          </a:p>
          <a:p>
            <a:pPr>
              <a:defRPr sz="2000">
                <a:solidFill>
                  <a:srgbClr val="444444"/>
                </a:solidFill>
              </a:defRPr>
            </a:pPr>
            <a:r>
              <a:t>Activation functions introduce non-linearity</a:t>
            </a:r>
          </a:p>
          <a:p>
            <a:pPr>
              <a:defRPr sz="2000">
                <a:solidFill>
                  <a:srgbClr val="444444"/>
                </a:solidFill>
              </a:defRPr>
            </a:pPr>
            <a:r>
              <a:t>Backpropagation used for training</a:t>
            </a:r>
          </a:p>
        </p:txBody>
      </p:sp>
      <p:pic>
        <p:nvPicPr>
          <p:cNvPr id="4" name="Picture 3" descr="339291df35f542d2aee2cd5622fff16b_recurrent_neural_networks_rnns_deep_lear.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Cell Dynamics</a:t>
            </a:r>
          </a:p>
        </p:txBody>
      </p:sp>
      <p:sp>
        <p:nvSpPr>
          <p:cNvPr id="3" name="Content Placeholder 2"/>
          <p:cNvSpPr>
            <a:spLocks noGrp="1"/>
          </p:cNvSpPr>
          <p:nvPr>
            <p:ph idx="1"/>
          </p:nvPr>
        </p:nvSpPr>
        <p:spPr/>
        <p:txBody>
          <a:bodyPr/>
          <a:lstStyle/>
          <a:p>
            <a:pPr>
              <a:defRPr sz="2000">
                <a:solidFill>
                  <a:srgbClr val="444444"/>
                </a:solidFill>
              </a:defRPr>
            </a:pPr>
            <a:r>
              <a:t>h(t) = f(h(t-1), x(t))</a:t>
            </a:r>
          </a:p>
          <a:p>
            <a:pPr>
              <a:defRPr sz="2000">
                <a:solidFill>
                  <a:srgbClr val="444444"/>
                </a:solidFill>
              </a:defRPr>
            </a:pPr>
            <a:r>
              <a:t>Cell state updated at each step</a:t>
            </a:r>
          </a:p>
          <a:p>
            <a:pPr>
              <a:defRPr sz="2000">
                <a:solidFill>
                  <a:srgbClr val="444444"/>
                </a:solidFill>
              </a:defRPr>
            </a:pPr>
            <a:r>
              <a:t>Hidden state captures temporal info</a:t>
            </a:r>
          </a:p>
          <a:p>
            <a:pPr>
              <a:defRPr sz="2000">
                <a:solidFill>
                  <a:srgbClr val="444444"/>
                </a:solidFill>
              </a:defRPr>
            </a:pPr>
            <a:r>
              <a:t>Activation functions control output</a:t>
            </a:r>
          </a:p>
          <a:p>
            <a:pPr>
              <a:defRPr sz="2000">
                <a:solidFill>
                  <a:srgbClr val="444444"/>
                </a:solidFill>
              </a:defRPr>
            </a:pPr>
            <a:r>
              <a:t>Non-linearity introduced by sigmoid</a:t>
            </a:r>
          </a:p>
          <a:p>
            <a:pPr>
              <a:defRPr sz="2000">
                <a:solidFill>
                  <a:srgbClr val="444444"/>
                </a:solidFill>
              </a:defRPr>
            </a:pPr>
            <a:r>
              <a:t>Tanh function used for hidden state</a:t>
            </a:r>
          </a:p>
          <a:p>
            <a:pPr>
              <a:defRPr sz="2000">
                <a:solidFill>
                  <a:srgbClr val="444444"/>
                </a:solidFill>
              </a:defRPr>
            </a:pPr>
            <a:r>
              <a:t>Cell dynamics enable pattern learning</a:t>
            </a:r>
          </a:p>
          <a:p>
            <a:pPr>
              <a:defRPr sz="2000">
                <a:solidFill>
                  <a:srgbClr val="444444"/>
                </a:solidFill>
              </a:defRPr>
            </a:pPr>
            <a:r>
              <a:t>Internal state updated recursively</a:t>
            </a:r>
          </a:p>
          <a:p>
            <a:pPr>
              <a:defRPr sz="2000">
                <a:solidFill>
                  <a:srgbClr val="444444"/>
                </a:solidFill>
              </a:defRPr>
            </a:pPr>
            <a:r>
              <a:t>Enabling RNNs to learn sequences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RNNs</a:t>
            </a:r>
          </a:p>
        </p:txBody>
      </p:sp>
      <p:sp>
        <p:nvSpPr>
          <p:cNvPr id="3" name="Content Placeholder 2"/>
          <p:cNvSpPr>
            <a:spLocks noGrp="1"/>
          </p:cNvSpPr>
          <p:nvPr>
            <p:ph idx="1"/>
          </p:nvPr>
        </p:nvSpPr>
        <p:spPr/>
        <p:txBody>
          <a:bodyPr/>
          <a:lstStyle/>
          <a:p>
            <a:pPr>
              <a:defRPr sz="2000">
                <a:solidFill>
                  <a:srgbClr val="444444"/>
                </a:solidFill>
              </a:defRPr>
            </a:pPr>
            <a:r>
              <a:t>Backpropagation through time (BPTT)</a:t>
            </a:r>
          </a:p>
          <a:p>
            <a:pPr>
              <a:defRPr sz="2000">
                <a:solidFill>
                  <a:srgbClr val="444444"/>
                </a:solidFill>
              </a:defRPr>
            </a:pPr>
            <a:r>
              <a:t>Truncated BPTT for efficiency</a:t>
            </a:r>
          </a:p>
          <a:p>
            <a:pPr>
              <a:defRPr sz="2000">
                <a:solidFill>
                  <a:srgbClr val="444444"/>
                </a:solidFill>
              </a:defRPr>
            </a:pPr>
            <a:r>
              <a:t>Stochastic gradient descent (SGD)</a:t>
            </a:r>
          </a:p>
          <a:p>
            <a:pPr>
              <a:defRPr sz="2000">
                <a:solidFill>
                  <a:srgbClr val="444444"/>
                </a:solidFill>
              </a:defRPr>
            </a:pPr>
            <a:r>
              <a:t>Mini-batch training for stability</a:t>
            </a:r>
          </a:p>
          <a:p>
            <a:pPr>
              <a:defRPr sz="2000">
                <a:solidFill>
                  <a:srgbClr val="444444"/>
                </a:solidFill>
              </a:defRPr>
            </a:pPr>
            <a:r>
              <a:t>Regularization techniques used</a:t>
            </a:r>
          </a:p>
          <a:p>
            <a:pPr>
              <a:defRPr sz="2000">
                <a:solidFill>
                  <a:srgbClr val="444444"/>
                </a:solidFill>
              </a:defRPr>
            </a:pPr>
            <a:r>
              <a:t>Dropout prevents overfitting</a:t>
            </a:r>
          </a:p>
          <a:p>
            <a:pPr>
              <a:defRPr sz="2000">
                <a:solidFill>
                  <a:srgbClr val="444444"/>
                </a:solidFill>
              </a:defRPr>
            </a:pPr>
            <a:r>
              <a:t>Early stopping avoids overtraining</a:t>
            </a:r>
          </a:p>
          <a:p>
            <a:pPr>
              <a:defRPr sz="2000">
                <a:solidFill>
                  <a:srgbClr val="444444"/>
                </a:solidFill>
              </a:defRPr>
            </a:pPr>
            <a:r>
              <a:t>Learning rate scheduling improves convergence</a:t>
            </a:r>
          </a:p>
          <a:p>
            <a:pPr>
              <a:defRPr sz="2000">
                <a:solidFill>
                  <a:srgbClr val="444444"/>
                </a:solidFill>
              </a:defRPr>
            </a:pPr>
            <a:r>
              <a:t>Gradient clipping stabilizes 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 Applications</a:t>
            </a:r>
          </a:p>
        </p:txBody>
      </p:sp>
      <p:sp>
        <p:nvSpPr>
          <p:cNvPr id="3" name="Content Placeholder 2"/>
          <p:cNvSpPr>
            <a:spLocks noGrp="1"/>
          </p:cNvSpPr>
          <p:nvPr>
            <p:ph idx="1"/>
          </p:nvPr>
        </p:nvSpPr>
        <p:spPr/>
        <p:txBody>
          <a:bodyPr/>
          <a:lstStyle/>
          <a:p>
            <a:pPr>
              <a:defRPr sz="2000">
                <a:solidFill>
                  <a:srgbClr val="444444"/>
                </a:solidFill>
              </a:defRPr>
            </a:pPr>
            <a:r>
              <a:t>Speech recognition and synthesis</a:t>
            </a:r>
          </a:p>
          <a:p>
            <a:pPr>
              <a:defRPr sz="2000">
                <a:solidFill>
                  <a:srgbClr val="444444"/>
                </a:solidFill>
              </a:defRPr>
            </a:pPr>
            <a:r>
              <a:t>Natural language processing (NLP)</a:t>
            </a:r>
          </a:p>
          <a:p>
            <a:pPr>
              <a:defRPr sz="2000">
                <a:solidFill>
                  <a:srgbClr val="444444"/>
                </a:solidFill>
              </a:defRPr>
            </a:pPr>
            <a:r>
              <a:t>Time series forecasting and analysis</a:t>
            </a:r>
          </a:p>
          <a:p>
            <a:pPr>
              <a:defRPr sz="2000">
                <a:solidFill>
                  <a:srgbClr val="444444"/>
                </a:solidFill>
              </a:defRPr>
            </a:pPr>
            <a:r>
              <a:t>Image and video processing</a:t>
            </a:r>
          </a:p>
          <a:p>
            <a:pPr>
              <a:defRPr sz="2000">
                <a:solidFill>
                  <a:srgbClr val="444444"/>
                </a:solidFill>
              </a:defRPr>
            </a:pPr>
            <a:r>
              <a:t>Chatbots and dialogue systems</a:t>
            </a:r>
          </a:p>
          <a:p>
            <a:pPr>
              <a:defRPr sz="2000">
                <a:solidFill>
                  <a:srgbClr val="444444"/>
                </a:solidFill>
              </a:defRPr>
            </a:pPr>
            <a:r>
              <a:t>Sentiment analysis and opinion mining</a:t>
            </a:r>
          </a:p>
          <a:p>
            <a:pPr>
              <a:defRPr sz="2000">
                <a:solidFill>
                  <a:srgbClr val="444444"/>
                </a:solidFill>
              </a:defRPr>
            </a:pPr>
            <a:r>
              <a:t>Machine translation and localization</a:t>
            </a:r>
          </a:p>
          <a:p>
            <a:pPr>
              <a:defRPr sz="2000">
                <a:solidFill>
                  <a:srgbClr val="444444"/>
                </a:solidFill>
              </a:defRPr>
            </a:pPr>
            <a:r>
              <a:t>Recommendation systems and advertising</a:t>
            </a:r>
          </a:p>
          <a:p>
            <a:pPr>
              <a:defRPr sz="2000">
                <a:solidFill>
                  <a:srgbClr val="444444"/>
                </a:solidFill>
              </a:defRPr>
            </a:pPr>
            <a:r>
              <a:t>Financial prediction and portfolio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Vanishing/Exploding Gradients</a:t>
            </a:r>
          </a:p>
        </p:txBody>
      </p:sp>
      <p:sp>
        <p:nvSpPr>
          <p:cNvPr id="3" name="Content Placeholder 2"/>
          <p:cNvSpPr>
            <a:spLocks noGrp="1"/>
          </p:cNvSpPr>
          <p:nvPr>
            <p:ph idx="1"/>
          </p:nvPr>
        </p:nvSpPr>
        <p:spPr/>
        <p:txBody>
          <a:bodyPr/>
          <a:lstStyle/>
          <a:p>
            <a:pPr>
              <a:defRPr sz="2000">
                <a:solidFill>
                  <a:srgbClr val="444444"/>
                </a:solidFill>
              </a:defRPr>
            </a:pPr>
            <a:r>
              <a:t>Gradients vanish or explode</a:t>
            </a:r>
          </a:p>
          <a:p>
            <a:pPr>
              <a:defRPr sz="2000">
                <a:solidFill>
                  <a:srgbClr val="444444"/>
                </a:solidFill>
              </a:defRPr>
            </a:pPr>
            <a:r>
              <a:t>Causing training instability</a:t>
            </a:r>
          </a:p>
          <a:p>
            <a:pPr>
              <a:defRPr sz="2000">
                <a:solidFill>
                  <a:srgbClr val="444444"/>
                </a:solidFill>
              </a:defRPr>
            </a:pPr>
            <a:r>
              <a:t>Sigmoid and tanh functions contribute</a:t>
            </a:r>
          </a:p>
          <a:p>
            <a:pPr>
              <a:defRPr sz="2000">
                <a:solidFill>
                  <a:srgbClr val="444444"/>
                </a:solidFill>
              </a:defRPr>
            </a:pPr>
            <a:r>
              <a:t>Gradient clipping and normalization</a:t>
            </a:r>
          </a:p>
          <a:p>
            <a:pPr>
              <a:defRPr sz="2000">
                <a:solidFill>
                  <a:srgbClr val="444444"/>
                </a:solidFill>
              </a:defRPr>
            </a:pPr>
            <a:r>
              <a:t>Weight initialization techniques</a:t>
            </a:r>
          </a:p>
          <a:p>
            <a:pPr>
              <a:defRPr sz="2000">
                <a:solidFill>
                  <a:srgbClr val="444444"/>
                </a:solidFill>
              </a:defRPr>
            </a:pPr>
            <a:r>
              <a:t>Batch normalization and layer normalization</a:t>
            </a:r>
          </a:p>
          <a:p>
            <a:pPr>
              <a:defRPr sz="2000">
                <a:solidFill>
                  <a:srgbClr val="444444"/>
                </a:solidFill>
              </a:defRPr>
            </a:pPr>
            <a:r>
              <a:t>Residual connections and skip links</a:t>
            </a:r>
          </a:p>
          <a:p>
            <a:pPr>
              <a:defRPr sz="2000">
                <a:solidFill>
                  <a:srgbClr val="444444"/>
                </a:solidFill>
              </a:defRPr>
            </a:pPr>
            <a:r>
              <a:t>Gated recurrent units (GRUs) and LSTMs</a:t>
            </a:r>
          </a:p>
          <a:p>
            <a:pPr>
              <a:defRPr sz="2000">
                <a:solidFill>
                  <a:srgbClr val="444444"/>
                </a:solidFill>
              </a:defRPr>
            </a:pPr>
            <a:r>
              <a:t>Help mitigate vanishing/exploding gradients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Long Short-Term Memory (LSTM) Networks</a:t>
            </a:r>
          </a:p>
        </p:txBody>
      </p:sp>
      <p:sp>
        <p:nvSpPr>
          <p:cNvPr id="3" name="Content Placeholder 2"/>
          <p:cNvSpPr>
            <a:spLocks noGrp="1"/>
          </p:cNvSpPr>
          <p:nvPr>
            <p:ph idx="1"/>
          </p:nvPr>
        </p:nvSpPr>
        <p:spPr/>
        <p:txBody>
          <a:bodyPr/>
          <a:lstStyle/>
          <a:p>
            <a:pPr>
              <a:defRPr sz="2000">
                <a:solidFill>
                  <a:srgbClr val="444444"/>
                </a:solidFill>
              </a:defRPr>
            </a:pPr>
            <a:r>
              <a:t>LSTMs introduce memory cells</a:t>
            </a:r>
          </a:p>
          <a:p>
            <a:pPr>
              <a:defRPr sz="2000">
                <a:solidFill>
                  <a:srgbClr val="444444"/>
                </a:solidFill>
              </a:defRPr>
            </a:pPr>
            <a:r>
              <a:t>Gates control information flow</a:t>
            </a:r>
          </a:p>
          <a:p>
            <a:pPr>
              <a:defRPr sz="2000">
                <a:solidFill>
                  <a:srgbClr val="444444"/>
                </a:solidFill>
              </a:defRPr>
            </a:pPr>
            <a:r>
              <a:t>Input, output, and forget gates</a:t>
            </a:r>
          </a:p>
          <a:p>
            <a:pPr>
              <a:defRPr sz="2000">
                <a:solidFill>
                  <a:srgbClr val="444444"/>
                </a:solidFill>
              </a:defRPr>
            </a:pPr>
            <a:r>
              <a:t>Cell state updated through gates</a:t>
            </a:r>
          </a:p>
          <a:p>
            <a:pPr>
              <a:defRPr sz="2000">
                <a:solidFill>
                  <a:srgbClr val="444444"/>
                </a:solidFill>
              </a:defRPr>
            </a:pPr>
            <a:r>
              <a:t>LSTMs mitigate vanishing gradients</a:t>
            </a:r>
          </a:p>
          <a:p>
            <a:pPr>
              <a:defRPr sz="2000">
                <a:solidFill>
                  <a:srgbClr val="444444"/>
                </a:solidFill>
              </a:defRPr>
            </a:pPr>
            <a:r>
              <a:t>Enable learning long-term dependencies</a:t>
            </a:r>
          </a:p>
          <a:p>
            <a:pPr>
              <a:defRPr sz="2000">
                <a:solidFill>
                  <a:srgbClr val="444444"/>
                </a:solidFill>
              </a:defRPr>
            </a:pPr>
            <a:r>
              <a:t>Used in speech, language, and music</a:t>
            </a:r>
          </a:p>
          <a:p>
            <a:pPr>
              <a:defRPr sz="2000">
                <a:solidFill>
                  <a:srgbClr val="444444"/>
                </a:solidFill>
              </a:defRPr>
            </a:pPr>
            <a:r>
              <a:t>LSTM variants: peephole, coupled</a:t>
            </a:r>
          </a:p>
          <a:p>
            <a:pPr>
              <a:defRPr sz="2000">
                <a:solidFill>
                  <a:srgbClr val="444444"/>
                </a:solidFill>
              </a:defRPr>
            </a:pPr>
            <a:r>
              <a:t>Bidirectional LSTMs for sequence tagging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Conclusion</a:t>
            </a:r>
          </a:p>
        </p:txBody>
      </p:sp>
      <p:sp>
        <p:nvSpPr>
          <p:cNvPr id="3" name="Content Placeholder 2"/>
          <p:cNvSpPr>
            <a:spLocks noGrp="1"/>
          </p:cNvSpPr>
          <p:nvPr>
            <p:ph idx="1"/>
          </p:nvPr>
        </p:nvSpPr>
        <p:spPr/>
        <p:txBody>
          <a:bodyPr/>
          <a:lstStyle/>
          <a:p>
            <a:pPr>
              <a:defRPr sz="2000">
                <a:solidFill>
                  <a:srgbClr val="444444"/>
                </a:solidFill>
              </a:defRPr>
            </a:pPr>
            <a:r>
              <a:t>RNNs process sequential data</a:t>
            </a:r>
          </a:p>
          <a:p>
            <a:pPr>
              <a:defRPr sz="2000">
                <a:solidFill>
                  <a:srgbClr val="444444"/>
                </a:solidFill>
              </a:defRPr>
            </a:pPr>
            <a:r>
              <a:t>Capture temporal relationships</a:t>
            </a:r>
          </a:p>
          <a:p>
            <a:pPr>
              <a:defRPr sz="2000">
                <a:solidFill>
                  <a:srgbClr val="444444"/>
                </a:solidFill>
              </a:defRPr>
            </a:pPr>
            <a:r>
              <a:t>Enable dynamic input/output</a:t>
            </a:r>
          </a:p>
          <a:p>
            <a:pPr>
              <a:defRPr sz="2000">
                <a:solidFill>
                  <a:srgbClr val="444444"/>
                </a:solidFill>
              </a:defRPr>
            </a:pPr>
            <a:r>
              <a:t>LSTMs and GRUs improve performance</a:t>
            </a:r>
          </a:p>
          <a:p>
            <a:pPr>
              <a:defRPr sz="2000">
                <a:solidFill>
                  <a:srgbClr val="444444"/>
                </a:solidFill>
              </a:defRPr>
            </a:pPr>
            <a:r>
              <a:t>RNNs have numerous applications</a:t>
            </a:r>
          </a:p>
          <a:p>
            <a:pPr>
              <a:defRPr sz="2000">
                <a:solidFill>
                  <a:srgbClr val="444444"/>
                </a:solidFill>
              </a:defRPr>
            </a:pPr>
            <a:r>
              <a:t>From speech to image processing</a:t>
            </a:r>
          </a:p>
          <a:p>
            <a:pPr>
              <a:defRPr sz="2000">
                <a:solidFill>
                  <a:srgbClr val="444444"/>
                </a:solidFill>
              </a:defRPr>
            </a:pPr>
            <a:r>
              <a:t>Real-world applications abound</a:t>
            </a:r>
          </a:p>
          <a:p>
            <a:pPr>
              <a:defRPr sz="2000">
                <a:solidFill>
                  <a:srgbClr val="444444"/>
                </a:solidFill>
              </a:defRPr>
            </a:pPr>
            <a:r>
              <a:t>RNNs are a fundamental deep learning</a:t>
            </a:r>
          </a:p>
          <a:p>
            <a:pPr>
              <a:defRPr sz="2000">
                <a:solidFill>
                  <a:srgbClr val="444444"/>
                </a:solidFill>
              </a:defRPr>
            </a:pPr>
            <a:r>
              <a:t>Continued research and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