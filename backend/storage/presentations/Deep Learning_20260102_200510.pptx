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CNNs.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basics of CNNs, their inspiration, and primary uses. Provide examples of applications and ask students to think about how CNNs can be used in real-world scenarios.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convolution operation in detail, including how it works and its importance in CNNs. Provide examples of how convolution can be used in different scenarios.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purpose and types of pooling layers, including max and average pooling. Discuss how pooling layers can help to reduce the spatial dimensions of the data and increase the robustness of the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a typical CNN architecture, including the different types of layers and their purposes. Discuss the importance of activation functions and how they can be used in different layers.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various applications of CNNs, including computer vision, natural language processing, and robotics. Provide examples of how CNNs can be used in different scenarios and ask students to think about potential future applications.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Convolutional Neural Networks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CNNs</a:t>
            </a:r>
          </a:p>
        </p:txBody>
      </p:sp>
      <p:sp>
        <p:nvSpPr>
          <p:cNvPr id="3" name="Content Placeholder 2"/>
          <p:cNvSpPr>
            <a:spLocks noGrp="1"/>
          </p:cNvSpPr>
          <p:nvPr>
            <p:ph idx="1"/>
          </p:nvPr>
        </p:nvSpPr>
        <p:spPr/>
        <p:txBody>
          <a:bodyPr/>
          <a:lstStyle/>
          <a:p>
            <a:pPr>
              <a:defRPr sz="2000">
                <a:solidFill>
                  <a:srgbClr val="444444"/>
                </a:solidFill>
              </a:defRPr>
            </a:pPr>
            <a:r>
              <a:t>Convolutional Neural Networks are deep learning models</a:t>
            </a:r>
          </a:p>
          <a:p>
            <a:pPr>
              <a:defRPr sz="2000">
                <a:solidFill>
                  <a:srgbClr val="444444"/>
                </a:solidFill>
              </a:defRPr>
            </a:pPr>
            <a:r>
              <a:t>Inspired by the structure and function of the brain</a:t>
            </a:r>
          </a:p>
          <a:p>
            <a:pPr>
              <a:defRPr sz="2000">
                <a:solidFill>
                  <a:srgbClr val="444444"/>
                </a:solidFill>
              </a:defRPr>
            </a:pPr>
            <a:r>
              <a:t>Primarily used for image and video processing</a:t>
            </a:r>
          </a:p>
          <a:p>
            <a:pPr>
              <a:defRPr sz="2000">
                <a:solidFill>
                  <a:srgbClr val="444444"/>
                </a:solidFill>
              </a:defRPr>
            </a:pPr>
            <a:r>
              <a:t>Can learn features and patterns automatically</a:t>
            </a:r>
          </a:p>
          <a:p>
            <a:pPr>
              <a:defRPr sz="2000">
                <a:solidFill>
                  <a:srgbClr val="444444"/>
                </a:solidFill>
              </a:defRPr>
            </a:pPr>
            <a:r>
              <a:t>Used in various applications like self-driving cars</a:t>
            </a:r>
          </a:p>
          <a:p>
            <a:pPr>
              <a:defRPr sz="2000">
                <a:solidFill>
                  <a:srgbClr val="444444"/>
                </a:solidFill>
              </a:defRPr>
            </a:pPr>
            <a:r>
              <a:t>Image classification and object detection</a:t>
            </a:r>
          </a:p>
          <a:p>
            <a:pPr>
              <a:defRPr sz="2000">
                <a:solidFill>
                  <a:srgbClr val="444444"/>
                </a:solidFill>
              </a:defRPr>
            </a:pPr>
            <a:r>
              <a:t>Segmentation and generation of images</a:t>
            </a:r>
          </a:p>
          <a:p>
            <a:pPr>
              <a:defRPr sz="2000">
                <a:solidFill>
                  <a:srgbClr val="444444"/>
                </a:solidFill>
              </a:defRPr>
            </a:pPr>
            <a:r>
              <a:t>CNNs have many layers and parameters</a:t>
            </a:r>
          </a:p>
          <a:p>
            <a:pPr>
              <a:defRPr sz="2000">
                <a:solidFill>
                  <a:srgbClr val="444444"/>
                </a:solidFill>
              </a:defRPr>
            </a:pPr>
            <a:r>
              <a:t>Require large datasets for training</a:t>
            </a:r>
          </a:p>
        </p:txBody>
      </p:sp>
      <p:pic>
        <p:nvPicPr>
          <p:cNvPr id="4" name="Picture 3" descr="ead1956f9d7c48bbb45900aca6d8a14b.jpg"/>
          <p:cNvPicPr>
            <a:picLocks noChangeAspect="1"/>
          </p:cNvPicPr>
          <p:nvPr/>
        </p:nvPicPr>
        <p:blipFill>
          <a:blip r:embed="rId2"/>
          <a:stretch>
            <a:fillRect/>
          </a:stretch>
        </p:blipFill>
        <p:spPr>
          <a:xfrm>
            <a:off x="7315200" y="1828800"/>
            <a:ext cx="4114800" cy="288650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a:t>
            </a:r>
          </a:p>
        </p:txBody>
      </p:sp>
      <p:sp>
        <p:nvSpPr>
          <p:cNvPr id="3" name="Content Placeholder 2"/>
          <p:cNvSpPr>
            <a:spLocks noGrp="1"/>
          </p:cNvSpPr>
          <p:nvPr>
            <p:ph idx="1"/>
          </p:nvPr>
        </p:nvSpPr>
        <p:spPr/>
        <p:txBody>
          <a:bodyPr/>
          <a:lstStyle/>
          <a:p>
            <a:pPr>
              <a:defRPr sz="2000">
                <a:solidFill>
                  <a:srgbClr val="444444"/>
                </a:solidFill>
              </a:defRPr>
            </a:pPr>
            <a:r>
              <a:t>Convolution operation is a key component of CNNs</a:t>
            </a:r>
          </a:p>
          <a:p>
            <a:pPr>
              <a:defRPr sz="2000">
                <a:solidFill>
                  <a:srgbClr val="444444"/>
                </a:solidFill>
              </a:defRPr>
            </a:pPr>
            <a:r>
              <a:t>Involves sliding a filter over the input data</a:t>
            </a:r>
          </a:p>
          <a:p>
            <a:pPr>
              <a:defRPr sz="2000">
                <a:solidFill>
                  <a:srgbClr val="444444"/>
                </a:solidFill>
              </a:defRPr>
            </a:pPr>
            <a:r>
              <a:t>Element-wise multiplication and summing of values</a:t>
            </a:r>
          </a:p>
          <a:p>
            <a:pPr>
              <a:defRPr sz="2000">
                <a:solidFill>
                  <a:srgbClr val="444444"/>
                </a:solidFill>
              </a:defRPr>
            </a:pPr>
            <a:r>
              <a:t>Convolution helps to extract local features</a:t>
            </a:r>
          </a:p>
          <a:p>
            <a:pPr>
              <a:defRPr sz="2000">
                <a:solidFill>
                  <a:srgbClr val="444444"/>
                </a:solidFill>
              </a:defRPr>
            </a:pPr>
            <a:r>
              <a:t>Can be used for image and signal processing</a:t>
            </a:r>
          </a:p>
          <a:p>
            <a:pPr>
              <a:defRPr sz="2000">
                <a:solidFill>
                  <a:srgbClr val="444444"/>
                </a:solidFill>
              </a:defRPr>
            </a:pPr>
            <a:r>
              <a:t>Filters can be learned during the training process</a:t>
            </a:r>
          </a:p>
          <a:p>
            <a:pPr>
              <a:defRPr sz="2000">
                <a:solidFill>
                  <a:srgbClr val="444444"/>
                </a:solidFill>
              </a:defRPr>
            </a:pPr>
            <a:r>
              <a:t>Convolution operation can be performed in 1D or 2D</a:t>
            </a:r>
          </a:p>
          <a:p>
            <a:pPr>
              <a:defRPr sz="2000">
                <a:solidFill>
                  <a:srgbClr val="444444"/>
                </a:solidFill>
              </a:defRPr>
            </a:pPr>
            <a:r>
              <a:t>Used in various layers of a CNN</a:t>
            </a:r>
          </a:p>
          <a:p>
            <a:pPr>
              <a:defRPr sz="2000">
                <a:solidFill>
                  <a:srgbClr val="444444"/>
                </a:solidFill>
              </a:defRPr>
            </a:pPr>
            <a:r>
              <a:t>Helps to reduce the spatial dimensions of data</a:t>
            </a:r>
          </a:p>
        </p:txBody>
      </p:sp>
      <p:pic>
        <p:nvPicPr>
          <p:cNvPr id="4" name="Picture 3" descr="beed04c13e6c4fd0a7437dda60ede93a.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Pooling Layers</a:t>
            </a:r>
          </a:p>
        </p:txBody>
      </p:sp>
      <p:sp>
        <p:nvSpPr>
          <p:cNvPr id="3" name="Content Placeholder 2"/>
          <p:cNvSpPr>
            <a:spLocks noGrp="1"/>
          </p:cNvSpPr>
          <p:nvPr>
            <p:ph idx="1"/>
          </p:nvPr>
        </p:nvSpPr>
        <p:spPr/>
        <p:txBody>
          <a:bodyPr/>
          <a:lstStyle/>
          <a:p>
            <a:pPr>
              <a:defRPr sz="2000">
                <a:solidFill>
                  <a:srgbClr val="444444"/>
                </a:solidFill>
              </a:defRPr>
            </a:pPr>
            <a:r>
              <a:t>Pooling layers are used to downsample the data</a:t>
            </a:r>
          </a:p>
          <a:p>
            <a:pPr>
              <a:defRPr sz="2000">
                <a:solidFill>
                  <a:srgbClr val="444444"/>
                </a:solidFill>
              </a:defRPr>
            </a:pPr>
            <a:r>
              <a:t>Help to reduce the spatial dimensions of the data</a:t>
            </a:r>
          </a:p>
          <a:p>
            <a:pPr>
              <a:defRPr sz="2000">
                <a:solidFill>
                  <a:srgbClr val="444444"/>
                </a:solidFill>
              </a:defRPr>
            </a:pPr>
            <a:r>
              <a:t>Can be used to reduce the number of parameters</a:t>
            </a:r>
          </a:p>
          <a:p>
            <a:pPr>
              <a:defRPr sz="2000">
                <a:solidFill>
                  <a:srgbClr val="444444"/>
                </a:solidFill>
              </a:defRPr>
            </a:pPr>
            <a:r>
              <a:t>Max pooling is a common type of pooling layer</a:t>
            </a:r>
          </a:p>
          <a:p>
            <a:pPr>
              <a:defRPr sz="2000">
                <a:solidFill>
                  <a:srgbClr val="444444"/>
                </a:solidFill>
              </a:defRPr>
            </a:pPr>
            <a:r>
              <a:t>Average pooling can also be used</a:t>
            </a:r>
          </a:p>
          <a:p>
            <a:pPr>
              <a:defRPr sz="2000">
                <a:solidFill>
                  <a:srgbClr val="444444"/>
                </a:solidFill>
              </a:defRPr>
            </a:pPr>
            <a:r>
              <a:t>Pooling layers help to increase the robustness</a:t>
            </a:r>
          </a:p>
          <a:p>
            <a:pPr>
              <a:defRPr sz="2000">
                <a:solidFill>
                  <a:srgbClr val="444444"/>
                </a:solidFill>
              </a:defRPr>
            </a:pPr>
            <a:r>
              <a:t>Of the model to small transformations</a:t>
            </a:r>
          </a:p>
          <a:p>
            <a:pPr>
              <a:defRPr sz="2000">
                <a:solidFill>
                  <a:srgbClr val="444444"/>
                </a:solidFill>
              </a:defRPr>
            </a:pPr>
            <a:r>
              <a:t>Can be used in conjunction with convolution layers</a:t>
            </a:r>
          </a:p>
          <a:p>
            <a:pPr>
              <a:defRPr sz="2000">
                <a:solidFill>
                  <a:srgbClr val="444444"/>
                </a:solidFill>
              </a:defRPr>
            </a:pPr>
            <a:r>
              <a:t>Help to extract more abstract features</a:t>
            </a:r>
          </a:p>
        </p:txBody>
      </p:sp>
      <p:pic>
        <p:nvPicPr>
          <p:cNvPr id="4" name="Picture 3" descr="0e1b39cf1e46456ba6aa76c6741b95f1.jpg"/>
          <p:cNvPicPr>
            <a:picLocks noChangeAspect="1"/>
          </p:cNvPicPr>
          <p:nvPr/>
        </p:nvPicPr>
        <p:blipFill>
          <a:blip r:embed="rId2"/>
          <a:stretch>
            <a:fillRect/>
          </a:stretch>
        </p:blipFill>
        <p:spPr>
          <a:xfrm>
            <a:off x="7315200" y="1828800"/>
            <a:ext cx="4114800" cy="409651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 Architecture Example</a:t>
            </a:r>
          </a:p>
        </p:txBody>
      </p:sp>
      <p:sp>
        <p:nvSpPr>
          <p:cNvPr id="3" name="Content Placeholder 2"/>
          <p:cNvSpPr>
            <a:spLocks noGrp="1"/>
          </p:cNvSpPr>
          <p:nvPr>
            <p:ph idx="1"/>
          </p:nvPr>
        </p:nvSpPr>
        <p:spPr/>
        <p:txBody>
          <a:bodyPr/>
          <a:lstStyle/>
          <a:p>
            <a:pPr>
              <a:defRPr sz="2000">
                <a:solidFill>
                  <a:srgbClr val="444444"/>
                </a:solidFill>
              </a:defRPr>
            </a:pPr>
            <a:r>
              <a:t>A typical CNN architecture consists of multiple layers</a:t>
            </a:r>
          </a:p>
          <a:p>
            <a:pPr>
              <a:defRPr sz="2000">
                <a:solidFill>
                  <a:srgbClr val="444444"/>
                </a:solidFill>
              </a:defRPr>
            </a:pPr>
            <a:r>
              <a:t>Convolution and pooling layers are used</a:t>
            </a:r>
          </a:p>
          <a:p>
            <a:pPr>
              <a:defRPr sz="2000">
                <a:solidFill>
                  <a:srgbClr val="444444"/>
                </a:solidFill>
              </a:defRPr>
            </a:pPr>
            <a:r>
              <a:t>Flattening layer is used to flatten the data</a:t>
            </a:r>
          </a:p>
          <a:p>
            <a:pPr>
              <a:defRPr sz="2000">
                <a:solidFill>
                  <a:srgbClr val="444444"/>
                </a:solidFill>
              </a:defRPr>
            </a:pPr>
            <a:r>
              <a:t>Dense layers are used for classification</a:t>
            </a:r>
          </a:p>
          <a:p>
            <a:pPr>
              <a:defRPr sz="2000">
                <a:solidFill>
                  <a:srgbClr val="444444"/>
                </a:solidFill>
              </a:defRPr>
            </a:pPr>
            <a:r>
              <a:t>Activation functions are used in each layer</a:t>
            </a:r>
          </a:p>
          <a:p>
            <a:pPr>
              <a:defRPr sz="2000">
                <a:solidFill>
                  <a:srgbClr val="444444"/>
                </a:solidFill>
              </a:defRPr>
            </a:pPr>
            <a:r>
              <a:t>ReLU and softmax are common activation functions</a:t>
            </a:r>
          </a:p>
          <a:p>
            <a:pPr>
              <a:defRPr sz="2000">
                <a:solidFill>
                  <a:srgbClr val="444444"/>
                </a:solidFill>
              </a:defRPr>
            </a:pPr>
            <a:r>
              <a:t>Batch normalization can be used to normalize</a:t>
            </a:r>
          </a:p>
          <a:p>
            <a:pPr>
              <a:defRPr sz="2000">
                <a:solidFill>
                  <a:srgbClr val="444444"/>
                </a:solidFill>
              </a:defRPr>
            </a:pPr>
            <a:r>
              <a:t>The input data for each layer</a:t>
            </a:r>
          </a:p>
          <a:p>
            <a:pPr>
              <a:defRPr sz="2000">
                <a:solidFill>
                  <a:srgbClr val="444444"/>
                </a:solidFill>
              </a:defRPr>
            </a:pPr>
            <a:r>
              <a:t>Dropout can be used to prevent overfitting</a:t>
            </a:r>
          </a:p>
        </p:txBody>
      </p:sp>
      <p:pic>
        <p:nvPicPr>
          <p:cNvPr id="4" name="Picture 3" descr="c58ce7040fab407b8d2c1c48211d41a3.png"/>
          <p:cNvPicPr>
            <a:picLocks noChangeAspect="1"/>
          </p:cNvPicPr>
          <p:nvPr/>
        </p:nvPicPr>
        <p:blipFill>
          <a:blip r:embed="rId2"/>
          <a:stretch>
            <a:fillRect/>
          </a:stretch>
        </p:blipFill>
        <p:spPr>
          <a:xfrm>
            <a:off x="7315200" y="1828800"/>
            <a:ext cx="4114800" cy="518464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of CNNs</a:t>
            </a:r>
          </a:p>
        </p:txBody>
      </p:sp>
      <p:sp>
        <p:nvSpPr>
          <p:cNvPr id="3" name="Content Placeholder 2"/>
          <p:cNvSpPr>
            <a:spLocks noGrp="1"/>
          </p:cNvSpPr>
          <p:nvPr>
            <p:ph idx="1"/>
          </p:nvPr>
        </p:nvSpPr>
        <p:spPr/>
        <p:txBody>
          <a:bodyPr/>
          <a:lstStyle/>
          <a:p>
            <a:pPr>
              <a:defRPr sz="2000">
                <a:solidFill>
                  <a:srgbClr val="444444"/>
                </a:solidFill>
              </a:defRPr>
            </a:pPr>
            <a:r>
              <a:t>CNNs have many applications in computer vision</a:t>
            </a:r>
          </a:p>
          <a:p>
            <a:pPr>
              <a:defRPr sz="2000">
                <a:solidFill>
                  <a:srgbClr val="444444"/>
                </a:solidFill>
              </a:defRPr>
            </a:pPr>
            <a:r>
              <a:t>Image classification and object detection</a:t>
            </a:r>
          </a:p>
          <a:p>
            <a:pPr>
              <a:defRPr sz="2000">
                <a:solidFill>
                  <a:srgbClr val="444444"/>
                </a:solidFill>
              </a:defRPr>
            </a:pPr>
            <a:r>
              <a:t>Segmentation and generation of images</a:t>
            </a:r>
          </a:p>
          <a:p>
            <a:pPr>
              <a:defRPr sz="2000">
                <a:solidFill>
                  <a:srgbClr val="444444"/>
                </a:solidFill>
              </a:defRPr>
            </a:pPr>
            <a:r>
              <a:t>Self-driving cars use CNNs for navigation</a:t>
            </a:r>
          </a:p>
          <a:p>
            <a:pPr>
              <a:defRPr sz="2000">
                <a:solidFill>
                  <a:srgbClr val="444444"/>
                </a:solidFill>
              </a:defRPr>
            </a:pPr>
            <a:r>
              <a:t>Medical imaging uses CNNs for diagnosis</a:t>
            </a:r>
          </a:p>
          <a:p>
            <a:pPr>
              <a:defRPr sz="2000">
                <a:solidFill>
                  <a:srgbClr val="444444"/>
                </a:solidFill>
              </a:defRPr>
            </a:pPr>
            <a:r>
              <a:t>Security systems use CNNs for surveillance</a:t>
            </a:r>
          </a:p>
          <a:p>
            <a:pPr>
              <a:defRPr sz="2000">
                <a:solidFill>
                  <a:srgbClr val="444444"/>
                </a:solidFill>
              </a:defRPr>
            </a:pPr>
            <a:r>
              <a:t>CNNs can be used for natural language processing</a:t>
            </a:r>
          </a:p>
          <a:p>
            <a:pPr>
              <a:defRPr sz="2000">
                <a:solidFill>
                  <a:srgbClr val="444444"/>
                </a:solidFill>
              </a:defRPr>
            </a:pPr>
            <a:r>
              <a:t>Speech recognition and synthesis</a:t>
            </a:r>
          </a:p>
          <a:p>
            <a:pPr>
              <a:defRPr sz="2000">
                <a:solidFill>
                  <a:srgbClr val="444444"/>
                </a:solidFill>
              </a:defRPr>
            </a:pPr>
            <a:r>
              <a:t>CNNs have many applications in robotics</a:t>
            </a:r>
          </a:p>
        </p:txBody>
      </p:sp>
      <p:pic>
        <p:nvPicPr>
          <p:cNvPr id="4" name="Picture 3" descr="0e577e90b36f4de1bbff43b008d4ae7e.png"/>
          <p:cNvPicPr>
            <a:picLocks noChangeAspect="1"/>
          </p:cNvPicPr>
          <p:nvPr/>
        </p:nvPicPr>
        <p:blipFill>
          <a:blip r:embed="rId2"/>
          <a:stretch>
            <a:fillRect/>
          </a:stretch>
        </p:blipFill>
        <p:spPr>
          <a:xfrm>
            <a:off x="7315200" y="1828800"/>
            <a:ext cx="4114800" cy="303113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