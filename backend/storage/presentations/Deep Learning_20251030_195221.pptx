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The Core Idea &amp; Motivation</a:t>
            </a:r>
          </a:p>
        </p:txBody>
      </p:sp>
      <p:sp>
        <p:nvSpPr>
          <p:cNvPr id="3" name="Content Placeholder 2"/>
          <p:cNvSpPr>
            <a:spLocks noGrp="1"/>
          </p:cNvSpPr>
          <p:nvPr>
            <p:ph idx="1"/>
          </p:nvPr>
        </p:nvSpPr>
        <p:spPr/>
        <p:txBody>
          <a:bodyPr/>
          <a:lstStyle/>
          <a:p>
            <a:pPr>
              <a:defRPr sz="2000">
                <a:solidFill>
                  <a:srgbClr val="444444"/>
                </a:solidFill>
              </a:defRPr>
            </a:pPr>
            <a:r>
              <a:t>Traditional neural networks (e.g., MLPs, CNNs) process inputs independently, lacking any sense of order or time. This makes them unsuitable for sequential data like text, speech, or time series where context from previous elements is crucial.</a:t>
            </a:r>
          </a:p>
          <a:p>
            <a:pPr>
              <a:defRPr sz="2000">
                <a:solidFill>
                  <a:srgbClr val="444444"/>
                </a:solidFill>
              </a:defRPr>
            </a:pPr>
            <a:r>
              <a:t>RNNs solve this by introducing the concept of 'memory' through a feedback loop. The output from a hidden layer at one time step is fed back as an input to the same layer at the next time step, allowing information to persist.</a:t>
            </a:r>
          </a:p>
          <a:p>
            <a:pPr>
              <a:defRPr sz="2000">
                <a:solidFill>
                  <a:srgbClr val="444444"/>
                </a:solidFill>
              </a:defRPr>
            </a:pPr>
            <a:r>
              <a:t>The core of an RNN is the 'hidden state' (hₜ), which acts as the network's memory. It's a vector that gets updated at each time step based on two things: the current input (xₜ) and the previous hidden state (hₜ₋₁).</a:t>
            </a:r>
          </a:p>
          <a:p>
            <a:pPr>
              <a:defRPr sz="2000">
                <a:solidFill>
                  <a:srgbClr val="444444"/>
                </a:solidFill>
              </a:defRPr>
            </a:pPr>
            <a:r>
              <a:t>To visualize its operation, an RNN can be 'unrolled' through time. This reveals a deep chain of identical network blocks, one for each element in the sequence, where each block passes its state to the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The Core Architecture</a:t>
            </a:r>
          </a:p>
        </p:txBody>
      </p:sp>
      <p:sp>
        <p:nvSpPr>
          <p:cNvPr id="3" name="Content Placeholder 2"/>
          <p:cNvSpPr>
            <a:spLocks noGrp="1"/>
          </p:cNvSpPr>
          <p:nvPr>
            <p:ph idx="1"/>
          </p:nvPr>
        </p:nvSpPr>
        <p:spPr/>
        <p:txBody>
          <a:bodyPr/>
          <a:lstStyle/>
          <a:p>
            <a:pPr>
              <a:defRPr sz="2000">
                <a:solidFill>
                  <a:srgbClr val="444444"/>
                </a:solidFill>
              </a:defRPr>
            </a:pPr>
            <a:r>
              <a:t>The defining feature of an RNN is its internal loop. Unlike feedforward networks where data flows one way, an RNN's output from one step is fed back as input to the next step. This cyclical connection allows information to persist.</a:t>
            </a:r>
          </a:p>
          <a:p>
            <a:pPr>
              <a:defRPr sz="2000">
                <a:solidFill>
                  <a:srgbClr val="444444"/>
                </a:solidFill>
              </a:defRPr>
            </a:pPr>
            <a:r>
              <a:t>This persistence creates a 'memory' maintained in a vector called the hidden state (hₜ). At each time step, the network combines the current input (xₜ) with the previous hidden state (hₜ₋₁) to compute the new hidden state, effectively summarizing the sequence seen so far.</a:t>
            </a:r>
          </a:p>
          <a:p>
            <a:pPr>
              <a:defRPr sz="2000">
                <a:solidFill>
                  <a:srgbClr val="444444"/>
                </a:solidFill>
              </a:defRPr>
            </a:pPr>
            <a:r>
              <a:t>To visualize and train the network, we 'unroll' the loop, creating a chain-like structure. Crucially, the same set of weights and biases are shared across every time step, allowing the network to learn and apply the same transition rules at different points in a sequence.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The 'Unrolled' View &amp; Forward Pass</a:t>
            </a:r>
          </a:p>
        </p:txBody>
      </p:sp>
      <p:sp>
        <p:nvSpPr>
          <p:cNvPr id="3" name="Content Placeholder 2"/>
          <p:cNvSpPr>
            <a:spLocks noGrp="1"/>
          </p:cNvSpPr>
          <p:nvPr>
            <p:ph idx="1"/>
          </p:nvPr>
        </p:nvSpPr>
        <p:spPr/>
        <p:txBody>
          <a:bodyPr/>
          <a:lstStyle/>
          <a:p>
            <a:pPr>
              <a:defRPr sz="2000">
                <a:solidFill>
                  <a:srgbClr val="444444"/>
                </a:solidFill>
              </a:defRPr>
            </a:pPr>
            <a:r>
              <a:t>To visualize computation, we 'unroll' the RNN's loop through time, creating a deep chain of identical network modules. The 'depth' of this unrolled network is equal to the length of the input sequence (e.g., a 10-word sentence unrolls into a 10-layer deep network).</a:t>
            </a:r>
          </a:p>
          <a:p>
            <a:pPr>
              <a:defRPr sz="2000">
                <a:solidFill>
                  <a:srgbClr val="444444"/>
                </a:solidFill>
              </a:defRPr>
            </a:pPr>
            <a:r>
              <a:t>During the forward pass, at each time step 't', the network's core unit takes two inputs: the current data point (xₜ) and the hidden state from the previous step (hₜ₋₁). It combines these to compute the new hidden state (hₜ), which serves as the network's 'memory', capturing information from all prior steps.</a:t>
            </a:r>
          </a:p>
          <a:p>
            <a:pPr>
              <a:defRPr sz="2000">
                <a:solidFill>
                  <a:srgbClr val="444444"/>
                </a:solidFill>
              </a:defRPr>
            </a:pPr>
            <a:r>
              <a:t>A fundamental principle is **parameter sharing**. The exact same set of weights and biases are used at every single time step. This makes the model highly efficient, reduces the number of parameters to learn, and enables it to handle sequences of variable lengths since the same update rule is applied repeatedly.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