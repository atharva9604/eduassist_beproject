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Introduce the concept of LSTM networks and their significance in deep learning. Explain that LSTMs are a type of RNN, and they are particularly useful for handling sequential data. Provide examples of their applications and ask students what they know about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motivation behind the development of LSTMs, highlighting the limitations of traditional RNNs. Explain how LSTMs address these limitations and provide examples of their improved performance in various tasks. Ask students to think about how LSTMs could be applied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This slide will be provided by the user, so please skip generating content for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role of gates in LSTMs, highlighting their importance in controlling the flow of information. Discuss how the gates work together to enable LSTMs to learn complex patterns and handle long-term dependencies. Ask students to consider how the gates contribute to the overall performance of LSTMs.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details of training LSTMs, including the use of BPTT and SGD. Explain the importance of regularization techniques and hyperparameter tuning. Provide examples of how to monitor the performance of the model and adjust the architecture as needed. Ask students to consider the challenges of training LSTMs and how to overcome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Explore the various applications of LSTMs, highlighting their use in NLP tasks, speech recognition, and time series forecasting. Discuss the advantages of using LSTMs in these applications, such as their ability to handle sequential data and learn long-term dependencies. Ask students to think about how LSTMs could be applied to other areas, such as computer vision or robotics.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highlighting the importance of LSTMs in deep learning. Emphasize their ability to handle sequential data and learn long-term dependencies. Ask students to reflect on what they have learned and how they can apply LSTMs to real-world problems. Provide additional resources for further learning and exploration.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LSTM Networks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Motivation for LSTMs</a:t>
            </a:r>
          </a:p>
        </p:txBody>
      </p:sp>
      <p:sp>
        <p:nvSpPr>
          <p:cNvPr id="3" name="Content Placeholder 2"/>
          <p:cNvSpPr>
            <a:spLocks noGrp="1"/>
          </p:cNvSpPr>
          <p:nvPr>
            <p:ph idx="1"/>
          </p:nvPr>
        </p:nvSpPr>
        <p:spPr/>
        <p:txBody>
          <a:bodyPr/>
          <a:lstStyle/>
          <a:p>
            <a:pPr>
              <a:defRPr sz="2000">
                <a:solidFill>
                  <a:srgbClr val="444444"/>
                </a:solidFill>
              </a:defRPr>
            </a:pPr>
            <a:r>
              <a:t>Traditional RNNs suffer from vanishing gradients</a:t>
            </a:r>
          </a:p>
          <a:p>
            <a:pPr>
              <a:defRPr sz="2000">
                <a:solidFill>
                  <a:srgbClr val="444444"/>
                </a:solidFill>
              </a:defRPr>
            </a:pPr>
            <a:r>
              <a:t>LSTMs introduced to address this issue</a:t>
            </a:r>
          </a:p>
          <a:p>
            <a:pPr>
              <a:defRPr sz="2000">
                <a:solidFill>
                  <a:srgbClr val="444444"/>
                </a:solidFill>
              </a:defRPr>
            </a:pPr>
            <a:r>
              <a:t>Capable of learning long-term dependencies</a:t>
            </a:r>
          </a:p>
          <a:p>
            <a:pPr>
              <a:defRPr sz="2000">
                <a:solidFill>
                  <a:srgbClr val="444444"/>
                </a:solidFill>
              </a:defRPr>
            </a:pPr>
            <a:r>
              <a:t>More effective in modeling complex sequences</a:t>
            </a:r>
          </a:p>
          <a:p>
            <a:pPr>
              <a:defRPr sz="2000">
                <a:solidFill>
                  <a:srgbClr val="444444"/>
                </a:solidFill>
              </a:defRPr>
            </a:pPr>
            <a:r>
              <a:t>Handling sequential data with varying lengths</a:t>
            </a:r>
          </a:p>
          <a:p>
            <a:pPr>
              <a:defRPr sz="2000">
                <a:solidFill>
                  <a:srgbClr val="444444"/>
                </a:solidFill>
              </a:defRPr>
            </a:pPr>
            <a:r>
              <a:t>Robust against overfitting and noise</a:t>
            </a:r>
          </a:p>
          <a:p>
            <a:pPr>
              <a:defRPr sz="2000">
                <a:solidFill>
                  <a:srgbClr val="444444"/>
                </a:solidFill>
              </a:defRPr>
            </a:pPr>
            <a:r>
              <a:t>Ability to forget irrelevant information</a:t>
            </a:r>
          </a:p>
          <a:p>
            <a:pPr>
              <a:defRPr sz="2000">
                <a:solidFill>
                  <a:srgbClr val="444444"/>
                </a:solidFill>
              </a:defRPr>
            </a:pPr>
            <a:r>
              <a:t>Enabling more accurate predictions and classifications</a:t>
            </a:r>
          </a:p>
          <a:p>
            <a:pPr>
              <a:defRPr sz="2000">
                <a:solidFill>
                  <a:srgbClr val="444444"/>
                </a:solidFill>
              </a:defRPr>
            </a:pPr>
            <a:r>
              <a:t>Improving performance in many deep learning tasks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Architecture</a:t>
            </a:r>
          </a:p>
        </p:txBody>
      </p:sp>
      <p:sp>
        <p:nvSpPr>
          <p:cNvPr id="3" name="Content Placeholder 2"/>
          <p:cNvSpPr>
            <a:spLocks noGrp="1"/>
          </p:cNvSpPr>
          <p:nvPr>
            <p:ph idx="1"/>
          </p:nvPr>
        </p:nvSpPr>
        <p:spPr/>
        <p:txBody>
          <a:bodyPr/>
          <a:lstStyle/>
          <a:p>
            <a:pPr>
              <a:defRPr sz="2000">
                <a:solidFill>
                  <a:srgbClr val="444444"/>
                </a:solidFill>
              </a:defRPr>
            </a:pPr>
            <a:r>
              <a:t>LSTM uses memory cells to store long-term information across time steps</a:t>
            </a:r>
          </a:p>
          <a:p>
            <a:pPr>
              <a:defRPr sz="2000">
                <a:solidFill>
                  <a:srgbClr val="444444"/>
                </a:solidFill>
              </a:defRPr>
            </a:pPr>
            <a:r>
              <a:t>Each cell has input, forget and output gates controlling information flow</a:t>
            </a:r>
          </a:p>
          <a:p>
            <a:pPr>
              <a:defRPr sz="2000">
                <a:solidFill>
                  <a:srgbClr val="444444"/>
                </a:solidFill>
              </a:defRPr>
            </a:pPr>
            <a:r>
              <a:t>Cell state acts as a conveyor belt preserving important signals over long sequences</a:t>
            </a:r>
          </a:p>
          <a:p>
            <a:pPr>
              <a:defRPr sz="2000">
                <a:solidFill>
                  <a:srgbClr val="444444"/>
                </a:solidFill>
              </a:defRPr>
            </a:pPr>
            <a:r>
              <a:t>Gates use sigmoid activations to decide what to keep, update or discard</a:t>
            </a:r>
          </a:p>
          <a:p>
            <a:pPr>
              <a:defRPr sz="2000">
                <a:solidFill>
                  <a:srgbClr val="444444"/>
                </a:solidFill>
              </a:defRPr>
            </a:pPr>
            <a:r>
              <a:t>Hidden state exposes filtered information to the next layer or time step</a:t>
            </a:r>
          </a:p>
        </p:txBody>
      </p:sp>
      <p:pic>
        <p:nvPicPr>
          <p:cNvPr id="4" name="Picture 3" descr="4571688f10fa4addbc075e946d2dc61a_lstm_networks_deep_learning_architectur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Gates in LSTM</a:t>
            </a:r>
          </a:p>
        </p:txBody>
      </p:sp>
      <p:sp>
        <p:nvSpPr>
          <p:cNvPr id="3" name="Content Placeholder 2"/>
          <p:cNvSpPr>
            <a:spLocks noGrp="1"/>
          </p:cNvSpPr>
          <p:nvPr>
            <p:ph idx="1"/>
          </p:nvPr>
        </p:nvSpPr>
        <p:spPr/>
        <p:txBody>
          <a:bodyPr/>
          <a:lstStyle/>
          <a:p>
            <a:pPr>
              <a:defRPr sz="2000">
                <a:solidFill>
                  <a:srgbClr val="444444"/>
                </a:solidFill>
              </a:defRPr>
            </a:pPr>
            <a:r>
              <a:t>Input gate controls new information</a:t>
            </a:r>
          </a:p>
          <a:p>
            <a:pPr>
              <a:defRPr sz="2000">
                <a:solidFill>
                  <a:srgbClr val="444444"/>
                </a:solidFill>
              </a:defRPr>
            </a:pPr>
            <a:r>
              <a:t>Output gate controls output at each step</a:t>
            </a:r>
          </a:p>
          <a:p>
            <a:pPr>
              <a:defRPr sz="2000">
                <a:solidFill>
                  <a:srgbClr val="444444"/>
                </a:solidFill>
              </a:defRPr>
            </a:pPr>
            <a:r>
              <a:t>Forget gate controls discarding information</a:t>
            </a:r>
          </a:p>
          <a:p>
            <a:pPr>
              <a:defRPr sz="2000">
                <a:solidFill>
                  <a:srgbClr val="444444"/>
                </a:solidFill>
              </a:defRPr>
            </a:pPr>
            <a:r>
              <a:t>Gates help in handling long-term dependencies</a:t>
            </a:r>
          </a:p>
          <a:p>
            <a:pPr>
              <a:defRPr sz="2000">
                <a:solidFill>
                  <a:srgbClr val="444444"/>
                </a:solidFill>
              </a:defRPr>
            </a:pPr>
            <a:r>
              <a:t>Enabling LSTMs to learn complex patterns</a:t>
            </a:r>
          </a:p>
          <a:p>
            <a:pPr>
              <a:defRPr sz="2000">
                <a:solidFill>
                  <a:srgbClr val="444444"/>
                </a:solidFill>
              </a:defRPr>
            </a:pPr>
            <a:r>
              <a:t>Helping to prevent overfitting and noise</a:t>
            </a:r>
          </a:p>
          <a:p>
            <a:pPr>
              <a:defRPr sz="2000">
                <a:solidFill>
                  <a:srgbClr val="444444"/>
                </a:solidFill>
              </a:defRPr>
            </a:pPr>
            <a:r>
              <a:t>Improving the stability of the network</a:t>
            </a:r>
          </a:p>
          <a:p>
            <a:pPr>
              <a:defRPr sz="2000">
                <a:solidFill>
                  <a:srgbClr val="444444"/>
                </a:solidFill>
              </a:defRPr>
            </a:pPr>
            <a:r>
              <a:t>Allowing for more accurate predictions</a:t>
            </a:r>
          </a:p>
          <a:p>
            <a:pPr>
              <a:defRPr sz="2000">
                <a:solidFill>
                  <a:srgbClr val="444444"/>
                </a:solidFill>
              </a:defRPr>
            </a:pPr>
            <a:r>
              <a:t>Enhancing the overall performance of LSTMs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Details</a:t>
            </a:r>
          </a:p>
        </p:txBody>
      </p:sp>
      <p:sp>
        <p:nvSpPr>
          <p:cNvPr id="3" name="Content Placeholder 2"/>
          <p:cNvSpPr>
            <a:spLocks noGrp="1"/>
          </p:cNvSpPr>
          <p:nvPr>
            <p:ph idx="1"/>
          </p:nvPr>
        </p:nvSpPr>
        <p:spPr/>
        <p:txBody>
          <a:bodyPr/>
          <a:lstStyle/>
          <a:p>
            <a:pPr>
              <a:defRPr sz="2000">
                <a:solidFill>
                  <a:srgbClr val="444444"/>
                </a:solidFill>
              </a:defRPr>
            </a:pPr>
            <a:r>
              <a:t>Backpropagation through time (BPTT) used</a:t>
            </a:r>
          </a:p>
          <a:p>
            <a:pPr>
              <a:defRPr sz="2000">
                <a:solidFill>
                  <a:srgbClr val="444444"/>
                </a:solidFill>
              </a:defRPr>
            </a:pPr>
            <a:r>
              <a:t>Truncated BPTT for long sequences</a:t>
            </a:r>
          </a:p>
          <a:p>
            <a:pPr>
              <a:defRPr sz="2000">
                <a:solidFill>
                  <a:srgbClr val="444444"/>
                </a:solidFill>
              </a:defRPr>
            </a:pPr>
            <a:r>
              <a:t>Stochastic gradient descent (SGD) optimizer</a:t>
            </a:r>
          </a:p>
          <a:p>
            <a:pPr>
              <a:defRPr sz="2000">
                <a:solidFill>
                  <a:srgbClr val="444444"/>
                </a:solidFill>
              </a:defRPr>
            </a:pPr>
            <a:r>
              <a:t>Regularization techniques to prevent overfitting</a:t>
            </a:r>
          </a:p>
          <a:p>
            <a:pPr>
              <a:defRPr sz="2000">
                <a:solidFill>
                  <a:srgbClr val="444444"/>
                </a:solidFill>
              </a:defRPr>
            </a:pPr>
            <a:r>
              <a:t>Batch normalization and dropout</a:t>
            </a:r>
          </a:p>
          <a:p>
            <a:pPr>
              <a:defRPr sz="2000">
                <a:solidFill>
                  <a:srgbClr val="444444"/>
                </a:solidFill>
              </a:defRPr>
            </a:pPr>
            <a:r>
              <a:t>Early stopping to avoid overtraining</a:t>
            </a:r>
          </a:p>
          <a:p>
            <a:pPr>
              <a:defRPr sz="2000">
                <a:solidFill>
                  <a:srgbClr val="444444"/>
                </a:solidFill>
              </a:defRPr>
            </a:pPr>
            <a:r>
              <a:t>Hyperparameter tuning for optimal performance</a:t>
            </a:r>
          </a:p>
          <a:p>
            <a:pPr>
              <a:defRPr sz="2000">
                <a:solidFill>
                  <a:srgbClr val="444444"/>
                </a:solidFill>
              </a:defRPr>
            </a:pPr>
            <a:r>
              <a:t>Monitoring metrics such as loss and accuracy</a:t>
            </a:r>
          </a:p>
          <a:p>
            <a:pPr>
              <a:defRPr sz="2000">
                <a:solidFill>
                  <a:srgbClr val="444444"/>
                </a:solidFill>
              </a:defRPr>
            </a:pPr>
            <a:r>
              <a:t>Adjusting the model architecture as needed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(NLP) tasks</a:t>
            </a:r>
          </a:p>
          <a:p>
            <a:pPr>
              <a:defRPr sz="2000">
                <a:solidFill>
                  <a:srgbClr val="444444"/>
                </a:solidFill>
              </a:defRPr>
            </a:pPr>
            <a:r>
              <a:t>Language modeling and text generation</a:t>
            </a:r>
          </a:p>
          <a:p>
            <a:pPr>
              <a:defRPr sz="2000">
                <a:solidFill>
                  <a:srgbClr val="444444"/>
                </a:solidFill>
              </a:defRPr>
            </a:pPr>
            <a:r>
              <a:t>Sentiment analysis and sentiment classification</a:t>
            </a:r>
          </a:p>
          <a:p>
            <a:pPr>
              <a:defRPr sz="2000">
                <a:solidFill>
                  <a:srgbClr val="444444"/>
                </a:solidFill>
              </a:defRPr>
            </a:pPr>
            <a:r>
              <a:t>Speech recognition and speech synthesis</a:t>
            </a:r>
          </a:p>
          <a:p>
            <a:pPr>
              <a:defRPr sz="2000">
                <a:solidFill>
                  <a:srgbClr val="444444"/>
                </a:solidFill>
              </a:defRPr>
            </a:pPr>
            <a:r>
              <a:t>Time series forecasting and prediction</a:t>
            </a:r>
          </a:p>
          <a:p>
            <a:pPr>
              <a:defRPr sz="2000">
                <a:solidFill>
                  <a:srgbClr val="444444"/>
                </a:solidFill>
              </a:defRPr>
            </a:pPr>
            <a:r>
              <a:t>Image and video analysis</a:t>
            </a:r>
          </a:p>
          <a:p>
            <a:pPr>
              <a:defRPr sz="2000">
                <a:solidFill>
                  <a:srgbClr val="444444"/>
                </a:solidFill>
              </a:defRPr>
            </a:pPr>
            <a:r>
              <a:t>Recommendation systems and personalization</a:t>
            </a:r>
          </a:p>
          <a:p>
            <a:pPr>
              <a:defRPr sz="2000">
                <a:solidFill>
                  <a:srgbClr val="444444"/>
                </a:solidFill>
              </a:defRPr>
            </a:pPr>
            <a:r>
              <a:t>Chatbots and virtual assistants</a:t>
            </a:r>
          </a:p>
          <a:p>
            <a:pPr>
              <a:defRPr sz="2000">
                <a:solidFill>
                  <a:srgbClr val="444444"/>
                </a:solidFill>
              </a:defRPr>
            </a:pPr>
            <a:r>
              <a:t>Machine translation and language understanding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Traditional RNNs suffer from vanishing gradients</a:t>
            </a:r>
          </a:p>
          <a:p>
            <a:pPr>
              <a:defRPr sz="2200" b="1">
                <a:solidFill>
                  <a:srgbClr val="1F497D"/>
                </a:solidFill>
              </a:defRPr>
            </a:pPr>
            <a:r>
              <a:t>LSTM uses memory cells to store long-term information across time steps</a:t>
            </a:r>
          </a:p>
          <a:p>
            <a:pPr>
              <a:defRPr sz="2200" b="1">
                <a:solidFill>
                  <a:srgbClr val="1F497D"/>
                </a:solidFill>
              </a:defRPr>
            </a:pPr>
            <a:r>
              <a:t>Input gate controls new information</a:t>
            </a:r>
          </a:p>
          <a:p>
            <a:pPr>
              <a:defRPr sz="2200" b="1">
                <a:solidFill>
                  <a:srgbClr val="1F497D"/>
                </a:solidFill>
              </a:defRPr>
            </a:pPr>
            <a:r>
              <a:t>Backpropagation through time (BPTT) used</a:t>
            </a:r>
          </a:p>
          <a:p>
            <a:pPr>
              <a:defRPr sz="2200" b="1">
                <a:solidFill>
                  <a:srgbClr val="1F497D"/>
                </a:solidFill>
              </a:defRPr>
            </a:pPr>
            <a:r>
              <a:t>Natural language processing (NLP) tasks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