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pPr>
            <a:r>
              <a:t>Welcome to the Operating Systems presentation covering multiple topics. Today we'll explore: CPU Scheduling Algorithms, Operating Systems.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When introducing CPU scheduling algorithms, explain the importance of efficient scheduling in improving system performance and throughput. Provide examples of different types of scheduling, such as preemptive and non-preemptive, and discuss the key metrics used to evaluate scheduling algorithms, including response time, turnaround time, CPU utilization, and throughput. Ask students to consider the trade-offs between different scheduling criteria and provide examples of real-world applications, such as real-time systems. Key takeaways include understanding the basics of CPU scheduling and the importance of selecting the appropriate scheduling algorithm for a given system.</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When introducing CPU scheduling algorithms, explain the importance of efficient processor allocation. Discuss the differences between preemptive and non-preemptive scheduling. Provide examples of each scheduling algorithm, such as First-Come-First-Served and Shortest Job First. Ask students to consider the trade-offs between optimizing for turnaround time, waiting time, and response time. Emphasize the role of priority and fairness in scheduling decisions, and introduce the concept of time quanta in Round Robin scheduling. Key takeaways include understanding the basic algorithms and their applications in operating systems.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When explaining CPU scheduling algorithms, emphasize the importance of choosing the right algorithm based on system requirements. Provide examples of each algorithm, such as using First-Come-First-Served in a simple batch system and Priority Scheduling in a real-time system. Ask students to consider the trade-offs between algorithms, such as fairness versus efficiency. Key takeaways include understanding the strengths and weaknesses of each algorithm and being able to apply them to real-world scenarios.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jp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jp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1828800"/>
            <a:ext cx="10360152" cy="1828800"/>
          </a:xfrm>
          <a:prstGeom prst="rect">
            <a:avLst/>
          </a:prstGeom>
          <a:noFill/>
        </p:spPr>
        <p:txBody>
          <a:bodyPr wrap="none">
            <a:spAutoFit/>
          </a:bodyPr>
          <a:lstStyle/>
          <a:p>
            <a:pPr algn="ctr"/>
            <a:r>
              <a:rPr sz="4400" b="1">
                <a:solidFill>
                  <a:srgbClr val="1F497D"/>
                </a:solidFill>
              </a:rPr>
              <a:t>Operating Systems</a:t>
            </a:r>
          </a:p>
        </p:txBody>
      </p:sp>
      <p:sp>
        <p:nvSpPr>
          <p:cNvPr id="3" name="TextBox 2"/>
          <p:cNvSpPr txBox="1"/>
          <p:nvPr/>
        </p:nvSpPr>
        <p:spPr>
          <a:xfrm>
            <a:off x="914400" y="4114800"/>
            <a:ext cx="10360152" cy="914400"/>
          </a:xfrm>
          <a:prstGeom prst="rect">
            <a:avLst/>
          </a:prstGeom>
          <a:noFill/>
        </p:spPr>
        <p:txBody>
          <a:bodyPr wrap="none">
            <a:spAutoFit/>
          </a:bodyPr>
          <a:lstStyle/>
          <a:p>
            <a:pPr algn="ctr"/>
            <a:r>
              <a:rPr sz="2400">
                <a:solidFill>
                  <a:srgbClr val="4472C4"/>
                </a:solidFill>
              </a:rPr>
              <a:t>Generated for: CPU Scheduling Algorithms, Operating Systems</a:t>
            </a:r>
          </a:p>
        </p:txBody>
      </p:sp>
      <p:sp>
        <p:nvSpPr>
          <p:cNvPr id="4" name="Rectangle 3"/>
          <p:cNvSpPr/>
          <p:nvPr/>
        </p:nvSpPr>
        <p:spPr>
          <a:xfrm>
            <a:off x="914400" y="5943600"/>
            <a:ext cx="10360152" cy="274320"/>
          </a:xfrm>
          <a:prstGeom prst="rect">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CPU Scheduling Algorithms - Introduction</a:t>
            </a:r>
          </a:p>
        </p:txBody>
      </p:sp>
      <p:sp>
        <p:nvSpPr>
          <p:cNvPr id="3" name="Content Placeholder 2"/>
          <p:cNvSpPr>
            <a:spLocks noGrp="1"/>
          </p:cNvSpPr>
          <p:nvPr>
            <p:ph idx="1"/>
          </p:nvPr>
        </p:nvSpPr>
        <p:spPr/>
        <p:txBody>
          <a:bodyPr/>
          <a:lstStyle/>
          <a:p>
            <a:pPr>
              <a:defRPr sz="2000">
                <a:solidFill>
                  <a:srgbClr val="444444"/>
                </a:solidFill>
              </a:defRPr>
            </a:pPr>
            <a:r>
              <a:t>CPU scheduling manages processor time allocation</a:t>
            </a:r>
          </a:p>
          <a:p>
            <a:pPr>
              <a:defRPr sz="2000">
                <a:solidFill>
                  <a:srgbClr val="444444"/>
                </a:solidFill>
              </a:defRPr>
            </a:pPr>
            <a:r>
              <a:t>Efficient scheduling improves system performance and throughput</a:t>
            </a:r>
          </a:p>
          <a:p>
            <a:pPr>
              <a:defRPr sz="2000">
                <a:solidFill>
                  <a:srgbClr val="444444"/>
                </a:solidFill>
              </a:defRPr>
            </a:pPr>
            <a:r>
              <a:t>Scheduling algorithms prioritize tasks and processes</a:t>
            </a:r>
          </a:p>
          <a:p>
            <a:pPr>
              <a:defRPr sz="2000">
                <a:solidFill>
                  <a:srgbClr val="444444"/>
                </a:solidFill>
              </a:defRPr>
            </a:pPr>
            <a:r>
              <a:t>Types of scheduling: preemptive and non-preemptive</a:t>
            </a:r>
          </a:p>
          <a:p>
            <a:pPr>
              <a:defRPr sz="2000">
                <a:solidFill>
                  <a:srgbClr val="444444"/>
                </a:solidFill>
              </a:defRPr>
            </a:pPr>
            <a:r>
              <a:t>Scheduling criteria: response time, turnaround time</a:t>
            </a:r>
          </a:p>
          <a:p>
            <a:pPr>
              <a:defRPr sz="2000">
                <a:solidFill>
                  <a:srgbClr val="444444"/>
                </a:solidFill>
              </a:defRPr>
            </a:pPr>
            <a:r>
              <a:t>CPU utilization and throughput are key metrics</a:t>
            </a:r>
          </a:p>
          <a:p>
            <a:pPr>
              <a:defRPr sz="2000">
                <a:solidFill>
                  <a:srgbClr val="444444"/>
                </a:solidFill>
              </a:defRPr>
            </a:pPr>
            <a:r>
              <a:t>Scheduling algorithms aim to minimize idle time</a:t>
            </a:r>
          </a:p>
          <a:p>
            <a:pPr>
              <a:defRPr sz="2000">
                <a:solidFill>
                  <a:srgbClr val="444444"/>
                </a:solidFill>
              </a:defRPr>
            </a:pPr>
            <a:r>
              <a:t>Examples: First-Come-First-Served, Shortest Job First</a:t>
            </a:r>
          </a:p>
          <a:p>
            <a:pPr>
              <a:defRPr sz="2000">
                <a:solidFill>
                  <a:srgbClr val="444444"/>
                </a:solidFill>
              </a:defRPr>
            </a:pPr>
            <a:r>
              <a:t>Real-time systems require specialized scheduling</a:t>
            </a:r>
          </a:p>
          <a:p>
            <a:pPr>
              <a:defRPr sz="2000">
                <a:solidFill>
                  <a:srgbClr val="444444"/>
                </a:solidFill>
              </a:defRPr>
            </a:pPr>
            <a:r>
              <a:t>Scheduling algorithms are critical in operating systems</a:t>
            </a:r>
          </a:p>
        </p:txBody>
      </p:sp>
      <p:pic>
        <p:nvPicPr>
          <p:cNvPr id="4" name="Picture 3" descr="1a296867226148c5a7a2a8fa82b972ed.jpg"/>
          <p:cNvPicPr>
            <a:picLocks noChangeAspect="1"/>
          </p:cNvPicPr>
          <p:nvPr/>
        </p:nvPicPr>
        <p:blipFill>
          <a:blip r:embed="rId2"/>
          <a:stretch>
            <a:fillRect/>
          </a:stretch>
        </p:blipFill>
        <p:spPr>
          <a:xfrm>
            <a:off x="7315200" y="1828800"/>
            <a:ext cx="4114800" cy="4096512"/>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CPU Scheduling Algorithms - Introduction</a:t>
            </a:r>
          </a:p>
        </p:txBody>
      </p:sp>
      <p:sp>
        <p:nvSpPr>
          <p:cNvPr id="3" name="Content Placeholder 2"/>
          <p:cNvSpPr>
            <a:spLocks noGrp="1"/>
          </p:cNvSpPr>
          <p:nvPr>
            <p:ph idx="1"/>
          </p:nvPr>
        </p:nvSpPr>
        <p:spPr/>
        <p:txBody>
          <a:bodyPr/>
          <a:lstStyle/>
          <a:p>
            <a:pPr>
              <a:defRPr sz="2000">
                <a:solidFill>
                  <a:srgbClr val="444444"/>
                </a:solidFill>
              </a:defRPr>
            </a:pPr>
            <a:r>
              <a:t>CPU scheduling manages processor allocation to processes</a:t>
            </a:r>
          </a:p>
          <a:p>
            <a:pPr>
              <a:defRPr sz="2000">
                <a:solidFill>
                  <a:srgbClr val="444444"/>
                </a:solidFill>
              </a:defRPr>
            </a:pPr>
            <a:r>
              <a:t>Scheduling algorithms optimize system performance and throughput</a:t>
            </a:r>
          </a:p>
          <a:p>
            <a:pPr>
              <a:defRPr sz="2000">
                <a:solidFill>
                  <a:srgbClr val="444444"/>
                </a:solidFill>
              </a:defRPr>
            </a:pPr>
            <a:r>
              <a:t>Types of scheduling: preemptive and non-preemptive</a:t>
            </a:r>
          </a:p>
          <a:p>
            <a:pPr>
              <a:defRPr sz="2000">
                <a:solidFill>
                  <a:srgbClr val="444444"/>
                </a:solidFill>
              </a:defRPr>
            </a:pPr>
            <a:r>
              <a:t>Scheduling criteria: turnaround time, waiting time, response time</a:t>
            </a:r>
          </a:p>
          <a:p>
            <a:pPr>
              <a:defRPr sz="2000">
                <a:solidFill>
                  <a:srgbClr val="444444"/>
                </a:solidFill>
              </a:defRPr>
            </a:pPr>
            <a:r>
              <a:t>First-Come-First-Served scheduling is a basic algorithm</a:t>
            </a:r>
          </a:p>
          <a:p>
            <a:pPr>
              <a:defRPr sz="2000">
                <a:solidFill>
                  <a:srgbClr val="444444"/>
                </a:solidFill>
              </a:defRPr>
            </a:pPr>
            <a:r>
              <a:t>Shortest Job First scheduling reduces average waiting time</a:t>
            </a:r>
          </a:p>
          <a:p>
            <a:pPr>
              <a:defRPr sz="2000">
                <a:solidFill>
                  <a:srgbClr val="444444"/>
                </a:solidFill>
              </a:defRPr>
            </a:pPr>
            <a:r>
              <a:t>Priority Scheduling allocates CPU based on process priority</a:t>
            </a:r>
          </a:p>
          <a:p>
            <a:pPr>
              <a:defRPr sz="2000">
                <a:solidFill>
                  <a:srgbClr val="444444"/>
                </a:solidFill>
              </a:defRPr>
            </a:pPr>
            <a:r>
              <a:t>Round Robin scheduling uses time quanta for fairness</a:t>
            </a:r>
          </a:p>
          <a:p>
            <a:pPr>
              <a:defRPr sz="2000">
                <a:solidFill>
                  <a:srgbClr val="444444"/>
                </a:solidFill>
              </a:defRPr>
            </a:pPr>
            <a:r>
              <a:t>Multilevel Feedback Queue scheduling combines algorithms</a:t>
            </a:r>
          </a:p>
        </p:txBody>
      </p:sp>
      <p:pic>
        <p:nvPicPr>
          <p:cNvPr id="4" name="Picture 3" descr="dd4451035f7e4403881d3ea81a35f290_image_2.jpg"/>
          <p:cNvPicPr>
            <a:picLocks noChangeAspect="1"/>
          </p:cNvPicPr>
          <p:nvPr/>
        </p:nvPicPr>
        <p:blipFill>
          <a:blip r:embed="rId2"/>
          <a:stretch>
            <a:fillRect/>
          </a:stretch>
        </p:blipFill>
        <p:spPr>
          <a:xfrm>
            <a:off x="7315200" y="1828800"/>
            <a:ext cx="4114800" cy="30861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CPU Scheduling Algorithms - Types and Applications</a:t>
            </a:r>
          </a:p>
        </p:txBody>
      </p:sp>
      <p:sp>
        <p:nvSpPr>
          <p:cNvPr id="3" name="Content Placeholder 2"/>
          <p:cNvSpPr>
            <a:spLocks noGrp="1"/>
          </p:cNvSpPr>
          <p:nvPr>
            <p:ph idx="1"/>
          </p:nvPr>
        </p:nvSpPr>
        <p:spPr/>
        <p:txBody>
          <a:bodyPr/>
          <a:lstStyle/>
          <a:p>
            <a:pPr>
              <a:defRPr sz="2000">
                <a:solidFill>
                  <a:srgbClr val="444444"/>
                </a:solidFill>
              </a:defRPr>
            </a:pPr>
            <a:r>
              <a:t>First-Come-First-Served scheduling algorithm is simple</a:t>
            </a:r>
          </a:p>
          <a:p>
            <a:pPr>
              <a:defRPr sz="2000">
                <a:solidFill>
                  <a:srgbClr val="444444"/>
                </a:solidFill>
              </a:defRPr>
            </a:pPr>
            <a:r>
              <a:t>Shortest Job First algorithm reduces average wait time</a:t>
            </a:r>
          </a:p>
          <a:p>
            <a:pPr>
              <a:defRPr sz="2000">
                <a:solidFill>
                  <a:srgbClr val="444444"/>
                </a:solidFill>
              </a:defRPr>
            </a:pPr>
            <a:r>
              <a:t>Priority Scheduling algorithm uses priority queue</a:t>
            </a:r>
          </a:p>
          <a:p>
            <a:pPr>
              <a:defRPr sz="2000">
                <a:solidFill>
                  <a:srgbClr val="444444"/>
                </a:solidFill>
              </a:defRPr>
            </a:pPr>
            <a:r>
              <a:t>Round Robin algorithm uses time slicing technique</a:t>
            </a:r>
          </a:p>
          <a:p>
            <a:pPr>
              <a:defRPr sz="2000">
                <a:solidFill>
                  <a:srgbClr val="444444"/>
                </a:solidFill>
              </a:defRPr>
            </a:pPr>
            <a:r>
              <a:t>Multilevel Queue Scheduling algorithm is complex</a:t>
            </a:r>
          </a:p>
          <a:p>
            <a:pPr>
              <a:defRPr sz="2000">
                <a:solidFill>
                  <a:srgbClr val="444444"/>
                </a:solidFill>
              </a:defRPr>
            </a:pPr>
            <a:r>
              <a:t>Multilevel Feedback Queue Scheduling is dynamic</a:t>
            </a:r>
          </a:p>
          <a:p>
            <a:pPr>
              <a:defRPr sz="2000">
                <a:solidFill>
                  <a:srgbClr val="444444"/>
                </a:solidFill>
              </a:defRPr>
            </a:pPr>
            <a:r>
              <a:t>Rate Monotonic Scheduling is used in real-time systems</a:t>
            </a:r>
          </a:p>
          <a:p>
            <a:pPr>
              <a:defRPr sz="2000">
                <a:solidFill>
                  <a:srgbClr val="444444"/>
                </a:solidFill>
              </a:defRPr>
            </a:pPr>
            <a:r>
              <a:t>Earliest Deadline First Scheduling ensures timely completion</a:t>
            </a:r>
          </a:p>
          <a:p>
            <a:pPr>
              <a:defRPr sz="2000">
                <a:solidFill>
                  <a:srgbClr val="444444"/>
                </a:solidFill>
              </a:defRPr>
            </a:pPr>
            <a:r>
              <a:t>Proportional Share Scheduling allocates fair share</a:t>
            </a:r>
          </a:p>
          <a:p>
            <a:pPr>
              <a:defRPr sz="2000">
                <a:solidFill>
                  <a:srgbClr val="444444"/>
                </a:solidFill>
              </a:defRPr>
            </a:pPr>
            <a:r>
              <a:t>Hybrid algorithms combine multiple scheduling techniques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