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Introduce the topic of Recurrent Neural Networks, explaining that RNNs are a type of neural network designed to handle sequential data. Provide examples of sequential data, such as time series data or natural language processing. Ask students what they know about neural networks and how they can be applied to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importance of RNNs in handling sequential data, providing examples of applications such as natural language processing and time series forecasting. Discuss how RNNs can learn long-term dependencies and handle variable-length input sequences. Ask students to think of real-world applications where RNNs can be used, such as chatbots or virtual assistants.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architecture of an RNN, explaining the role of the input, hidden, and output layers. Discuss the importance of recurrent connections and how they enable the network to keep track of state. Provide an example of a simple RNN equation and ask students to think about how the network can be trained using backpropagation through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various variants of RNNs, explaining the key features and advantages of each. Discuss how LSTM and GRU networks can handle long-term dependencies and how bidirectional RNNs can improve performance on certain tasks. Ask students to think about how these variants can be applied to real-world problems and what the trade-offs are between different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various applications of RNNs, highlighting the advantages and limitations of using these networks. Explain how RNNs can handle sequential data and learn long-term dependencies, but also discuss the challenges of training RNNs, such as vanishing and exploding gradients. Ask students to think about how these limitations can be addressed and what the future of RNNs might hold.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previous slides, highlighting the importance of RNNs in handling sequential data and learning long-term dependencies. Discuss the various variants and applications of RNNs, and reiterate the advantages and limitations of using these networks. Ask students to think about the future of RNNs and how they can be improved to address the challenges of training and deploying these networks in real-world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Fundamentals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Intro/Background</a:t>
            </a:r>
          </a:p>
        </p:txBody>
      </p:sp>
      <p:sp>
        <p:nvSpPr>
          <p:cNvPr id="3" name="Content Placeholder 2"/>
          <p:cNvSpPr>
            <a:spLocks noGrp="1"/>
          </p:cNvSpPr>
          <p:nvPr>
            <p:ph idx="1"/>
          </p:nvPr>
        </p:nvSpPr>
        <p:spPr/>
        <p:txBody>
          <a:bodyPr/>
          <a:lstStyle/>
          <a:p>
            <a:pPr>
              <a:defRPr sz="2000">
                <a:solidFill>
                  <a:srgbClr val="444444"/>
                </a:solidFill>
              </a:defRPr>
            </a:pPr>
            <a:r>
              <a:t>RNNs handle sequential data</a:t>
            </a:r>
          </a:p>
          <a:p>
            <a:pPr>
              <a:defRPr sz="2000">
                <a:solidFill>
                  <a:srgbClr val="444444"/>
                </a:solidFill>
              </a:defRPr>
            </a:pPr>
            <a:r>
              <a:t>Designed for time series forecasting</a:t>
            </a:r>
          </a:p>
          <a:p>
            <a:pPr>
              <a:defRPr sz="2000">
                <a:solidFill>
                  <a:srgbClr val="444444"/>
                </a:solidFill>
              </a:defRPr>
            </a:pPr>
            <a:r>
              <a:t>Natural language processing applications</a:t>
            </a:r>
          </a:p>
          <a:p>
            <a:pPr>
              <a:defRPr sz="2000">
                <a:solidFill>
                  <a:srgbClr val="444444"/>
                </a:solidFill>
              </a:defRPr>
            </a:pPr>
            <a:r>
              <a:t>Speech recognition and synthesis</a:t>
            </a:r>
          </a:p>
          <a:p>
            <a:pPr>
              <a:defRPr sz="2000">
                <a:solidFill>
                  <a:srgbClr val="444444"/>
                </a:solidFill>
              </a:defRPr>
            </a:pPr>
            <a:r>
              <a:t>Image captioning and generation</a:t>
            </a:r>
          </a:p>
          <a:p>
            <a:pPr>
              <a:defRPr sz="2000">
                <a:solidFill>
                  <a:srgbClr val="444444"/>
                </a:solidFill>
              </a:defRPr>
            </a:pPr>
            <a:r>
              <a:t>Handle variable-length input sequences</a:t>
            </a:r>
          </a:p>
          <a:p>
            <a:pPr>
              <a:defRPr sz="2000">
                <a:solidFill>
                  <a:srgbClr val="444444"/>
                </a:solidFill>
              </a:defRPr>
            </a:pPr>
            <a:r>
              <a:t>Can learn long-term dependencies</a:t>
            </a:r>
          </a:p>
          <a:p>
            <a:pPr>
              <a:defRPr sz="2000">
                <a:solidFill>
                  <a:srgbClr val="444444"/>
                </a:solidFill>
              </a:defRPr>
            </a:pPr>
            <a:r>
              <a:t>Key component in many deep learning models</a:t>
            </a:r>
          </a:p>
          <a:p>
            <a:pPr>
              <a:defRPr sz="2000">
                <a:solidFill>
                  <a:srgbClr val="444444"/>
                </a:solidFill>
              </a:defRPr>
            </a:pPr>
            <a:r>
              <a:t>Used in chatbots and virtual assistants</a:t>
            </a:r>
          </a:p>
          <a:p>
            <a:pPr>
              <a:defRPr sz="2000">
                <a:solidFill>
                  <a:srgbClr val="444444"/>
                </a:solidFill>
              </a:defRPr>
            </a:pPr>
            <a:r>
              <a:t>Enable machines to understand human language</a:t>
            </a:r>
          </a:p>
        </p:txBody>
      </p:sp>
      <p:pic>
        <p:nvPicPr>
          <p:cNvPr id="4" name="Picture 3" descr="08f9d8b6c98a46f4802879e1cf4da07d_rnns_deep_learning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Consist of input, hidden, and output layers</a:t>
            </a:r>
          </a:p>
          <a:p>
            <a:pPr>
              <a:defRPr sz="2000">
                <a:solidFill>
                  <a:srgbClr val="444444"/>
                </a:solidFill>
              </a:defRPr>
            </a:pPr>
            <a:r>
              <a:t>Hidden layer has recurrent connections</a:t>
            </a:r>
          </a:p>
          <a:p>
            <a:pPr>
              <a:defRPr sz="2000">
                <a:solidFill>
                  <a:srgbClr val="444444"/>
                </a:solidFill>
              </a:defRPr>
            </a:pPr>
            <a:r>
              <a:t>Output depends on previous inputs</a:t>
            </a:r>
          </a:p>
          <a:p>
            <a:pPr>
              <a:defRPr sz="2000">
                <a:solidFill>
                  <a:srgbClr val="444444"/>
                </a:solidFill>
              </a:defRPr>
            </a:pPr>
            <a:r>
              <a:t>Backpropagation through time (BPTT) used</a:t>
            </a:r>
          </a:p>
          <a:p>
            <a:pPr>
              <a:defRPr sz="2000">
                <a:solidFill>
                  <a:srgbClr val="444444"/>
                </a:solidFill>
              </a:defRPr>
            </a:pPr>
            <a:r>
              <a:t>Simple RNN equation: y = sigmoid(Wx + Uh)</a:t>
            </a:r>
          </a:p>
          <a:p>
            <a:pPr>
              <a:defRPr sz="2000">
                <a:solidFill>
                  <a:srgbClr val="444444"/>
                </a:solidFill>
              </a:defRPr>
            </a:pPr>
            <a:r>
              <a:t>Image query: RNN architecture diagram</a:t>
            </a:r>
          </a:p>
          <a:p>
            <a:pPr>
              <a:defRPr sz="2000">
                <a:solidFill>
                  <a:srgbClr val="444444"/>
                </a:solidFill>
              </a:defRPr>
            </a:pPr>
            <a:r>
              <a:t>Recurrent connections allow feedback</a:t>
            </a:r>
          </a:p>
          <a:p>
            <a:pPr>
              <a:defRPr sz="2000">
                <a:solidFill>
                  <a:srgbClr val="444444"/>
                </a:solidFill>
              </a:defRPr>
            </a:pPr>
            <a:r>
              <a:t>Enable the network to keep track of state</a:t>
            </a:r>
          </a:p>
          <a:p>
            <a:pPr>
              <a:defRPr sz="2000">
                <a:solidFill>
                  <a:srgbClr val="444444"/>
                </a:solidFill>
              </a:defRPr>
            </a:pPr>
            <a:r>
              <a:t>Can be trained using various optimization algorithms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a:t>
            </a:r>
          </a:p>
          <a:p>
            <a:pPr>
              <a:defRPr sz="2000">
                <a:solidFill>
                  <a:srgbClr val="444444"/>
                </a:solidFill>
              </a:defRPr>
            </a:pPr>
            <a:r>
              <a:t>GRU (Gated Recurrent Unit) networks</a:t>
            </a:r>
          </a:p>
          <a:p>
            <a:pPr>
              <a:defRPr sz="2000">
                <a:solidFill>
                  <a:srgbClr val="444444"/>
                </a:solidFill>
              </a:defRPr>
            </a:pPr>
            <a:r>
              <a:t>Bidirectional RNNs</a:t>
            </a:r>
          </a:p>
          <a:p>
            <a:pPr>
              <a:defRPr sz="2000">
                <a:solidFill>
                  <a:srgbClr val="444444"/>
                </a:solidFill>
              </a:defRPr>
            </a:pPr>
            <a:r>
              <a:t>Deep RNNs with multiple hidden layers</a:t>
            </a:r>
          </a:p>
          <a:p>
            <a:pPr>
              <a:defRPr sz="2000">
                <a:solidFill>
                  <a:srgbClr val="444444"/>
                </a:solidFill>
              </a:defRPr>
            </a:pPr>
            <a:r>
              <a:t>Residual connections and skip connections</a:t>
            </a:r>
          </a:p>
          <a:p>
            <a:pPr>
              <a:defRPr sz="2000">
                <a:solidFill>
                  <a:srgbClr val="444444"/>
                </a:solidFill>
              </a:defRPr>
            </a:pPr>
            <a:r>
              <a:t>Attention mechanisms and memory-augmented RNNs</a:t>
            </a:r>
          </a:p>
          <a:p>
            <a:pPr>
              <a:defRPr sz="2000">
                <a:solidFill>
                  <a:srgbClr val="444444"/>
                </a:solidFill>
              </a:defRPr>
            </a:pPr>
            <a:r>
              <a:t>Recurrent Highway Networks (RHNs)</a:t>
            </a:r>
          </a:p>
          <a:p>
            <a:pPr>
              <a:defRPr sz="2000">
                <a:solidFill>
                  <a:srgbClr val="444444"/>
                </a:solidFill>
              </a:defRPr>
            </a:pPr>
            <a:r>
              <a:t>Clockwork RNNs and Phased LSTM</a:t>
            </a:r>
          </a:p>
          <a:p>
            <a:pPr>
              <a:defRPr sz="2000">
                <a:solidFill>
                  <a:srgbClr val="444444"/>
                </a:solidFill>
              </a:defRPr>
            </a:pPr>
            <a:r>
              <a:t>Dilated RNNs and temporal convolutional networks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Natural language processing and machine translation</a:t>
            </a:r>
          </a:p>
          <a:p>
            <a:pPr>
              <a:defRPr sz="2000">
                <a:solidFill>
                  <a:srgbClr val="444444"/>
                </a:solidFill>
              </a:defRPr>
            </a:pPr>
            <a:r>
              <a:t>Speech recognition and synthesis</a:t>
            </a:r>
          </a:p>
          <a:p>
            <a:pPr>
              <a:defRPr sz="2000">
                <a:solidFill>
                  <a:srgbClr val="444444"/>
                </a:solidFill>
              </a:defRPr>
            </a:pPr>
            <a:r>
              <a:t>Time series forecasting and prediction</a:t>
            </a:r>
          </a:p>
          <a:p>
            <a:pPr>
              <a:defRPr sz="2000">
                <a:solidFill>
                  <a:srgbClr val="444444"/>
                </a:solidFill>
              </a:defRPr>
            </a:pPr>
            <a:r>
              <a:t>Image captioning and generation</a:t>
            </a:r>
          </a:p>
          <a:p>
            <a:pPr>
              <a:defRPr sz="2000">
                <a:solidFill>
                  <a:srgbClr val="444444"/>
                </a:solidFill>
              </a:defRPr>
            </a:pPr>
            <a:r>
              <a:t>Chatbots and virtual assistants</a:t>
            </a:r>
          </a:p>
          <a:p>
            <a:pPr>
              <a:defRPr sz="2000">
                <a:solidFill>
                  <a:srgbClr val="444444"/>
                </a:solidFill>
              </a:defRPr>
            </a:pPr>
            <a:r>
              <a:t>Sentiment analysis and opinion mining</a:t>
            </a:r>
          </a:p>
          <a:p>
            <a:pPr>
              <a:defRPr sz="2000">
                <a:solidFill>
                  <a:srgbClr val="444444"/>
                </a:solidFill>
              </a:defRPr>
            </a:pPr>
            <a:r>
              <a:t>Advantages: handle sequential data, learn long-term dependencies</a:t>
            </a:r>
          </a:p>
          <a:p>
            <a:pPr>
              <a:defRPr sz="2000">
                <a:solidFill>
                  <a:srgbClr val="444444"/>
                </a:solidFill>
              </a:defRPr>
            </a:pPr>
            <a:r>
              <a:t>Limitations: vanishing gradients, exploding gradients</a:t>
            </a:r>
          </a:p>
          <a:p>
            <a:pPr>
              <a:defRPr sz="2000">
                <a:solidFill>
                  <a:srgbClr val="444444"/>
                </a:solidFill>
              </a:defRPr>
            </a:pPr>
            <a:r>
              <a:t>Require large amounts of training data</a:t>
            </a:r>
          </a:p>
          <a:p>
            <a:pPr>
              <a:defRPr sz="2000">
                <a:solidFill>
                  <a:srgbClr val="444444"/>
                </a:solidFill>
              </a:defRPr>
            </a:pPr>
            <a:r>
              <a:t>Can be computationally expensive to train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RNNs handle sequential data</a:t>
            </a:r>
          </a:p>
          <a:p>
            <a:pPr>
              <a:defRPr sz="2200" b="1">
                <a:solidFill>
                  <a:srgbClr val="1F497D"/>
                </a:solidFill>
              </a:defRPr>
            </a:pPr>
            <a:r>
              <a:t>Consist of input, hidden, and output layers</a:t>
            </a:r>
          </a:p>
          <a:p>
            <a:pPr>
              <a:defRPr sz="2200" b="1">
                <a:solidFill>
                  <a:srgbClr val="1F497D"/>
                </a:solidFill>
              </a:defRPr>
            </a:pPr>
            <a:r>
              <a:t>LSTM (Long Short-Term Memory) networks</a:t>
            </a:r>
          </a:p>
          <a:p>
            <a:pPr>
              <a:defRPr sz="2200" b="1">
                <a:solidFill>
                  <a:srgbClr val="1F497D"/>
                </a:solidFill>
              </a:defRPr>
            </a:pPr>
            <a:r>
              <a:t>Natural language processing and machine translation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