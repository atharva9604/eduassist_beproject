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Convolutional Neural Networks (CNNs) presentation covering multiple topics. Today we'll explore: Introduction to CNNs, Convolution Operation, Pooling Layers, CNN Architecture Example, Applications of CNNs.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explain the biological inspiration behind these models and their effectiveness in image and video processing. Provide examples of real-world applications such as self-driving cars, facial recognition, and medical imaging. Ask students about their prior knowledge of neural networks and what they expect to learn from this topic. Key takeaways include understanding the basic architecture of CNNs and their role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start by explaining the biological inspiration behind these models, highlighting how they mimic the human visual cortex. Provide examples of applications such as image recognition, self-driving cars, and facial recognition to illustrate their practical uses. Discuss the basic architecture, including convolutional, pooling, and fully connected layers. Mention the need for large datasets and computational resources. Use the simple neural network equation Y = σ(WX + b) to introduce the concept of neural network computations. Ask students to consider what types of problems might be suited to CNNs and how they differ from other machine learning models. Key takeaways should include understanding the basic components of a CNN and their applications in real-world scenarios.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CNNs, emphasize the role of convolutional and pooling layers in feature extraction and dimensionality reduction. Provide examples of how these layers are used in image classification tasks, such as handwritten digit recognition. Ask students to consider the importance of activation functions and how they introduce non-linearity into the model. Discuss the benefits of batch normalization and dropout in improving training speed and preventing overfitting. Key takeaways include understanding the basic components of a CNN and how they work together to enable image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operation, explain how it works by combining image data with filters to extract local features. Provide examples of image processing and computer vision applications, such as edge detection and object recognition. Emphasize the importance of stride in defining filter movement and its impact on spatial hierarchy learning. Use visual aids to illustrate the convolution process and ask students to consider how this operation enables image feature extraction and classification. Key takeaways include understanding the role of convolution in CNNs and its ability to preserve spatial relationships in data, leading to improved model performance with reduced parameters.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Convolutional Neural Networks (CNNs)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CNNs, Convolution Operation, Pooling Layers, CNN Architecture Example, Applications of CNNs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are deep learning models</a:t>
            </a:r>
          </a:p>
          <a:p>
            <a:pPr>
              <a:defRPr sz="2000">
                <a:solidFill>
                  <a:srgbClr val="444444"/>
                </a:solidFill>
              </a:defRPr>
            </a:pPr>
            <a:r>
              <a:t>Inspired by biological neural networks and visual cortex</a:t>
            </a:r>
          </a:p>
          <a:p>
            <a:pPr>
              <a:defRPr sz="2000">
                <a:solidFill>
                  <a:srgbClr val="444444"/>
                </a:solidFill>
              </a:defRPr>
            </a:pPr>
            <a:r>
              <a:t>Used for image and video processing applications</a:t>
            </a:r>
          </a:p>
          <a:p>
            <a:pPr>
              <a:defRPr sz="2000">
                <a:solidFill>
                  <a:srgbClr val="444444"/>
                </a:solidFill>
              </a:defRPr>
            </a:pPr>
            <a:r>
              <a:t>Effective in pattern recognition and feature extraction</a:t>
            </a:r>
          </a:p>
          <a:p>
            <a:pPr>
              <a:defRPr sz="2000">
                <a:solidFill>
                  <a:srgbClr val="444444"/>
                </a:solidFill>
              </a:defRPr>
            </a:pPr>
            <a:r>
              <a:t>Consist of convolutional and pooling layers</a:t>
            </a:r>
          </a:p>
          <a:p>
            <a:pPr>
              <a:defRPr sz="2000">
                <a:solidFill>
                  <a:srgbClr val="444444"/>
                </a:solidFill>
              </a:defRPr>
            </a:pPr>
            <a:r>
              <a:t>Fully connected layers for classification tasks</a:t>
            </a:r>
          </a:p>
          <a:p>
            <a:pPr>
              <a:defRPr sz="2000">
                <a:solidFill>
                  <a:srgbClr val="444444"/>
                </a:solidFill>
              </a:defRPr>
            </a:pPr>
            <a:r>
              <a:t>Activation functions like ReLU and Sigmoid used</a:t>
            </a:r>
          </a:p>
          <a:p>
            <a:pPr>
              <a:defRPr sz="2000">
                <a:solidFill>
                  <a:srgbClr val="444444"/>
                </a:solidFill>
              </a:defRPr>
            </a:pPr>
            <a:r>
              <a:t>Backpropagation for training and optimization</a:t>
            </a:r>
          </a:p>
          <a:p>
            <a:pPr>
              <a:defRPr sz="2000">
                <a:solidFill>
                  <a:srgbClr val="444444"/>
                </a:solidFill>
              </a:defRPr>
            </a:pPr>
            <a:r>
              <a:t>CNNs have many real-world applications and variants</a:t>
            </a:r>
          </a:p>
        </p:txBody>
      </p:sp>
      <p:pic>
        <p:nvPicPr>
          <p:cNvPr id="4" name="Picture 3" descr="fb3daac691b140e09bb1599ee4ba7bb7_introduction_to_cnns_convolution_operati.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are deep learning models</a:t>
            </a:r>
          </a:p>
          <a:p>
            <a:pPr>
              <a:defRPr sz="2000">
                <a:solidFill>
                  <a:srgbClr val="444444"/>
                </a:solidFill>
              </a:defRPr>
            </a:pPr>
            <a:r>
              <a:t>Inspired by biological neural networks and visual cortex</a:t>
            </a:r>
          </a:p>
          <a:p>
            <a:pPr>
              <a:defRPr sz="2000">
                <a:solidFill>
                  <a:srgbClr val="444444"/>
                </a:solidFill>
              </a:defRPr>
            </a:pPr>
            <a:r>
              <a:t>Used for image and video processing tasks</a:t>
            </a:r>
          </a:p>
          <a:p>
            <a:pPr>
              <a:defRPr sz="2000">
                <a:solidFill>
                  <a:srgbClr val="444444"/>
                </a:solidFill>
              </a:defRPr>
            </a:pPr>
            <a:r>
              <a:t>Can learn spatial hierarchies of features automatically</a:t>
            </a:r>
          </a:p>
          <a:p>
            <a:pPr>
              <a:defRPr sz="2000">
                <a:solidFill>
                  <a:srgbClr val="444444"/>
                </a:solidFill>
              </a:defRPr>
            </a:pPr>
            <a:r>
              <a:t>Consist of convolutional and pooling layers</a:t>
            </a:r>
          </a:p>
          <a:p>
            <a:pPr>
              <a:defRPr sz="2000">
                <a:solidFill>
                  <a:srgbClr val="444444"/>
                </a:solidFill>
              </a:defRPr>
            </a:pPr>
            <a:r>
              <a:t>Followed by fully connected layers for classification</a:t>
            </a:r>
          </a:p>
          <a:p>
            <a:pPr>
              <a:defRPr sz="2000">
                <a:solidFill>
                  <a:srgbClr val="444444"/>
                </a:solidFill>
              </a:defRPr>
            </a:pPr>
            <a:r>
              <a:t>Can be trained on large datasets for accuracy</a:t>
            </a:r>
          </a:p>
          <a:p>
            <a:pPr>
              <a:defRPr sz="2000">
                <a:solidFill>
                  <a:srgbClr val="444444"/>
                </a:solidFill>
              </a:defRPr>
            </a:pPr>
            <a:r>
              <a:t>Applied in self-driving cars and facial recognition</a:t>
            </a:r>
          </a:p>
          <a:p>
            <a:pPr>
              <a:defRPr sz="2000">
                <a:solidFill>
                  <a:srgbClr val="444444"/>
                </a:solidFill>
              </a:defRPr>
            </a:pPr>
            <a:r>
              <a:t>Require significant computational resources and data</a:t>
            </a:r>
          </a:p>
          <a:p>
            <a:pPr>
              <a:defRPr sz="2000">
                <a:solidFill>
                  <a:srgbClr val="444444"/>
                </a:solidFill>
              </a:defRPr>
            </a:pPr>
            <a:r>
              <a:t>Y = σ(WX + b) simple neural network equation</a:t>
            </a:r>
          </a:p>
        </p:txBody>
      </p:sp>
      <p:pic>
        <p:nvPicPr>
          <p:cNvPr id="4" name="Picture 3" descr="f207dd6ea5ec462d91bc64d56dcdda80_introduction_to_cnns_convolution_operati.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CNNs - Architecture</a:t>
            </a:r>
          </a:p>
        </p:txBody>
      </p:sp>
      <p:sp>
        <p:nvSpPr>
          <p:cNvPr id="3" name="Content Placeholder 2"/>
          <p:cNvSpPr>
            <a:spLocks noGrp="1"/>
          </p:cNvSpPr>
          <p:nvPr>
            <p:ph idx="1"/>
          </p:nvPr>
        </p:nvSpPr>
        <p:spPr/>
        <p:txBody>
          <a:bodyPr/>
          <a:lstStyle/>
          <a:p>
            <a:pPr>
              <a:defRPr sz="2000">
                <a:solidFill>
                  <a:srgbClr val="444444"/>
                </a:solidFill>
              </a:defRPr>
            </a:pPr>
            <a:r>
              <a:t>CNNs consist of convolutional and pooling layers</a:t>
            </a:r>
          </a:p>
          <a:p>
            <a:pPr>
              <a:defRPr sz="2000">
                <a:solidFill>
                  <a:srgbClr val="444444"/>
                </a:solidFill>
              </a:defRPr>
            </a:pPr>
            <a:r>
              <a:t>Convolutional layers extract local features</a:t>
            </a:r>
          </a:p>
          <a:p>
            <a:pPr>
              <a:defRPr sz="2000">
                <a:solidFill>
                  <a:srgbClr val="444444"/>
                </a:solidFill>
              </a:defRPr>
            </a:pPr>
            <a:r>
              <a:t>Pooling layers reduce spatial dimensions</a:t>
            </a:r>
          </a:p>
          <a:p>
            <a:pPr>
              <a:defRPr sz="2000">
                <a:solidFill>
                  <a:srgbClr val="444444"/>
                </a:solidFill>
              </a:defRPr>
            </a:pPr>
            <a:r>
              <a:t>Fully connected layers enable classification</a:t>
            </a:r>
          </a:p>
          <a:p>
            <a:pPr>
              <a:defRPr sz="2000">
                <a:solidFill>
                  <a:srgbClr val="444444"/>
                </a:solidFill>
              </a:defRPr>
            </a:pPr>
            <a:r>
              <a:t>Activation functions introduce non-linearity</a:t>
            </a:r>
          </a:p>
          <a:p>
            <a:pPr>
              <a:defRPr sz="2000">
                <a:solidFill>
                  <a:srgbClr val="444444"/>
                </a:solidFill>
              </a:defRPr>
            </a:pPr>
            <a:r>
              <a:t>ReLU is a commonly used activation function</a:t>
            </a:r>
          </a:p>
          <a:p>
            <a:pPr>
              <a:defRPr sz="2000">
                <a:solidFill>
                  <a:srgbClr val="444444"/>
                </a:solidFill>
              </a:defRPr>
            </a:pPr>
            <a:r>
              <a:t>CNNs use backpropagation for training</a:t>
            </a:r>
          </a:p>
          <a:p>
            <a:pPr>
              <a:defRPr sz="2000">
                <a:solidFill>
                  <a:srgbClr val="444444"/>
                </a:solidFill>
              </a:defRPr>
            </a:pPr>
            <a:r>
              <a:t>Batch normalization improves training speed</a:t>
            </a:r>
          </a:p>
          <a:p>
            <a:pPr>
              <a:defRPr sz="2000">
                <a:solidFill>
                  <a:srgbClr val="444444"/>
                </a:solidFill>
              </a:defRPr>
            </a:pPr>
            <a:r>
              <a:t>Dropout prevents overfitting in CNNs</a:t>
            </a:r>
          </a:p>
          <a:p>
            <a:pPr>
              <a:defRPr sz="2000">
                <a:solidFill>
                  <a:srgbClr val="444444"/>
                </a:solidFill>
              </a:defRPr>
            </a:pPr>
            <a:r>
              <a:t>y = σ(Wx + b) is a simple neural network equation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operation combines image data with filters</a:t>
            </a:r>
          </a:p>
          <a:p>
            <a:pPr>
              <a:defRPr sz="2000">
                <a:solidFill>
                  <a:srgbClr val="444444"/>
                </a:solidFill>
              </a:defRPr>
            </a:pPr>
            <a:r>
              <a:t>Extracts local features from small image regions</a:t>
            </a:r>
          </a:p>
          <a:p>
            <a:pPr>
              <a:defRPr sz="2000">
                <a:solidFill>
                  <a:srgbClr val="444444"/>
                </a:solidFill>
              </a:defRPr>
            </a:pPr>
            <a:r>
              <a:t>Applies filters to entire image with stride</a:t>
            </a:r>
          </a:p>
          <a:p>
            <a:pPr>
              <a:defRPr sz="2000">
                <a:solidFill>
                  <a:srgbClr val="444444"/>
                </a:solidFill>
              </a:defRPr>
            </a:pPr>
            <a:r>
              <a:t>Stride defines filter movement over image</a:t>
            </a:r>
          </a:p>
          <a:p>
            <a:pPr>
              <a:defRPr sz="2000">
                <a:solidFill>
                  <a:srgbClr val="444444"/>
                </a:solidFill>
              </a:defRPr>
            </a:pPr>
            <a:r>
              <a:t>Convolution enables spatial hierarchy learning</a:t>
            </a:r>
          </a:p>
          <a:p>
            <a:pPr>
              <a:defRPr sz="2000">
                <a:solidFill>
                  <a:srgbClr val="444444"/>
                </a:solidFill>
              </a:defRPr>
            </a:pPr>
            <a:r>
              <a:t>Used in image processing and computer vision</a:t>
            </a:r>
          </a:p>
          <a:p>
            <a:pPr>
              <a:defRPr sz="2000">
                <a:solidFill>
                  <a:srgbClr val="444444"/>
                </a:solidFill>
              </a:defRPr>
            </a:pPr>
            <a:r>
              <a:t>Key component of Convolutional Neural Networks</a:t>
            </a:r>
          </a:p>
          <a:p>
            <a:pPr>
              <a:defRPr sz="2000">
                <a:solidFill>
                  <a:srgbClr val="444444"/>
                </a:solidFill>
              </a:defRPr>
            </a:pPr>
            <a:r>
              <a:t>Enables image feature extraction and classification</a:t>
            </a:r>
          </a:p>
          <a:p>
            <a:pPr>
              <a:defRPr sz="2000">
                <a:solidFill>
                  <a:srgbClr val="444444"/>
                </a:solidFill>
              </a:defRPr>
            </a:pPr>
            <a:r>
              <a:t>Preserves spatial relationships in data</a:t>
            </a:r>
          </a:p>
          <a:p>
            <a:pPr>
              <a:defRPr sz="2000">
                <a:solidFill>
                  <a:srgbClr val="444444"/>
                </a:solidFill>
              </a:defRPr>
            </a:pPr>
            <a:r>
              <a:t>Improves model performance with reduced parameters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