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Recurrent Neural Networks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Recurrent Neural Networks (RNNs) and their importance in deep learning. Explain how RNNs are used for sequential data analysis and provide examples of real-world applications. Ask students if they have any experience with RNNs or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RNNs, including the input gate, output gate, and forget gate. Describe the role of recurrent connections and feedback loops. Provide examples of different RNN architectures, such as GRUs and LSTMs, and ask students to compare and contrast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Derive the mathematical formulation of RNNs, including the recurrent neural network equations and activation functions. Explain the backpropagation through time (BPTT) algorithm and provide examples of computing gradients and updating weights. Ask students to work through the derivation of the RNN equations and BPTT algorithm.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training process for RNNs, including the objectives and loss functions. Describe the backpropagation through time (BPTT) algorithm and provide examples of truncated BPTT and approximate methods. Discuss the importance of regularization techniques, such as dropout, and ask students to work through an example of training an RNN.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Provide examples of real-world applications of RNNs, including natural language processing, speech recognition, and time-series forecasting. Ask students to think of potential applications of RNNs in their own fields of interest. Discuss the importance of RNNs in AI and machine learning and provide case studies of successful RNN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advantages and limitations of RNNs, including their ability to handle sequential data and their susceptibility to vanishing and exploding gradients. Ask students to weigh the pros and cons of using RNNs in different applications. Provide examples of how RNNs can be used in combination with other deep learning models to overcome their limitations.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(RNNs) overview</a:t>
            </a:r>
          </a:p>
          <a:p>
            <a:pPr>
              <a:defRPr sz="2000">
                <a:solidFill>
                  <a:srgbClr val="444444"/>
                </a:solidFill>
              </a:defRPr>
            </a:pPr>
            <a:r>
              <a:t>RNNs for sequential data analysis</a:t>
            </a:r>
          </a:p>
          <a:p>
            <a:pPr>
              <a:defRPr sz="2000">
                <a:solidFill>
                  <a:srgbClr val="444444"/>
                </a:solidFill>
              </a:defRPr>
            </a:pPr>
            <a:r>
              <a:t>Time-series forecasting and natural language processing</a:t>
            </a:r>
          </a:p>
          <a:p>
            <a:pPr>
              <a:defRPr sz="2000">
                <a:solidFill>
                  <a:srgbClr val="444444"/>
                </a:solidFill>
              </a:defRPr>
            </a:pPr>
            <a:r>
              <a:t>Introduction to deep learning concepts</a:t>
            </a:r>
          </a:p>
          <a:p>
            <a:pPr>
              <a:defRPr sz="2000">
                <a:solidFill>
                  <a:srgbClr val="444444"/>
                </a:solidFill>
              </a:defRPr>
            </a:pPr>
            <a:r>
              <a:t>RNNs for speech recognition and machine translation</a:t>
            </a:r>
          </a:p>
          <a:p>
            <a:pPr>
              <a:defRPr sz="2000">
                <a:solidFill>
                  <a:srgbClr val="444444"/>
                </a:solidFill>
              </a:defRPr>
            </a:pPr>
            <a:r>
              <a:t>Basic RNN architecture and components</a:t>
            </a:r>
          </a:p>
          <a:p>
            <a:pPr>
              <a:defRPr sz="2000">
                <a:solidFill>
                  <a:srgbClr val="444444"/>
                </a:solidFill>
              </a:defRPr>
            </a:pPr>
            <a:r>
              <a:t>RNNs vs. traditional neural networks</a:t>
            </a:r>
          </a:p>
          <a:p>
            <a:pPr>
              <a:defRPr sz="2000">
                <a:solidFill>
                  <a:srgbClr val="444444"/>
                </a:solidFill>
              </a:defRPr>
            </a:pPr>
            <a:r>
              <a:t>Importance of RNNs in AI and machine learning</a:t>
            </a:r>
          </a:p>
          <a:p>
            <a:pPr>
              <a:defRPr sz="2000">
                <a:solidFill>
                  <a:srgbClr val="444444"/>
                </a:solidFill>
              </a:defRPr>
            </a:pPr>
            <a:r>
              <a:t>Real-world applications of RNNs</a:t>
            </a:r>
          </a:p>
          <a:p>
            <a:pPr>
              <a:defRPr sz="2000">
                <a:solidFill>
                  <a:srgbClr val="444444"/>
                </a:solidFill>
              </a:defRPr>
            </a:pPr>
            <a:r>
              <a:t>RNNs in computer vision and signal processing</a:t>
            </a:r>
          </a:p>
        </p:txBody>
      </p:sp>
      <p:pic>
        <p:nvPicPr>
          <p:cNvPr id="4" name="Picture 3" descr="5c7ff08f645e45b481ecea4457cdaa8c_recurrent_neural_networks_rnns_deep_lear.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Basic RNN architecture components</a:t>
            </a:r>
          </a:p>
          <a:p>
            <a:pPr>
              <a:defRPr sz="2000">
                <a:solidFill>
                  <a:srgbClr val="444444"/>
                </a:solidFill>
              </a:defRPr>
            </a:pPr>
            <a:r>
              <a:t>Input gate, output gate, and forget gate</a:t>
            </a:r>
          </a:p>
          <a:p>
            <a:pPr>
              <a:defRPr sz="2000">
                <a:solidFill>
                  <a:srgbClr val="444444"/>
                </a:solidFill>
              </a:defRPr>
            </a:pPr>
            <a:r>
              <a:t>Recurrent connections and feedback loops</a:t>
            </a:r>
          </a:p>
          <a:p>
            <a:pPr>
              <a:defRPr sz="2000">
                <a:solidFill>
                  <a:srgbClr val="444444"/>
                </a:solidFill>
              </a:defRPr>
            </a:pPr>
            <a:r>
              <a:t>Cell state and hidden state</a:t>
            </a:r>
          </a:p>
          <a:p>
            <a:pPr>
              <a:defRPr sz="2000">
                <a:solidFill>
                  <a:srgbClr val="444444"/>
                </a:solidFill>
              </a:defRPr>
            </a:pPr>
            <a:r>
              <a:t>Activation functions and nonlinearities</a:t>
            </a:r>
          </a:p>
          <a:p>
            <a:pPr>
              <a:defRPr sz="2000">
                <a:solidFill>
                  <a:srgbClr val="444444"/>
                </a:solidFill>
              </a:defRPr>
            </a:pPr>
            <a:r>
              <a:t>RNN layers and stacking</a:t>
            </a:r>
          </a:p>
          <a:p>
            <a:pPr>
              <a:defRPr sz="2000">
                <a:solidFill>
                  <a:srgbClr val="444444"/>
                </a:solidFill>
              </a:defRPr>
            </a:pPr>
            <a:r>
              <a:t>Bidirectional RNNs and encoder-decoder models</a:t>
            </a:r>
          </a:p>
          <a:p>
            <a:pPr>
              <a:defRPr sz="2000">
                <a:solidFill>
                  <a:srgbClr val="444444"/>
                </a:solidFill>
              </a:defRPr>
            </a:pPr>
            <a:r>
              <a:t>Gated Recurrent Units (GRUs) and Long Short-Term Memory (LSTMs)</a:t>
            </a:r>
          </a:p>
          <a:p>
            <a:pPr>
              <a:defRPr sz="2000">
                <a:solidFill>
                  <a:srgbClr val="444444"/>
                </a:solidFill>
              </a:defRPr>
            </a:pPr>
            <a:r>
              <a:t>Comparison of different RNN architectures</a:t>
            </a:r>
          </a:p>
        </p:txBody>
      </p:sp>
      <p:pic>
        <p:nvPicPr>
          <p:cNvPr id="4" name="Picture 3" descr="a1cca903bcb04e8e96b14363ad161304_recurrent_neural_networks_rnns_deep_lear.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Formulation</a:t>
            </a:r>
          </a:p>
        </p:txBody>
      </p:sp>
      <p:sp>
        <p:nvSpPr>
          <p:cNvPr id="3" name="Content Placeholder 2"/>
          <p:cNvSpPr>
            <a:spLocks noGrp="1"/>
          </p:cNvSpPr>
          <p:nvPr>
            <p:ph idx="1"/>
          </p:nvPr>
        </p:nvSpPr>
        <p:spPr/>
        <p:txBody>
          <a:bodyPr/>
          <a:lstStyle/>
          <a:p>
            <a:pPr>
              <a:defRPr sz="2000">
                <a:solidFill>
                  <a:srgbClr val="444444"/>
                </a:solidFill>
              </a:defRPr>
            </a:pPr>
            <a:r>
              <a:t>RNN mathematical formulation overview</a:t>
            </a:r>
          </a:p>
          <a:p>
            <a:pPr>
              <a:defRPr sz="2000">
                <a:solidFill>
                  <a:srgbClr val="444444"/>
                </a:solidFill>
              </a:defRPr>
            </a:pPr>
            <a:r>
              <a:t>Recurrent neural network equations</a:t>
            </a:r>
          </a:p>
          <a:p>
            <a:pPr>
              <a:defRPr sz="2000">
                <a:solidFill>
                  <a:srgbClr val="444444"/>
                </a:solidFill>
              </a:defRPr>
            </a:pPr>
            <a:r>
              <a:t>Activation functions and derivatives</a:t>
            </a:r>
          </a:p>
          <a:p>
            <a:pPr>
              <a:defRPr sz="2000">
                <a:solidFill>
                  <a:srgbClr val="444444"/>
                </a:solidFill>
              </a:defRPr>
            </a:pPr>
            <a:r>
              <a:t>Backpropagation through time (BPTT) algorithm</a:t>
            </a:r>
          </a:p>
          <a:p>
            <a:pPr>
              <a:defRPr sz="2000">
                <a:solidFill>
                  <a:srgbClr val="444444"/>
                </a:solidFill>
              </a:defRPr>
            </a:pPr>
            <a:r>
              <a:t>Computing gradients and updating weights</a:t>
            </a:r>
          </a:p>
          <a:p>
            <a:pPr>
              <a:defRPr sz="2000">
                <a:solidFill>
                  <a:srgbClr val="444444"/>
                </a:solidFill>
              </a:defRPr>
            </a:pPr>
            <a:r>
              <a:t>Vanishing and exploding gradient problems</a:t>
            </a:r>
          </a:p>
          <a:p>
            <a:pPr>
              <a:defRPr sz="2000">
                <a:solidFill>
                  <a:srgbClr val="444444"/>
                </a:solidFill>
              </a:defRPr>
            </a:pPr>
            <a:r>
              <a:t>Gradient clipping and normalization techniques</a:t>
            </a:r>
          </a:p>
          <a:p>
            <a:pPr>
              <a:defRPr sz="2000">
                <a:solidFill>
                  <a:srgbClr val="444444"/>
                </a:solidFill>
              </a:defRPr>
            </a:pPr>
            <a:r>
              <a:t>Mathematical notation and conventions</a:t>
            </a:r>
          </a:p>
          <a:p>
            <a:pPr>
              <a:defRPr sz="2000">
                <a:solidFill>
                  <a:srgbClr val="444444"/>
                </a:solidFill>
              </a:defRPr>
            </a:pPr>
            <a:r>
              <a:t>Derivation of RNN equations and BPTT algorithm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and Backpropagation Through Time</a:t>
            </a:r>
          </a:p>
        </p:txBody>
      </p:sp>
      <p:sp>
        <p:nvSpPr>
          <p:cNvPr id="3" name="Content Placeholder 2"/>
          <p:cNvSpPr>
            <a:spLocks noGrp="1"/>
          </p:cNvSpPr>
          <p:nvPr>
            <p:ph idx="1"/>
          </p:nvPr>
        </p:nvSpPr>
        <p:spPr/>
        <p:txBody>
          <a:bodyPr/>
          <a:lstStyle/>
          <a:p>
            <a:pPr>
              <a:defRPr sz="2000">
                <a:solidFill>
                  <a:srgbClr val="444444"/>
                </a:solidFill>
              </a:defRPr>
            </a:pPr>
            <a:r>
              <a:t>RNN training overview and objectives</a:t>
            </a:r>
          </a:p>
          <a:p>
            <a:pPr>
              <a:defRPr sz="2000">
                <a:solidFill>
                  <a:srgbClr val="444444"/>
                </a:solidFill>
              </a:defRPr>
            </a:pPr>
            <a:r>
              <a:t>Loss functions and optimization algorithms</a:t>
            </a:r>
          </a:p>
          <a:p>
            <a:pPr>
              <a:defRPr sz="2000">
                <a:solidFill>
                  <a:srgbClr val="444444"/>
                </a:solidFill>
              </a:defRPr>
            </a:pPr>
            <a:r>
              <a:t>Backpropagation through time (BPTT) algorithm</a:t>
            </a:r>
          </a:p>
          <a:p>
            <a:pPr>
              <a:defRPr sz="2000">
                <a:solidFill>
                  <a:srgbClr val="444444"/>
                </a:solidFill>
              </a:defRPr>
            </a:pPr>
            <a:r>
              <a:t>Truncated BPTT and approximate methods</a:t>
            </a:r>
          </a:p>
          <a:p>
            <a:pPr>
              <a:defRPr sz="2000">
                <a:solidFill>
                  <a:srgbClr val="444444"/>
                </a:solidFill>
              </a:defRPr>
            </a:pPr>
            <a:r>
              <a:t>Gradient descent and stochastic gradient descent</a:t>
            </a:r>
          </a:p>
          <a:p>
            <a:pPr>
              <a:defRPr sz="2000">
                <a:solidFill>
                  <a:srgbClr val="444444"/>
                </a:solidFill>
              </a:defRPr>
            </a:pPr>
            <a:r>
              <a:t>Mini-batching and batch normalization</a:t>
            </a:r>
          </a:p>
          <a:p>
            <a:pPr>
              <a:defRPr sz="2000">
                <a:solidFill>
                  <a:srgbClr val="444444"/>
                </a:solidFill>
              </a:defRPr>
            </a:pPr>
            <a:r>
              <a:t>Regularization techniques and dropout</a:t>
            </a:r>
          </a:p>
          <a:p>
            <a:pPr>
              <a:defRPr sz="2000">
                <a:solidFill>
                  <a:srgbClr val="444444"/>
                </a:solidFill>
              </a:defRPr>
            </a:pPr>
            <a:r>
              <a:t>Early stopping and learning rate scheduling</a:t>
            </a:r>
          </a:p>
          <a:p>
            <a:pPr>
              <a:defRPr sz="2000">
                <a:solidFill>
                  <a:srgbClr val="444444"/>
                </a:solidFill>
              </a:defRPr>
            </a:pPr>
            <a:r>
              <a:t>RNN training best practices and tips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a:t>
            </a:r>
          </a:p>
        </p:txBody>
      </p:sp>
      <p:sp>
        <p:nvSpPr>
          <p:cNvPr id="3" name="Content Placeholder 2"/>
          <p:cNvSpPr>
            <a:spLocks noGrp="1"/>
          </p:cNvSpPr>
          <p:nvPr>
            <p:ph idx="1"/>
          </p:nvPr>
        </p:nvSpPr>
        <p:spPr/>
        <p:txBody>
          <a:bodyPr/>
          <a:lstStyle/>
          <a:p>
            <a:pPr>
              <a:defRPr sz="2000">
                <a:solidFill>
                  <a:srgbClr val="444444"/>
                </a:solidFill>
              </a:defRPr>
            </a:pPr>
            <a:r>
              <a:t>Natural language processing and text analysis</a:t>
            </a:r>
          </a:p>
          <a:p>
            <a:pPr>
              <a:defRPr sz="2000">
                <a:solidFill>
                  <a:srgbClr val="444444"/>
                </a:solidFill>
              </a:defRPr>
            </a:pPr>
            <a:r>
              <a:t>Speech recognition and machine translation</a:t>
            </a:r>
          </a:p>
          <a:p>
            <a:pPr>
              <a:defRPr sz="2000">
                <a:solidFill>
                  <a:srgbClr val="444444"/>
                </a:solidFill>
              </a:defRPr>
            </a:pPr>
            <a:r>
              <a:t>Time-series forecasting and prediction</a:t>
            </a:r>
          </a:p>
          <a:p>
            <a:pPr>
              <a:defRPr sz="2000">
                <a:solidFill>
                  <a:srgbClr val="444444"/>
                </a:solidFill>
              </a:defRPr>
            </a:pPr>
            <a:r>
              <a:t>Computer vision and image processing</a:t>
            </a:r>
          </a:p>
          <a:p>
            <a:pPr>
              <a:defRPr sz="2000">
                <a:solidFill>
                  <a:srgbClr val="444444"/>
                </a:solidFill>
              </a:defRPr>
            </a:pPr>
            <a:r>
              <a:t>Recommendation systems and collaborative filtering</a:t>
            </a:r>
          </a:p>
          <a:p>
            <a:pPr>
              <a:defRPr sz="2000">
                <a:solidFill>
                  <a:srgbClr val="444444"/>
                </a:solidFill>
              </a:defRPr>
            </a:pPr>
            <a:r>
              <a:t>Sentiment analysis and opinion mining</a:t>
            </a:r>
          </a:p>
          <a:p>
            <a:pPr>
              <a:defRPr sz="2000">
                <a:solidFill>
                  <a:srgbClr val="444444"/>
                </a:solidFill>
              </a:defRPr>
            </a:pPr>
            <a:r>
              <a:t>Question answering and chatbots</a:t>
            </a:r>
          </a:p>
          <a:p>
            <a:pPr>
              <a:defRPr sz="2000">
                <a:solidFill>
                  <a:srgbClr val="444444"/>
                </a:solidFill>
              </a:defRPr>
            </a:pPr>
            <a:r>
              <a:t>Speech synthesis and voice recognition</a:t>
            </a:r>
          </a:p>
          <a:p>
            <a:pPr>
              <a:defRPr sz="2000">
                <a:solidFill>
                  <a:srgbClr val="444444"/>
                </a:solidFill>
              </a:defRPr>
            </a:pPr>
            <a:r>
              <a:t>Real-world applications and case studies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Advantages and Limitations</a:t>
            </a:r>
          </a:p>
        </p:txBody>
      </p:sp>
      <p:sp>
        <p:nvSpPr>
          <p:cNvPr id="3" name="Content Placeholder 2"/>
          <p:cNvSpPr>
            <a:spLocks noGrp="1"/>
          </p:cNvSpPr>
          <p:nvPr>
            <p:ph idx="1"/>
          </p:nvPr>
        </p:nvSpPr>
        <p:spPr/>
        <p:txBody>
          <a:bodyPr/>
          <a:lstStyle/>
          <a:p>
            <a:pPr>
              <a:defRPr sz="2000">
                <a:solidFill>
                  <a:srgbClr val="444444"/>
                </a:solidFill>
              </a:defRPr>
            </a:pPr>
            <a:r>
              <a:t>RNN advantages: handling sequential data</a:t>
            </a:r>
          </a:p>
          <a:p>
            <a:pPr>
              <a:defRPr sz="2000">
                <a:solidFill>
                  <a:srgbClr val="444444"/>
                </a:solidFill>
              </a:defRPr>
            </a:pPr>
            <a:r>
              <a:t>RNN limitations: vanishing and exploding gradients</a:t>
            </a:r>
          </a:p>
          <a:p>
            <a:pPr>
              <a:defRPr sz="2000">
                <a:solidFill>
                  <a:srgbClr val="444444"/>
                </a:solidFill>
              </a:defRPr>
            </a:pPr>
            <a:r>
              <a:t>RNN advantages: flexible and adaptable</a:t>
            </a:r>
          </a:p>
          <a:p>
            <a:pPr>
              <a:defRPr sz="2000">
                <a:solidFill>
                  <a:srgbClr val="444444"/>
                </a:solidFill>
              </a:defRPr>
            </a:pPr>
            <a:r>
              <a:t>RNN limitations: computational complexity</a:t>
            </a:r>
          </a:p>
          <a:p>
            <a:pPr>
              <a:defRPr sz="2000">
                <a:solidFill>
                  <a:srgbClr val="444444"/>
                </a:solidFill>
              </a:defRPr>
            </a:pPr>
            <a:r>
              <a:t>RNN advantages: state-of-the-art performance</a:t>
            </a:r>
          </a:p>
          <a:p>
            <a:pPr>
              <a:defRPr sz="2000">
                <a:solidFill>
                  <a:srgbClr val="444444"/>
                </a:solidFill>
              </a:defRPr>
            </a:pPr>
            <a:r>
              <a:t>RNN limitations: require large amounts of data</a:t>
            </a:r>
          </a:p>
          <a:p>
            <a:pPr>
              <a:defRPr sz="2000">
                <a:solidFill>
                  <a:srgbClr val="444444"/>
                </a:solidFill>
              </a:defRPr>
            </a:pPr>
            <a:r>
              <a:t>RNN advantages: can be used for both supervised and unsupervised learning</a:t>
            </a:r>
          </a:p>
          <a:p>
            <a:pPr>
              <a:defRPr sz="2000">
                <a:solidFill>
                  <a:srgbClr val="444444"/>
                </a:solidFill>
              </a:defRPr>
            </a:pPr>
            <a:r>
              <a:t>RNN limitations: can be difficult to interpret and visualize</a:t>
            </a:r>
          </a:p>
          <a:p>
            <a:pPr>
              <a:defRPr sz="2000">
                <a:solidFill>
                  <a:srgbClr val="444444"/>
                </a:solidFill>
              </a:defRPr>
            </a:pPr>
            <a:r>
              <a:t>Comparison of RNNs with other deep learning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