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RNNs.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Introduction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Core Concept and Architecture of RNNs, emphasize the importance of recurrence and feedback connections, and provide examples of how RNNs process sequences of data. Ask students to consider how the cell state and hidden state interact to produce outputs. Discuss the challenges of training RNNs, such as vanishing gradients, and introduce LSTM and GRU as solutions to these issues.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Mathematical / Logical Explanation of RNNs, emphasize the role of recurrence relations and activation functions in introducing non-linearity. Provide examples of how backpropagation and optimization algorithms work together to update weights. Ask students to consider how the mathematical formulations of RNNs enable their predictive power, and how logical operators combine input and hidden states to produce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applications and use cases of RNNs, emphasize the role of RNNs in sequential data processing and provide examples such as speech recognition and natural language processing. Ask students to consider how RNNs can be applied to real-world problems, such as sentiment analysis or machine translation. Encourage students to think about the potential limitations and challenges of using RNNs in these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presenting this slide, emphasize the importance of understanding RNN components and their limitations, such as vanishing gradients. Provide examples of RNN applications, like language translation or text generation. Ask students to consider how RNNs can be used to model temporal relationships in real-world data, and what benefits LSTMs and GRUs offer over traditional RNNs.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RNNs</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Overview of Introduction</a:t>
            </a:r>
          </a:p>
          <a:p>
            <a:pPr>
              <a:defRPr sz="2000">
                <a:solidFill>
                  <a:srgbClr val="444444"/>
                </a:solidFill>
              </a:defRPr>
            </a:pPr>
            <a:r>
              <a:t>Key concepts related to Introduction</a:t>
            </a:r>
          </a:p>
          <a:p>
            <a:pPr>
              <a:defRPr sz="2000">
                <a:solidFill>
                  <a:srgbClr val="444444"/>
                </a:solidFill>
              </a:defRPr>
            </a:pPr>
            <a:r>
              <a:t>Important aspects of Introduction</a:t>
            </a:r>
          </a:p>
          <a:p>
            <a:pPr>
              <a:defRPr sz="2000">
                <a:solidFill>
                  <a:srgbClr val="444444"/>
                </a:solidFill>
              </a:defRPr>
            </a:pPr>
            <a:r>
              <a:t>Applications and examples of 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Concept / Architecture</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sequences of data</a:t>
            </a:r>
          </a:p>
          <a:p>
            <a:pPr>
              <a:defRPr sz="2000">
                <a:solidFill>
                  <a:srgbClr val="444444"/>
                </a:solidFill>
              </a:defRPr>
            </a:pPr>
            <a:r>
              <a:t>Feedforward networks lack recurrence and feedback</a:t>
            </a:r>
          </a:p>
          <a:p>
            <a:pPr>
              <a:defRPr sz="2000">
                <a:solidFill>
                  <a:srgbClr val="444444"/>
                </a:solidFill>
              </a:defRPr>
            </a:pPr>
            <a:r>
              <a:t>RNNs have feedback connections to previous states</a:t>
            </a:r>
          </a:p>
          <a:p>
            <a:pPr>
              <a:defRPr sz="2000">
                <a:solidFill>
                  <a:srgbClr val="444444"/>
                </a:solidFill>
              </a:defRPr>
            </a:pPr>
            <a:r>
              <a:t>Cell state captures information from previous inputs</a:t>
            </a:r>
          </a:p>
          <a:p>
            <a:pPr>
              <a:defRPr sz="2000">
                <a:solidFill>
                  <a:srgbClr val="444444"/>
                </a:solidFill>
              </a:defRPr>
            </a:pPr>
            <a:r>
              <a:t>Hidden state represents current internal state</a:t>
            </a:r>
          </a:p>
          <a:p>
            <a:pPr>
              <a:defRPr sz="2000">
                <a:solidFill>
                  <a:srgbClr val="444444"/>
                </a:solidFill>
              </a:defRPr>
            </a:pPr>
            <a:r>
              <a:t>Output depends on hidden and cell states</a:t>
            </a:r>
          </a:p>
          <a:p>
            <a:pPr>
              <a:defRPr sz="2000">
                <a:solidFill>
                  <a:srgbClr val="444444"/>
                </a:solidFill>
              </a:defRPr>
            </a:pPr>
            <a:r>
              <a:t>Activation functions introduce non-linearity</a:t>
            </a:r>
          </a:p>
          <a:p>
            <a:pPr>
              <a:defRPr sz="2000">
                <a:solidFill>
                  <a:srgbClr val="444444"/>
                </a:solidFill>
              </a:defRPr>
            </a:pPr>
            <a:r>
              <a:t>Backpropagation through time trains RNNs</a:t>
            </a:r>
          </a:p>
          <a:p>
            <a:pPr>
              <a:defRPr sz="2000">
                <a:solidFill>
                  <a:srgbClr val="444444"/>
                </a:solidFill>
              </a:defRPr>
            </a:pPr>
            <a:r>
              <a:t>Vanishing gradients affect RNN training stability</a:t>
            </a:r>
          </a:p>
          <a:p>
            <a:pPr>
              <a:defRPr sz="2000">
                <a:solidFill>
                  <a:srgbClr val="444444"/>
                </a:solidFill>
              </a:defRPr>
            </a:pPr>
            <a:r>
              <a:t>LSTM and GRU address vanishing gradient issues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 Logical Explanation</a:t>
            </a:r>
          </a:p>
        </p:txBody>
      </p:sp>
      <p:sp>
        <p:nvSpPr>
          <p:cNvPr id="3" name="Content Placeholder 2"/>
          <p:cNvSpPr>
            <a:spLocks noGrp="1"/>
          </p:cNvSpPr>
          <p:nvPr>
            <p:ph idx="1"/>
          </p:nvPr>
        </p:nvSpPr>
        <p:spPr/>
        <p:txBody>
          <a:bodyPr/>
          <a:lstStyle/>
          <a:p>
            <a:pPr>
              <a:defRPr sz="2000">
                <a:solidFill>
                  <a:srgbClr val="444444"/>
                </a:solidFill>
              </a:defRPr>
            </a:pPr>
            <a:r>
              <a:t>Recurrent Neural Networks utilize mathematical recurrence relations</a:t>
            </a:r>
          </a:p>
          <a:p>
            <a:pPr>
              <a:defRPr sz="2000">
                <a:solidFill>
                  <a:srgbClr val="444444"/>
                </a:solidFill>
              </a:defRPr>
            </a:pPr>
            <a:r>
              <a:t>Logical explanations involve sequential data processing</a:t>
            </a:r>
          </a:p>
          <a:p>
            <a:pPr>
              <a:defRPr sz="2000">
                <a:solidFill>
                  <a:srgbClr val="444444"/>
                </a:solidFill>
              </a:defRPr>
            </a:pPr>
            <a:r>
              <a:t>Mathematical models describe RNNs' internal state transitions</a:t>
            </a:r>
          </a:p>
          <a:p>
            <a:pPr>
              <a:defRPr sz="2000">
                <a:solidFill>
                  <a:srgbClr val="444444"/>
                </a:solidFill>
              </a:defRPr>
            </a:pPr>
            <a:r>
              <a:t>Activation functions introduce non-linearity logically</a:t>
            </a:r>
          </a:p>
          <a:p>
            <a:pPr>
              <a:defRPr sz="2000">
                <a:solidFill>
                  <a:srgbClr val="444444"/>
                </a:solidFill>
              </a:defRPr>
            </a:pPr>
            <a:r>
              <a:t>Backpropagation computes gradients mathematically</a:t>
            </a:r>
          </a:p>
          <a:p>
            <a:pPr>
              <a:defRPr sz="2000">
                <a:solidFill>
                  <a:srgbClr val="444444"/>
                </a:solidFill>
              </a:defRPr>
            </a:pPr>
            <a:r>
              <a:t>Optimization algorithms update weights logically</a:t>
            </a:r>
          </a:p>
          <a:p>
            <a:pPr>
              <a:defRPr sz="2000">
                <a:solidFill>
                  <a:srgbClr val="444444"/>
                </a:solidFill>
              </a:defRPr>
            </a:pPr>
            <a:r>
              <a:t>RNNs' gates control information flow mathematically</a:t>
            </a:r>
          </a:p>
          <a:p>
            <a:pPr>
              <a:defRPr sz="2000">
                <a:solidFill>
                  <a:srgbClr val="444444"/>
                </a:solidFill>
              </a:defRPr>
            </a:pPr>
            <a:r>
              <a:t>Logical operators combine input and hidden states</a:t>
            </a:r>
          </a:p>
          <a:p>
            <a:pPr>
              <a:defRPr sz="2000">
                <a:solidFill>
                  <a:srgbClr val="444444"/>
                </a:solidFill>
              </a:defRPr>
            </a:pPr>
            <a:r>
              <a:t>Mathematical formulations enable RNNs' predictive power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Use Cases</a:t>
            </a:r>
          </a:p>
        </p:txBody>
      </p:sp>
      <p:sp>
        <p:nvSpPr>
          <p:cNvPr id="3" name="Content Placeholder 2"/>
          <p:cNvSpPr>
            <a:spLocks noGrp="1"/>
          </p:cNvSpPr>
          <p:nvPr>
            <p:ph idx="1"/>
          </p:nvPr>
        </p:nvSpPr>
        <p:spPr/>
        <p:txBody>
          <a:bodyPr/>
          <a:lstStyle/>
          <a:p>
            <a:pPr>
              <a:defRPr sz="2000">
                <a:solidFill>
                  <a:srgbClr val="444444"/>
                </a:solidFill>
              </a:defRPr>
            </a:pPr>
            <a:r>
              <a:t>Speech recognition systems utilize RNNs for voice processing</a:t>
            </a:r>
          </a:p>
          <a:p>
            <a:pPr>
              <a:defRPr sz="2000">
                <a:solidFill>
                  <a:srgbClr val="444444"/>
                </a:solidFill>
              </a:defRPr>
            </a:pPr>
            <a:r>
              <a:t>Natural Language Processing applies RNNs for text analysis</a:t>
            </a:r>
          </a:p>
          <a:p>
            <a:pPr>
              <a:defRPr sz="2000">
                <a:solidFill>
                  <a:srgbClr val="444444"/>
                </a:solidFill>
              </a:defRPr>
            </a:pPr>
            <a:r>
              <a:t>Time series forecasting uses RNNs for predictive modeling</a:t>
            </a:r>
          </a:p>
          <a:p>
            <a:pPr>
              <a:defRPr sz="2000">
                <a:solidFill>
                  <a:srgbClr val="444444"/>
                </a:solidFill>
              </a:defRPr>
            </a:pPr>
            <a:r>
              <a:t>Sentiment analysis employs RNNs for opinion mining</a:t>
            </a:r>
          </a:p>
          <a:p>
            <a:pPr>
              <a:defRPr sz="2000">
                <a:solidFill>
                  <a:srgbClr val="444444"/>
                </a:solidFill>
              </a:defRPr>
            </a:pPr>
            <a:r>
              <a:t>Machine translation relies on RNNs for language conversion</a:t>
            </a:r>
          </a:p>
          <a:p>
            <a:pPr>
              <a:defRPr sz="2000">
                <a:solidFill>
                  <a:srgbClr val="444444"/>
                </a:solidFill>
              </a:defRPr>
            </a:pPr>
            <a:r>
              <a:t>Chatbots and virtual assistants use RNNs for conversation</a:t>
            </a:r>
          </a:p>
          <a:p>
            <a:pPr>
              <a:defRPr sz="2000">
                <a:solidFill>
                  <a:srgbClr val="444444"/>
                </a:solidFill>
              </a:defRPr>
            </a:pPr>
            <a:r>
              <a:t>RNNs are used in music and audio generation applications</a:t>
            </a:r>
          </a:p>
          <a:p>
            <a:pPr>
              <a:defRPr sz="2000">
                <a:solidFill>
                  <a:srgbClr val="444444"/>
                </a:solidFill>
              </a:defRPr>
            </a:pPr>
            <a:r>
              <a:t>Handwriting recognition systems utilize RNNs for character analysis</a:t>
            </a:r>
          </a:p>
          <a:p>
            <a:pPr>
              <a:defRPr sz="2000">
                <a:solidFill>
                  <a:srgbClr val="444444"/>
                </a:solidFill>
              </a:defRPr>
            </a:pPr>
            <a:r>
              <a:t>RNNs are applied in video analysis and action recognition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&amp; Key Takeaways</a:t>
            </a:r>
          </a:p>
        </p:txBody>
      </p:sp>
      <p:sp>
        <p:nvSpPr>
          <p:cNvPr id="3" name="Content Placeholder 2"/>
          <p:cNvSpPr>
            <a:spLocks noGrp="1"/>
          </p:cNvSpPr>
          <p:nvPr>
            <p:ph idx="1"/>
          </p:nvPr>
        </p:nvSpPr>
        <p:spPr/>
        <p:txBody>
          <a:bodyPr/>
          <a:lstStyle/>
          <a:p>
            <a:pPr>
              <a:defRPr sz="2000">
                <a:solidFill>
                  <a:srgbClr val="444444"/>
                </a:solidFill>
              </a:defRPr>
            </a:pPr>
            <a:r>
              <a:t>RNNs process sequential data with temporal dependencies</a:t>
            </a:r>
          </a:p>
          <a:p>
            <a:pPr>
              <a:defRPr sz="2000">
                <a:solidFill>
                  <a:srgbClr val="444444"/>
                </a:solidFill>
              </a:defRPr>
            </a:pPr>
            <a:r>
              <a:t>Key components include inputs, hidden states, and outputs</a:t>
            </a:r>
          </a:p>
          <a:p>
            <a:pPr>
              <a:defRPr sz="2000">
                <a:solidFill>
                  <a:srgbClr val="444444"/>
                </a:solidFill>
              </a:defRPr>
            </a:pPr>
            <a:r>
              <a:t>Backpropagation through time is used for training</a:t>
            </a:r>
          </a:p>
          <a:p>
            <a:pPr>
              <a:defRPr sz="2000">
                <a:solidFill>
                  <a:srgbClr val="444444"/>
                </a:solidFill>
              </a:defRPr>
            </a:pPr>
            <a:r>
              <a:t>Vanishing gradients affect deep RNNs' performance</a:t>
            </a:r>
          </a:p>
          <a:p>
            <a:pPr>
              <a:defRPr sz="2000">
                <a:solidFill>
                  <a:srgbClr val="444444"/>
                </a:solidFill>
              </a:defRPr>
            </a:pPr>
            <a:r>
              <a:t>LSTMs and GRUs address vanishing gradient issues</a:t>
            </a:r>
          </a:p>
          <a:p>
            <a:pPr>
              <a:defRPr sz="2000">
                <a:solidFill>
                  <a:srgbClr val="444444"/>
                </a:solidFill>
              </a:defRPr>
            </a:pPr>
            <a:r>
              <a:t>RNNs are suitable for natural language processing tasks</a:t>
            </a:r>
          </a:p>
          <a:p>
            <a:pPr>
              <a:defRPr sz="2000">
                <a:solidFill>
                  <a:srgbClr val="444444"/>
                </a:solidFill>
              </a:defRPr>
            </a:pPr>
            <a:r>
              <a:t>Sequence prediction and generation are primary applications</a:t>
            </a:r>
          </a:p>
          <a:p>
            <a:pPr>
              <a:defRPr sz="2000">
                <a:solidFill>
                  <a:srgbClr val="444444"/>
                </a:solidFill>
              </a:defRPr>
            </a:pPr>
            <a:r>
              <a:t>RNNs can learn long-term dependencies and patterns</a:t>
            </a:r>
          </a:p>
          <a:p>
            <a:pPr>
              <a:defRPr sz="2000">
                <a:solidFill>
                  <a:srgbClr val="444444"/>
                </a:solidFill>
              </a:defRPr>
            </a:pPr>
            <a:r>
              <a:t>Regularization techniques prevent overfitting in RNNs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