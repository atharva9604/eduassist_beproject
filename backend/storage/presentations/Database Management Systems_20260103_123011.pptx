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Database Normalization, First Normal Form (1NF), Second Normal Form (2NF), Third Normal Form (3NF), Boyce-Codd Normal Form (BCNF), Normalization Example Walkthrough, Denormalization and Trade-offs, Best Practices and Summary.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its importance in reducing data redundancy and improving data integrity. Provide examples of how normalization can eliminate data inconsistencies and anomalies. Discuss the different normal forms, such as 1NF, 2NF, and 3NF, and how they support data relationships and constraints. Ask students to consider the trade-offs between normalization and denormalization, and how denormalization can optimize query performance. Emphasize the benefits of normalization, including improved data security, reduced storage and maintenance costs, and enhanced data retrieval and manipulation efficiency. Encourage students to think critically about when to apply normalization and denormalization techniques in real-world database design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its importance in reducing data redundancy and improving data integrity. Provide examples of how normalization can be applied to real-world databases, such as a customer database table. Discuss the different normal forms, including 1NF, 2NF, and 3NF, and explain how they eliminate data anomalies. Ask students to consider the trade-offs between normalization and denormalization for performance optimization. Key takeaways include understanding the benefits of normalization, the different normal forms, and how to apply normalization techniques to relational databases.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its importance in database design, highlighting how it reduces data redundancy and improves data integrity. Provide examples of normalization rules, such as 1NF, 2NF, and 3NF, and discuss the trade-offs between normalization and denormalization for performance optimization. Ask students to consider scenarios where normalization is crucial, such as in e-commerce databases, and how it supports data scalability and flexibility. Emphasize key takeaways, including the benefits of normalization and common normal forms used in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First Normal Form, emphasize its importance in database normalization. Explain how 1NF eliminates repeating groups and ensures each cell contains a single value. Provide examples of tables that violate 1NF and how to convert them into 1NF. Ask students to identify which tables are in 1NF and which are not. Key takeaways include understanding the benefits of 1NF, such as improved data integrity and reduced redundancy, and recognizing its role as the foundation for higher normalization forms.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First Normal Form, emphasize its importance in eliminating repeating groups and ensuring each table cell contains a single value. Provide examples of non-1NF tables, such as a customer table with multiple phone numbers in a single cell, and show how to convert them to 1NF. Explain how 1NF improves data integrity, reduces redundancy, and simplifies data management. Ask students to identify potential issues with non-1NF tables and how they can apply 1NF principles to real-world database design scenarios. Key takeaways include understanding the definition and benefits of 1NF, as well as its role in relational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First Normal Form, emphasize the importance of eliminating repeating groups and ensuring each table cell contains a single value. Provide examples of how 1NF transforms data, such as a student table with multiple addresses, and explain how it improves data consistency and reduces redundancy. Ask students to consider how 1NF would apply to real-world scenarios, such as customer orders or inventory management. Key takeaways include understanding the benefits of 1NF in ensuring data consistency and scalability, and recognizing how it simplifies data querying and retrieval processes.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Second Normal Form, emphasize its importance in eliminating data redundancy and inconsistencies. Explain that 2NF is based on the concept of functional dependencies, where each non-key attribute depends on the entire primary key. Provide examples of tables with composite keys and illustrate how 2NF ensures data consistency. Ask students to identify partial dependencies in a given table and discuss how to resolve them. Key takeaways include understanding the definition, importance, and application of 2NF in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Second Normal Form, explain the concept of partial dependencies and how 2NF eliminates them. Provide examples of tables that are in 1NF but not 2NF, and show how to normalize them to 2NF. Discuss the benefits of 2NF, such as improved data integrity and reduced data anomalies. Ask students to identify which attributes depend on the entire primary key and which do not. Emphasize that 2NF is a higher level of normalization than 1NF and is essential for maintaining consistent and reliable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Database Normalization, First Normal Form (1NF), Second Normal Form (2NF), Third Normal Form (3NF), Boyce-Codd Normal Form (BCNF), Normalization Example Walkthrough, Denormalization and Trade-offs, Best Practices and Summary</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a:t>
            </a:r>
          </a:p>
          <a:p>
            <a:pPr>
              <a:defRPr sz="2000">
                <a:solidFill>
                  <a:srgbClr val="444444"/>
                </a:solidFill>
              </a:defRPr>
            </a:pPr>
            <a:r>
              <a:t>Eliminates data inconsistencies and anomalies</a:t>
            </a:r>
          </a:p>
          <a:p>
            <a:pPr>
              <a:defRPr sz="2000">
                <a:solidFill>
                  <a:srgbClr val="444444"/>
                </a:solidFill>
              </a:defRPr>
            </a:pPr>
            <a:r>
              <a:t>Improves data integrity and scalability</a:t>
            </a:r>
          </a:p>
          <a:p>
            <a:pPr>
              <a:defRPr sz="2000">
                <a:solidFill>
                  <a:srgbClr val="444444"/>
                </a:solidFill>
              </a:defRPr>
            </a:pPr>
            <a:r>
              <a:t>Supports data relationships and constraints</a:t>
            </a:r>
          </a:p>
          <a:p>
            <a:pPr>
              <a:defRPr sz="2000">
                <a:solidFill>
                  <a:srgbClr val="444444"/>
                </a:solidFill>
              </a:defRPr>
            </a:pPr>
            <a:r>
              <a:t>Normal forms include 1NF, 2NF, and 3NF</a:t>
            </a:r>
          </a:p>
          <a:p>
            <a:pPr>
              <a:defRPr sz="2000">
                <a:solidFill>
                  <a:srgbClr val="444444"/>
                </a:solidFill>
              </a:defRPr>
            </a:pPr>
            <a:r>
              <a:t>Denormalization optimizes query performance</a:t>
            </a:r>
          </a:p>
          <a:p>
            <a:pPr>
              <a:defRPr sz="2000">
                <a:solidFill>
                  <a:srgbClr val="444444"/>
                </a:solidFill>
              </a:defRPr>
            </a:pPr>
            <a:r>
              <a:t>Normalization enhances data security and access</a:t>
            </a:r>
          </a:p>
          <a:p>
            <a:pPr>
              <a:defRPr sz="2000">
                <a:solidFill>
                  <a:srgbClr val="444444"/>
                </a:solidFill>
              </a:defRPr>
            </a:pPr>
            <a:r>
              <a:t>Reduces data storage and maintenance costs</a:t>
            </a:r>
          </a:p>
          <a:p>
            <a:pPr>
              <a:defRPr sz="2000">
                <a:solidFill>
                  <a:srgbClr val="444444"/>
                </a:solidFill>
              </a:defRPr>
            </a:pPr>
            <a:r>
              <a:t>Improves data retrieval and manipulation efficiency</a:t>
            </a:r>
          </a:p>
        </p:txBody>
      </p:sp>
      <p:pic>
        <p:nvPicPr>
          <p:cNvPr id="4" name="Picture 3" descr="54b01d1ce0ca4cb58b397f8f7c1caea6.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 and dependency</a:t>
            </a:r>
          </a:p>
          <a:p>
            <a:pPr>
              <a:defRPr sz="2000">
                <a:solidFill>
                  <a:srgbClr val="444444"/>
                </a:solidFill>
              </a:defRPr>
            </a:pPr>
            <a:r>
              <a:t>Improves data integrity and scalability in databases</a:t>
            </a:r>
          </a:p>
          <a:p>
            <a:pPr>
              <a:defRPr sz="2000">
                <a:solidFill>
                  <a:srgbClr val="444444"/>
                </a:solidFill>
              </a:defRPr>
            </a:pPr>
            <a:r>
              <a:t>Eliminates data anomalies and inconsistencies</a:t>
            </a:r>
          </a:p>
          <a:p>
            <a:pPr>
              <a:defRPr sz="2000">
                <a:solidFill>
                  <a:srgbClr val="444444"/>
                </a:solidFill>
              </a:defRPr>
            </a:pPr>
            <a:r>
              <a:t>Supports better data organization and structure</a:t>
            </a:r>
          </a:p>
          <a:p>
            <a:pPr>
              <a:defRPr sz="2000">
                <a:solidFill>
                  <a:srgbClr val="444444"/>
                </a:solidFill>
              </a:defRPr>
            </a:pPr>
            <a:r>
              <a:t>Enhances data security and access control</a:t>
            </a:r>
          </a:p>
          <a:p>
            <a:pPr>
              <a:defRPr sz="2000">
                <a:solidFill>
                  <a:srgbClr val="444444"/>
                </a:solidFill>
              </a:defRPr>
            </a:pPr>
            <a:r>
              <a:t>Normal forms include 1NF, 2NF, and 3NF</a:t>
            </a:r>
          </a:p>
          <a:p>
            <a:pPr>
              <a:defRPr sz="2000">
                <a:solidFill>
                  <a:srgbClr val="444444"/>
                </a:solidFill>
              </a:defRPr>
            </a:pPr>
            <a:r>
              <a:t>Higher normal forms include BCNF and 4NF</a:t>
            </a:r>
          </a:p>
          <a:p>
            <a:pPr>
              <a:defRPr sz="2000">
                <a:solidFill>
                  <a:srgbClr val="444444"/>
                </a:solidFill>
              </a:defRPr>
            </a:pPr>
            <a:r>
              <a:t>Denormalization is used for performance optimization</a:t>
            </a:r>
          </a:p>
          <a:p>
            <a:pPr>
              <a:defRPr sz="2000">
                <a:solidFill>
                  <a:srgbClr val="444444"/>
                </a:solidFill>
              </a:defRPr>
            </a:pPr>
            <a:r>
              <a:t>Normalization techniques apply to relational databases</a:t>
            </a:r>
          </a:p>
          <a:p>
            <a:pPr>
              <a:defRPr sz="2000">
                <a:solidFill>
                  <a:srgbClr val="444444"/>
                </a:solidFill>
              </a:defRPr>
            </a:pPr>
            <a:r>
              <a:t>Example: Normalizing a customer database table</a:t>
            </a:r>
          </a:p>
        </p:txBody>
      </p:sp>
      <p:pic>
        <p:nvPicPr>
          <p:cNvPr id="4" name="Picture 3" descr="4cab8e378ccf419c81bd421f99891c6e.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Reduces data redundancy and dependency</a:t>
            </a:r>
          </a:p>
          <a:p>
            <a:pPr>
              <a:defRPr sz="2000">
                <a:solidFill>
                  <a:srgbClr val="444444"/>
                </a:solidFill>
              </a:defRPr>
            </a:pPr>
            <a:r>
              <a:t>Improves data integrity and consistency</a:t>
            </a:r>
          </a:p>
          <a:p>
            <a:pPr>
              <a:defRPr sz="2000">
                <a:solidFill>
                  <a:srgbClr val="444444"/>
                </a:solidFill>
              </a:defRPr>
            </a:pPr>
            <a:r>
              <a:t>Supports better data scalability and flexibility</a:t>
            </a:r>
          </a:p>
          <a:p>
            <a:pPr>
              <a:defRPr sz="2000">
                <a:solidFill>
                  <a:srgbClr val="444444"/>
                </a:solidFill>
              </a:defRPr>
            </a:pPr>
            <a:r>
              <a:t>Minimizes data anomalies and errors</a:t>
            </a:r>
          </a:p>
          <a:p>
            <a:pPr>
              <a:defRPr sz="2000">
                <a:solidFill>
                  <a:srgbClr val="444444"/>
                </a:solidFill>
              </a:defRPr>
            </a:pPr>
            <a:r>
              <a:t>Ensures data security and access control</a:t>
            </a:r>
          </a:p>
          <a:p>
            <a:pPr>
              <a:defRPr sz="2000">
                <a:solidFill>
                  <a:srgbClr val="444444"/>
                </a:solidFill>
              </a:defRPr>
            </a:pPr>
            <a:r>
              <a:t>Normal forms include 1NF, 2NF, 3NF, BCNF</a:t>
            </a:r>
          </a:p>
          <a:p>
            <a:pPr>
              <a:defRPr sz="2000">
                <a:solidFill>
                  <a:srgbClr val="444444"/>
                </a:solidFill>
              </a:defRPr>
            </a:pPr>
            <a:r>
              <a:t>Denormalization for performance optimization</a:t>
            </a:r>
          </a:p>
          <a:p>
            <a:pPr>
              <a:defRPr sz="2000">
                <a:solidFill>
                  <a:srgbClr val="444444"/>
                </a:solidFill>
              </a:defRPr>
            </a:pPr>
            <a:r>
              <a:t>Normalizing large datasets and databases</a:t>
            </a:r>
          </a:p>
          <a:p>
            <a:pPr>
              <a:defRPr sz="2000">
                <a:solidFill>
                  <a:srgbClr val="444444"/>
                </a:solidFill>
              </a:defRPr>
            </a:pPr>
            <a:r>
              <a:t>Applying normalization rules and techniques</a:t>
            </a:r>
          </a:p>
        </p:txBody>
      </p:sp>
      <p:pic>
        <p:nvPicPr>
          <p:cNvPr id="4" name="Picture 3" descr="7a087b7159f348c1b851c8b4b6ca601f.jpg"/>
          <p:cNvPicPr>
            <a:picLocks noChangeAspect="1"/>
          </p:cNvPicPr>
          <p:nvPr/>
        </p:nvPicPr>
        <p:blipFill>
          <a:blip r:embed="rId2"/>
          <a:stretch>
            <a:fillRect/>
          </a:stretch>
        </p:blipFill>
        <p:spPr>
          <a:xfrm>
            <a:off x="7315200" y="1828800"/>
            <a:ext cx="4114800" cy="40965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(1NF) - Introduction</a:t>
            </a:r>
          </a:p>
        </p:txBody>
      </p:sp>
      <p:sp>
        <p:nvSpPr>
          <p:cNvPr id="3" name="Content Placeholder 2"/>
          <p:cNvSpPr>
            <a:spLocks noGrp="1"/>
          </p:cNvSpPr>
          <p:nvPr>
            <p:ph idx="1"/>
          </p:nvPr>
        </p:nvSpPr>
        <p:spPr/>
        <p:txBody>
          <a:bodyPr/>
          <a:lstStyle/>
          <a:p>
            <a:pPr>
              <a:defRPr sz="2000">
                <a:solidFill>
                  <a:srgbClr val="444444"/>
                </a:solidFill>
              </a:defRPr>
            </a:pPr>
            <a:r>
              <a:t>First Normal Form (1NF) is a database normalization rule</a:t>
            </a:r>
          </a:p>
          <a:p>
            <a:pPr>
              <a:defRPr sz="2000">
                <a:solidFill>
                  <a:srgbClr val="444444"/>
                </a:solidFill>
              </a:defRPr>
            </a:pPr>
            <a:r>
              <a:t>Eliminates repeating groups in a table structure</a:t>
            </a:r>
          </a:p>
          <a:p>
            <a:pPr>
              <a:defRPr sz="2000">
                <a:solidFill>
                  <a:srgbClr val="444444"/>
                </a:solidFill>
              </a:defRPr>
            </a:pPr>
            <a:r>
              <a:t>Each cell contains a single value, no lists</a:t>
            </a:r>
          </a:p>
          <a:p>
            <a:pPr>
              <a:defRPr sz="2000">
                <a:solidFill>
                  <a:srgbClr val="444444"/>
                </a:solidFill>
              </a:defRPr>
            </a:pPr>
            <a:r>
              <a:t>Tables have unique column names, no duplicates</a:t>
            </a:r>
          </a:p>
          <a:p>
            <a:pPr>
              <a:defRPr sz="2000">
                <a:solidFill>
                  <a:srgbClr val="444444"/>
                </a:solidFill>
              </a:defRPr>
            </a:pPr>
            <a:r>
              <a:t>Each row is unique, no duplicate rows allowed</a:t>
            </a:r>
          </a:p>
          <a:p>
            <a:pPr>
              <a:defRPr sz="2000">
                <a:solidFill>
                  <a:srgbClr val="444444"/>
                </a:solidFill>
              </a:defRPr>
            </a:pPr>
            <a:r>
              <a:t>1NF is the foundation for higher normalization forms</a:t>
            </a:r>
          </a:p>
          <a:p>
            <a:pPr>
              <a:defRPr sz="2000">
                <a:solidFill>
                  <a:srgbClr val="444444"/>
                </a:solidFill>
              </a:defRPr>
            </a:pPr>
            <a:r>
              <a:t>Improves data integrity, reduces data redundancy</a:t>
            </a:r>
          </a:p>
          <a:p>
            <a:pPr>
              <a:defRPr sz="2000">
                <a:solidFill>
                  <a:srgbClr val="444444"/>
                </a:solidFill>
              </a:defRPr>
            </a:pPr>
            <a:r>
              <a:t>Simplifies data management, query optimization</a:t>
            </a:r>
          </a:p>
          <a:p>
            <a:pPr>
              <a:defRPr sz="2000">
                <a:solidFill>
                  <a:srgbClr val="444444"/>
                </a:solidFill>
              </a:defRPr>
            </a:pPr>
            <a:r>
              <a:t>Enhances data scalability, flexibility, and security</a:t>
            </a:r>
          </a:p>
          <a:p>
            <a:pPr>
              <a:defRPr sz="2000">
                <a:solidFill>
                  <a:srgbClr val="444444"/>
                </a:solidFill>
              </a:defRPr>
            </a:pPr>
            <a:r>
              <a:t>Applies to relational databases, table structures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(1NF) - Introduction</a:t>
            </a:r>
          </a:p>
        </p:txBody>
      </p:sp>
      <p:sp>
        <p:nvSpPr>
          <p:cNvPr id="3" name="Content Placeholder 2"/>
          <p:cNvSpPr>
            <a:spLocks noGrp="1"/>
          </p:cNvSpPr>
          <p:nvPr>
            <p:ph idx="1"/>
          </p:nvPr>
        </p:nvSpPr>
        <p:spPr/>
        <p:txBody>
          <a:bodyPr/>
          <a:lstStyle/>
          <a:p>
            <a:pPr>
              <a:defRPr sz="2000">
                <a:solidFill>
                  <a:srgbClr val="444444"/>
                </a:solidFill>
              </a:defRPr>
            </a:pPr>
            <a:r>
              <a:t>First Normal Form eliminates repeating groups</a:t>
            </a:r>
          </a:p>
          <a:p>
            <a:pPr>
              <a:defRPr sz="2000">
                <a:solidFill>
                  <a:srgbClr val="444444"/>
                </a:solidFill>
              </a:defRPr>
            </a:pPr>
            <a:r>
              <a:t>Each table cell contains single value only</a:t>
            </a:r>
          </a:p>
          <a:p>
            <a:pPr>
              <a:defRPr sz="2000">
                <a:solidFill>
                  <a:srgbClr val="444444"/>
                </a:solidFill>
              </a:defRPr>
            </a:pPr>
            <a:r>
              <a:t>No repeating columns or arrays</a:t>
            </a:r>
          </a:p>
          <a:p>
            <a:pPr>
              <a:defRPr sz="2000">
                <a:solidFill>
                  <a:srgbClr val="444444"/>
                </a:solidFill>
              </a:defRPr>
            </a:pPr>
            <a:r>
              <a:t>Each row unique, no duplicate rows</a:t>
            </a:r>
          </a:p>
          <a:p>
            <a:pPr>
              <a:defRPr sz="2000">
                <a:solidFill>
                  <a:srgbClr val="444444"/>
                </a:solidFill>
              </a:defRPr>
            </a:pPr>
            <a:r>
              <a:t>Columns depend on primary key</a:t>
            </a:r>
          </a:p>
          <a:p>
            <a:pPr>
              <a:defRPr sz="2000">
                <a:solidFill>
                  <a:srgbClr val="444444"/>
                </a:solidFill>
              </a:defRPr>
            </a:pPr>
            <a:r>
              <a:t>1NF improves data integrity and scalability</a:t>
            </a:r>
          </a:p>
          <a:p>
            <a:pPr>
              <a:defRPr sz="2000">
                <a:solidFill>
                  <a:srgbClr val="444444"/>
                </a:solidFill>
              </a:defRPr>
            </a:pPr>
            <a:r>
              <a:t>Reduces data redundancy and inconsistencies</a:t>
            </a:r>
          </a:p>
          <a:p>
            <a:pPr>
              <a:defRPr sz="2000">
                <a:solidFill>
                  <a:srgbClr val="444444"/>
                </a:solidFill>
              </a:defRPr>
            </a:pPr>
            <a:r>
              <a:t>Simplifies data management and querying</a:t>
            </a:r>
          </a:p>
          <a:p>
            <a:pPr>
              <a:defRPr sz="2000">
                <a:solidFill>
                  <a:srgbClr val="444444"/>
                </a:solidFill>
              </a:defRPr>
            </a:pPr>
            <a:r>
              <a:t>Essential for relational database design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(1NF) - Introduction</a:t>
            </a:r>
          </a:p>
        </p:txBody>
      </p:sp>
      <p:sp>
        <p:nvSpPr>
          <p:cNvPr id="3" name="Content Placeholder 2"/>
          <p:cNvSpPr>
            <a:spLocks noGrp="1"/>
          </p:cNvSpPr>
          <p:nvPr>
            <p:ph idx="1"/>
          </p:nvPr>
        </p:nvSpPr>
        <p:spPr/>
        <p:txBody>
          <a:bodyPr/>
          <a:lstStyle/>
          <a:p>
            <a:pPr>
              <a:defRPr sz="2000">
                <a:solidFill>
                  <a:srgbClr val="444444"/>
                </a:solidFill>
              </a:defRPr>
            </a:pPr>
            <a:r>
              <a:t>First Normal Form eliminates repeating groups</a:t>
            </a:r>
          </a:p>
          <a:p>
            <a:pPr>
              <a:defRPr sz="2000">
                <a:solidFill>
                  <a:srgbClr val="444444"/>
                </a:solidFill>
              </a:defRPr>
            </a:pPr>
            <a:r>
              <a:t>Each table cell contains single value only</a:t>
            </a:r>
          </a:p>
          <a:p>
            <a:pPr>
              <a:defRPr sz="2000">
                <a:solidFill>
                  <a:srgbClr val="444444"/>
                </a:solidFill>
              </a:defRPr>
            </a:pPr>
            <a:r>
              <a:t>No repeating columns or arrays allowed</a:t>
            </a:r>
          </a:p>
          <a:p>
            <a:pPr>
              <a:defRPr sz="2000">
                <a:solidFill>
                  <a:srgbClr val="444444"/>
                </a:solidFill>
              </a:defRPr>
            </a:pPr>
            <a:r>
              <a:t>Each row is unique with distinct values</a:t>
            </a:r>
          </a:p>
          <a:p>
            <a:pPr>
              <a:defRPr sz="2000">
                <a:solidFill>
                  <a:srgbClr val="444444"/>
                </a:solidFill>
              </a:defRPr>
            </a:pPr>
            <a:r>
              <a:t>1NF ensures data consistency and reduces redundancy</a:t>
            </a:r>
          </a:p>
          <a:p>
            <a:pPr>
              <a:defRPr sz="2000">
                <a:solidFill>
                  <a:srgbClr val="444444"/>
                </a:solidFill>
              </a:defRPr>
            </a:pPr>
            <a:r>
              <a:t>Example: Student table with multiple addresses</a:t>
            </a:r>
          </a:p>
          <a:p>
            <a:pPr>
              <a:defRPr sz="2000">
                <a:solidFill>
                  <a:srgbClr val="444444"/>
                </a:solidFill>
              </a:defRPr>
            </a:pPr>
            <a:r>
              <a:t>1NF transforms data into single-value columns</a:t>
            </a:r>
          </a:p>
          <a:p>
            <a:pPr>
              <a:defRPr sz="2000">
                <a:solidFill>
                  <a:srgbClr val="444444"/>
                </a:solidFill>
              </a:defRPr>
            </a:pPr>
            <a:r>
              <a:t>Eliminates data anomalies and inconsistencies</a:t>
            </a:r>
          </a:p>
          <a:p>
            <a:pPr>
              <a:defRPr sz="2000">
                <a:solidFill>
                  <a:srgbClr val="444444"/>
                </a:solidFill>
              </a:defRPr>
            </a:pPr>
            <a:r>
              <a:t>Improves data scalability and flexibility</a:t>
            </a:r>
          </a:p>
          <a:p>
            <a:pPr>
              <a:defRPr sz="2000">
                <a:solidFill>
                  <a:srgbClr val="444444"/>
                </a:solidFill>
              </a:defRPr>
            </a:pPr>
            <a:r>
              <a:t>Simplifies data querying and retrieval processes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Second Normal Form (2NF) - Introduction</a:t>
            </a:r>
          </a:p>
        </p:txBody>
      </p:sp>
      <p:sp>
        <p:nvSpPr>
          <p:cNvPr id="3" name="Content Placeholder 2"/>
          <p:cNvSpPr>
            <a:spLocks noGrp="1"/>
          </p:cNvSpPr>
          <p:nvPr>
            <p:ph idx="1"/>
          </p:nvPr>
        </p:nvSpPr>
        <p:spPr/>
        <p:txBody>
          <a:bodyPr/>
          <a:lstStyle/>
          <a:p>
            <a:pPr>
              <a:defRPr sz="2000">
                <a:solidFill>
                  <a:srgbClr val="444444"/>
                </a:solidFill>
              </a:defRPr>
            </a:pPr>
            <a:r>
              <a:t>Definition: No partial dependencies in a table</a:t>
            </a:r>
          </a:p>
          <a:p>
            <a:pPr>
              <a:defRPr sz="2000">
                <a:solidFill>
                  <a:srgbClr val="444444"/>
                </a:solidFill>
              </a:defRPr>
            </a:pPr>
            <a:r>
              <a:t>Eliminates data redundancy and inconsistencies</a:t>
            </a:r>
          </a:p>
          <a:p>
            <a:pPr>
              <a:defRPr sz="2000">
                <a:solidFill>
                  <a:srgbClr val="444444"/>
                </a:solidFill>
              </a:defRPr>
            </a:pPr>
            <a:r>
              <a:t>Based on functional dependencies concept</a:t>
            </a:r>
          </a:p>
          <a:p>
            <a:pPr>
              <a:defRPr sz="2000">
                <a:solidFill>
                  <a:srgbClr val="444444"/>
                </a:solidFill>
              </a:defRPr>
            </a:pPr>
            <a:r>
              <a:t>Each non-key attribute depends on entire primary key</a:t>
            </a:r>
          </a:p>
          <a:p>
            <a:pPr>
              <a:defRPr sz="2000">
                <a:solidFill>
                  <a:srgbClr val="444444"/>
                </a:solidFill>
              </a:defRPr>
            </a:pPr>
            <a:r>
              <a:t>Table has a composite key with two or more attributes</a:t>
            </a:r>
          </a:p>
          <a:p>
            <a:pPr>
              <a:defRPr sz="2000">
                <a:solidFill>
                  <a:srgbClr val="444444"/>
                </a:solidFill>
              </a:defRPr>
            </a:pPr>
            <a:r>
              <a:t>No non-key attribute depends on a subset of key</a:t>
            </a:r>
          </a:p>
          <a:p>
            <a:pPr>
              <a:defRPr sz="2000">
                <a:solidFill>
                  <a:srgbClr val="444444"/>
                </a:solidFill>
              </a:defRPr>
            </a:pPr>
            <a:r>
              <a:t>Improves data integrity and reduces anomalies</a:t>
            </a:r>
          </a:p>
          <a:p>
            <a:pPr>
              <a:defRPr sz="2000">
                <a:solidFill>
                  <a:srgbClr val="444444"/>
                </a:solidFill>
              </a:defRPr>
            </a:pPr>
            <a:r>
              <a:t>Ensures data consistency across the database</a:t>
            </a:r>
          </a:p>
          <a:p>
            <a:pPr>
              <a:defRPr sz="2000">
                <a:solidFill>
                  <a:srgbClr val="444444"/>
                </a:solidFill>
              </a:defRPr>
            </a:pPr>
            <a:r>
              <a:t>Foundational concept in relational database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Second Normal Form (2NF) - Introduction</a:t>
            </a:r>
          </a:p>
        </p:txBody>
      </p:sp>
      <p:sp>
        <p:nvSpPr>
          <p:cNvPr id="3" name="Content Placeholder 2"/>
          <p:cNvSpPr>
            <a:spLocks noGrp="1"/>
          </p:cNvSpPr>
          <p:nvPr>
            <p:ph idx="1"/>
          </p:nvPr>
        </p:nvSpPr>
        <p:spPr/>
        <p:txBody>
          <a:bodyPr/>
          <a:lstStyle/>
          <a:p>
            <a:pPr>
              <a:defRPr sz="2000">
                <a:solidFill>
                  <a:srgbClr val="444444"/>
                </a:solidFill>
              </a:defRPr>
            </a:pPr>
            <a:r>
              <a:t>Second Normal Form eliminates partial dependencies</a:t>
            </a:r>
          </a:p>
          <a:p>
            <a:pPr>
              <a:defRPr sz="2000">
                <a:solidFill>
                  <a:srgbClr val="444444"/>
                </a:solidFill>
              </a:defRPr>
            </a:pPr>
            <a:r>
              <a:t>Each non-key attribute depends on entire primary key</a:t>
            </a:r>
          </a:p>
          <a:p>
            <a:pPr>
              <a:defRPr sz="2000">
                <a:solidFill>
                  <a:srgbClr val="444444"/>
                </a:solidFill>
              </a:defRPr>
            </a:pPr>
            <a:r>
              <a:t>2NF is based on concept of functional dependencies</a:t>
            </a:r>
          </a:p>
          <a:p>
            <a:pPr>
              <a:defRPr sz="2000">
                <a:solidFill>
                  <a:srgbClr val="444444"/>
                </a:solidFill>
              </a:defRPr>
            </a:pPr>
            <a:r>
              <a:t>A relation is in 2NF if it is in 1NF</a:t>
            </a:r>
          </a:p>
          <a:p>
            <a:pPr>
              <a:defRPr sz="2000">
                <a:solidFill>
                  <a:srgbClr val="444444"/>
                </a:solidFill>
              </a:defRPr>
            </a:pPr>
            <a:r>
              <a:t>No non-key attribute depends on a part of primary key</a:t>
            </a:r>
          </a:p>
          <a:p>
            <a:pPr>
              <a:defRPr sz="2000">
                <a:solidFill>
                  <a:srgbClr val="444444"/>
                </a:solidFill>
              </a:defRPr>
            </a:pPr>
            <a:r>
              <a:t>Example: Student table with student_id and course_id</a:t>
            </a:r>
          </a:p>
          <a:p>
            <a:pPr>
              <a:defRPr sz="2000">
                <a:solidFill>
                  <a:srgbClr val="444444"/>
                </a:solidFill>
              </a:defRPr>
            </a:pPr>
            <a:r>
              <a:t>Eliminates redundancy and data inconsistencies</a:t>
            </a:r>
          </a:p>
          <a:p>
            <a:pPr>
              <a:defRPr sz="2000">
                <a:solidFill>
                  <a:srgbClr val="444444"/>
                </a:solidFill>
              </a:defRPr>
            </a:pPr>
            <a:r>
              <a:t>Improves data integrity and reduces data anomalies</a:t>
            </a:r>
          </a:p>
          <a:p>
            <a:pPr>
              <a:defRPr sz="2000">
                <a:solidFill>
                  <a:srgbClr val="444444"/>
                </a:solidFill>
              </a:defRPr>
            </a:pPr>
            <a:r>
              <a:t>2NF is a higher normalization level than 1NF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