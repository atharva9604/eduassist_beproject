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presentation on RNNs, a subset of deep learning models. Explain briefly what deep learning entails and how RNNs fit into this broader field. Ask students if they have any prior knowledge of neural networks.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importance of RNNs in handling sequential data and their applications. Provide examples of speech recognition and language translation. Explain the concept of time-series forecasting and natural language processing. Ask students to think of scenarios where RNNs would be particularly useful.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architecture of RNNs, focusing on the feedback connections and the update of the hidden state. Discuss the role of the input, hidden, and output layers. Provide a simple equation to illustrate the update process. Show a diagram of the basic RNN architecture and ask students to identify the different components.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variants of RNNs, including LSTMs, GRUs, and bidirectional RNNs. Explain how these variants address the limitations of simple RNNs, such as vanishing gradients. Provide examples of applications where each variant is particularly useful. Ask students to consider the trade-offs between these variants in terms of complexity and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applications of RNNs, including speech recognition, language translation, and time-series forecasting. Explain the advantages of using RNNs, such as their ability to handle sequential data and capture temporal relationships. Also, discuss the limitations, including the challenges in training and the potential for overfitting. Ask students to think of ways to address these limitations, such as regularization techniques and ensemble methods.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points of the presentation, highlighting the importance of RNNs in handling sequential data and their applications. Emphasize the advantages and limitations of RNNs and their variants. Ask students to reflect on what they have learned and how they can apply this knowledge in their own projects. Provide resources for further learning and encourage continued exploration of the topic.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RNNs in 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Recurrent Neural Networks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Intro/Background</a:t>
            </a:r>
          </a:p>
        </p:txBody>
      </p:sp>
      <p:sp>
        <p:nvSpPr>
          <p:cNvPr id="3" name="Content Placeholder 2"/>
          <p:cNvSpPr>
            <a:spLocks noGrp="1"/>
          </p:cNvSpPr>
          <p:nvPr>
            <p:ph idx="1"/>
          </p:nvPr>
        </p:nvSpPr>
        <p:spPr/>
        <p:txBody>
          <a:bodyPr/>
          <a:lstStyle/>
          <a:p>
            <a:pPr>
              <a:defRPr sz="2000">
                <a:solidFill>
                  <a:srgbClr val="444444"/>
                </a:solidFill>
              </a:defRPr>
            </a:pPr>
            <a:r>
              <a:t>RNNs handle sequential data</a:t>
            </a:r>
          </a:p>
          <a:p>
            <a:pPr>
              <a:defRPr sz="2000">
                <a:solidFill>
                  <a:srgbClr val="444444"/>
                </a:solidFill>
              </a:defRPr>
            </a:pPr>
            <a:r>
              <a:t>Used in speech recognition, language translation</a:t>
            </a:r>
          </a:p>
          <a:p>
            <a:pPr>
              <a:defRPr sz="2000">
                <a:solidFill>
                  <a:srgbClr val="444444"/>
                </a:solidFill>
              </a:defRPr>
            </a:pPr>
            <a:r>
              <a:t>Time-series forecasting applications</a:t>
            </a:r>
          </a:p>
          <a:p>
            <a:pPr>
              <a:defRPr sz="2000">
                <a:solidFill>
                  <a:srgbClr val="444444"/>
                </a:solidFill>
              </a:defRPr>
            </a:pPr>
            <a:r>
              <a:t>Natural language processing tasks</a:t>
            </a:r>
          </a:p>
          <a:p>
            <a:pPr>
              <a:defRPr sz="2000">
                <a:solidFill>
                  <a:srgbClr val="444444"/>
                </a:solidFill>
              </a:defRPr>
            </a:pPr>
            <a:r>
              <a:t>Capable of learning long-term dependencies</a:t>
            </a:r>
          </a:p>
          <a:p>
            <a:pPr>
              <a:defRPr sz="2000">
                <a:solidFill>
                  <a:srgbClr val="444444"/>
                </a:solidFill>
              </a:defRPr>
            </a:pPr>
            <a:r>
              <a:t>Can capture temporal relationships</a:t>
            </a:r>
          </a:p>
          <a:p>
            <a:pPr>
              <a:defRPr sz="2000">
                <a:solidFill>
                  <a:srgbClr val="444444"/>
                </a:solidFill>
              </a:defRPr>
            </a:pPr>
            <a:r>
              <a:t>Unlike feedforward networks, have feedback</a:t>
            </a:r>
          </a:p>
          <a:p>
            <a:pPr>
              <a:defRPr sz="2000">
                <a:solidFill>
                  <a:srgbClr val="444444"/>
                </a:solidFill>
              </a:defRPr>
            </a:pPr>
            <a:r>
              <a:t>Stateful, maintaining information over time</a:t>
            </a:r>
          </a:p>
          <a:p>
            <a:pPr>
              <a:defRPr sz="2000">
                <a:solidFill>
                  <a:srgbClr val="444444"/>
                </a:solidFill>
              </a:defRPr>
            </a:pPr>
            <a:r>
              <a:t>Training can be challenging due to vanishing gradients</a:t>
            </a:r>
          </a:p>
          <a:p>
            <a:pPr>
              <a:defRPr sz="2000">
                <a:solidFill>
                  <a:srgbClr val="444444"/>
                </a:solidFill>
              </a:defRPr>
            </a:pPr>
            <a:r>
              <a:t>Require careful initialization and regularization</a:t>
            </a:r>
          </a:p>
        </p:txBody>
      </p:sp>
      <p:pic>
        <p:nvPicPr>
          <p:cNvPr id="4" name="Picture 3" descr="002075b8e9ec48ab846a2333d0300860_rnns_deep_learning_overview.jpg"/>
          <p:cNvPicPr>
            <a:picLocks noChangeAspect="1"/>
          </p:cNvPicPr>
          <p:nvPr/>
        </p:nvPicPr>
        <p:blipFill>
          <a:blip r:embed="rId2"/>
          <a:stretch>
            <a:fillRect/>
          </a:stretch>
        </p:blipFill>
        <p:spPr>
          <a:xfrm>
            <a:off x="7315200" y="1828800"/>
            <a:ext cx="4114800" cy="257175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a:t>
            </a:r>
          </a:p>
        </p:txBody>
      </p:sp>
      <p:sp>
        <p:nvSpPr>
          <p:cNvPr id="3" name="Content Placeholder 2"/>
          <p:cNvSpPr>
            <a:spLocks noGrp="1"/>
          </p:cNvSpPr>
          <p:nvPr>
            <p:ph idx="1"/>
          </p:nvPr>
        </p:nvSpPr>
        <p:spPr/>
        <p:txBody>
          <a:bodyPr/>
          <a:lstStyle/>
          <a:p>
            <a:pPr>
              <a:defRPr sz="2000">
                <a:solidFill>
                  <a:srgbClr val="444444"/>
                </a:solidFill>
              </a:defRPr>
            </a:pPr>
            <a:r>
              <a:t>Consist of input, hidden, and output layers</a:t>
            </a:r>
          </a:p>
          <a:p>
            <a:pPr>
              <a:defRPr sz="2000">
                <a:solidFill>
                  <a:srgbClr val="444444"/>
                </a:solidFill>
              </a:defRPr>
            </a:pPr>
            <a:r>
              <a:t>Feedback connections allow for recurrence</a:t>
            </a:r>
          </a:p>
          <a:p>
            <a:pPr>
              <a:defRPr sz="2000">
                <a:solidFill>
                  <a:srgbClr val="444444"/>
                </a:solidFill>
              </a:defRPr>
            </a:pPr>
            <a:r>
              <a:t>Hidden state updated at each time step</a:t>
            </a:r>
          </a:p>
          <a:p>
            <a:pPr>
              <a:defRPr sz="2000">
                <a:solidFill>
                  <a:srgbClr val="444444"/>
                </a:solidFill>
              </a:defRPr>
            </a:pPr>
            <a:r>
              <a:t>Output depends on current input and hidden state</a:t>
            </a:r>
          </a:p>
          <a:p>
            <a:pPr>
              <a:defRPr sz="2000">
                <a:solidFill>
                  <a:srgbClr val="444444"/>
                </a:solidFill>
              </a:defRPr>
            </a:pPr>
            <a:r>
              <a:t>Training involves backpropagation through time</a:t>
            </a:r>
          </a:p>
          <a:p>
            <a:pPr>
              <a:defRPr sz="2000">
                <a:solidFill>
                  <a:srgbClr val="444444"/>
                </a:solidFill>
              </a:defRPr>
            </a:pPr>
            <a:r>
              <a:t>Simple RNN equation: h_t = sigmoid(W_h * h_(t-1) + W_x * x_t)</a:t>
            </a:r>
          </a:p>
          <a:p>
            <a:pPr>
              <a:defRPr sz="2000">
                <a:solidFill>
                  <a:srgbClr val="444444"/>
                </a:solidFill>
              </a:defRPr>
            </a:pPr>
            <a:r>
              <a:t>Image query: basic RNN architecture diagram</a:t>
            </a:r>
          </a:p>
          <a:p>
            <a:pPr>
              <a:defRPr sz="2000">
                <a:solidFill>
                  <a:srgbClr val="444444"/>
                </a:solidFill>
              </a:defRPr>
            </a:pPr>
            <a:r>
              <a:t>Recurrent connections allow for temporal context</a:t>
            </a:r>
          </a:p>
          <a:p>
            <a:pPr>
              <a:defRPr sz="2000">
                <a:solidFill>
                  <a:srgbClr val="444444"/>
                </a:solidFill>
              </a:defRPr>
            </a:pPr>
            <a:r>
              <a:t>Can be unrolled in time for visualization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a:t>
            </a:r>
          </a:p>
        </p:txBody>
      </p:sp>
      <p:sp>
        <p:nvSpPr>
          <p:cNvPr id="3" name="Content Placeholder 2"/>
          <p:cNvSpPr>
            <a:spLocks noGrp="1"/>
          </p:cNvSpPr>
          <p:nvPr>
            <p:ph idx="1"/>
          </p:nvPr>
        </p:nvSpPr>
        <p:spPr/>
        <p:txBody>
          <a:bodyPr/>
          <a:lstStyle/>
          <a:p>
            <a:pPr>
              <a:defRPr sz="2000">
                <a:solidFill>
                  <a:srgbClr val="444444"/>
                </a:solidFill>
              </a:defRPr>
            </a:pPr>
            <a:r>
              <a:t>LSTM (Long Short-Term Memory) networks: handle vanishing gradients</a:t>
            </a:r>
          </a:p>
          <a:p>
            <a:pPr>
              <a:defRPr sz="2000">
                <a:solidFill>
                  <a:srgbClr val="444444"/>
                </a:solidFill>
              </a:defRPr>
            </a:pPr>
            <a:r>
              <a:t>GRU (Gated Recurrent Unit) networks: simpler, faster, and less prone to overfitting</a:t>
            </a:r>
          </a:p>
          <a:p>
            <a:pPr>
              <a:defRPr sz="2000">
                <a:solidFill>
                  <a:srgbClr val="444444"/>
                </a:solidFill>
              </a:defRPr>
            </a:pPr>
            <a:r>
              <a:t>Bidirectional RNNs: process sequences in both forward and backward directions</a:t>
            </a:r>
          </a:p>
          <a:p>
            <a:pPr>
              <a:defRPr sz="2000">
                <a:solidFill>
                  <a:srgbClr val="444444"/>
                </a:solidFill>
              </a:defRPr>
            </a:pPr>
            <a:r>
              <a:t>Deep RNNs: multiple layers of RNNs for increased capacity</a:t>
            </a:r>
          </a:p>
          <a:p>
            <a:pPr>
              <a:defRPr sz="2000">
                <a:solidFill>
                  <a:srgbClr val="444444"/>
                </a:solidFill>
              </a:defRPr>
            </a:pPr>
            <a:r>
              <a:t>Residual connections: improve training and performance</a:t>
            </a:r>
          </a:p>
          <a:p>
            <a:pPr>
              <a:defRPr sz="2000">
                <a:solidFill>
                  <a:srgbClr val="444444"/>
                </a:solidFill>
              </a:defRPr>
            </a:pPr>
            <a:r>
              <a:t>Attention mechanisms: focus on specific parts of the input sequence</a:t>
            </a:r>
          </a:p>
          <a:p>
            <a:pPr>
              <a:defRPr sz="2000">
                <a:solidFill>
                  <a:srgbClr val="444444"/>
                </a:solidFill>
              </a:defRPr>
            </a:pPr>
            <a:r>
              <a:t>Recurrent Highway Networks: extend the capabilities of LSTMs</a:t>
            </a:r>
          </a:p>
          <a:p>
            <a:pPr>
              <a:defRPr sz="2000">
                <a:solidFill>
                  <a:srgbClr val="444444"/>
                </a:solidFill>
              </a:defRPr>
            </a:pPr>
            <a:r>
              <a:t>Neural Turing Machines: combine RNNs with external memory</a:t>
            </a:r>
          </a:p>
          <a:p>
            <a:pPr>
              <a:defRPr sz="2000">
                <a:solidFill>
                  <a:srgbClr val="444444"/>
                </a:solidFill>
              </a:defRPr>
            </a:pPr>
            <a:r>
              <a:t>Stacked RNNs: multiple RNN layers for complex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Advantages/Limitations</a:t>
            </a:r>
          </a:p>
        </p:txBody>
      </p:sp>
      <p:sp>
        <p:nvSpPr>
          <p:cNvPr id="3" name="Content Placeholder 2"/>
          <p:cNvSpPr>
            <a:spLocks noGrp="1"/>
          </p:cNvSpPr>
          <p:nvPr>
            <p:ph idx="1"/>
          </p:nvPr>
        </p:nvSpPr>
        <p:spPr/>
        <p:txBody>
          <a:bodyPr/>
          <a:lstStyle/>
          <a:p>
            <a:pPr>
              <a:defRPr sz="2000">
                <a:solidFill>
                  <a:srgbClr val="444444"/>
                </a:solidFill>
              </a:defRPr>
            </a:pPr>
            <a:r>
              <a:t>Speech recognition: transcribe spoken language</a:t>
            </a:r>
          </a:p>
          <a:p>
            <a:pPr>
              <a:defRPr sz="2000">
                <a:solidFill>
                  <a:srgbClr val="444444"/>
                </a:solidFill>
              </a:defRPr>
            </a:pPr>
            <a:r>
              <a:t>Language translation: translate text from one language to another</a:t>
            </a:r>
          </a:p>
          <a:p>
            <a:pPr>
              <a:defRPr sz="2000">
                <a:solidFill>
                  <a:srgbClr val="444444"/>
                </a:solidFill>
              </a:defRPr>
            </a:pPr>
            <a:r>
              <a:t>Time-series forecasting: predict future values in a sequence</a:t>
            </a:r>
          </a:p>
          <a:p>
            <a:pPr>
              <a:defRPr sz="2000">
                <a:solidFill>
                  <a:srgbClr val="444444"/>
                </a:solidFill>
              </a:defRPr>
            </a:pPr>
            <a:r>
              <a:t>Natural language processing: generate text, answer questions</a:t>
            </a:r>
          </a:p>
          <a:p>
            <a:pPr>
              <a:defRPr sz="2000">
                <a:solidFill>
                  <a:srgbClr val="444444"/>
                </a:solidFill>
              </a:defRPr>
            </a:pPr>
            <a:r>
              <a:t>Advantages: handle sequential data, capture temporal relationships</a:t>
            </a:r>
          </a:p>
          <a:p>
            <a:pPr>
              <a:defRPr sz="2000">
                <a:solidFill>
                  <a:srgbClr val="444444"/>
                </a:solidFill>
              </a:defRPr>
            </a:pPr>
            <a:r>
              <a:t>Limitations: challenging to train, prone to overfitting</a:t>
            </a:r>
          </a:p>
          <a:p>
            <a:pPr>
              <a:defRPr sz="2000">
                <a:solidFill>
                  <a:srgbClr val="444444"/>
                </a:solidFill>
              </a:defRPr>
            </a:pPr>
            <a:r>
              <a:t>Require large amounts of data for effective training</a:t>
            </a:r>
          </a:p>
          <a:p>
            <a:pPr>
              <a:defRPr sz="2000">
                <a:solidFill>
                  <a:srgbClr val="444444"/>
                </a:solidFill>
              </a:defRPr>
            </a:pPr>
            <a:r>
              <a:t>Can be computationally expensive to train and deploy</a:t>
            </a:r>
          </a:p>
          <a:p>
            <a:pPr>
              <a:defRPr sz="2000">
                <a:solidFill>
                  <a:srgbClr val="444444"/>
                </a:solidFill>
              </a:defRPr>
            </a:pPr>
            <a:r>
              <a:t>Sensitive to hyperparameter settings and initialization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a:t>
            </a:r>
          </a:p>
        </p:txBody>
      </p:sp>
      <p:sp>
        <p:nvSpPr>
          <p:cNvPr id="3" name="Content Placeholder 2"/>
          <p:cNvSpPr>
            <a:spLocks noGrp="1"/>
          </p:cNvSpPr>
          <p:nvPr>
            <p:ph idx="1"/>
          </p:nvPr>
        </p:nvSpPr>
        <p:spPr/>
        <p:txBody>
          <a:bodyPr/>
          <a:lstStyle/>
          <a:p>
            <a:pPr>
              <a:defRPr sz="2200" b="1">
                <a:solidFill>
                  <a:srgbClr val="1F497D"/>
                </a:solidFill>
              </a:defRPr>
            </a:pPr>
            <a:r>
              <a:t>RNNs handle sequential data</a:t>
            </a:r>
          </a:p>
          <a:p>
            <a:pPr>
              <a:defRPr sz="2200" b="1">
                <a:solidFill>
                  <a:srgbClr val="1F497D"/>
                </a:solidFill>
              </a:defRPr>
            </a:pPr>
            <a:r>
              <a:t>Consist of input, hidden, and output layers</a:t>
            </a:r>
          </a:p>
          <a:p>
            <a:pPr>
              <a:defRPr sz="2200" b="1">
                <a:solidFill>
                  <a:srgbClr val="1F497D"/>
                </a:solidFill>
              </a:defRPr>
            </a:pPr>
            <a:r>
              <a:t>LSTM (Long Short-Term Memory) networks: handle vanishing gradients</a:t>
            </a:r>
          </a:p>
          <a:p>
            <a:pPr>
              <a:defRPr sz="2200" b="1">
                <a:solidFill>
                  <a:srgbClr val="1F497D"/>
                </a:solidFill>
              </a:defRPr>
            </a:pPr>
            <a:r>
              <a:t>Speech recognition: transcribe spoken language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