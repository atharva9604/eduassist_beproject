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Convolutional Neural Networks (CNNs) presentation covering multiple topics. Today we'll explore: Convolutional Neural Networks (CNNs), Introduction to CNNs, Convolution Operation, Pooling Layers, CNN Architecture Example, Applications of CNNs.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CNNs, emphasize their biological inspiration and unique architecture. Explain how convolutional and pooling layers work together for feature extraction. Provide examples of CNN applications, such as image classification and object detection. Ask students to consider the advantages of using CNNs for image processing tasks. Key takeaways include understanding the basic components of CNNs and their ability to learn spatial hierarchies of image features.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CNNs, emphasize the role of each layer type, such as how convolutional layers use filters to extract features and how pooling layers reduce dimensionality. Provide examples of how these layers are used in real-world applications like image classification. Ask students to consider how the architecture of a CNN would change for different tasks, such as object detection or image segmentation. Key takeaways should include understanding the basic components of a CNN and how they contribute to its overall function.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CNNs, emphasize the role of convolutional and pooling layers in feature extraction and dimensionality reduction. Provide examples of how these layers are used in image classification tasks, such as handwritten digit recognition. Ask students to consider how the choice of activation function, like ReLU, affects the network's ability to learn complex patterns. Discuss the importance of batch normalization and dropout in improving the stability and generalizability of the network. Key takeaways include understanding the components of a CNN and their functions, as well as the importance of regularization techniques.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CNNs, start by explaining the inspiration behind these models, which is the structure and function of the human brain. Provide examples of how CNNs are used in real-world applications such as image and video processing. Emphasize the key components of CNNs, including convolutional and pooling layers, and the role of activation functions. Discuss the training process and the importance of optimizing weights and biases. Use simple examples to illustrate how backpropagation works. Ask students to think about potential applications of CNNs in computer vision, such as object detection and image classification, and encourage them to explore these topics further.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Convolutional Neural Networks (CNNs)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Convolutional Neural Networks (CNNs), Introduction to CNNs, Convolution Operation, Pooling Layers, CNN Architecture Example, Applications of CNNs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Convolutional Neural Networks (CNNs) - Introduction</a:t>
            </a:r>
          </a:p>
        </p:txBody>
      </p:sp>
      <p:sp>
        <p:nvSpPr>
          <p:cNvPr id="3" name="Content Placeholder 2"/>
          <p:cNvSpPr>
            <a:spLocks noGrp="1"/>
          </p:cNvSpPr>
          <p:nvPr>
            <p:ph idx="1"/>
          </p:nvPr>
        </p:nvSpPr>
        <p:spPr/>
        <p:txBody>
          <a:bodyPr/>
          <a:lstStyle/>
          <a:p>
            <a:pPr>
              <a:defRPr sz="2000">
                <a:solidFill>
                  <a:srgbClr val="444444"/>
                </a:solidFill>
              </a:defRPr>
            </a:pPr>
            <a:r>
              <a:t>CNNs are deep learning models for image processing tasks</a:t>
            </a:r>
          </a:p>
          <a:p>
            <a:pPr>
              <a:defRPr sz="2000">
                <a:solidFill>
                  <a:srgbClr val="444444"/>
                </a:solidFill>
              </a:defRPr>
            </a:pPr>
            <a:r>
              <a:t>Inspired by biological neural networks and visual cortex</a:t>
            </a:r>
          </a:p>
          <a:p>
            <a:pPr>
              <a:defRPr sz="2000">
                <a:solidFill>
                  <a:srgbClr val="444444"/>
                </a:solidFill>
              </a:defRPr>
            </a:pPr>
            <a:r>
              <a:t>Use convolutional and pooling layers for feature extraction</a:t>
            </a:r>
          </a:p>
          <a:p>
            <a:pPr>
              <a:defRPr sz="2000">
                <a:solidFill>
                  <a:srgbClr val="444444"/>
                </a:solidFill>
              </a:defRPr>
            </a:pPr>
            <a:r>
              <a:t>Convolutional layers apply filters to small image regions</a:t>
            </a:r>
          </a:p>
          <a:p>
            <a:pPr>
              <a:defRPr sz="2000">
                <a:solidFill>
                  <a:srgbClr val="444444"/>
                </a:solidFill>
              </a:defRPr>
            </a:pPr>
            <a:r>
              <a:t>Pooling layers downsample data for reduced dimensionality</a:t>
            </a:r>
          </a:p>
          <a:p>
            <a:pPr>
              <a:defRPr sz="2000">
                <a:solidFill>
                  <a:srgbClr val="444444"/>
                </a:solidFill>
              </a:defRPr>
            </a:pPr>
            <a:r>
              <a:t>CNNs are widely used for image classification and object detection</a:t>
            </a:r>
          </a:p>
          <a:p>
            <a:pPr>
              <a:defRPr sz="2000">
                <a:solidFill>
                  <a:srgbClr val="444444"/>
                </a:solidFill>
              </a:defRPr>
            </a:pPr>
            <a:r>
              <a:t>Applications include self-driving cars and facial recognition</a:t>
            </a:r>
          </a:p>
          <a:p>
            <a:pPr>
              <a:defRPr sz="2000">
                <a:solidFill>
                  <a:srgbClr val="444444"/>
                </a:solidFill>
              </a:defRPr>
            </a:pPr>
            <a:r>
              <a:t>CNNs can learn spatial hierarchies of image features</a:t>
            </a:r>
          </a:p>
          <a:p>
            <a:pPr>
              <a:defRPr sz="2000">
                <a:solidFill>
                  <a:srgbClr val="444444"/>
                </a:solidFill>
              </a:defRPr>
            </a:pPr>
            <a:r>
              <a:t>Enable robust image recognition and classification performance</a:t>
            </a:r>
          </a:p>
        </p:txBody>
      </p:sp>
      <p:pic>
        <p:nvPicPr>
          <p:cNvPr id="4" name="Picture 3" descr="2b0864db0d3a42bb832655818e7e11ac_convolutional_neural_networks_cnns_intro.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Convolutional Neural Networks (CNNs) - Architecture</a:t>
            </a:r>
          </a:p>
        </p:txBody>
      </p:sp>
      <p:sp>
        <p:nvSpPr>
          <p:cNvPr id="3" name="Content Placeholder 2"/>
          <p:cNvSpPr>
            <a:spLocks noGrp="1"/>
          </p:cNvSpPr>
          <p:nvPr>
            <p:ph idx="1"/>
          </p:nvPr>
        </p:nvSpPr>
        <p:spPr/>
        <p:txBody>
          <a:bodyPr/>
          <a:lstStyle/>
          <a:p>
            <a:pPr>
              <a:defRPr sz="2000">
                <a:solidFill>
                  <a:srgbClr val="444444"/>
                </a:solidFill>
              </a:defRPr>
            </a:pPr>
            <a:r>
              <a:t>CNNs use convolutional and pooling layers</a:t>
            </a:r>
          </a:p>
          <a:p>
            <a:pPr>
              <a:defRPr sz="2000">
                <a:solidFill>
                  <a:srgbClr val="444444"/>
                </a:solidFill>
              </a:defRPr>
            </a:pPr>
            <a:r>
              <a:t>Convolutional layers extract local features</a:t>
            </a:r>
          </a:p>
          <a:p>
            <a:pPr>
              <a:defRPr sz="2000">
                <a:solidFill>
                  <a:srgbClr val="444444"/>
                </a:solidFill>
              </a:defRPr>
            </a:pPr>
            <a:r>
              <a:t>Pooling layers reduce spatial dimensions</a:t>
            </a:r>
          </a:p>
          <a:p>
            <a:pPr>
              <a:defRPr sz="2000">
                <a:solidFill>
                  <a:srgbClr val="444444"/>
                </a:solidFill>
              </a:defRPr>
            </a:pPr>
            <a:r>
              <a:t>Fully connected layers for classification</a:t>
            </a:r>
          </a:p>
          <a:p>
            <a:pPr>
              <a:defRPr sz="2000">
                <a:solidFill>
                  <a:srgbClr val="444444"/>
                </a:solidFill>
              </a:defRPr>
            </a:pPr>
            <a:r>
              <a:t>ReLU activation function is commonly used</a:t>
            </a:r>
          </a:p>
          <a:p>
            <a:pPr>
              <a:defRPr sz="2000">
                <a:solidFill>
                  <a:srgbClr val="444444"/>
                </a:solidFill>
              </a:defRPr>
            </a:pPr>
            <a:r>
              <a:t>Batch normalization improves training speed</a:t>
            </a:r>
          </a:p>
          <a:p>
            <a:pPr>
              <a:defRPr sz="2000">
                <a:solidFill>
                  <a:srgbClr val="444444"/>
                </a:solidFill>
              </a:defRPr>
            </a:pPr>
            <a:r>
              <a:t>Dropout prevents overfitting in networks</a:t>
            </a:r>
          </a:p>
          <a:p>
            <a:pPr>
              <a:defRPr sz="2000">
                <a:solidFill>
                  <a:srgbClr val="444444"/>
                </a:solidFill>
              </a:defRPr>
            </a:pPr>
            <a:r>
              <a:t>Conv2D layer for 2D convolution operations</a:t>
            </a:r>
          </a:p>
          <a:p>
            <a:pPr>
              <a:defRPr sz="2000">
                <a:solidFill>
                  <a:srgbClr val="444444"/>
                </a:solidFill>
              </a:defRPr>
            </a:pPr>
            <a:r>
              <a:t>Max pooling for downsampling data</a:t>
            </a:r>
          </a:p>
        </p:txBody>
      </p:sp>
      <p:pic>
        <p:nvPicPr>
          <p:cNvPr id="4" name="Picture 3" descr="452f81ab790a489daf588bf449e087f4_convolutional_neural_networks_cnns_intro.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Convolutional Neural Networks (CNNs) - Architecture</a:t>
            </a:r>
          </a:p>
        </p:txBody>
      </p:sp>
      <p:sp>
        <p:nvSpPr>
          <p:cNvPr id="3" name="Content Placeholder 2"/>
          <p:cNvSpPr>
            <a:spLocks noGrp="1"/>
          </p:cNvSpPr>
          <p:nvPr>
            <p:ph idx="1"/>
          </p:nvPr>
        </p:nvSpPr>
        <p:spPr/>
        <p:txBody>
          <a:bodyPr/>
          <a:lstStyle/>
          <a:p>
            <a:pPr>
              <a:defRPr sz="2000">
                <a:solidFill>
                  <a:srgbClr val="444444"/>
                </a:solidFill>
              </a:defRPr>
            </a:pPr>
            <a:r>
              <a:t>Consist of convolutional and pooling layers</a:t>
            </a:r>
          </a:p>
          <a:p>
            <a:pPr>
              <a:defRPr sz="2000">
                <a:solidFill>
                  <a:srgbClr val="444444"/>
                </a:solidFill>
              </a:defRPr>
            </a:pPr>
            <a:r>
              <a:t>Use convolutional layers for feature extraction</a:t>
            </a:r>
          </a:p>
          <a:p>
            <a:pPr>
              <a:defRPr sz="2000">
                <a:solidFill>
                  <a:srgbClr val="444444"/>
                </a:solidFill>
              </a:defRPr>
            </a:pPr>
            <a:r>
              <a:t>Pooling layers reduce spatial dimensions</a:t>
            </a:r>
          </a:p>
          <a:p>
            <a:pPr>
              <a:defRPr sz="2000">
                <a:solidFill>
                  <a:srgbClr val="444444"/>
                </a:solidFill>
              </a:defRPr>
            </a:pPr>
            <a:r>
              <a:t>Fully connected layers for classification</a:t>
            </a:r>
          </a:p>
          <a:p>
            <a:pPr>
              <a:defRPr sz="2000">
                <a:solidFill>
                  <a:srgbClr val="444444"/>
                </a:solidFill>
              </a:defRPr>
            </a:pPr>
            <a:r>
              <a:t>Activation functions introduce non-linearity</a:t>
            </a:r>
          </a:p>
          <a:p>
            <a:pPr>
              <a:defRPr sz="2000">
                <a:solidFill>
                  <a:srgbClr val="444444"/>
                </a:solidFill>
              </a:defRPr>
            </a:pPr>
            <a:r>
              <a:t>ReLU is a commonly used activation function</a:t>
            </a:r>
          </a:p>
          <a:p>
            <a:pPr>
              <a:defRPr sz="2000">
                <a:solidFill>
                  <a:srgbClr val="444444"/>
                </a:solidFill>
              </a:defRPr>
            </a:pPr>
            <a:r>
              <a:t>Batch normalization improves training speed</a:t>
            </a:r>
          </a:p>
          <a:p>
            <a:pPr>
              <a:defRPr sz="2000">
                <a:solidFill>
                  <a:srgbClr val="444444"/>
                </a:solidFill>
              </a:defRPr>
            </a:pPr>
            <a:r>
              <a:t>Dropout prevents overfitting in networks</a:t>
            </a:r>
          </a:p>
          <a:p>
            <a:pPr>
              <a:defRPr sz="2000">
                <a:solidFill>
                  <a:srgbClr val="444444"/>
                </a:solidFill>
              </a:defRPr>
            </a:pPr>
            <a:r>
              <a:t>Convolutional layers use filters to scan inputs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CNNs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(CNNs) are deep learning models</a:t>
            </a:r>
          </a:p>
          <a:p>
            <a:pPr>
              <a:defRPr sz="2000">
                <a:solidFill>
                  <a:srgbClr val="444444"/>
                </a:solidFill>
              </a:defRPr>
            </a:pPr>
            <a:r>
              <a:t>Inspired by structure and function of human brain</a:t>
            </a:r>
          </a:p>
          <a:p>
            <a:pPr>
              <a:defRPr sz="2000">
                <a:solidFill>
                  <a:srgbClr val="444444"/>
                </a:solidFill>
              </a:defRPr>
            </a:pPr>
            <a:r>
              <a:t>Used for image and video processing applications</a:t>
            </a:r>
          </a:p>
          <a:p>
            <a:pPr>
              <a:defRPr sz="2000">
                <a:solidFill>
                  <a:srgbClr val="444444"/>
                </a:solidFill>
              </a:defRPr>
            </a:pPr>
            <a:r>
              <a:t>CNNs consist of convolutional and pooling layers</a:t>
            </a:r>
          </a:p>
          <a:p>
            <a:pPr>
              <a:defRPr sz="2000">
                <a:solidFill>
                  <a:srgbClr val="444444"/>
                </a:solidFill>
              </a:defRPr>
            </a:pPr>
            <a:r>
              <a:t>Activation functions used to introduce non-linearity</a:t>
            </a:r>
          </a:p>
          <a:p>
            <a:pPr>
              <a:defRPr sz="2000">
                <a:solidFill>
                  <a:srgbClr val="444444"/>
                </a:solidFill>
              </a:defRPr>
            </a:pPr>
            <a:r>
              <a:t>Training involves optimizing weights and biases</a:t>
            </a:r>
          </a:p>
          <a:p>
            <a:pPr>
              <a:defRPr sz="2000">
                <a:solidFill>
                  <a:srgbClr val="444444"/>
                </a:solidFill>
              </a:defRPr>
            </a:pPr>
            <a:r>
              <a:t>Backpropagation algorithm is commonly used</a:t>
            </a:r>
          </a:p>
          <a:p>
            <a:pPr>
              <a:defRPr sz="2000">
                <a:solidFill>
                  <a:srgbClr val="444444"/>
                </a:solidFill>
              </a:defRPr>
            </a:pPr>
            <a:r>
              <a:t>CNNs have many applications in computer vision</a:t>
            </a:r>
          </a:p>
          <a:p>
            <a:pPr>
              <a:defRPr sz="2000">
                <a:solidFill>
                  <a:srgbClr val="444444"/>
                </a:solidFill>
              </a:defRPr>
            </a:pPr>
            <a:r>
              <a:t>Examples include object detection and image classification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