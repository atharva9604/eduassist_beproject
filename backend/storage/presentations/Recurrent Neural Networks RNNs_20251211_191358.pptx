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students to the topic of Recurrent Neural Networks, a crucial component of Artificial Intelligence. Explain that RNNs are designed to handle sequential data and ask students if they have encountered any sequential data in their daily lives.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importance of RNNs in handling sequential data, such as time series forecasting and natural language processing. Provide examples of applications like speech recognition and machine translation. Ask students to consider how RNNs can be applied to real-world problems.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Describe the basic RNN architecture and explain the key equation. Discuss the roles of the input gate, output gate, cell state, and hidden state. Mention the challenges of training RNNs, such as vanishing gradients and exploding gradients, and introduce techniques like gradient clipping and normalization.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various RNN variants, such as LSTM and GRU networks, and explain their strengths and weaknesses. Discuss the applications of bidirectional RNNs, deep RNNs, and attention mechanisms. Ask students to consider how these variants can be used to improve performance on specific tasks.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various applications of RNNs, including natural language processing, speech recognition, and time series forecasting. Highlight the advantages of RNNs, such as handling sequential data, and the limitations, including vanishing gradients and overfitting. Ask students to consider the trade-offs between model complexity and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Delve deeper into LSTM networks, explaining the architecture and training process. Discuss the advantages and limitations of LSTMs, including their ability to handle long-term dependencies and the computational resources required. Provide examples of applications, such as language modeling and machine translation.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GRU architecture and its differences from LSTM. Discuss the advantages and limitations of GRU networks, including their faster training times and fewer parameters. Compare the performance of GRU and LSTM networks, and introduce hybrid models that combine both.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challenges of training RNNs, including vanishing gradients and exploding gradients. Introduce techniques like gradient clipping, regularization, and optimization algorithms to improve training stability and performance. Explain the importance of hyperparameter tuning and provide examples of optimization algorithms and learning rate scheduling.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Provide examples of real-world applications of RNNs, including speech recognition, natural language processing, and time series forecasting. Discuss the challenges of deploying RNNs in real-time systems and the importance of edge computing and IoT applications. Ask students to consider the potential impact of RNNs on various industries and domains.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key takeaways from the presentation, including the importance of RNNs in handling sequential data and time series forecasting. Emphasize the strengths and weaknesses of RNNs, including their ability to handle long-term dependencies and the challenges of training and deploying them. Provide a final overview of the real-world applications and future directions of RNNs, and ask students to reflect on what they have learned.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Recurrent Neural Networks (RNNs)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Artificial Intelligence Module</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Intro/Background</a:t>
            </a:r>
          </a:p>
        </p:txBody>
      </p:sp>
      <p:sp>
        <p:nvSpPr>
          <p:cNvPr id="3" name="Content Placeholder 2"/>
          <p:cNvSpPr>
            <a:spLocks noGrp="1"/>
          </p:cNvSpPr>
          <p:nvPr>
            <p:ph idx="1"/>
          </p:nvPr>
        </p:nvSpPr>
        <p:spPr/>
        <p:txBody>
          <a:bodyPr/>
          <a:lstStyle/>
          <a:p>
            <a:pPr>
              <a:defRPr sz="2000">
                <a:solidFill>
                  <a:srgbClr val="444444"/>
                </a:solidFill>
              </a:defRPr>
            </a:pPr>
            <a:r>
              <a:t>RNNs handle sequential data</a:t>
            </a:r>
          </a:p>
          <a:p>
            <a:pPr>
              <a:defRPr sz="2000">
                <a:solidFill>
                  <a:srgbClr val="444444"/>
                </a:solidFill>
              </a:defRPr>
            </a:pPr>
            <a:r>
              <a:t>Used in natural language processing</a:t>
            </a:r>
          </a:p>
          <a:p>
            <a:pPr>
              <a:defRPr sz="2000">
                <a:solidFill>
                  <a:srgbClr val="444444"/>
                </a:solidFill>
              </a:defRPr>
            </a:pPr>
            <a:r>
              <a:t>Time series forecasting applications</a:t>
            </a:r>
          </a:p>
          <a:p>
            <a:pPr>
              <a:defRPr sz="2000">
                <a:solidFill>
                  <a:srgbClr val="444444"/>
                </a:solidFill>
              </a:defRPr>
            </a:pPr>
            <a:r>
              <a:t>Speech recognition capabilities</a:t>
            </a:r>
          </a:p>
          <a:p>
            <a:pPr>
              <a:defRPr sz="2000">
                <a:solidFill>
                  <a:srgbClr val="444444"/>
                </a:solidFill>
              </a:defRPr>
            </a:pPr>
            <a:r>
              <a:t>Image captioning and generation</a:t>
            </a:r>
          </a:p>
          <a:p>
            <a:pPr>
              <a:defRPr sz="2000">
                <a:solidFill>
                  <a:srgbClr val="444444"/>
                </a:solidFill>
              </a:defRPr>
            </a:pPr>
            <a:r>
              <a:t>Machine translation tasks</a:t>
            </a:r>
          </a:p>
          <a:p>
            <a:pPr>
              <a:defRPr sz="2000">
                <a:solidFill>
                  <a:srgbClr val="444444"/>
                </a:solidFill>
              </a:defRPr>
            </a:pPr>
            <a:r>
              <a:t>Chatbots and dialogue systems</a:t>
            </a:r>
          </a:p>
          <a:p>
            <a:pPr>
              <a:defRPr sz="2000">
                <a:solidFill>
                  <a:srgbClr val="444444"/>
                </a:solidFill>
              </a:defRPr>
            </a:pPr>
            <a:r>
              <a:t>Sentiment analysis and opinion mining</a:t>
            </a:r>
          </a:p>
          <a:p>
            <a:pPr>
              <a:defRPr sz="2000">
                <a:solidFill>
                  <a:srgbClr val="444444"/>
                </a:solidFill>
              </a:defRPr>
            </a:pPr>
            <a:r>
              <a:t>Recommendation systems and personalization</a:t>
            </a:r>
          </a:p>
        </p:txBody>
      </p:sp>
      <p:pic>
        <p:nvPicPr>
          <p:cNvPr id="4" name="Picture 3" descr="ce2d6f3513ee47918e5bf0aa8c190450_rnns_artificial_intelligence_overview.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Architecture &amp; Key Equation</a:t>
            </a:r>
          </a:p>
        </p:txBody>
      </p:sp>
      <p:sp>
        <p:nvSpPr>
          <p:cNvPr id="3" name="Content Placeholder 2"/>
          <p:cNvSpPr>
            <a:spLocks noGrp="1"/>
          </p:cNvSpPr>
          <p:nvPr>
            <p:ph idx="1"/>
          </p:nvPr>
        </p:nvSpPr>
        <p:spPr/>
        <p:txBody>
          <a:bodyPr/>
          <a:lstStyle/>
          <a:p>
            <a:pPr>
              <a:defRPr sz="2000">
                <a:solidFill>
                  <a:srgbClr val="444444"/>
                </a:solidFill>
              </a:defRPr>
            </a:pPr>
            <a:r>
              <a:t>RNN architecture: image_query</a:t>
            </a:r>
          </a:p>
          <a:p>
            <a:pPr>
              <a:defRPr sz="2000">
                <a:solidFill>
                  <a:srgbClr val="444444"/>
                </a:solidFill>
              </a:defRPr>
            </a:pPr>
            <a:r>
              <a:t>Key equation: h_t = sigmoid(W * x_t)</a:t>
            </a:r>
          </a:p>
          <a:p>
            <a:pPr>
              <a:defRPr sz="2000">
                <a:solidFill>
                  <a:srgbClr val="444444"/>
                </a:solidFill>
              </a:defRPr>
            </a:pPr>
            <a:r>
              <a:t>Input gate controls information flow</a:t>
            </a:r>
          </a:p>
          <a:p>
            <a:pPr>
              <a:defRPr sz="2000">
                <a:solidFill>
                  <a:srgbClr val="444444"/>
                </a:solidFill>
              </a:defRPr>
            </a:pPr>
            <a:r>
              <a:t>Output gate generates predictions</a:t>
            </a:r>
          </a:p>
          <a:p>
            <a:pPr>
              <a:defRPr sz="2000">
                <a:solidFill>
                  <a:srgbClr val="444444"/>
                </a:solidFill>
              </a:defRPr>
            </a:pPr>
            <a:r>
              <a:t>Cell state retains long-term information</a:t>
            </a:r>
          </a:p>
          <a:p>
            <a:pPr>
              <a:defRPr sz="2000">
                <a:solidFill>
                  <a:srgbClr val="444444"/>
                </a:solidFill>
              </a:defRPr>
            </a:pPr>
            <a:r>
              <a:t>Hidden state captures short-term information</a:t>
            </a:r>
          </a:p>
          <a:p>
            <a:pPr>
              <a:defRPr sz="2000">
                <a:solidFill>
                  <a:srgbClr val="444444"/>
                </a:solidFill>
              </a:defRPr>
            </a:pPr>
            <a:r>
              <a:t>Backpropagation through time (BPTT) training</a:t>
            </a:r>
          </a:p>
          <a:p>
            <a:pPr>
              <a:defRPr sz="2000">
                <a:solidFill>
                  <a:srgbClr val="444444"/>
                </a:solidFill>
              </a:defRPr>
            </a:pPr>
            <a:r>
              <a:t>Vanishing gradients and exploding gradients</a:t>
            </a:r>
          </a:p>
          <a:p>
            <a:pPr>
              <a:defRPr sz="2000">
                <a:solidFill>
                  <a:srgbClr val="444444"/>
                </a:solidFill>
              </a:defRPr>
            </a:pPr>
            <a:r>
              <a:t>Gradient clipping and normalization techniques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Variants</a:t>
            </a:r>
          </a:p>
        </p:txBody>
      </p:sp>
      <p:sp>
        <p:nvSpPr>
          <p:cNvPr id="3" name="Content Placeholder 2"/>
          <p:cNvSpPr>
            <a:spLocks noGrp="1"/>
          </p:cNvSpPr>
          <p:nvPr>
            <p:ph idx="1"/>
          </p:nvPr>
        </p:nvSpPr>
        <p:spPr/>
        <p:txBody>
          <a:bodyPr/>
          <a:lstStyle/>
          <a:p>
            <a:pPr>
              <a:defRPr sz="2000">
                <a:solidFill>
                  <a:srgbClr val="444444"/>
                </a:solidFill>
              </a:defRPr>
            </a:pPr>
            <a:r>
              <a:t>LSTM (Long Short-Term Memory) networks</a:t>
            </a:r>
          </a:p>
          <a:p>
            <a:pPr>
              <a:defRPr sz="2000">
                <a:solidFill>
                  <a:srgbClr val="444444"/>
                </a:solidFill>
              </a:defRPr>
            </a:pPr>
            <a:r>
              <a:t>GRU (Gated Recurrent Unit) networks</a:t>
            </a:r>
          </a:p>
          <a:p>
            <a:pPr>
              <a:defRPr sz="2000">
                <a:solidFill>
                  <a:srgbClr val="444444"/>
                </a:solidFill>
              </a:defRPr>
            </a:pPr>
            <a:r>
              <a:t>Bidirectional RNNs for sequential data</a:t>
            </a:r>
          </a:p>
          <a:p>
            <a:pPr>
              <a:defRPr sz="2000">
                <a:solidFill>
                  <a:srgbClr val="444444"/>
                </a:solidFill>
              </a:defRPr>
            </a:pPr>
            <a:r>
              <a:t>Deep RNNs with multiple hidden layers</a:t>
            </a:r>
          </a:p>
          <a:p>
            <a:pPr>
              <a:defRPr sz="2000">
                <a:solidFill>
                  <a:srgbClr val="444444"/>
                </a:solidFill>
              </a:defRPr>
            </a:pPr>
            <a:r>
              <a:t>Residual connections for deep RNNs</a:t>
            </a:r>
          </a:p>
          <a:p>
            <a:pPr>
              <a:defRPr sz="2000">
                <a:solidFill>
                  <a:srgbClr val="444444"/>
                </a:solidFill>
              </a:defRPr>
            </a:pPr>
            <a:r>
              <a:t>Attention mechanisms for focused processing</a:t>
            </a:r>
          </a:p>
          <a:p>
            <a:pPr>
              <a:defRPr sz="2000">
                <a:solidFill>
                  <a:srgbClr val="444444"/>
                </a:solidFill>
              </a:defRPr>
            </a:pPr>
            <a:r>
              <a:t>Memory-augmented RNNs for external memory</a:t>
            </a:r>
          </a:p>
          <a:p>
            <a:pPr>
              <a:defRPr sz="2000">
                <a:solidFill>
                  <a:srgbClr val="444444"/>
                </a:solidFill>
              </a:defRPr>
            </a:pPr>
            <a:r>
              <a:t>Graph RNNs for graph-structured data</a:t>
            </a:r>
          </a:p>
          <a:p>
            <a:pPr>
              <a:defRPr sz="2000">
                <a:solidFill>
                  <a:srgbClr val="444444"/>
                </a:solidFill>
              </a:defRPr>
            </a:pPr>
            <a:r>
              <a:t>Hierarchical RNNs for multi-scale processing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 Advantages/Limitations</a:t>
            </a:r>
          </a:p>
        </p:txBody>
      </p:sp>
      <p:sp>
        <p:nvSpPr>
          <p:cNvPr id="3" name="Content Placeholder 2"/>
          <p:cNvSpPr>
            <a:spLocks noGrp="1"/>
          </p:cNvSpPr>
          <p:nvPr>
            <p:ph idx="1"/>
          </p:nvPr>
        </p:nvSpPr>
        <p:spPr/>
        <p:txBody>
          <a:bodyPr/>
          <a:lstStyle/>
          <a:p>
            <a:pPr>
              <a:defRPr sz="2000">
                <a:solidFill>
                  <a:srgbClr val="444444"/>
                </a:solidFill>
              </a:defRPr>
            </a:pPr>
            <a:r>
              <a:t>Natural language processing tasks</a:t>
            </a:r>
          </a:p>
          <a:p>
            <a:pPr>
              <a:defRPr sz="2000">
                <a:solidFill>
                  <a:srgbClr val="444444"/>
                </a:solidFill>
              </a:defRPr>
            </a:pPr>
            <a:r>
              <a:t>Speech recognition and synthesis</a:t>
            </a:r>
          </a:p>
          <a:p>
            <a:pPr>
              <a:defRPr sz="2000">
                <a:solidFill>
                  <a:srgbClr val="444444"/>
                </a:solidFill>
              </a:defRPr>
            </a:pPr>
            <a:r>
              <a:t>Time series forecasting and prediction</a:t>
            </a:r>
          </a:p>
          <a:p>
            <a:pPr>
              <a:defRPr sz="2000">
                <a:solidFill>
                  <a:srgbClr val="444444"/>
                </a:solidFill>
              </a:defRPr>
            </a:pPr>
            <a:r>
              <a:t>Recommendation systems and personalization</a:t>
            </a:r>
          </a:p>
          <a:p>
            <a:pPr>
              <a:defRPr sz="2000">
                <a:solidFill>
                  <a:srgbClr val="444444"/>
                </a:solidFill>
              </a:defRPr>
            </a:pPr>
            <a:r>
              <a:t>Advantages: handling sequential data</a:t>
            </a:r>
          </a:p>
          <a:p>
            <a:pPr>
              <a:defRPr sz="2000">
                <a:solidFill>
                  <a:srgbClr val="444444"/>
                </a:solidFill>
              </a:defRPr>
            </a:pPr>
            <a:r>
              <a:t>Limitations: vanishing gradients and overfitting</a:t>
            </a:r>
          </a:p>
          <a:p>
            <a:pPr>
              <a:defRPr sz="2000">
                <a:solidFill>
                  <a:srgbClr val="444444"/>
                </a:solidFill>
              </a:defRPr>
            </a:pPr>
            <a:r>
              <a:t>Requires large amounts of training data</a:t>
            </a:r>
          </a:p>
          <a:p>
            <a:pPr>
              <a:defRPr sz="2000">
                <a:solidFill>
                  <a:srgbClr val="444444"/>
                </a:solidFill>
              </a:defRPr>
            </a:pPr>
            <a:r>
              <a:t>Computational resources and memory requirements</a:t>
            </a:r>
          </a:p>
          <a:p>
            <a:pPr>
              <a:defRPr sz="2000">
                <a:solidFill>
                  <a:srgbClr val="444444"/>
                </a:solidFill>
              </a:defRPr>
            </a:pPr>
            <a:r>
              <a:t>Real-time processing and deployment challenges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LSTM Networks</a:t>
            </a:r>
          </a:p>
        </p:txBody>
      </p:sp>
      <p:sp>
        <p:nvSpPr>
          <p:cNvPr id="3" name="Content Placeholder 2"/>
          <p:cNvSpPr>
            <a:spLocks noGrp="1"/>
          </p:cNvSpPr>
          <p:nvPr>
            <p:ph idx="1"/>
          </p:nvPr>
        </p:nvSpPr>
        <p:spPr/>
        <p:txBody>
          <a:bodyPr/>
          <a:lstStyle/>
          <a:p>
            <a:pPr>
              <a:defRPr sz="2000">
                <a:solidFill>
                  <a:srgbClr val="444444"/>
                </a:solidFill>
              </a:defRPr>
            </a:pPr>
            <a:r>
              <a:t>LSTM architecture: input gate, output gate</a:t>
            </a:r>
          </a:p>
          <a:p>
            <a:pPr>
              <a:defRPr sz="2000">
                <a:solidFill>
                  <a:srgbClr val="444444"/>
                </a:solidFill>
              </a:defRPr>
            </a:pPr>
            <a:r>
              <a:t>Cell state and hidden state interactions</a:t>
            </a:r>
          </a:p>
          <a:p>
            <a:pPr>
              <a:defRPr sz="2000">
                <a:solidFill>
                  <a:srgbClr val="444444"/>
                </a:solidFill>
              </a:defRPr>
            </a:pPr>
            <a:r>
              <a:t>Backpropagation through time (BPTT) training</a:t>
            </a:r>
          </a:p>
          <a:p>
            <a:pPr>
              <a:defRPr sz="2000">
                <a:solidFill>
                  <a:srgbClr val="444444"/>
                </a:solidFill>
              </a:defRPr>
            </a:pPr>
            <a:r>
              <a:t>Gradient clipping and normalization techniques</a:t>
            </a:r>
          </a:p>
          <a:p>
            <a:pPr>
              <a:defRPr sz="2000">
                <a:solidFill>
                  <a:srgbClr val="444444"/>
                </a:solidFill>
              </a:defRPr>
            </a:pPr>
            <a:r>
              <a:t>LSTM variants: peephole connections, forget gate</a:t>
            </a:r>
          </a:p>
          <a:p>
            <a:pPr>
              <a:defRPr sz="2000">
                <a:solidFill>
                  <a:srgbClr val="444444"/>
                </a:solidFill>
              </a:defRPr>
            </a:pPr>
            <a:r>
              <a:t>Applications: language modeling, machine translation</a:t>
            </a:r>
          </a:p>
          <a:p>
            <a:pPr>
              <a:defRPr sz="2000">
                <a:solidFill>
                  <a:srgbClr val="444444"/>
                </a:solidFill>
              </a:defRPr>
            </a:pPr>
            <a:r>
              <a:t>Advantages: handling long-term dependencies</a:t>
            </a:r>
          </a:p>
          <a:p>
            <a:pPr>
              <a:defRPr sz="2000">
                <a:solidFill>
                  <a:srgbClr val="444444"/>
                </a:solidFill>
              </a:defRPr>
            </a:pPr>
            <a:r>
              <a:t>Limitations: computational resources, memory requirements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GRU Networks</a:t>
            </a:r>
          </a:p>
        </p:txBody>
      </p:sp>
      <p:sp>
        <p:nvSpPr>
          <p:cNvPr id="3" name="Content Placeholder 2"/>
          <p:cNvSpPr>
            <a:spLocks noGrp="1"/>
          </p:cNvSpPr>
          <p:nvPr>
            <p:ph idx="1"/>
          </p:nvPr>
        </p:nvSpPr>
        <p:spPr/>
        <p:txBody>
          <a:bodyPr/>
          <a:lstStyle/>
          <a:p>
            <a:pPr>
              <a:defRPr sz="2000">
                <a:solidFill>
                  <a:srgbClr val="444444"/>
                </a:solidFill>
              </a:defRPr>
            </a:pPr>
            <a:r>
              <a:t>GRU architecture: update gate, reset gate</a:t>
            </a:r>
          </a:p>
          <a:p>
            <a:pPr>
              <a:defRPr sz="2000">
                <a:solidFill>
                  <a:srgbClr val="444444"/>
                </a:solidFill>
              </a:defRPr>
            </a:pPr>
            <a:r>
              <a:t>Simplified architecture compared to LSTM</a:t>
            </a:r>
          </a:p>
          <a:p>
            <a:pPr>
              <a:defRPr sz="2000">
                <a:solidFill>
                  <a:srgbClr val="444444"/>
                </a:solidFill>
              </a:defRPr>
            </a:pPr>
            <a:r>
              <a:t>Fewer parameters, faster training times</a:t>
            </a:r>
          </a:p>
          <a:p>
            <a:pPr>
              <a:defRPr sz="2000">
                <a:solidFill>
                  <a:srgbClr val="444444"/>
                </a:solidFill>
              </a:defRPr>
            </a:pPr>
            <a:r>
              <a:t>Applications: speech recognition, dialogue systems</a:t>
            </a:r>
          </a:p>
          <a:p>
            <a:pPr>
              <a:defRPr sz="2000">
                <a:solidFill>
                  <a:srgbClr val="444444"/>
                </a:solidFill>
              </a:defRPr>
            </a:pPr>
            <a:r>
              <a:t>Advantages: faster training, fewer parameters</a:t>
            </a:r>
          </a:p>
          <a:p>
            <a:pPr>
              <a:defRPr sz="2000">
                <a:solidFill>
                  <a:srgbClr val="444444"/>
                </a:solidFill>
              </a:defRPr>
            </a:pPr>
            <a:r>
              <a:t>Limitations: handling long-term dependencies</a:t>
            </a:r>
          </a:p>
          <a:p>
            <a:pPr>
              <a:defRPr sz="2000">
                <a:solidFill>
                  <a:srgbClr val="444444"/>
                </a:solidFill>
              </a:defRPr>
            </a:pPr>
            <a:r>
              <a:t>Comparison to LSTM: performance, computational resources</a:t>
            </a:r>
          </a:p>
          <a:p>
            <a:pPr>
              <a:defRPr sz="2000">
                <a:solidFill>
                  <a:srgbClr val="444444"/>
                </a:solidFill>
              </a:defRPr>
            </a:pPr>
            <a:r>
              <a:t>Hybrid models: combining GRU and LSTM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Training RNNs</a:t>
            </a:r>
          </a:p>
        </p:txBody>
      </p:sp>
      <p:sp>
        <p:nvSpPr>
          <p:cNvPr id="3" name="Content Placeholder 2"/>
          <p:cNvSpPr>
            <a:spLocks noGrp="1"/>
          </p:cNvSpPr>
          <p:nvPr>
            <p:ph idx="1"/>
          </p:nvPr>
        </p:nvSpPr>
        <p:spPr/>
        <p:txBody>
          <a:bodyPr/>
          <a:lstStyle/>
          <a:p>
            <a:pPr>
              <a:defRPr sz="2000">
                <a:solidFill>
                  <a:srgbClr val="444444"/>
                </a:solidFill>
              </a:defRPr>
            </a:pPr>
            <a:r>
              <a:t>Backpropagation through time (BPTT) training</a:t>
            </a:r>
          </a:p>
          <a:p>
            <a:pPr>
              <a:defRPr sz="2000">
                <a:solidFill>
                  <a:srgbClr val="444444"/>
                </a:solidFill>
              </a:defRPr>
            </a:pPr>
            <a:r>
              <a:t>Truncated BPTT for computational efficiency</a:t>
            </a:r>
          </a:p>
          <a:p>
            <a:pPr>
              <a:defRPr sz="2000">
                <a:solidFill>
                  <a:srgbClr val="444444"/>
                </a:solidFill>
              </a:defRPr>
            </a:pPr>
            <a:r>
              <a:t>Gradient clipping and normalization techniques</a:t>
            </a:r>
          </a:p>
          <a:p>
            <a:pPr>
              <a:defRPr sz="2000">
                <a:solidFill>
                  <a:srgbClr val="444444"/>
                </a:solidFill>
              </a:defRPr>
            </a:pPr>
            <a:r>
              <a:t>Regularization techniques: dropout, L1, L2</a:t>
            </a:r>
          </a:p>
          <a:p>
            <a:pPr>
              <a:defRPr sz="2000">
                <a:solidFill>
                  <a:srgbClr val="444444"/>
                </a:solidFill>
              </a:defRPr>
            </a:pPr>
            <a:r>
              <a:t>Optimization algorithms: SGD, Adam, RMSprop</a:t>
            </a:r>
          </a:p>
          <a:p>
            <a:pPr>
              <a:defRPr sz="2000">
                <a:solidFill>
                  <a:srgbClr val="444444"/>
                </a:solidFill>
              </a:defRPr>
            </a:pPr>
            <a:r>
              <a:t>Learning rate scheduling and hyperparameter tuning</a:t>
            </a:r>
          </a:p>
          <a:p>
            <a:pPr>
              <a:defRPr sz="2000">
                <a:solidFill>
                  <a:srgbClr val="444444"/>
                </a:solidFill>
              </a:defRPr>
            </a:pPr>
            <a:r>
              <a:t>Batch normalization and layer normalization</a:t>
            </a:r>
          </a:p>
          <a:p>
            <a:pPr>
              <a:defRPr sz="2000">
                <a:solidFill>
                  <a:srgbClr val="444444"/>
                </a:solidFill>
              </a:defRPr>
            </a:pPr>
            <a:r>
              <a:t>Early stopping and model checkpointing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Real-World Applications</a:t>
            </a:r>
          </a:p>
        </p:txBody>
      </p:sp>
      <p:sp>
        <p:nvSpPr>
          <p:cNvPr id="3" name="Content Placeholder 2"/>
          <p:cNvSpPr>
            <a:spLocks noGrp="1"/>
          </p:cNvSpPr>
          <p:nvPr>
            <p:ph idx="1"/>
          </p:nvPr>
        </p:nvSpPr>
        <p:spPr/>
        <p:txBody>
          <a:bodyPr/>
          <a:lstStyle/>
          <a:p>
            <a:pPr>
              <a:defRPr sz="2000">
                <a:solidFill>
                  <a:srgbClr val="444444"/>
                </a:solidFill>
              </a:defRPr>
            </a:pPr>
            <a:r>
              <a:t>Speech recognition and synthesis systems</a:t>
            </a:r>
          </a:p>
          <a:p>
            <a:pPr>
              <a:defRPr sz="2000">
                <a:solidFill>
                  <a:srgbClr val="444444"/>
                </a:solidFill>
              </a:defRPr>
            </a:pPr>
            <a:r>
              <a:t>Natural language processing and machine translation</a:t>
            </a:r>
          </a:p>
          <a:p>
            <a:pPr>
              <a:defRPr sz="2000">
                <a:solidFill>
                  <a:srgbClr val="444444"/>
                </a:solidFill>
              </a:defRPr>
            </a:pPr>
            <a:r>
              <a:t>Time series forecasting and prediction systems</a:t>
            </a:r>
          </a:p>
          <a:p>
            <a:pPr>
              <a:defRPr sz="2000">
                <a:solidFill>
                  <a:srgbClr val="444444"/>
                </a:solidFill>
              </a:defRPr>
            </a:pPr>
            <a:r>
              <a:t>Recommendation systems and personalization</a:t>
            </a:r>
          </a:p>
          <a:p>
            <a:pPr>
              <a:defRPr sz="2000">
                <a:solidFill>
                  <a:srgbClr val="444444"/>
                </a:solidFill>
              </a:defRPr>
            </a:pPr>
            <a:r>
              <a:t>Chatbots and dialogue systems for customer service</a:t>
            </a:r>
          </a:p>
          <a:p>
            <a:pPr>
              <a:defRPr sz="2000">
                <a:solidFill>
                  <a:srgbClr val="444444"/>
                </a:solidFill>
              </a:defRPr>
            </a:pPr>
            <a:r>
              <a:t>Image captioning and generation for multimedia</a:t>
            </a:r>
          </a:p>
          <a:p>
            <a:pPr>
              <a:defRPr sz="2000">
                <a:solidFill>
                  <a:srgbClr val="444444"/>
                </a:solidFill>
              </a:defRPr>
            </a:pPr>
            <a:r>
              <a:t>Sentiment analysis and opinion mining for social media</a:t>
            </a:r>
          </a:p>
          <a:p>
            <a:pPr>
              <a:defRPr sz="2000">
                <a:solidFill>
                  <a:srgbClr val="444444"/>
                </a:solidFill>
              </a:defRPr>
            </a:pPr>
            <a:r>
              <a:t>Real-time processing and deployment challenges</a:t>
            </a:r>
          </a:p>
          <a:p>
            <a:pPr>
              <a:defRPr sz="2000">
                <a:solidFill>
                  <a:srgbClr val="444444"/>
                </a:solidFill>
              </a:defRPr>
            </a:pPr>
            <a:r>
              <a:t>Edge computing and IoT applications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C00000"/>
                </a:solidFill>
              </a:defRPr>
            </a:pPr>
            <a:r>
              <a:t>Summary</a:t>
            </a:r>
          </a:p>
        </p:txBody>
      </p:sp>
      <p:sp>
        <p:nvSpPr>
          <p:cNvPr id="3" name="Content Placeholder 2"/>
          <p:cNvSpPr>
            <a:spLocks noGrp="1"/>
          </p:cNvSpPr>
          <p:nvPr>
            <p:ph idx="1"/>
          </p:nvPr>
        </p:nvSpPr>
        <p:spPr/>
        <p:txBody>
          <a:bodyPr/>
          <a:lstStyle/>
          <a:p>
            <a:pPr>
              <a:defRPr sz="2200" b="1">
                <a:solidFill>
                  <a:srgbClr val="1F497D"/>
                </a:solidFill>
              </a:defRPr>
            </a:pPr>
            <a:r>
              <a:t>RNNs handle sequential data</a:t>
            </a:r>
          </a:p>
          <a:p>
            <a:pPr>
              <a:defRPr sz="2200" b="1">
                <a:solidFill>
                  <a:srgbClr val="1F497D"/>
                </a:solidFill>
              </a:defRPr>
            </a:pPr>
            <a:r>
              <a:t>RNN architecture: image_query</a:t>
            </a:r>
          </a:p>
          <a:p>
            <a:pPr>
              <a:defRPr sz="2200" b="1">
                <a:solidFill>
                  <a:srgbClr val="1F497D"/>
                </a:solidFill>
              </a:defRPr>
            </a:pPr>
            <a:r>
              <a:t>LSTM (Long Short-Term Memory) networks</a:t>
            </a:r>
          </a:p>
          <a:p>
            <a:pPr>
              <a:defRPr sz="2200" b="1">
                <a:solidFill>
                  <a:srgbClr val="1F497D"/>
                </a:solidFill>
              </a:defRPr>
            </a:pPr>
            <a:r>
              <a:t>Natural language processing tasks</a:t>
            </a:r>
          </a:p>
          <a:p>
            <a:pPr>
              <a:defRPr sz="2200" b="1">
                <a:solidFill>
                  <a:srgbClr val="1F497D"/>
                </a:solidFill>
              </a:defRPr>
            </a:pPr>
            <a:r>
              <a:t>LSTM architecture: input gate, output gate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