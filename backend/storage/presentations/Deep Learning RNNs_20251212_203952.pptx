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presentation on Deep Learning, specifically focusing on Recurrent Neural Networks. Today, we will explore the fundamentals of RNNs, their architecture, and applications. Ask students if they have any prior knowledge of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RNNs are designed to handle sequential data and are commonly used in applications such as time series forecasting and natural language processing. Provide examples of how RNNs can learn patterns in data and ask students to think about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architecture of an RNN, including the input, hidden, and output layers. Explain the role of recurrent connections in the hidden layer and how the hidden state is updated at each time step. Use the image_query to display a diagram of the RNN architecture and ask students to identify the different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different variants of RNNs, including LSTMs and GRUs. Explain how these variants address specific limitations of traditional RNNs, such as vanishing gradients. Ask students to think about which variant might be most suitable for a given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RNNs, including speech recognition, natural language processing, and time series forecasting. Discuss the advantages of RNNs, such as their ability to handle sequential data and learn patterns. Also, discuss the limitations, including vanishing gradients and computational expense. Ask students to think about potential applications and how RNNs might be used to address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basics of RNNs, their architecture, and applications. Emphasize the importance of RNNs in deep learning and their potential for addressing complex problems. Ask students to reflect on what they have learned and how they might apply RNNs in their own projects or research.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for time series forecasting</a:t>
            </a:r>
          </a:p>
          <a:p>
            <a:pPr>
              <a:defRPr sz="2000">
                <a:solidFill>
                  <a:srgbClr val="444444"/>
                </a:solidFill>
              </a:defRPr>
            </a:pPr>
            <a:r>
              <a:t>Applications in natural language processing</a:t>
            </a:r>
          </a:p>
          <a:p>
            <a:pPr>
              <a:defRPr sz="2000">
                <a:solidFill>
                  <a:srgbClr val="444444"/>
                </a:solidFill>
              </a:defRPr>
            </a:pPr>
            <a:r>
              <a:t>Can learn patterns in data</a:t>
            </a:r>
          </a:p>
          <a:p>
            <a:pPr>
              <a:defRPr sz="2000">
                <a:solidFill>
                  <a:srgbClr val="444444"/>
                </a:solidFill>
              </a:defRPr>
            </a:pPr>
            <a:r>
              <a:t>Recurrent connections allow feedback</a:t>
            </a:r>
          </a:p>
          <a:p>
            <a:pPr>
              <a:defRPr sz="2000">
                <a:solidFill>
                  <a:srgbClr val="444444"/>
                </a:solidFill>
              </a:defRPr>
            </a:pPr>
            <a:r>
              <a:t>Trained using backpropagation</a:t>
            </a:r>
          </a:p>
          <a:p>
            <a:pPr>
              <a:defRPr sz="2000">
                <a:solidFill>
                  <a:srgbClr val="444444"/>
                </a:solidFill>
              </a:defRPr>
            </a:pPr>
            <a:r>
              <a:t>Can be used for speech recognition</a:t>
            </a:r>
          </a:p>
          <a:p>
            <a:pPr>
              <a:defRPr sz="2000">
                <a:solidFill>
                  <a:srgbClr val="444444"/>
                </a:solidFill>
              </a:defRPr>
            </a:pPr>
            <a:r>
              <a:t>Also used in machine translation</a:t>
            </a:r>
          </a:p>
          <a:p>
            <a:pPr>
              <a:defRPr sz="2000">
                <a:solidFill>
                  <a:srgbClr val="444444"/>
                </a:solidFill>
              </a:defRPr>
            </a:pPr>
            <a:r>
              <a:t>Effective for sequential data analysis</a:t>
            </a:r>
          </a:p>
          <a:p>
            <a:pPr>
              <a:defRPr sz="2000">
                <a:solidFill>
                  <a:srgbClr val="444444"/>
                </a:solidFill>
              </a:defRPr>
            </a:pPr>
            <a:r>
              <a:t>Key component in many AI systems</a:t>
            </a:r>
          </a:p>
        </p:txBody>
      </p:sp>
      <p:pic>
        <p:nvPicPr>
          <p:cNvPr id="4" name="Picture 3" descr="077d8b62821a4bd0a0f30ebb88c06b03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Consists of input, hidden, output layers</a:t>
            </a:r>
          </a:p>
          <a:p>
            <a:pPr>
              <a:defRPr sz="2000">
                <a:solidFill>
                  <a:srgbClr val="444444"/>
                </a:solidFill>
              </a:defRPr>
            </a:pPr>
            <a:r>
              <a:t>Recurrent connections in hidden layer</a:t>
            </a:r>
          </a:p>
          <a:p>
            <a:pPr>
              <a:defRPr sz="2000">
                <a:solidFill>
                  <a:srgbClr val="444444"/>
                </a:solidFill>
              </a:defRPr>
            </a:pPr>
            <a:r>
              <a:t>Image_query: RNN architecture diagram</a:t>
            </a:r>
          </a:p>
          <a:p>
            <a:pPr>
              <a:defRPr sz="2000">
                <a:solidFill>
                  <a:srgbClr val="444444"/>
                </a:solidFill>
              </a:defRPr>
            </a:pPr>
            <a:r>
              <a:t>Simple equation: y = sigmoid(x)</a:t>
            </a:r>
          </a:p>
          <a:p>
            <a:pPr>
              <a:defRPr sz="2000">
                <a:solidFill>
                  <a:srgbClr val="444444"/>
                </a:solidFill>
              </a:defRPr>
            </a:pPr>
            <a:r>
              <a:t>Hidden state updated at each time step</a:t>
            </a:r>
          </a:p>
          <a:p>
            <a:pPr>
              <a:defRPr sz="2000">
                <a:solidFill>
                  <a:srgbClr val="444444"/>
                </a:solidFill>
              </a:defRPr>
            </a:pPr>
            <a:r>
              <a:t>Output depends on hidden state</a:t>
            </a:r>
          </a:p>
          <a:p>
            <a:pPr>
              <a:defRPr sz="2000">
                <a:solidFill>
                  <a:srgbClr val="444444"/>
                </a:solidFill>
              </a:defRPr>
            </a:pPr>
            <a:r>
              <a:t>Can be unrolled for analysis</a:t>
            </a:r>
          </a:p>
          <a:p>
            <a:pPr>
              <a:defRPr sz="2000">
                <a:solidFill>
                  <a:srgbClr val="444444"/>
                </a:solidFill>
              </a:defRPr>
            </a:pPr>
            <a:r>
              <a:t>Training involves optimizing weights</a:t>
            </a:r>
          </a:p>
          <a:p>
            <a:pPr>
              <a:defRPr sz="2000">
                <a:solidFill>
                  <a:srgbClr val="444444"/>
                </a:solidFill>
              </a:defRPr>
            </a:pPr>
            <a:r>
              <a:t>Activation functions used in hidden layers</a:t>
            </a:r>
          </a:p>
          <a:p>
            <a:pPr>
              <a:defRPr sz="2000">
                <a:solidFill>
                  <a:srgbClr val="444444"/>
                </a:solidFill>
              </a:defRPr>
            </a:pPr>
            <a:r>
              <a:t>Backpropagation used for training</a:t>
            </a:r>
          </a:p>
        </p:txBody>
      </p:sp>
      <p:pic>
        <p:nvPicPr>
          <p:cNvPr id="4" name="Picture 3" descr="c6a95c0e432f46deb4eb77a5e6333733.png"/>
          <p:cNvPicPr>
            <a:picLocks noChangeAspect="1"/>
          </p:cNvPicPr>
          <p:nvPr/>
        </p:nvPicPr>
        <p:blipFill>
          <a:blip r:embed="rId2"/>
          <a:stretch>
            <a:fillRect/>
          </a:stretch>
        </p:blipFill>
        <p:spPr>
          <a:xfrm>
            <a:off x="7315200" y="1828800"/>
            <a:ext cx="4114800" cy="2057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 for sequential data</a:t>
            </a:r>
          </a:p>
          <a:p>
            <a:pPr>
              <a:defRPr sz="2000">
                <a:solidFill>
                  <a:srgbClr val="444444"/>
                </a:solidFill>
              </a:defRPr>
            </a:pPr>
            <a:r>
              <a:t>Depth-wise separable RNNs for efficiency</a:t>
            </a:r>
          </a:p>
          <a:p>
            <a:pPr>
              <a:defRPr sz="2000">
                <a:solidFill>
                  <a:srgbClr val="444444"/>
                </a:solidFill>
              </a:defRPr>
            </a:pPr>
            <a:r>
              <a:t>Residual connections for deep RNNs</a:t>
            </a:r>
          </a:p>
          <a:p>
            <a:pPr>
              <a:defRPr sz="2000">
                <a:solidFill>
                  <a:srgbClr val="444444"/>
                </a:solidFill>
              </a:defRPr>
            </a:pPr>
            <a:r>
              <a:t>Attention mechanisms for focusing</a:t>
            </a:r>
          </a:p>
          <a:p>
            <a:pPr>
              <a:defRPr sz="2000">
                <a:solidFill>
                  <a:srgbClr val="444444"/>
                </a:solidFill>
              </a:defRPr>
            </a:pPr>
            <a:r>
              <a:t>Recurrent Highway Networks for depth</a:t>
            </a:r>
          </a:p>
          <a:p>
            <a:pPr>
              <a:defRPr sz="2000">
                <a:solidFill>
                  <a:srgbClr val="444444"/>
                </a:solidFill>
              </a:defRPr>
            </a:pPr>
            <a:r>
              <a:t>Clockwork RNNs for periodic data</a:t>
            </a:r>
          </a:p>
          <a:p>
            <a:pPr>
              <a:defRPr sz="2000">
                <a:solidFill>
                  <a:srgbClr val="444444"/>
                </a:solidFill>
              </a:defRPr>
            </a:pPr>
            <a:r>
              <a:t>Neural Turing Machines for memory</a:t>
            </a:r>
          </a:p>
          <a:p>
            <a:pPr>
              <a:defRPr sz="2000">
                <a:solidFill>
                  <a:srgbClr val="444444"/>
                </a:solidFill>
              </a:defRPr>
            </a:pPr>
            <a:r>
              <a:t>Stack-Augmented RNNs for parsing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and synthesis</a:t>
            </a:r>
          </a:p>
          <a:p>
            <a:pPr>
              <a:defRPr sz="2000">
                <a:solidFill>
                  <a:srgbClr val="444444"/>
                </a:solidFill>
              </a:defRPr>
            </a:pPr>
            <a:r>
              <a:t>Natural language processing and translation</a:t>
            </a:r>
          </a:p>
          <a:p>
            <a:pPr>
              <a:defRPr sz="2000">
                <a:solidFill>
                  <a:srgbClr val="444444"/>
                </a:solidFill>
              </a:defRPr>
            </a:pPr>
            <a:r>
              <a:t>Time series forecasting and analysis</a:t>
            </a:r>
          </a:p>
          <a:p>
            <a:pPr>
              <a:defRPr sz="2000">
                <a:solidFill>
                  <a:srgbClr val="444444"/>
                </a:solidFill>
              </a:defRPr>
            </a:pPr>
            <a:r>
              <a:t>Advantage: handles sequential data</a:t>
            </a:r>
          </a:p>
          <a:p>
            <a:pPr>
              <a:defRPr sz="2000">
                <a:solidFill>
                  <a:srgbClr val="444444"/>
                </a:solidFill>
              </a:defRPr>
            </a:pPr>
            <a:r>
              <a:t>Limitation: vanishing gradients</a:t>
            </a:r>
          </a:p>
          <a:p>
            <a:pPr>
              <a:defRPr sz="2000">
                <a:solidFill>
                  <a:srgbClr val="444444"/>
                </a:solidFill>
              </a:defRPr>
            </a:pPr>
            <a:r>
              <a:t>Advantage: learns patterns in data</a:t>
            </a:r>
          </a:p>
          <a:p>
            <a:pPr>
              <a:defRPr sz="2000">
                <a:solidFill>
                  <a:srgbClr val="444444"/>
                </a:solidFill>
              </a:defRPr>
            </a:pPr>
            <a:r>
              <a:t>Limitation: computationally expensive</a:t>
            </a:r>
          </a:p>
          <a:p>
            <a:pPr>
              <a:defRPr sz="2000">
                <a:solidFill>
                  <a:srgbClr val="444444"/>
                </a:solidFill>
              </a:defRPr>
            </a:pPr>
            <a:r>
              <a:t>Used in chatbots and virtual assistants</a:t>
            </a:r>
          </a:p>
          <a:p>
            <a:pPr>
              <a:defRPr sz="2000">
                <a:solidFill>
                  <a:srgbClr val="444444"/>
                </a:solidFill>
              </a:defRPr>
            </a:pPr>
            <a:r>
              <a:t>Used in sentiment analysis and text classification</a:t>
            </a:r>
          </a:p>
          <a:p>
            <a:pPr>
              <a:defRPr sz="2000">
                <a:solidFill>
                  <a:srgbClr val="444444"/>
                </a:solidFill>
              </a:defRPr>
            </a:pPr>
            <a:r>
              <a:t>Effective for sequential data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Consists of input, hidden, output layers</a:t>
            </a:r>
          </a:p>
          <a:p>
            <a:pPr>
              <a:defRPr sz="2200" b="1">
                <a:solidFill>
                  <a:srgbClr val="1F497D"/>
                </a:solidFill>
              </a:defRPr>
            </a:pPr>
            <a:r>
              <a:t>LSTM (Long Short-Term Memory) networks</a:t>
            </a:r>
          </a:p>
          <a:p>
            <a:pPr>
              <a:defRPr sz="2200" b="1">
                <a:solidFill>
                  <a:srgbClr val="1F497D"/>
                </a:solidFill>
              </a:defRPr>
            </a:pPr>
            <a:r>
              <a:t>Speech recognition and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