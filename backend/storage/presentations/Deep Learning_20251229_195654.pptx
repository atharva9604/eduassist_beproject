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Introduction to the presentation on CNNs.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Introduce the concept of Convolutional Neural Networks and their importance in deep learning. Explain how CNNs are inspired by the human visual cortex and are used for image and video processing tasks. Provide examples of applications and highlight the key benefits of using CNNs.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convolution operation and its importance in CNNs. Describe how filters are used to detect local patterns and features, and how activation functions introduce non-linearity to the model. Provide examples of how convolution layers can be stacked and followed by pooling layers for downsampling.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concept of pooling layers and their importance in CNNs. Describe how pooling layers reduce spatial dimensions and retain important features, and how they can be used for downsampling and feature extraction. Provide examples of different types of pooling layers and how they can be used in combination with convolutional layers.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Provide examples of different CNN architectures, including LeNet-5, AlexNet, and VGGNet. Explain the components of each architecture, including the types of layers and activation functions used. Highlight the key features and benefits of each architecture, and provide examples of how they can be used for different tasks and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Highlight the many applications of CNNs, including image classification, object detection, and segmentation. Provide examples of how CNNs are used in different industries, such as self-driving cars, robotics, healthcare, and surveillance systems. Emphasize the importance of CNNs in these applications and the benefits they provide, such as improved accuracy and efficiency.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Convolutional Neural Networks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CNNs</a:t>
            </a:r>
          </a:p>
        </p:txBody>
      </p:sp>
      <p:sp>
        <p:nvSpPr>
          <p:cNvPr id="3" name="Content Placeholder 2"/>
          <p:cNvSpPr>
            <a:spLocks noGrp="1"/>
          </p:cNvSpPr>
          <p:nvPr>
            <p:ph idx="1"/>
          </p:nvPr>
        </p:nvSpPr>
        <p:spPr/>
        <p:txBody>
          <a:bodyPr/>
          <a:lstStyle/>
          <a:p>
            <a:pPr>
              <a:defRPr sz="2000">
                <a:solidFill>
                  <a:srgbClr val="444444"/>
                </a:solidFill>
              </a:defRPr>
            </a:pPr>
            <a:r>
              <a:t>Convolutional Neural Networks are deep learning models</a:t>
            </a:r>
          </a:p>
          <a:p>
            <a:pPr>
              <a:defRPr sz="2000">
                <a:solidFill>
                  <a:srgbClr val="444444"/>
                </a:solidFill>
              </a:defRPr>
            </a:pPr>
            <a:r>
              <a:t>Inspired by human visual cortex structure and function</a:t>
            </a:r>
          </a:p>
          <a:p>
            <a:pPr>
              <a:defRPr sz="2000">
                <a:solidFill>
                  <a:srgbClr val="444444"/>
                </a:solidFill>
              </a:defRPr>
            </a:pPr>
            <a:r>
              <a:t>Used for image and video processing tasks</a:t>
            </a:r>
          </a:p>
          <a:p>
            <a:pPr>
              <a:defRPr sz="2000">
                <a:solidFill>
                  <a:srgbClr val="444444"/>
                </a:solidFill>
              </a:defRPr>
            </a:pPr>
            <a:r>
              <a:t>CNNs have multiple layers with learnable parameters</a:t>
            </a:r>
          </a:p>
          <a:p>
            <a:pPr>
              <a:defRPr sz="2000">
                <a:solidFill>
                  <a:srgbClr val="444444"/>
                </a:solidFill>
              </a:defRPr>
            </a:pPr>
            <a:r>
              <a:t>Training CNNs requires large datasets and computational resources</a:t>
            </a:r>
          </a:p>
          <a:p>
            <a:pPr>
              <a:defRPr sz="2000">
                <a:solidFill>
                  <a:srgbClr val="444444"/>
                </a:solidFill>
              </a:defRPr>
            </a:pPr>
            <a:r>
              <a:t>Applications include image classification, object detection, and segmentation</a:t>
            </a:r>
          </a:p>
          <a:p>
            <a:pPr>
              <a:defRPr sz="2000">
                <a:solidFill>
                  <a:srgbClr val="444444"/>
                </a:solidFill>
              </a:defRPr>
            </a:pPr>
            <a:r>
              <a:t>CNNs are widely used in computer vision, robotics, and healthcare</a:t>
            </a:r>
          </a:p>
          <a:p>
            <a:pPr>
              <a:defRPr sz="2000">
                <a:solidFill>
                  <a:srgbClr val="444444"/>
                </a:solidFill>
              </a:defRPr>
            </a:pPr>
            <a:r>
              <a:t>Key benefits include automatic feature extraction and robustness to variations</a:t>
            </a:r>
          </a:p>
          <a:p>
            <a:pPr>
              <a:defRPr sz="2000">
                <a:solidFill>
                  <a:srgbClr val="444444"/>
                </a:solidFill>
              </a:defRPr>
            </a:pPr>
            <a:r>
              <a:t>CNNs can be fine-tuned for specific tasks and datasets</a:t>
            </a:r>
          </a:p>
        </p:txBody>
      </p:sp>
      <p:pic>
        <p:nvPicPr>
          <p:cNvPr id="4" name="Picture 3" descr="f573bda8e2904ffda30deb57f89adb1d.jpg"/>
          <p:cNvPicPr>
            <a:picLocks noChangeAspect="1"/>
          </p:cNvPicPr>
          <p:nvPr/>
        </p:nvPicPr>
        <p:blipFill>
          <a:blip r:embed="rId2"/>
          <a:stretch>
            <a:fillRect/>
          </a:stretch>
        </p:blipFill>
        <p:spPr>
          <a:xfrm>
            <a:off x="7315200" y="1828800"/>
            <a:ext cx="4114800" cy="2886501"/>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 Operation</a:t>
            </a:r>
          </a:p>
        </p:txBody>
      </p:sp>
      <p:sp>
        <p:nvSpPr>
          <p:cNvPr id="3" name="Content Placeholder 2"/>
          <p:cNvSpPr>
            <a:spLocks noGrp="1"/>
          </p:cNvSpPr>
          <p:nvPr>
            <p:ph idx="1"/>
          </p:nvPr>
        </p:nvSpPr>
        <p:spPr/>
        <p:txBody>
          <a:bodyPr/>
          <a:lstStyle/>
          <a:p>
            <a:pPr>
              <a:defRPr sz="2000">
                <a:solidFill>
                  <a:srgbClr val="444444"/>
                </a:solidFill>
              </a:defRPr>
            </a:pPr>
            <a:r>
              <a:t>Convolution operation involves sliding filters over input data</a:t>
            </a:r>
          </a:p>
          <a:p>
            <a:pPr>
              <a:defRPr sz="2000">
                <a:solidFill>
                  <a:srgbClr val="444444"/>
                </a:solidFill>
              </a:defRPr>
            </a:pPr>
            <a:r>
              <a:t>Filters are small matrices that detect local patterns and features</a:t>
            </a:r>
          </a:p>
          <a:p>
            <a:pPr>
              <a:defRPr sz="2000">
                <a:solidFill>
                  <a:srgbClr val="444444"/>
                </a:solidFill>
              </a:defRPr>
            </a:pPr>
            <a:r>
              <a:t>Convolution operation is followed by activation functions</a:t>
            </a:r>
          </a:p>
          <a:p>
            <a:pPr>
              <a:defRPr sz="2000">
                <a:solidFill>
                  <a:srgbClr val="444444"/>
                </a:solidFill>
              </a:defRPr>
            </a:pPr>
            <a:r>
              <a:t>Activation functions introduce non-linearity to the model</a:t>
            </a:r>
          </a:p>
          <a:p>
            <a:pPr>
              <a:defRPr sz="2000">
                <a:solidFill>
                  <a:srgbClr val="444444"/>
                </a:solidFill>
              </a:defRPr>
            </a:pPr>
            <a:r>
              <a:t>Convolution layers can be stacked to increase model depth</a:t>
            </a:r>
          </a:p>
          <a:p>
            <a:pPr>
              <a:defRPr sz="2000">
                <a:solidFill>
                  <a:srgbClr val="444444"/>
                </a:solidFill>
              </a:defRPr>
            </a:pPr>
            <a:r>
              <a:t>Convolution operation reduces spatial dimensions and retains important features</a:t>
            </a:r>
          </a:p>
          <a:p>
            <a:pPr>
              <a:defRPr sz="2000">
                <a:solidFill>
                  <a:srgbClr val="444444"/>
                </a:solidFill>
              </a:defRPr>
            </a:pPr>
            <a:r>
              <a:t>Convolution layers are followed by pooling layers for downsampling</a:t>
            </a:r>
          </a:p>
          <a:p>
            <a:pPr>
              <a:defRPr sz="2000">
                <a:solidFill>
                  <a:srgbClr val="444444"/>
                </a:solidFill>
              </a:defRPr>
            </a:pPr>
            <a:r>
              <a:t>Convolution operation is a key component of CNN architectures</a:t>
            </a:r>
          </a:p>
          <a:p>
            <a:pPr>
              <a:defRPr sz="2000">
                <a:solidFill>
                  <a:srgbClr val="444444"/>
                </a:solidFill>
              </a:defRPr>
            </a:pPr>
            <a:r>
              <a:t>Convolution operation can be used for feature extraction and dimensionality reduction</a:t>
            </a:r>
          </a:p>
        </p:txBody>
      </p:sp>
      <p:pic>
        <p:nvPicPr>
          <p:cNvPr id="4" name="Picture 3" descr="4120ef8a7b004b2abd90b4e1732bd653.jpg"/>
          <p:cNvPicPr>
            <a:picLocks noChangeAspect="1"/>
          </p:cNvPicPr>
          <p:nvPr/>
        </p:nvPicPr>
        <p:blipFill>
          <a:blip r:embed="rId2"/>
          <a:stretch>
            <a:fillRect/>
          </a:stretch>
        </p:blipFill>
        <p:spPr>
          <a:xfrm>
            <a:off x="7315200" y="1828800"/>
            <a:ext cx="4114800" cy="138223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Pooling Layers</a:t>
            </a:r>
          </a:p>
        </p:txBody>
      </p:sp>
      <p:sp>
        <p:nvSpPr>
          <p:cNvPr id="3" name="Content Placeholder 2"/>
          <p:cNvSpPr>
            <a:spLocks noGrp="1"/>
          </p:cNvSpPr>
          <p:nvPr>
            <p:ph idx="1"/>
          </p:nvPr>
        </p:nvSpPr>
        <p:spPr/>
        <p:txBody>
          <a:bodyPr/>
          <a:lstStyle/>
          <a:p>
            <a:pPr>
              <a:defRPr sz="2000">
                <a:solidFill>
                  <a:srgbClr val="444444"/>
                </a:solidFill>
              </a:defRPr>
            </a:pPr>
            <a:r>
              <a:t>Pooling layers reduce spatial dimensions of convolutional outputs</a:t>
            </a:r>
          </a:p>
          <a:p>
            <a:pPr>
              <a:defRPr sz="2000">
                <a:solidFill>
                  <a:srgbClr val="444444"/>
                </a:solidFill>
              </a:defRPr>
            </a:pPr>
            <a:r>
              <a:t>Pooling layers retain important features and reduce noise</a:t>
            </a:r>
          </a:p>
          <a:p>
            <a:pPr>
              <a:defRPr sz="2000">
                <a:solidFill>
                  <a:srgbClr val="444444"/>
                </a:solidFill>
              </a:defRPr>
            </a:pPr>
            <a:r>
              <a:t>Max pooling is a common type of pooling layer</a:t>
            </a:r>
          </a:p>
          <a:p>
            <a:pPr>
              <a:defRPr sz="2000">
                <a:solidFill>
                  <a:srgbClr val="444444"/>
                </a:solidFill>
              </a:defRPr>
            </a:pPr>
            <a:r>
              <a:t>Average pooling is another type of pooling layer</a:t>
            </a:r>
          </a:p>
          <a:p>
            <a:pPr>
              <a:defRPr sz="2000">
                <a:solidFill>
                  <a:srgbClr val="444444"/>
                </a:solidFill>
              </a:defRPr>
            </a:pPr>
            <a:r>
              <a:t>Pooling layers can be used for downsampling and feature extraction</a:t>
            </a:r>
          </a:p>
          <a:p>
            <a:pPr>
              <a:defRPr sz="2000">
                <a:solidFill>
                  <a:srgbClr val="444444"/>
                </a:solidFill>
              </a:defRPr>
            </a:pPr>
            <a:r>
              <a:t>Pooling layers reduce the number of parameters and computations</a:t>
            </a:r>
          </a:p>
          <a:p>
            <a:pPr>
              <a:defRPr sz="2000">
                <a:solidFill>
                  <a:srgbClr val="444444"/>
                </a:solidFill>
              </a:defRPr>
            </a:pPr>
            <a:r>
              <a:t>Pooling layers are used to increase translation invariance</a:t>
            </a:r>
          </a:p>
          <a:p>
            <a:pPr>
              <a:defRPr sz="2000">
                <a:solidFill>
                  <a:srgbClr val="444444"/>
                </a:solidFill>
              </a:defRPr>
            </a:pPr>
            <a:r>
              <a:t>Pooling layers can be used in combination with convolutional layers</a:t>
            </a:r>
          </a:p>
          <a:p>
            <a:pPr>
              <a:defRPr sz="2000">
                <a:solidFill>
                  <a:srgbClr val="444444"/>
                </a:solidFill>
              </a:defRPr>
            </a:pPr>
            <a:r>
              <a:t>Pooling layers are a key component of CNN architectures</a:t>
            </a:r>
          </a:p>
        </p:txBody>
      </p:sp>
      <p:pic>
        <p:nvPicPr>
          <p:cNvPr id="4" name="Picture 3" descr="466e53b17b7f45509987335872f80a6a.jpg"/>
          <p:cNvPicPr>
            <a:picLocks noChangeAspect="1"/>
          </p:cNvPicPr>
          <p:nvPr/>
        </p:nvPicPr>
        <p:blipFill>
          <a:blip r:embed="rId2"/>
          <a:stretch>
            <a:fillRect/>
          </a:stretch>
        </p:blipFill>
        <p:spPr>
          <a:xfrm>
            <a:off x="7315200" y="1828800"/>
            <a:ext cx="4114800" cy="409651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CNN Architecture Example</a:t>
            </a:r>
          </a:p>
        </p:txBody>
      </p:sp>
      <p:sp>
        <p:nvSpPr>
          <p:cNvPr id="3" name="Content Placeholder 2"/>
          <p:cNvSpPr>
            <a:spLocks noGrp="1"/>
          </p:cNvSpPr>
          <p:nvPr>
            <p:ph idx="1"/>
          </p:nvPr>
        </p:nvSpPr>
        <p:spPr/>
        <p:txBody>
          <a:bodyPr/>
          <a:lstStyle/>
          <a:p>
            <a:pPr>
              <a:defRPr sz="2000">
                <a:solidFill>
                  <a:srgbClr val="444444"/>
                </a:solidFill>
              </a:defRPr>
            </a:pPr>
            <a:r>
              <a:t>LeNet-5 is a classic example of a CNN architecture</a:t>
            </a:r>
          </a:p>
          <a:p>
            <a:pPr>
              <a:defRPr sz="2000">
                <a:solidFill>
                  <a:srgbClr val="444444"/>
                </a:solidFill>
              </a:defRPr>
            </a:pPr>
            <a:r>
              <a:t>LeNet-5 consists of convolutional and pooling layers</a:t>
            </a:r>
          </a:p>
          <a:p>
            <a:pPr>
              <a:defRPr sz="2000">
                <a:solidFill>
                  <a:srgbClr val="444444"/>
                </a:solidFill>
              </a:defRPr>
            </a:pPr>
            <a:r>
              <a:t>LeNet-5 uses max pooling and sigmoid activation functions</a:t>
            </a:r>
          </a:p>
          <a:p>
            <a:pPr>
              <a:defRPr sz="2000">
                <a:solidFill>
                  <a:srgbClr val="444444"/>
                </a:solidFill>
              </a:defRPr>
            </a:pPr>
            <a:r>
              <a:t>AlexNet is another example of a CNN architecture</a:t>
            </a:r>
          </a:p>
          <a:p>
            <a:pPr>
              <a:defRPr sz="2000">
                <a:solidFill>
                  <a:srgbClr val="444444"/>
                </a:solidFill>
              </a:defRPr>
            </a:pPr>
            <a:r>
              <a:t>AlexNet consists of convolutional and pooling layers</a:t>
            </a:r>
          </a:p>
          <a:p>
            <a:pPr>
              <a:defRPr sz="2000">
                <a:solidFill>
                  <a:srgbClr val="444444"/>
                </a:solidFill>
              </a:defRPr>
            </a:pPr>
            <a:r>
              <a:t>AlexNet uses rectified linear unit (ReLU) activation functions</a:t>
            </a:r>
          </a:p>
          <a:p>
            <a:pPr>
              <a:defRPr sz="2000">
                <a:solidFill>
                  <a:srgbClr val="444444"/>
                </a:solidFill>
              </a:defRPr>
            </a:pPr>
            <a:r>
              <a:t>VGGNet is a more complex example of a CNN architecture</a:t>
            </a:r>
          </a:p>
          <a:p>
            <a:pPr>
              <a:defRPr sz="2000">
                <a:solidFill>
                  <a:srgbClr val="444444"/>
                </a:solidFill>
              </a:defRPr>
            </a:pPr>
            <a:r>
              <a:t>VGGNet consists of multiple convolutional and pooling layers</a:t>
            </a:r>
          </a:p>
          <a:p>
            <a:pPr>
              <a:defRPr sz="2000">
                <a:solidFill>
                  <a:srgbClr val="444444"/>
                </a:solidFill>
              </a:defRPr>
            </a:pPr>
            <a:r>
              <a:t>VGGNet uses batch normalization and ReLU activation functions</a:t>
            </a:r>
          </a:p>
        </p:txBody>
      </p:sp>
      <p:pic>
        <p:nvPicPr>
          <p:cNvPr id="4" name="Picture 3" descr="bd6b08e4908b4e8f84445e36cc8f7d17.png"/>
          <p:cNvPicPr>
            <a:picLocks noChangeAspect="1"/>
          </p:cNvPicPr>
          <p:nvPr/>
        </p:nvPicPr>
        <p:blipFill>
          <a:blip r:embed="rId2"/>
          <a:stretch>
            <a:fillRect/>
          </a:stretch>
        </p:blipFill>
        <p:spPr>
          <a:xfrm>
            <a:off x="7315200" y="1828800"/>
            <a:ext cx="4114800" cy="518464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of CNNs</a:t>
            </a:r>
          </a:p>
        </p:txBody>
      </p:sp>
      <p:sp>
        <p:nvSpPr>
          <p:cNvPr id="3" name="Content Placeholder 2"/>
          <p:cNvSpPr>
            <a:spLocks noGrp="1"/>
          </p:cNvSpPr>
          <p:nvPr>
            <p:ph idx="1"/>
          </p:nvPr>
        </p:nvSpPr>
        <p:spPr/>
        <p:txBody>
          <a:bodyPr/>
          <a:lstStyle/>
          <a:p>
            <a:pPr>
              <a:defRPr sz="2000">
                <a:solidFill>
                  <a:srgbClr val="444444"/>
                </a:solidFill>
              </a:defRPr>
            </a:pPr>
            <a:r>
              <a:t>Image classification is a common application of CNNs</a:t>
            </a:r>
          </a:p>
          <a:p>
            <a:pPr>
              <a:defRPr sz="2000">
                <a:solidFill>
                  <a:srgbClr val="444444"/>
                </a:solidFill>
              </a:defRPr>
            </a:pPr>
            <a:r>
              <a:t>Object detection is another application of CNNs</a:t>
            </a:r>
          </a:p>
          <a:p>
            <a:pPr>
              <a:defRPr sz="2000">
                <a:solidFill>
                  <a:srgbClr val="444444"/>
                </a:solidFill>
              </a:defRPr>
            </a:pPr>
            <a:r>
              <a:t>Segmentation is a key application of CNNs in medical imaging</a:t>
            </a:r>
          </a:p>
          <a:p>
            <a:pPr>
              <a:defRPr sz="2000">
                <a:solidFill>
                  <a:srgbClr val="444444"/>
                </a:solidFill>
              </a:defRPr>
            </a:pPr>
            <a:r>
              <a:t>CNNs are used in self-driving cars for object detection and tracking</a:t>
            </a:r>
          </a:p>
          <a:p>
            <a:pPr>
              <a:defRPr sz="2000">
                <a:solidFill>
                  <a:srgbClr val="444444"/>
                </a:solidFill>
              </a:defRPr>
            </a:pPr>
            <a:r>
              <a:t>CNNs are used in robotics for visual perception and control</a:t>
            </a:r>
          </a:p>
          <a:p>
            <a:pPr>
              <a:defRPr sz="2000">
                <a:solidFill>
                  <a:srgbClr val="444444"/>
                </a:solidFill>
              </a:defRPr>
            </a:pPr>
            <a:r>
              <a:t>CNNs are used in healthcare for disease diagnosis and treatment</a:t>
            </a:r>
          </a:p>
          <a:p>
            <a:pPr>
              <a:defRPr sz="2000">
                <a:solidFill>
                  <a:srgbClr val="444444"/>
                </a:solidFill>
              </a:defRPr>
            </a:pPr>
            <a:r>
              <a:t>CNNs are used in surveillance systems for object detection and tracking</a:t>
            </a:r>
          </a:p>
          <a:p>
            <a:pPr>
              <a:defRPr sz="2000">
                <a:solidFill>
                  <a:srgbClr val="444444"/>
                </a:solidFill>
              </a:defRPr>
            </a:pPr>
            <a:r>
              <a:t>CNNs are used in facial recognition systems for security and authentication</a:t>
            </a:r>
          </a:p>
          <a:p>
            <a:pPr>
              <a:defRPr sz="2000">
                <a:solidFill>
                  <a:srgbClr val="444444"/>
                </a:solidFill>
              </a:defRPr>
            </a:pPr>
            <a:r>
              <a:t>CNNs have many other applications in computer vision and beyond</a:t>
            </a:r>
          </a:p>
        </p:txBody>
      </p:sp>
      <p:pic>
        <p:nvPicPr>
          <p:cNvPr id="4" name="Picture 3" descr="5174adb335ac4958b3595d78fcd4eefc.png"/>
          <p:cNvPicPr>
            <a:picLocks noChangeAspect="1"/>
          </p:cNvPicPr>
          <p:nvPr/>
        </p:nvPicPr>
        <p:blipFill>
          <a:blip r:embed="rId2"/>
          <a:stretch>
            <a:fillRect/>
          </a:stretch>
        </p:blipFill>
        <p:spPr>
          <a:xfrm>
            <a:off x="7315200" y="1828800"/>
            <a:ext cx="4114800" cy="303113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