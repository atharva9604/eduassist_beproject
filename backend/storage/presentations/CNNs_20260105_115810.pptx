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importance of understanding neural networks and machine learning basics as a foundation for deep learning. Provide examples of real-world applications of deep learning, such as image recognition and natural language processing. Ask students what they know about deep learning and what they hope to learn from the course, to gauge their prior knowledge and adjust the pace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key components of the CNN architecture, such as convolutional and pooling layers, and explain how they work together to enable image classification and other tasks. Provide examples of how CNNs are used in real-world applications, such as image recognition and object detection. Ask students to consider how the core concept of CNNs can be applied to different problem domains and what advantages and limitations this architecture presents.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mathematical and logical explanation of CNNs, emphasize the role of calculus in backpropagation and optimization. Provide examples of how activation functions introduce non-linearity, and ask students to consider how mathematical formulations guide neural network design. Ask questions like 'How do mathematical operations contribute to the learning process in CNNs?' to encourage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Applications / Use Cases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importance of understanding key concepts in CNNs, such as convolutional and pooling layers. Provide examples of how these concepts are used in real-world applications, and ask students to consider how they might apply these concepts to their own projects. Ask questions like 'What are some common optimization algorithms used in CNNs?' to encourage critical thinking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Deep learning introduction begins with neural networks</a:t>
            </a:r>
          </a:p>
          <a:p>
            <a:pPr>
              <a:defRPr sz="2000">
                <a:solidFill>
                  <a:srgbClr val="444444"/>
                </a:solidFill>
              </a:defRPr>
            </a:pPr>
            <a:r>
              <a:t>Convolutional Neural Networks are key deep learning models</a:t>
            </a:r>
          </a:p>
          <a:p>
            <a:pPr>
              <a:defRPr sz="2000">
                <a:solidFill>
                  <a:srgbClr val="444444"/>
                </a:solidFill>
              </a:defRPr>
            </a:pPr>
            <a:r>
              <a:t>Introduction to deep learning involves machine learning basics</a:t>
            </a:r>
          </a:p>
          <a:p>
            <a:pPr>
              <a:defRPr sz="2000">
                <a:solidFill>
                  <a:srgbClr val="444444"/>
                </a:solidFill>
              </a:defRPr>
            </a:pPr>
            <a:r>
              <a:t>Neural networks are fundamental to deep learning concepts</a:t>
            </a:r>
          </a:p>
          <a:p>
            <a:pPr>
              <a:defRPr sz="2000">
                <a:solidFill>
                  <a:srgbClr val="444444"/>
                </a:solidFill>
              </a:defRPr>
            </a:pPr>
            <a:r>
              <a:t>Deep learning introduction covers supervised and unsupervised learning</a:t>
            </a:r>
          </a:p>
          <a:p>
            <a:pPr>
              <a:defRPr sz="2000">
                <a:solidFill>
                  <a:srgbClr val="444444"/>
                </a:solidFill>
              </a:defRPr>
            </a:pPr>
            <a:r>
              <a:t>Key concepts include backpropagation and optimization methods</a:t>
            </a:r>
          </a:p>
          <a:p>
            <a:pPr>
              <a:defRPr sz="2000">
                <a:solidFill>
                  <a:srgbClr val="444444"/>
                </a:solidFill>
              </a:defRPr>
            </a:pPr>
            <a:r>
              <a:t>Introduction to deep learning requires understanding data preprocessing</a:t>
            </a:r>
          </a:p>
          <a:p>
            <a:pPr>
              <a:defRPr sz="2000">
                <a:solidFill>
                  <a:srgbClr val="444444"/>
                </a:solidFill>
              </a:defRPr>
            </a:pPr>
            <a:r>
              <a:t>Deep learning frameworks are essential for model implementation</a:t>
            </a:r>
          </a:p>
          <a:p>
            <a:pPr>
              <a:defRPr sz="2000">
                <a:solidFill>
                  <a:srgbClr val="444444"/>
                </a:solidFill>
              </a:defRPr>
            </a:pPr>
            <a:r>
              <a:t>Introduction to CNNs involves image and signal processing techniques</a:t>
            </a:r>
          </a:p>
          <a:p>
            <a:pPr>
              <a:defRPr sz="2000">
                <a:solidFill>
                  <a:srgbClr val="444444"/>
                </a:solidFill>
              </a:defRPr>
            </a:pPr>
            <a:r>
              <a:t>Deep learning applications are diverse and rapidly expanding</a:t>
            </a:r>
          </a:p>
        </p:txBody>
      </p:sp>
      <p:pic>
        <p:nvPicPr>
          <p:cNvPr id="4" name="Picture 3" descr="87aba52e591d47329501bf5fac366a34_cnns_deep_learning_overview_introduction.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core concept involves convolutional layers</a:t>
            </a:r>
          </a:p>
          <a:p>
            <a:pPr>
              <a:defRPr sz="2000">
                <a:solidFill>
                  <a:srgbClr val="444444"/>
                </a:solidFill>
              </a:defRPr>
            </a:pPr>
            <a:r>
              <a:t>Architecture includes convolutional, pooling, and fully connected layers</a:t>
            </a:r>
          </a:p>
          <a:p>
            <a:pPr>
              <a:defRPr sz="2000">
                <a:solidFill>
                  <a:srgbClr val="444444"/>
                </a:solidFill>
              </a:defRPr>
            </a:pPr>
            <a:r>
              <a:t>Core concept relies on local connectivity and shared weights</a:t>
            </a:r>
          </a:p>
          <a:p>
            <a:pPr>
              <a:defRPr sz="2000">
                <a:solidFill>
                  <a:srgbClr val="444444"/>
                </a:solidFill>
              </a:defRPr>
            </a:pPr>
            <a:r>
              <a:t>Convolutional layers extract local features from input data</a:t>
            </a:r>
          </a:p>
          <a:p>
            <a:pPr>
              <a:defRPr sz="2000">
                <a:solidFill>
                  <a:srgbClr val="444444"/>
                </a:solidFill>
              </a:defRPr>
            </a:pPr>
            <a:r>
              <a:t>Pooling layers reduce spatial dimensions and retain important features</a:t>
            </a:r>
          </a:p>
          <a:p>
            <a:pPr>
              <a:defRPr sz="2000">
                <a:solidFill>
                  <a:srgbClr val="444444"/>
                </a:solidFill>
              </a:defRPr>
            </a:pPr>
            <a:r>
              <a:t>Fully connected layers enable classification and regression tasks</a:t>
            </a:r>
          </a:p>
          <a:p>
            <a:pPr>
              <a:defRPr sz="2000">
                <a:solidFill>
                  <a:srgbClr val="444444"/>
                </a:solidFill>
              </a:defRPr>
            </a:pPr>
            <a:r>
              <a:t>Activation functions introduce non-linearity to the model</a:t>
            </a:r>
          </a:p>
          <a:p>
            <a:pPr>
              <a:defRPr sz="2000">
                <a:solidFill>
                  <a:srgbClr val="444444"/>
                </a:solidFill>
              </a:defRPr>
            </a:pPr>
            <a:r>
              <a:t>Batch normalization normalizes input data for each layer</a:t>
            </a:r>
          </a:p>
          <a:p>
            <a:pPr>
              <a:defRPr sz="2000">
                <a:solidFill>
                  <a:srgbClr val="444444"/>
                </a:solidFill>
              </a:defRPr>
            </a:pPr>
            <a:r>
              <a:t>Dropout prevents overfitting by randomly dropping neurons</a:t>
            </a:r>
          </a:p>
          <a:p>
            <a:pPr>
              <a:defRPr sz="2000">
                <a:solidFill>
                  <a:srgbClr val="444444"/>
                </a:solidFill>
              </a:defRPr>
            </a:pPr>
            <a:r>
              <a:t>Core architecture is flexible and adaptable to various applications</a:t>
            </a:r>
          </a:p>
        </p:txBody>
      </p:sp>
      <p:pic>
        <p:nvPicPr>
          <p:cNvPr id="4" name="Picture 3" descr="6bd315133ae943f2afc6d87955db8a75_cnns_deep_learning_architecture_diagram.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mathematical operations</a:t>
            </a:r>
          </a:p>
          <a:p>
            <a:pPr>
              <a:defRPr sz="2000">
                <a:solidFill>
                  <a:srgbClr val="444444"/>
                </a:solidFill>
              </a:defRPr>
            </a:pPr>
            <a:r>
              <a:t>Activation functions introduce non-linearity logically</a:t>
            </a:r>
          </a:p>
          <a:p>
            <a:pPr>
              <a:defRPr sz="2000">
                <a:solidFill>
                  <a:srgbClr val="444444"/>
                </a:solidFill>
              </a:defRPr>
            </a:pPr>
            <a:r>
              <a:t>Backpropagation relies on calculus for optimization</a:t>
            </a:r>
          </a:p>
          <a:p>
            <a:pPr>
              <a:defRPr sz="2000">
                <a:solidFill>
                  <a:srgbClr val="444444"/>
                </a:solidFill>
              </a:defRPr>
            </a:pPr>
            <a:r>
              <a:t>Gradient descent minimizes loss mathematically</a:t>
            </a:r>
          </a:p>
          <a:p>
            <a:pPr>
              <a:defRPr sz="2000">
                <a:solidFill>
                  <a:srgbClr val="444444"/>
                </a:solidFill>
              </a:defRPr>
            </a:pPr>
            <a:r>
              <a:t>Logical gates mimic neural network behavior</a:t>
            </a:r>
          </a:p>
          <a:p>
            <a:pPr>
              <a:defRPr sz="2000">
                <a:solidFill>
                  <a:srgbClr val="444444"/>
                </a:solidFill>
              </a:defRPr>
            </a:pPr>
            <a:r>
              <a:t>Mathematical formulations guide neural network design</a:t>
            </a:r>
          </a:p>
          <a:p>
            <a:pPr>
              <a:defRPr sz="2000">
                <a:solidFill>
                  <a:srgbClr val="444444"/>
                </a:solidFill>
              </a:defRPr>
            </a:pPr>
            <a:r>
              <a:t>Optimization algorithms rely on logical rules</a:t>
            </a:r>
          </a:p>
          <a:p>
            <a:pPr>
              <a:defRPr sz="2000">
                <a:solidFill>
                  <a:srgbClr val="444444"/>
                </a:solidFill>
              </a:defRPr>
            </a:pPr>
            <a:r>
              <a:t>Neural networks learn through mathematical representations</a:t>
            </a:r>
          </a:p>
          <a:p>
            <a:pPr>
              <a:defRPr sz="2000">
                <a:solidFill>
                  <a:srgbClr val="444444"/>
                </a:solidFill>
              </a:defRPr>
            </a:pPr>
            <a:r>
              <a:t>Logical reasoning underlies deep learning architectures</a:t>
            </a:r>
          </a:p>
          <a:p>
            <a:pPr>
              <a:defRPr sz="2000">
                <a:solidFill>
                  <a:srgbClr val="444444"/>
                </a:solidFill>
              </a:defRPr>
            </a:pPr>
            <a:r>
              <a:t>Mathematical proofs validate neural network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Introduction to Applications / Use Cases</a:t>
            </a:r>
          </a:p>
          <a:p>
            <a:pPr>
              <a:defRPr sz="2000">
                <a:solidFill>
                  <a:srgbClr val="444444"/>
                </a:solidFill>
              </a:defRPr>
            </a:pPr>
            <a:r>
              <a:t>Key concepts related to Applications / Use Cases</a:t>
            </a:r>
          </a:p>
          <a:p>
            <a:pPr>
              <a:defRPr sz="2000">
                <a:solidFill>
                  <a:srgbClr val="444444"/>
                </a:solidFill>
              </a:defRPr>
            </a:pPr>
            <a:r>
              <a:t>Important aspects of Applications / Use Cases</a:t>
            </a:r>
          </a:p>
          <a:p>
            <a:pPr>
              <a:defRPr sz="2000">
                <a:solidFill>
                  <a:srgbClr val="444444"/>
                </a:solidFill>
              </a:defRPr>
            </a:pPr>
            <a:r>
              <a:t>Applications and examples of Applications /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Key concepts in CNNs include convolutional layers</a:t>
            </a:r>
          </a:p>
          <a:p>
            <a:pPr>
              <a:defRPr sz="2000">
                <a:solidFill>
                  <a:srgbClr val="444444"/>
                </a:solidFill>
              </a:defRPr>
            </a:pPr>
            <a:r>
              <a:t>Pooling layers reduce spatial dimensions effectively</a:t>
            </a:r>
          </a:p>
          <a:p>
            <a:pPr>
              <a:defRPr sz="2000">
                <a:solidFill>
                  <a:srgbClr val="444444"/>
                </a:solidFill>
              </a:defRPr>
            </a:pPr>
            <a:r>
              <a:t>Fully connected layers enable classification tasks</a:t>
            </a:r>
          </a:p>
          <a:p>
            <a:pPr>
              <a:defRPr sz="2000">
                <a:solidFill>
                  <a:srgbClr val="444444"/>
                </a:solidFill>
              </a:defRPr>
            </a:pPr>
            <a:r>
              <a:t>Activation functions introduce non-linearity to models</a:t>
            </a:r>
          </a:p>
          <a:p>
            <a:pPr>
              <a:defRPr sz="2000">
                <a:solidFill>
                  <a:srgbClr val="444444"/>
                </a:solidFill>
              </a:defRPr>
            </a:pPr>
            <a:r>
              <a:t>Optimization algorithms adjust model parameters</a:t>
            </a:r>
          </a:p>
          <a:p>
            <a:pPr>
              <a:defRPr sz="2000">
                <a:solidFill>
                  <a:srgbClr val="444444"/>
                </a:solidFill>
              </a:defRPr>
            </a:pPr>
            <a:r>
              <a:t>Batch normalization stabilizes training processes</a:t>
            </a:r>
          </a:p>
          <a:p>
            <a:pPr>
              <a:defRPr sz="2000">
                <a:solidFill>
                  <a:srgbClr val="444444"/>
                </a:solidFill>
              </a:defRPr>
            </a:pPr>
            <a:r>
              <a:t>Dropout prevents overfitting in deep networks</a:t>
            </a:r>
          </a:p>
          <a:p>
            <a:pPr>
              <a:defRPr sz="2000">
                <a:solidFill>
                  <a:srgbClr val="444444"/>
                </a:solidFill>
              </a:defRPr>
            </a:pPr>
            <a:r>
              <a:t>Regularization techniques reduce model complexity</a:t>
            </a:r>
          </a:p>
          <a:p>
            <a:pPr>
              <a:defRPr sz="2000">
                <a:solidFill>
                  <a:srgbClr val="444444"/>
                </a:solidFill>
              </a:defRPr>
            </a:pPr>
            <a:r>
              <a:t>Training datasets must be diverse and large</a:t>
            </a:r>
          </a:p>
          <a:p>
            <a:pPr>
              <a:defRPr sz="2000">
                <a:solidFill>
                  <a:srgbClr val="444444"/>
                </a:solidFill>
              </a:defRPr>
            </a:pPr>
            <a:r>
              <a:t>Evaluation metrics assess model performance accurately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