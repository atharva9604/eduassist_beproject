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Introduction to the presentation on Recurrent Neural Networks (RNNs).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the concept of RNNs, explain their importance in deep learning, and provide examples of their applications. Ask students if they have heard of RNNs before and what they know about them. Summarize the key points of the slide and preview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architecture of RNNs, including the different types of layers and connections. Provide examples of how RNNs can be used with different optimization algorithms and loss functions. Ask students to think about how RNNs can be used in different applications, such as natural language processing or speech recognition.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mathematical formulation of RNNs, including the use of differential equations and matrix notation. Provide examples of how RNNs can be trained using gradient descent and optimized using backpropagation. Ask students to think about how RNNs can be used in different applications, such as time series forecasting or image 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training process of RNNs, including the use of backpropagation through time and truncated backpropagation. Provide examples of how RNNs can be optimized using different optimization algorithms and regularized using dropout or L1/L2 regularization. Ask students to think about how RNNs can be used in different applications, such as speech recognition or natural language processing.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different applications of RNNs, including natural language processing, speech recognition, and time series forecasting. Provide examples of how RNNs can be used in different industries, such as healthcare or finance. Ask students to think about how RNNs can be used in their own projects or research.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advantages and limitations of RNNs, including their ability to learn long-term dependencies and handle sequential data. Provide examples of how RNNs can be used in different applications, and ask students to think about how RNNs can be improved or extended in the future. Provide a final summary of the key points of the presentation and preview future topics in deep learning.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Recurrent Neural Networks (RNNs)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(RNNs) are neural networks with feedback</a:t>
            </a:r>
          </a:p>
          <a:p>
            <a:pPr>
              <a:defRPr sz="2000">
                <a:solidFill>
                  <a:srgbClr val="444444"/>
                </a:solidFill>
              </a:defRPr>
            </a:pPr>
            <a:r>
              <a:t>RNNs are used for sequential data like time series or speech</a:t>
            </a:r>
          </a:p>
          <a:p>
            <a:pPr>
              <a:defRPr sz="2000">
                <a:solidFill>
                  <a:srgbClr val="444444"/>
                </a:solidFill>
              </a:defRPr>
            </a:pPr>
            <a:r>
              <a:t>RNNs can learn long-term dependencies in data</a:t>
            </a:r>
          </a:p>
          <a:p>
            <a:pPr>
              <a:defRPr sz="2000">
                <a:solidFill>
                  <a:srgbClr val="444444"/>
                </a:solidFill>
              </a:defRPr>
            </a:pPr>
            <a:r>
              <a:t>RNNs are a type of deep learning model</a:t>
            </a:r>
          </a:p>
          <a:p>
            <a:pPr>
              <a:defRPr sz="2000">
                <a:solidFill>
                  <a:srgbClr val="444444"/>
                </a:solidFill>
              </a:defRPr>
            </a:pPr>
            <a:r>
              <a:t>RNNs are widely used in natural language processing</a:t>
            </a:r>
          </a:p>
          <a:p>
            <a:pPr>
              <a:defRPr sz="2000">
                <a:solidFill>
                  <a:srgbClr val="444444"/>
                </a:solidFill>
              </a:defRPr>
            </a:pPr>
            <a:r>
              <a:t>RNNs can be used for prediction and classification tasks</a:t>
            </a:r>
          </a:p>
          <a:p>
            <a:pPr>
              <a:defRPr sz="2000">
                <a:solidFill>
                  <a:srgbClr val="444444"/>
                </a:solidFill>
              </a:defRPr>
            </a:pPr>
            <a:r>
              <a:t>RNNs are trained using backpropagation through time</a:t>
            </a:r>
          </a:p>
          <a:p>
            <a:pPr>
              <a:defRPr sz="2000">
                <a:solidFill>
                  <a:srgbClr val="444444"/>
                </a:solidFill>
              </a:defRPr>
            </a:pPr>
            <a:r>
              <a:t>RNNs have many applications in real-world problems</a:t>
            </a:r>
          </a:p>
          <a:p>
            <a:pPr>
              <a:defRPr sz="2000">
                <a:solidFill>
                  <a:srgbClr val="444444"/>
                </a:solidFill>
              </a:defRPr>
            </a:pPr>
            <a:r>
              <a:t>RNNs can learn complex patterns in data</a:t>
            </a:r>
          </a:p>
          <a:p>
            <a:pPr>
              <a:defRPr sz="2000">
                <a:solidFill>
                  <a:srgbClr val="444444"/>
                </a:solidFill>
              </a:defRPr>
            </a:pPr>
            <a:r>
              <a:t>RNNs are a fundamental concept in deep learning</a:t>
            </a:r>
          </a:p>
        </p:txBody>
      </p:sp>
      <p:pic>
        <p:nvPicPr>
          <p:cNvPr id="4" name="Picture 3" descr="4f65ebfa8801404ca57e61178e954c02_recurrent_neural_networks_rnns_deep_lear.jpg"/>
          <p:cNvPicPr>
            <a:picLocks noChangeAspect="1"/>
          </p:cNvPicPr>
          <p:nvPr/>
        </p:nvPicPr>
        <p:blipFill>
          <a:blip r:embed="rId2"/>
          <a:stretch>
            <a:fillRect/>
          </a:stretch>
        </p:blipFill>
        <p:spPr>
          <a:xfrm>
            <a:off x="7315200" y="1828800"/>
            <a:ext cx="4114800" cy="224409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a:t>
            </a:r>
          </a:p>
        </p:txBody>
      </p:sp>
      <p:sp>
        <p:nvSpPr>
          <p:cNvPr id="3" name="Content Placeholder 2"/>
          <p:cNvSpPr>
            <a:spLocks noGrp="1"/>
          </p:cNvSpPr>
          <p:nvPr>
            <p:ph idx="1"/>
          </p:nvPr>
        </p:nvSpPr>
        <p:spPr/>
        <p:txBody>
          <a:bodyPr/>
          <a:lstStyle/>
          <a:p>
            <a:pPr>
              <a:defRPr sz="2000">
                <a:solidFill>
                  <a:srgbClr val="444444"/>
                </a:solidFill>
              </a:defRPr>
            </a:pPr>
            <a:r>
              <a:t>RNNs consist of input, hidden, and output layers</a:t>
            </a:r>
          </a:p>
          <a:p>
            <a:pPr>
              <a:defRPr sz="2000">
                <a:solidFill>
                  <a:srgbClr val="444444"/>
                </a:solidFill>
              </a:defRPr>
            </a:pPr>
            <a:r>
              <a:t>RNNs have recurrent connections between hidden layers</a:t>
            </a:r>
          </a:p>
          <a:p>
            <a:pPr>
              <a:defRPr sz="2000">
                <a:solidFill>
                  <a:srgbClr val="444444"/>
                </a:solidFill>
              </a:defRPr>
            </a:pPr>
            <a:r>
              <a:t>RNNs use activation functions like sigmoid or tanh</a:t>
            </a:r>
          </a:p>
          <a:p>
            <a:pPr>
              <a:defRPr sz="2000">
                <a:solidFill>
                  <a:srgbClr val="444444"/>
                </a:solidFill>
              </a:defRPr>
            </a:pPr>
            <a:r>
              <a:t>RNNs can be unidirectional or bidirectional</a:t>
            </a:r>
          </a:p>
          <a:p>
            <a:pPr>
              <a:defRPr sz="2000">
                <a:solidFill>
                  <a:srgbClr val="444444"/>
                </a:solidFill>
              </a:defRPr>
            </a:pPr>
            <a:r>
              <a:t>RNNs can be used with different optimization algorithms</a:t>
            </a:r>
          </a:p>
          <a:p>
            <a:pPr>
              <a:defRPr sz="2000">
                <a:solidFill>
                  <a:srgbClr val="444444"/>
                </a:solidFill>
              </a:defRPr>
            </a:pPr>
            <a:r>
              <a:t>RNNs can be trained using different loss functions</a:t>
            </a:r>
          </a:p>
          <a:p>
            <a:pPr>
              <a:defRPr sz="2000">
                <a:solidFill>
                  <a:srgbClr val="444444"/>
                </a:solidFill>
              </a:defRPr>
            </a:pPr>
            <a:r>
              <a:t>RNNs can be regularized using dropout or L1/L2</a:t>
            </a:r>
          </a:p>
          <a:p>
            <a:pPr>
              <a:defRPr sz="2000">
                <a:solidFill>
                  <a:srgbClr val="444444"/>
                </a:solidFill>
              </a:defRPr>
            </a:pPr>
            <a:r>
              <a:t>RNNs can be visualized using graph or tree structures</a:t>
            </a:r>
          </a:p>
          <a:p>
            <a:pPr>
              <a:defRPr sz="2000">
                <a:solidFill>
                  <a:srgbClr val="444444"/>
                </a:solidFill>
              </a:defRPr>
            </a:pPr>
            <a:r>
              <a:t>RNNs can be implemented using different programming languages</a:t>
            </a:r>
          </a:p>
          <a:p>
            <a:pPr>
              <a:defRPr sz="2000">
                <a:solidFill>
                  <a:srgbClr val="444444"/>
                </a:solidFill>
              </a:defRPr>
            </a:pPr>
            <a:r>
              <a:t>RNNs can be used with different deep learning frameworks</a:t>
            </a:r>
          </a:p>
        </p:txBody>
      </p:sp>
      <p:pic>
        <p:nvPicPr>
          <p:cNvPr id="4" name="Picture 3" descr="47dd8ca34b2a47ab95714ea7304155af_recurrent_neural_networks_rnns_deep_lear.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Mathematical Formulation</a:t>
            </a:r>
          </a:p>
        </p:txBody>
      </p:sp>
      <p:sp>
        <p:nvSpPr>
          <p:cNvPr id="3" name="Content Placeholder 2"/>
          <p:cNvSpPr>
            <a:spLocks noGrp="1"/>
          </p:cNvSpPr>
          <p:nvPr>
            <p:ph idx="1"/>
          </p:nvPr>
        </p:nvSpPr>
        <p:spPr/>
        <p:txBody>
          <a:bodyPr/>
          <a:lstStyle/>
          <a:p>
            <a:pPr>
              <a:defRPr sz="2000">
                <a:solidFill>
                  <a:srgbClr val="444444"/>
                </a:solidFill>
              </a:defRPr>
            </a:pPr>
            <a:r>
              <a:t>RNNs can be formulated using differential equations</a:t>
            </a:r>
          </a:p>
          <a:p>
            <a:pPr>
              <a:defRPr sz="2000">
                <a:solidFill>
                  <a:srgbClr val="444444"/>
                </a:solidFill>
              </a:defRPr>
            </a:pPr>
            <a:r>
              <a:t>RNNs can be represented using matrix notation</a:t>
            </a:r>
          </a:p>
          <a:p>
            <a:pPr>
              <a:defRPr sz="2000">
                <a:solidFill>
                  <a:srgbClr val="444444"/>
                </a:solidFill>
              </a:defRPr>
            </a:pPr>
            <a:r>
              <a:t>RNNs can be trained using gradient descent</a:t>
            </a:r>
          </a:p>
          <a:p>
            <a:pPr>
              <a:defRPr sz="2000">
                <a:solidFill>
                  <a:srgbClr val="444444"/>
                </a:solidFill>
              </a:defRPr>
            </a:pPr>
            <a:r>
              <a:t>RNNs can be optimized using backpropagation</a:t>
            </a:r>
          </a:p>
          <a:p>
            <a:pPr>
              <a:defRPr sz="2000">
                <a:solidFill>
                  <a:srgbClr val="444444"/>
                </a:solidFill>
              </a:defRPr>
            </a:pPr>
            <a:r>
              <a:t>RNNs can be regularized using L1 or L2 regularization</a:t>
            </a:r>
          </a:p>
          <a:p>
            <a:pPr>
              <a:defRPr sz="2000">
                <a:solidFill>
                  <a:srgbClr val="444444"/>
                </a:solidFill>
              </a:defRPr>
            </a:pPr>
            <a:r>
              <a:t>RNNs can be used with different activation functions</a:t>
            </a:r>
          </a:p>
          <a:p>
            <a:pPr>
              <a:defRPr sz="2000">
                <a:solidFill>
                  <a:srgbClr val="444444"/>
                </a:solidFill>
              </a:defRPr>
            </a:pPr>
            <a:r>
              <a:t>RNNs can be used with different loss functions</a:t>
            </a:r>
          </a:p>
          <a:p>
            <a:pPr>
              <a:defRPr sz="2000">
                <a:solidFill>
                  <a:srgbClr val="444444"/>
                </a:solidFill>
              </a:defRPr>
            </a:pPr>
            <a:r>
              <a:t>RNNs can be used with different evaluation metrics</a:t>
            </a:r>
          </a:p>
          <a:p>
            <a:pPr>
              <a:defRPr sz="2000">
                <a:solidFill>
                  <a:srgbClr val="444444"/>
                </a:solidFill>
              </a:defRPr>
            </a:pPr>
            <a:r>
              <a:t>RNNs can be visualized using visualization tools</a:t>
            </a:r>
          </a:p>
          <a:p>
            <a:pPr>
              <a:defRPr sz="2000">
                <a:solidFill>
                  <a:srgbClr val="444444"/>
                </a:solidFill>
              </a:defRPr>
            </a:pPr>
            <a:r>
              <a:t>RNNs can be interpreted using feature importance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Training and Backpropagation Through Time</a:t>
            </a:r>
          </a:p>
        </p:txBody>
      </p:sp>
      <p:sp>
        <p:nvSpPr>
          <p:cNvPr id="3" name="Content Placeholder 2"/>
          <p:cNvSpPr>
            <a:spLocks noGrp="1"/>
          </p:cNvSpPr>
          <p:nvPr>
            <p:ph idx="1"/>
          </p:nvPr>
        </p:nvSpPr>
        <p:spPr/>
        <p:txBody>
          <a:bodyPr/>
          <a:lstStyle/>
          <a:p>
            <a:pPr>
              <a:defRPr sz="2000">
                <a:solidFill>
                  <a:srgbClr val="444444"/>
                </a:solidFill>
              </a:defRPr>
            </a:pPr>
            <a:r>
              <a:t>RNNs can be trained using backpropagation through time</a:t>
            </a:r>
          </a:p>
          <a:p>
            <a:pPr>
              <a:defRPr sz="2000">
                <a:solidFill>
                  <a:srgbClr val="444444"/>
                </a:solidFill>
              </a:defRPr>
            </a:pPr>
            <a:r>
              <a:t>RNNs can be trained using truncated backpropagation</a:t>
            </a:r>
          </a:p>
          <a:p>
            <a:pPr>
              <a:defRPr sz="2000">
                <a:solidFill>
                  <a:srgbClr val="444444"/>
                </a:solidFill>
              </a:defRPr>
            </a:pPr>
            <a:r>
              <a:t>RNNs can be trained using gradient descent</a:t>
            </a:r>
          </a:p>
          <a:p>
            <a:pPr>
              <a:defRPr sz="2000">
                <a:solidFill>
                  <a:srgbClr val="444444"/>
                </a:solidFill>
              </a:defRPr>
            </a:pPr>
            <a:r>
              <a:t>RNNs can be optimized using Adam or RMSProp</a:t>
            </a:r>
          </a:p>
          <a:p>
            <a:pPr>
              <a:defRPr sz="2000">
                <a:solidFill>
                  <a:srgbClr val="444444"/>
                </a:solidFill>
              </a:defRPr>
            </a:pPr>
            <a:r>
              <a:t>RNNs can be regularized using dropout or L1/L2</a:t>
            </a:r>
          </a:p>
          <a:p>
            <a:pPr>
              <a:defRPr sz="2000">
                <a:solidFill>
                  <a:srgbClr val="444444"/>
                </a:solidFill>
              </a:defRPr>
            </a:pPr>
            <a:r>
              <a:t>RNNs can be used with different batch sizes</a:t>
            </a:r>
          </a:p>
          <a:p>
            <a:pPr>
              <a:defRPr sz="2000">
                <a:solidFill>
                  <a:srgbClr val="444444"/>
                </a:solidFill>
              </a:defRPr>
            </a:pPr>
            <a:r>
              <a:t>RNNs can be used with different sequence lengths</a:t>
            </a:r>
          </a:p>
          <a:p>
            <a:pPr>
              <a:defRPr sz="2000">
                <a:solidFill>
                  <a:srgbClr val="444444"/>
                </a:solidFill>
              </a:defRPr>
            </a:pPr>
            <a:r>
              <a:t>RNNs can be used with different optimization algorithms</a:t>
            </a:r>
          </a:p>
          <a:p>
            <a:pPr>
              <a:defRPr sz="2000">
                <a:solidFill>
                  <a:srgbClr val="444444"/>
                </a:solidFill>
              </a:defRPr>
            </a:pPr>
            <a:r>
              <a:t>RNNs can be visualized using visualization tools</a:t>
            </a:r>
          </a:p>
          <a:p>
            <a:pPr>
              <a:defRPr sz="2000">
                <a:solidFill>
                  <a:srgbClr val="444444"/>
                </a:solidFill>
              </a:defRPr>
            </a:pPr>
            <a:r>
              <a:t>RNNs can be interpreted using feature importance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a:t>
            </a:r>
          </a:p>
        </p:txBody>
      </p:sp>
      <p:sp>
        <p:nvSpPr>
          <p:cNvPr id="3" name="Content Placeholder 2"/>
          <p:cNvSpPr>
            <a:spLocks noGrp="1"/>
          </p:cNvSpPr>
          <p:nvPr>
            <p:ph idx="1"/>
          </p:nvPr>
        </p:nvSpPr>
        <p:spPr/>
        <p:txBody>
          <a:bodyPr/>
          <a:lstStyle/>
          <a:p>
            <a:pPr>
              <a:defRPr sz="2000">
                <a:solidFill>
                  <a:srgbClr val="444444"/>
                </a:solidFill>
              </a:defRPr>
            </a:pPr>
            <a:r>
              <a:t>RNNs can be used for natural language processing</a:t>
            </a:r>
          </a:p>
          <a:p>
            <a:pPr>
              <a:defRPr sz="2000">
                <a:solidFill>
                  <a:srgbClr val="444444"/>
                </a:solidFill>
              </a:defRPr>
            </a:pPr>
            <a:r>
              <a:t>RNNs can be used for speech recognition</a:t>
            </a:r>
          </a:p>
          <a:p>
            <a:pPr>
              <a:defRPr sz="2000">
                <a:solidFill>
                  <a:srgbClr val="444444"/>
                </a:solidFill>
              </a:defRPr>
            </a:pPr>
            <a:r>
              <a:t>RNNs can be used for time series forecasting</a:t>
            </a:r>
          </a:p>
          <a:p>
            <a:pPr>
              <a:defRPr sz="2000">
                <a:solidFill>
                  <a:srgbClr val="444444"/>
                </a:solidFill>
              </a:defRPr>
            </a:pPr>
            <a:r>
              <a:t>RNNs can be used for image classification</a:t>
            </a:r>
          </a:p>
          <a:p>
            <a:pPr>
              <a:defRPr sz="2000">
                <a:solidFill>
                  <a:srgbClr val="444444"/>
                </a:solidFill>
              </a:defRPr>
            </a:pPr>
            <a:r>
              <a:t>RNNs can be used for sentiment analysis</a:t>
            </a:r>
          </a:p>
          <a:p>
            <a:pPr>
              <a:defRPr sz="2000">
                <a:solidFill>
                  <a:srgbClr val="444444"/>
                </a:solidFill>
              </a:defRPr>
            </a:pPr>
            <a:r>
              <a:t>RNNs can be used for machine translation</a:t>
            </a:r>
          </a:p>
          <a:p>
            <a:pPr>
              <a:defRPr sz="2000">
                <a:solidFill>
                  <a:srgbClr val="444444"/>
                </a:solidFill>
              </a:defRPr>
            </a:pPr>
            <a:r>
              <a:t>RNNs can be used for text summarization</a:t>
            </a:r>
          </a:p>
          <a:p>
            <a:pPr>
              <a:defRPr sz="2000">
                <a:solidFill>
                  <a:srgbClr val="444444"/>
                </a:solidFill>
              </a:defRPr>
            </a:pPr>
            <a:r>
              <a:t>RNNs can be used for chatbots</a:t>
            </a:r>
          </a:p>
          <a:p>
            <a:pPr>
              <a:defRPr sz="2000">
                <a:solidFill>
                  <a:srgbClr val="444444"/>
                </a:solidFill>
              </a:defRPr>
            </a:pPr>
            <a:r>
              <a:t>RNNs can be used for recommender systems</a:t>
            </a:r>
          </a:p>
          <a:p>
            <a:pPr>
              <a:defRPr sz="2000">
                <a:solidFill>
                  <a:srgbClr val="444444"/>
                </a:solidFill>
              </a:defRPr>
            </a:pPr>
            <a:r>
              <a:t>RNNs can be used for anomaly detection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Advantages and Limitations</a:t>
            </a:r>
          </a:p>
        </p:txBody>
      </p:sp>
      <p:sp>
        <p:nvSpPr>
          <p:cNvPr id="3" name="Content Placeholder 2"/>
          <p:cNvSpPr>
            <a:spLocks noGrp="1"/>
          </p:cNvSpPr>
          <p:nvPr>
            <p:ph idx="1"/>
          </p:nvPr>
        </p:nvSpPr>
        <p:spPr/>
        <p:txBody>
          <a:bodyPr/>
          <a:lstStyle/>
          <a:p>
            <a:pPr>
              <a:defRPr sz="2000">
                <a:solidFill>
                  <a:srgbClr val="444444"/>
                </a:solidFill>
              </a:defRPr>
            </a:pPr>
            <a:r>
              <a:t>RNNs can learn long-term dependencies</a:t>
            </a:r>
          </a:p>
          <a:p>
            <a:pPr>
              <a:defRPr sz="2000">
                <a:solidFill>
                  <a:srgbClr val="444444"/>
                </a:solidFill>
              </a:defRPr>
            </a:pPr>
            <a:r>
              <a:t>RNNs can handle sequential data</a:t>
            </a:r>
          </a:p>
          <a:p>
            <a:pPr>
              <a:defRPr sz="2000">
                <a:solidFill>
                  <a:srgbClr val="444444"/>
                </a:solidFill>
              </a:defRPr>
            </a:pPr>
            <a:r>
              <a:t>RNNs can be used for prediction and classification</a:t>
            </a:r>
          </a:p>
          <a:p>
            <a:pPr>
              <a:defRPr sz="2000">
                <a:solidFill>
                  <a:srgbClr val="444444"/>
                </a:solidFill>
              </a:defRPr>
            </a:pPr>
            <a:r>
              <a:t>RNNs can be trained using backpropagation</a:t>
            </a:r>
          </a:p>
          <a:p>
            <a:pPr>
              <a:defRPr sz="2000">
                <a:solidFill>
                  <a:srgbClr val="444444"/>
                </a:solidFill>
              </a:defRPr>
            </a:pPr>
            <a:r>
              <a:t>RNNs can be optimized using different algorithms</a:t>
            </a:r>
          </a:p>
          <a:p>
            <a:pPr>
              <a:defRPr sz="2000">
                <a:solidFill>
                  <a:srgbClr val="444444"/>
                </a:solidFill>
              </a:defRPr>
            </a:pPr>
            <a:r>
              <a:t>RNNs can be regularized using dropout or L1/L2</a:t>
            </a:r>
          </a:p>
          <a:p>
            <a:pPr>
              <a:defRPr sz="2000">
                <a:solidFill>
                  <a:srgbClr val="444444"/>
                </a:solidFill>
              </a:defRPr>
            </a:pPr>
            <a:r>
              <a:t>RNNs can be computationally expensive</a:t>
            </a:r>
          </a:p>
          <a:p>
            <a:pPr>
              <a:defRPr sz="2000">
                <a:solidFill>
                  <a:srgbClr val="444444"/>
                </a:solidFill>
              </a:defRPr>
            </a:pPr>
            <a:r>
              <a:t>RNNs can suffer from vanishing gradients</a:t>
            </a:r>
          </a:p>
          <a:p>
            <a:pPr>
              <a:defRPr sz="2000">
                <a:solidFill>
                  <a:srgbClr val="444444"/>
                </a:solidFill>
              </a:defRPr>
            </a:pPr>
            <a:r>
              <a:t>RNNs can be difficult to interpret</a:t>
            </a:r>
          </a:p>
          <a:p>
            <a:pPr>
              <a:defRPr sz="2000">
                <a:solidFill>
                  <a:srgbClr val="444444"/>
                </a:solidFill>
              </a:defRPr>
            </a:pPr>
            <a:r>
              <a:t>RNNs can be sensitive to hyperparameters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