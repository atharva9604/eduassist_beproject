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our discussion on Recurrent Neural Networks, a crucial deep learning technique for handling sequential data. Explain the importance of RNNs in processing time-series data, speech recognition, and natural language processing. Ask students if they have encountered any applications of RNNs in their daily lives.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significance of RNNs in various applications, such as speech recognition, natural language processing, and time-series forecasting. Provide examples of how RNNs can be used to improve these tasks, and ask students to think of potential use cases in their own projects. Emphasize the ability of RNNs to capture contextual information and handle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architecture of RNNs, highlighting the input gate, output gate, cell state, and hidden state. Discuss how these components interact to process sequential data. Use the equation y = sigmoid(Wx + Uh) to illustrate the simple RNN equation, and ask students to consider how this equation is used in practice. Image query: simple RNN architecture diagram.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various RNN variants, such as LSTMs and GRUs, and their strengths and weaknesses. Explain how these variants address specific challenges, like vanishing gradients or sequential data processing. Ask students to consider which variant might be most suitable for a particular application, and provide examples of successful deployments. Emphasize the importance of selecting the right RNN variant for a specific task.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Explore various applications of RNNs, highlighting their advantages and limitations. Discuss how RNNs can be used for speech recognition, natural language processing, and time-series forecasting, among other tasks. Emphasize the benefits of using RNNs, such as their ability to handle sequential data and capture contextual information. Also, address the challenges associated with RNNs, like vanishing gradients and slow training, and ask students to think of potential solutions.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discussion on RNNs, highlighting their importance in handling sequential data and capturing contextual information. Emphasize the strengths and weaknesses of RNNs, as well as their various applications and real-world deployments. Ask students to reflect on what they have learned and consider potential future directions for RNN research and development. Provide examples of how RNNs can be used in practice, and encourage students to explore these topics further.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Recurrent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Intro/Background: Importance of RNNs</a:t>
            </a:r>
          </a:p>
        </p:txBody>
      </p:sp>
      <p:sp>
        <p:nvSpPr>
          <p:cNvPr id="3" name="Content Placeholder 2"/>
          <p:cNvSpPr>
            <a:spLocks noGrp="1"/>
          </p:cNvSpPr>
          <p:nvPr>
            <p:ph idx="1"/>
          </p:nvPr>
        </p:nvSpPr>
        <p:spPr/>
        <p:txBody>
          <a:bodyPr/>
          <a:lstStyle/>
          <a:p>
            <a:pPr>
              <a:defRPr sz="2000">
                <a:solidFill>
                  <a:srgbClr val="444444"/>
                </a:solidFill>
              </a:defRPr>
            </a:pPr>
            <a:r>
              <a:t>Handle sequential data with temporal relationships</a:t>
            </a:r>
          </a:p>
          <a:p>
            <a:pPr>
              <a:defRPr sz="2000">
                <a:solidFill>
                  <a:srgbClr val="444444"/>
                </a:solidFill>
              </a:defRPr>
            </a:pPr>
            <a:r>
              <a:t>Capture contextual information in speech and text</a:t>
            </a:r>
          </a:p>
          <a:p>
            <a:pPr>
              <a:defRPr sz="2000">
                <a:solidFill>
                  <a:srgbClr val="444444"/>
                </a:solidFill>
              </a:defRPr>
            </a:pPr>
            <a:r>
              <a:t>Enable real-time forecasting and prediction</a:t>
            </a:r>
          </a:p>
          <a:p>
            <a:pPr>
              <a:defRPr sz="2000">
                <a:solidFill>
                  <a:srgbClr val="444444"/>
                </a:solidFill>
              </a:defRPr>
            </a:pPr>
            <a:r>
              <a:t>Support natural language processing tasks</a:t>
            </a:r>
          </a:p>
          <a:p>
            <a:pPr>
              <a:defRPr sz="2000">
                <a:solidFill>
                  <a:srgbClr val="444444"/>
                </a:solidFill>
              </a:defRPr>
            </a:pPr>
            <a:r>
              <a:t>Improve speech recognition systems</a:t>
            </a:r>
          </a:p>
          <a:p>
            <a:pPr>
              <a:defRPr sz="2000">
                <a:solidFill>
                  <a:srgbClr val="444444"/>
                </a:solidFill>
              </a:defRPr>
            </a:pPr>
            <a:r>
              <a:t>Enhance machine translation capabilities</a:t>
            </a:r>
          </a:p>
          <a:p>
            <a:pPr>
              <a:defRPr sz="2000">
                <a:solidFill>
                  <a:srgbClr val="444444"/>
                </a:solidFill>
              </a:defRPr>
            </a:pPr>
            <a:r>
              <a:t>Facilitate sentiment analysis and opinion mining</a:t>
            </a:r>
          </a:p>
          <a:p>
            <a:pPr>
              <a:defRPr sz="2000">
                <a:solidFill>
                  <a:srgbClr val="444444"/>
                </a:solidFill>
              </a:defRPr>
            </a:pPr>
            <a:r>
              <a:t>Enable time-series forecasting and anomaly detection</a:t>
            </a:r>
          </a:p>
          <a:p>
            <a:pPr>
              <a:defRPr sz="2000">
                <a:solidFill>
                  <a:srgbClr val="444444"/>
                </a:solidFill>
              </a:defRPr>
            </a:pPr>
            <a:r>
              <a:t>Support recommender systems and personalized marketing</a:t>
            </a:r>
          </a:p>
        </p:txBody>
      </p:sp>
      <p:pic>
        <p:nvPicPr>
          <p:cNvPr id="4" name="Picture 3" descr="2c3d24d2e6bb40919607e1f5db1d5b80_rnns_deep_learning_overview.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Input gate controls information flow</a:t>
            </a:r>
          </a:p>
          <a:p>
            <a:pPr>
              <a:defRPr sz="2000">
                <a:solidFill>
                  <a:srgbClr val="444444"/>
                </a:solidFill>
              </a:defRPr>
            </a:pPr>
            <a:r>
              <a:t>Output gate generates predictions</a:t>
            </a:r>
          </a:p>
          <a:p>
            <a:pPr>
              <a:defRPr sz="2000">
                <a:solidFill>
                  <a:srgbClr val="444444"/>
                </a:solidFill>
              </a:defRPr>
            </a:pPr>
            <a:r>
              <a:t>Cell state retains internal memory</a:t>
            </a:r>
          </a:p>
          <a:p>
            <a:pPr>
              <a:defRPr sz="2000">
                <a:solidFill>
                  <a:srgbClr val="444444"/>
                </a:solidFill>
              </a:defRPr>
            </a:pPr>
            <a:r>
              <a:t>Hidden state captures sequential context</a:t>
            </a:r>
          </a:p>
          <a:p>
            <a:pPr>
              <a:defRPr sz="2000">
                <a:solidFill>
                  <a:srgbClr val="444444"/>
                </a:solidFill>
              </a:defRPr>
            </a:pPr>
            <a:r>
              <a:t>y = sigmoid(Wx + Uh)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a:t>
            </a:r>
          </a:p>
        </p:txBody>
      </p:sp>
      <p:sp>
        <p:nvSpPr>
          <p:cNvPr id="3" name="Content Placeholder 2"/>
          <p:cNvSpPr>
            <a:spLocks noGrp="1"/>
          </p:cNvSpPr>
          <p:nvPr>
            <p:ph idx="1"/>
          </p:nvPr>
        </p:nvSpPr>
        <p:spPr/>
        <p:txBody>
          <a:bodyPr/>
          <a:lstStyle/>
          <a:p>
            <a:pPr>
              <a:defRPr sz="2000">
                <a:solidFill>
                  <a:srgbClr val="444444"/>
                </a:solidFill>
              </a:defRPr>
            </a:pPr>
            <a:r>
              <a:t>LSTM (Long Short-Term Memory) networks</a:t>
            </a:r>
          </a:p>
          <a:p>
            <a:pPr>
              <a:defRPr sz="2000">
                <a:solidFill>
                  <a:srgbClr val="444444"/>
                </a:solidFill>
              </a:defRPr>
            </a:pPr>
            <a:r>
              <a:t>GRU (Gated Recurrent Unit) networks</a:t>
            </a:r>
          </a:p>
          <a:p>
            <a:pPr>
              <a:defRPr sz="2000">
                <a:solidFill>
                  <a:srgbClr val="444444"/>
                </a:solidFill>
              </a:defRPr>
            </a:pPr>
            <a:r>
              <a:t>Bidirectional RNNs for sequential data</a:t>
            </a:r>
          </a:p>
          <a:p>
            <a:pPr>
              <a:defRPr sz="2000">
                <a:solidFill>
                  <a:srgbClr val="444444"/>
                </a:solidFill>
              </a:defRPr>
            </a:pPr>
            <a:r>
              <a:t>Depth-gated RNNs for improved performance</a:t>
            </a:r>
          </a:p>
          <a:p>
            <a:pPr>
              <a:defRPr sz="2000">
                <a:solidFill>
                  <a:srgbClr val="444444"/>
                </a:solidFill>
              </a:defRPr>
            </a:pPr>
            <a:r>
              <a:t>Residual connections for vanishing gradients</a:t>
            </a:r>
          </a:p>
          <a:p>
            <a:pPr>
              <a:defRPr sz="2000">
                <a:solidFill>
                  <a:srgbClr val="444444"/>
                </a:solidFill>
              </a:defRPr>
            </a:pPr>
            <a:r>
              <a:t>Attention mechanisms for focused processing</a:t>
            </a:r>
          </a:p>
          <a:p>
            <a:pPr>
              <a:defRPr sz="2000">
                <a:solidFill>
                  <a:srgbClr val="444444"/>
                </a:solidFill>
              </a:defRPr>
            </a:pPr>
            <a:r>
              <a:t>Convolutional RNNs for spatial-temporal data</a:t>
            </a:r>
          </a:p>
          <a:p>
            <a:pPr>
              <a:defRPr sz="2000">
                <a:solidFill>
                  <a:srgbClr val="444444"/>
                </a:solidFill>
              </a:defRPr>
            </a:pPr>
            <a:r>
              <a:t>Recurrent Highway Networks for deep architectures</a:t>
            </a:r>
          </a:p>
          <a:p>
            <a:pPr>
              <a:defRPr sz="2000">
                <a:solidFill>
                  <a:srgbClr val="444444"/>
                </a:solidFill>
              </a:defRPr>
            </a:pPr>
            <a:r>
              <a:t>Clockwork RNNs for multi-scale processing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Advantages/Limitations</a:t>
            </a:r>
          </a:p>
        </p:txBody>
      </p:sp>
      <p:sp>
        <p:nvSpPr>
          <p:cNvPr id="3" name="Content Placeholder 2"/>
          <p:cNvSpPr>
            <a:spLocks noGrp="1"/>
          </p:cNvSpPr>
          <p:nvPr>
            <p:ph idx="1"/>
          </p:nvPr>
        </p:nvSpPr>
        <p:spPr/>
        <p:txBody>
          <a:bodyPr/>
          <a:lstStyle/>
          <a:p>
            <a:pPr>
              <a:defRPr sz="2000">
                <a:solidFill>
                  <a:srgbClr val="444444"/>
                </a:solidFill>
              </a:defRPr>
            </a:pPr>
            <a:r>
              <a:t>Speech recognition and voice assistants</a:t>
            </a:r>
          </a:p>
          <a:p>
            <a:pPr>
              <a:defRPr sz="2000">
                <a:solidFill>
                  <a:srgbClr val="444444"/>
                </a:solidFill>
              </a:defRPr>
            </a:pPr>
            <a:r>
              <a:t>Natural language processing and machine translation</a:t>
            </a:r>
          </a:p>
          <a:p>
            <a:pPr>
              <a:defRPr sz="2000">
                <a:solidFill>
                  <a:srgbClr val="444444"/>
                </a:solidFill>
              </a:defRPr>
            </a:pPr>
            <a:r>
              <a:t>Time-series forecasting and anomaly detection</a:t>
            </a:r>
          </a:p>
          <a:p>
            <a:pPr>
              <a:defRPr sz="2000">
                <a:solidFill>
                  <a:srgbClr val="444444"/>
                </a:solidFill>
              </a:defRPr>
            </a:pPr>
            <a:r>
              <a:t>Sentiment analysis and opinion mining</a:t>
            </a:r>
          </a:p>
          <a:p>
            <a:pPr>
              <a:defRPr sz="2000">
                <a:solidFill>
                  <a:srgbClr val="444444"/>
                </a:solidFill>
              </a:defRPr>
            </a:pPr>
            <a:r>
              <a:t>Recommender systems and personalized marketing</a:t>
            </a:r>
          </a:p>
          <a:p>
            <a:pPr>
              <a:defRPr sz="2000">
                <a:solidFill>
                  <a:srgbClr val="444444"/>
                </a:solidFill>
              </a:defRPr>
            </a:pPr>
            <a:r>
              <a:t>Advantages: handle sequential data, capture context</a:t>
            </a:r>
          </a:p>
          <a:p>
            <a:pPr>
              <a:defRPr sz="2000">
                <a:solidFill>
                  <a:srgbClr val="444444"/>
                </a:solidFill>
              </a:defRPr>
            </a:pPr>
            <a:r>
              <a:t>Limitations: vanishing gradients, slow training</a:t>
            </a:r>
          </a:p>
          <a:p>
            <a:pPr>
              <a:defRPr sz="2000">
                <a:solidFill>
                  <a:srgbClr val="444444"/>
                </a:solidFill>
              </a:defRPr>
            </a:pPr>
            <a:r>
              <a:t>Real-time forecasting and prediction capabilities</a:t>
            </a:r>
          </a:p>
          <a:p>
            <a:pPr>
              <a:defRPr sz="2000">
                <a:solidFill>
                  <a:srgbClr val="444444"/>
                </a:solidFill>
              </a:defRPr>
            </a:pPr>
            <a:r>
              <a:t>Improved accuracy with pre-trained 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Handle sequential data with temporal relationships</a:t>
            </a:r>
          </a:p>
          <a:p>
            <a:pPr>
              <a:defRPr sz="2200" b="1">
                <a:solidFill>
                  <a:srgbClr val="1F497D"/>
                </a:solidFill>
              </a:defRPr>
            </a:pPr>
            <a:r>
              <a:t>LSTM (Long Short-Term Memory) networks</a:t>
            </a:r>
          </a:p>
          <a:p>
            <a:pPr>
              <a:defRPr sz="2200" b="1">
                <a:solidFill>
                  <a:srgbClr val="1F497D"/>
                </a:solidFill>
              </a:defRPr>
            </a:pPr>
            <a:r>
              <a:t>Speech recognition and voice assistants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