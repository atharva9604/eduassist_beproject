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Introduction to the presentation on General Topic.</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the importance of RNNs in deep learning, provide examples of sequential data, and ask students to think about real-world applications of RNNs, such as speech recognition systems.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Describe the basic RNN architecture, explain the key equation, and provide examples of how the weights and biases are learned during training. Ask students to think about the implications of using different activation functions.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the different variants of RNNs, their strengths and weaknesses, and provide examples of when each variant is suitable. Ask students to think about the trade-offs between complexity and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Discuss the various applications of RNNs, their advantages, and limitations. Provide examples of how RNNs can be used in different fields and ask students to think about the potential challenges and limitations of using RNNs in practice.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Summarize the key takeaways from the previous slides, highlighting the importance of RNNs, their applications, advantages, and limitations. Ask students to think about the future research directions and potential improvements to RNNs, and provide examples of how RNNs can be used in practice.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Deep Learning</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Recurrent Neural Networks (RNNs)</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Intro/Background</a:t>
            </a:r>
          </a:p>
        </p:txBody>
      </p:sp>
      <p:sp>
        <p:nvSpPr>
          <p:cNvPr id="3" name="Content Placeholder 2"/>
          <p:cNvSpPr>
            <a:spLocks noGrp="1"/>
          </p:cNvSpPr>
          <p:nvPr>
            <p:ph idx="1"/>
          </p:nvPr>
        </p:nvSpPr>
        <p:spPr/>
        <p:txBody>
          <a:bodyPr/>
          <a:lstStyle/>
          <a:p>
            <a:pPr>
              <a:defRPr sz="2000">
                <a:solidFill>
                  <a:srgbClr val="444444"/>
                </a:solidFill>
              </a:defRPr>
            </a:pPr>
            <a:r>
              <a:t>RNNs process sequential data effectively</a:t>
            </a:r>
          </a:p>
          <a:p>
            <a:pPr>
              <a:defRPr sz="2000">
                <a:solidFill>
                  <a:srgbClr val="444444"/>
                </a:solidFill>
              </a:defRPr>
            </a:pPr>
            <a:r>
              <a:t>Applications in speech recognition and language modeling</a:t>
            </a:r>
          </a:p>
          <a:p>
            <a:pPr>
              <a:defRPr sz="2000">
                <a:solidFill>
                  <a:srgbClr val="444444"/>
                </a:solidFill>
              </a:defRPr>
            </a:pPr>
            <a:r>
              <a:t>Time-series forecasting and predictions also utilize RNNs</a:t>
            </a:r>
          </a:p>
          <a:p>
            <a:pPr>
              <a:defRPr sz="2000">
                <a:solidFill>
                  <a:srgbClr val="444444"/>
                </a:solidFill>
              </a:defRPr>
            </a:pPr>
            <a:r>
              <a:t>Understanding RNNs is crucial for deep learning advancements</a:t>
            </a:r>
          </a:p>
          <a:p>
            <a:pPr>
              <a:defRPr sz="2000">
                <a:solidFill>
                  <a:srgbClr val="444444"/>
                </a:solidFill>
              </a:defRPr>
            </a:pPr>
            <a:r>
              <a:t>RNNs have feedback connections, allowing information retention</a:t>
            </a:r>
          </a:p>
          <a:p>
            <a:pPr>
              <a:defRPr sz="2000">
                <a:solidFill>
                  <a:srgbClr val="444444"/>
                </a:solidFill>
              </a:defRPr>
            </a:pPr>
            <a:r>
              <a:t>These networks can learn long-term dependencies in data</a:t>
            </a:r>
          </a:p>
          <a:p>
            <a:pPr>
              <a:defRPr sz="2000">
                <a:solidFill>
                  <a:srgbClr val="444444"/>
                </a:solidFill>
              </a:defRPr>
            </a:pPr>
            <a:r>
              <a:t>RNNs are a fundamental component of many AI systems</a:t>
            </a:r>
          </a:p>
          <a:p>
            <a:pPr>
              <a:defRPr sz="2000">
                <a:solidFill>
                  <a:srgbClr val="444444"/>
                </a:solidFill>
              </a:defRPr>
            </a:pPr>
            <a:r>
              <a:t>They can handle variable-length input sequences</a:t>
            </a:r>
          </a:p>
          <a:p>
            <a:pPr>
              <a:defRPr sz="2000">
                <a:solidFill>
                  <a:srgbClr val="444444"/>
                </a:solidFill>
              </a:defRPr>
            </a:pPr>
            <a:r>
              <a:t>RNNs are widely used in natural language processing tasks</a:t>
            </a:r>
          </a:p>
          <a:p>
            <a:pPr>
              <a:defRPr sz="2000">
                <a:solidFill>
                  <a:srgbClr val="444444"/>
                </a:solidFill>
              </a:defRPr>
            </a:pPr>
            <a:r>
              <a:t>Sequential data analysis relies heavily on RNNs</a:t>
            </a:r>
          </a:p>
        </p:txBody>
      </p:sp>
      <p:pic>
        <p:nvPicPr>
          <p:cNvPr id="4" name="Picture 3" descr="91fc45f9a47b4ebaa9765d76bac032ef_general_topic_deep_learning_overview.jpg"/>
          <p:cNvPicPr>
            <a:picLocks noChangeAspect="1"/>
          </p:cNvPicPr>
          <p:nvPr/>
        </p:nvPicPr>
        <p:blipFill>
          <a:blip r:embed="rId2"/>
          <a:stretch>
            <a:fillRect/>
          </a:stretch>
        </p:blipFill>
        <p:spPr>
          <a:xfrm>
            <a:off x="7315200" y="1828800"/>
            <a:ext cx="4114800" cy="231648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Architecture &amp; Key Equation</a:t>
            </a:r>
          </a:p>
        </p:txBody>
      </p:sp>
      <p:sp>
        <p:nvSpPr>
          <p:cNvPr id="3" name="Content Placeholder 2"/>
          <p:cNvSpPr>
            <a:spLocks noGrp="1"/>
          </p:cNvSpPr>
          <p:nvPr>
            <p:ph idx="1"/>
          </p:nvPr>
        </p:nvSpPr>
        <p:spPr/>
        <p:txBody>
          <a:bodyPr/>
          <a:lstStyle/>
          <a:p>
            <a:pPr>
              <a:defRPr sz="2000">
                <a:solidFill>
                  <a:srgbClr val="444444"/>
                </a:solidFill>
              </a:defRPr>
            </a:pPr>
            <a:r>
              <a:t>RNN architecture consists of input, hidden, and output layers</a:t>
            </a:r>
          </a:p>
          <a:p>
            <a:pPr>
              <a:defRPr sz="2000">
                <a:solidFill>
                  <a:srgbClr val="444444"/>
                </a:solidFill>
              </a:defRPr>
            </a:pPr>
            <a:r>
              <a:t>Hidden layer has feedback connections for information retention</a:t>
            </a:r>
          </a:p>
          <a:p>
            <a:pPr>
              <a:defRPr sz="2000">
                <a:solidFill>
                  <a:srgbClr val="444444"/>
                </a:solidFill>
              </a:defRPr>
            </a:pPr>
            <a:r>
              <a:t>Output layer generates predictions based on input and hidden state</a:t>
            </a:r>
          </a:p>
          <a:p>
            <a:pPr>
              <a:defRPr sz="2000">
                <a:solidFill>
                  <a:srgbClr val="444444"/>
                </a:solidFill>
              </a:defRPr>
            </a:pPr>
            <a:r>
              <a:t>Key equation: h_t = tanh(W_h * h_(t-1) + W_x * x_t)</a:t>
            </a:r>
          </a:p>
          <a:p>
            <a:pPr>
              <a:defRPr sz="2000">
                <a:solidFill>
                  <a:srgbClr val="444444"/>
                </a:solidFill>
              </a:defRPr>
            </a:pPr>
            <a:r>
              <a:t>Weight matrices W_h and W_x are learned during training</a:t>
            </a:r>
          </a:p>
          <a:p>
            <a:pPr>
              <a:defRPr sz="2000">
                <a:solidFill>
                  <a:srgbClr val="444444"/>
                </a:solidFill>
              </a:defRPr>
            </a:pPr>
            <a:r>
              <a:t>Bias terms can be added for improved model performance</a:t>
            </a:r>
          </a:p>
          <a:p>
            <a:pPr>
              <a:defRPr sz="2000">
                <a:solidFill>
                  <a:srgbClr val="444444"/>
                </a:solidFill>
              </a:defRPr>
            </a:pPr>
            <a:r>
              <a:t>Activation functions like sigmoid or ReLU can be used</a:t>
            </a:r>
          </a:p>
          <a:p>
            <a:pPr>
              <a:defRPr sz="2000">
                <a:solidFill>
                  <a:srgbClr val="444444"/>
                </a:solidFill>
              </a:defRPr>
            </a:pPr>
            <a:r>
              <a:t>RNNs can be trained using backpropagation through time</a:t>
            </a:r>
          </a:p>
          <a:p>
            <a:pPr>
              <a:defRPr sz="2000">
                <a:solidFill>
                  <a:srgbClr val="444444"/>
                </a:solidFill>
              </a:defRPr>
            </a:pPr>
            <a:r>
              <a:t>Image query: a simple RNN architecture diagram</a:t>
            </a:r>
          </a:p>
        </p:txBody>
      </p:sp>
      <p:pic>
        <p:nvPicPr>
          <p:cNvPr id="4" name="Picture 3" descr="291a69ba7bc2430f8e00a37c59781e60_general_topic_deep_learning_architecture.jpg"/>
          <p:cNvPicPr>
            <a:picLocks noChangeAspect="1"/>
          </p:cNvPicPr>
          <p:nvPr/>
        </p:nvPicPr>
        <p:blipFill>
          <a:blip r:embed="rId2"/>
          <a:stretch>
            <a:fillRect/>
          </a:stretch>
        </p:blipFill>
        <p:spPr>
          <a:xfrm>
            <a:off x="7315200" y="1828800"/>
            <a:ext cx="4114800" cy="231648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Variants</a:t>
            </a:r>
          </a:p>
        </p:txBody>
      </p:sp>
      <p:sp>
        <p:nvSpPr>
          <p:cNvPr id="3" name="Content Placeholder 2"/>
          <p:cNvSpPr>
            <a:spLocks noGrp="1"/>
          </p:cNvSpPr>
          <p:nvPr>
            <p:ph idx="1"/>
          </p:nvPr>
        </p:nvSpPr>
        <p:spPr/>
        <p:txBody>
          <a:bodyPr/>
          <a:lstStyle/>
          <a:p>
            <a:pPr>
              <a:defRPr sz="2000">
                <a:solidFill>
                  <a:srgbClr val="444444"/>
                </a:solidFill>
              </a:defRPr>
            </a:pPr>
            <a:r>
              <a:t>LSTM (Long Short-Term Memory) networks: handle vanishing gradients</a:t>
            </a:r>
          </a:p>
          <a:p>
            <a:pPr>
              <a:defRPr sz="2000">
                <a:solidFill>
                  <a:srgbClr val="444444"/>
                </a:solidFill>
              </a:defRPr>
            </a:pPr>
            <a:r>
              <a:t>GRU (Gated Recurrent Unit) networks: simpler and faster than LSTMs</a:t>
            </a:r>
          </a:p>
          <a:p>
            <a:pPr>
              <a:defRPr sz="2000">
                <a:solidFill>
                  <a:srgbClr val="444444"/>
                </a:solidFill>
              </a:defRPr>
            </a:pPr>
            <a:r>
              <a:t>Bidirectional RNNs: process input sequences in both directions</a:t>
            </a:r>
          </a:p>
          <a:p>
            <a:pPr>
              <a:defRPr sz="2000">
                <a:solidFill>
                  <a:srgbClr val="444444"/>
                </a:solidFill>
              </a:defRPr>
            </a:pPr>
            <a:r>
              <a:t>Deep RNNs: multiple hidden layers for improved performance</a:t>
            </a:r>
          </a:p>
          <a:p>
            <a:pPr>
              <a:defRPr sz="2000">
                <a:solidFill>
                  <a:srgbClr val="444444"/>
                </a:solidFill>
              </a:defRPr>
            </a:pPr>
            <a:r>
              <a:t>Residual connections: improve training and performance of deep RNNs</a:t>
            </a:r>
          </a:p>
          <a:p>
            <a:pPr>
              <a:defRPr sz="2000">
                <a:solidFill>
                  <a:srgbClr val="444444"/>
                </a:solidFill>
              </a:defRPr>
            </a:pPr>
            <a:r>
              <a:t>Attention mechanisms: focus on specific parts of input sequences</a:t>
            </a:r>
          </a:p>
          <a:p>
            <a:pPr>
              <a:defRPr sz="2000">
                <a:solidFill>
                  <a:srgbClr val="444444"/>
                </a:solidFill>
              </a:defRPr>
            </a:pPr>
            <a:r>
              <a:t>Recurrent Highway Networks: another variant for improved performance</a:t>
            </a:r>
          </a:p>
          <a:p>
            <a:pPr>
              <a:defRPr sz="2000">
                <a:solidFill>
                  <a:srgbClr val="444444"/>
                </a:solidFill>
              </a:defRPr>
            </a:pPr>
            <a:r>
              <a:t>Gated Feedback RNNs: handle long-term dependencies effectively</a:t>
            </a:r>
          </a:p>
          <a:p>
            <a:pPr>
              <a:defRPr sz="2000">
                <a:solidFill>
                  <a:srgbClr val="444444"/>
                </a:solidFill>
              </a:defRPr>
            </a:pPr>
            <a:r>
              <a:t>Tree-structured RNNs: process hierarchical data structures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Applications + Advantages/Limitations</a:t>
            </a:r>
          </a:p>
        </p:txBody>
      </p:sp>
      <p:sp>
        <p:nvSpPr>
          <p:cNvPr id="3" name="Content Placeholder 2"/>
          <p:cNvSpPr>
            <a:spLocks noGrp="1"/>
          </p:cNvSpPr>
          <p:nvPr>
            <p:ph idx="1"/>
          </p:nvPr>
        </p:nvSpPr>
        <p:spPr/>
        <p:txBody>
          <a:bodyPr/>
          <a:lstStyle/>
          <a:p>
            <a:pPr>
              <a:defRPr sz="2000">
                <a:solidFill>
                  <a:srgbClr val="444444"/>
                </a:solidFill>
              </a:defRPr>
            </a:pPr>
            <a:r>
              <a:t>Speech recognition: RNNs can learn patterns in audio data</a:t>
            </a:r>
          </a:p>
          <a:p>
            <a:pPr>
              <a:defRPr sz="2000">
                <a:solidFill>
                  <a:srgbClr val="444444"/>
                </a:solidFill>
              </a:defRPr>
            </a:pPr>
            <a:r>
              <a:t>Language modeling: RNNs can predict next words in a sentence</a:t>
            </a:r>
          </a:p>
          <a:p>
            <a:pPr>
              <a:defRPr sz="2000">
                <a:solidFill>
                  <a:srgbClr val="444444"/>
                </a:solidFill>
              </a:defRPr>
            </a:pPr>
            <a:r>
              <a:t>Time-series forecasting: RNNs can predict future values</a:t>
            </a:r>
          </a:p>
          <a:p>
            <a:pPr>
              <a:defRPr sz="2000">
                <a:solidFill>
                  <a:srgbClr val="444444"/>
                </a:solidFill>
              </a:defRPr>
            </a:pPr>
            <a:r>
              <a:t>Advantages: handle sequential data, learn long-term dependencies</a:t>
            </a:r>
          </a:p>
          <a:p>
            <a:pPr>
              <a:defRPr sz="2000">
                <a:solidFill>
                  <a:srgbClr val="444444"/>
                </a:solidFill>
              </a:defRPr>
            </a:pPr>
            <a:r>
              <a:t>Limitations: vanishing gradients, slow training times</a:t>
            </a:r>
          </a:p>
          <a:p>
            <a:pPr>
              <a:defRPr sz="2000">
                <a:solidFill>
                  <a:srgbClr val="444444"/>
                </a:solidFill>
              </a:defRPr>
            </a:pPr>
            <a:r>
              <a:t>Applications in robotics, computer vision, and natural language processing</a:t>
            </a:r>
          </a:p>
          <a:p>
            <a:pPr>
              <a:defRPr sz="2000">
                <a:solidFill>
                  <a:srgbClr val="444444"/>
                </a:solidFill>
              </a:defRPr>
            </a:pPr>
            <a:r>
              <a:t>RNNs can be used for sentiment analysis and text classification</a:t>
            </a:r>
          </a:p>
          <a:p>
            <a:pPr>
              <a:defRPr sz="2000">
                <a:solidFill>
                  <a:srgbClr val="444444"/>
                </a:solidFill>
              </a:defRPr>
            </a:pPr>
            <a:r>
              <a:t>They can also be used for machine translation and dialogue systems</a:t>
            </a:r>
          </a:p>
          <a:p>
            <a:pPr>
              <a:defRPr sz="2000">
                <a:solidFill>
                  <a:srgbClr val="444444"/>
                </a:solidFill>
              </a:defRPr>
            </a:pPr>
            <a:r>
              <a:t>RNNs have many advantages, but also some significant limitations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Summary</a:t>
            </a:r>
          </a:p>
        </p:txBody>
      </p:sp>
      <p:sp>
        <p:nvSpPr>
          <p:cNvPr id="3" name="Content Placeholder 2"/>
          <p:cNvSpPr>
            <a:spLocks noGrp="1"/>
          </p:cNvSpPr>
          <p:nvPr>
            <p:ph idx="1"/>
          </p:nvPr>
        </p:nvSpPr>
        <p:spPr/>
        <p:txBody>
          <a:bodyPr/>
          <a:lstStyle/>
          <a:p>
            <a:pPr>
              <a:defRPr sz="2000">
                <a:solidFill>
                  <a:srgbClr val="444444"/>
                </a:solidFill>
              </a:defRPr>
            </a:pPr>
            <a:r>
              <a:t>RNNs are a fundamental component of deep learning</a:t>
            </a:r>
          </a:p>
          <a:p>
            <a:pPr>
              <a:defRPr sz="2000">
                <a:solidFill>
                  <a:srgbClr val="444444"/>
                </a:solidFill>
              </a:defRPr>
            </a:pPr>
            <a:r>
              <a:t>They can handle sequential data and learn long-term dependencies</a:t>
            </a:r>
          </a:p>
          <a:p>
            <a:pPr>
              <a:defRPr sz="2000">
                <a:solidFill>
                  <a:srgbClr val="444444"/>
                </a:solidFill>
              </a:defRPr>
            </a:pPr>
            <a:r>
              <a:t>Variants like LSTM and GRU networks improve performance</a:t>
            </a:r>
          </a:p>
          <a:p>
            <a:pPr>
              <a:defRPr sz="2000">
                <a:solidFill>
                  <a:srgbClr val="444444"/>
                </a:solidFill>
              </a:defRPr>
            </a:pPr>
            <a:r>
              <a:t>Applications in speech recognition, language modeling, and time-series forecasting</a:t>
            </a:r>
          </a:p>
          <a:p>
            <a:pPr>
              <a:defRPr sz="2000">
                <a:solidFill>
                  <a:srgbClr val="444444"/>
                </a:solidFill>
              </a:defRPr>
            </a:pPr>
            <a:r>
              <a:t>Advantages: handle sequential data, learn long-term dependencies</a:t>
            </a:r>
          </a:p>
          <a:p>
            <a:pPr>
              <a:defRPr sz="2000">
                <a:solidFill>
                  <a:srgbClr val="444444"/>
                </a:solidFill>
              </a:defRPr>
            </a:pPr>
            <a:r>
              <a:t>Limitations: vanishing gradients, slow training times</a:t>
            </a:r>
          </a:p>
          <a:p>
            <a:pPr>
              <a:defRPr sz="2000">
                <a:solidFill>
                  <a:srgbClr val="444444"/>
                </a:solidFill>
              </a:defRPr>
            </a:pPr>
            <a:r>
              <a:t>Real-world applications: robotics, computer vision, natural language processing</a:t>
            </a:r>
          </a:p>
          <a:p>
            <a:pPr>
              <a:defRPr sz="2000">
                <a:solidFill>
                  <a:srgbClr val="444444"/>
                </a:solidFill>
              </a:defRPr>
            </a:pPr>
            <a:r>
              <a:t>RNNs have many advantages, but also some significant limitations</a:t>
            </a:r>
          </a:p>
          <a:p>
            <a:pPr>
              <a:defRPr sz="2000">
                <a:solidFill>
                  <a:srgbClr val="444444"/>
                </a:solidFill>
              </a:defRPr>
            </a:pPr>
            <a:r>
              <a:t>Future research directions: improving training times and performance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