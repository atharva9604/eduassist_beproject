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Deep Learning presentation covering multiple topics. Today we'll explore: Recurrent Neural Network, Convolution Neural Network.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Recurrent Neural Networks, emphasize their ability to handle sequential data, a common scenario in speech recognition, natural language processing, and time series forecasting. Explain that RNNs are trained using backpropagation through time, which is an extension of the traditional backpropagation algorithm used in feedforward networks. Highlight the importance of recurrent connections that allow the network to keep track of its internal state, enabling it to learn from sequences. Discuss the issue of vanishing gradients in basic RNNs and how this limitation is addressed in more advanced variants like LSTMs and GRUs. Ask students to consider scenarios where RNNs would be the model of choice and how they differ from other deep learning models like CNNs.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Recurrent Neural Networks, emphasize their ability to handle sequential data and their applications in time series forecasting and language modeling. Provide examples of speech recognition and natural language processing to illustrate their effectiveness. Ask students to consider how RNNs can learn from experience and adapt to new data. Key takeaways include understanding the basic architecture of RNNs and their training algorithms, such as backpropagation through time.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Recurrent Neural Networks, emphasize their ability to handle sequential data and their applications in speech recognition and natural language processing. Provide examples such as language translation and text generation, and explain how the recurrent connections allow the network to capture temporal relationships. Ask students to consider how RNNs can be used in real-world scenarios, such as predicting stock prices or generating music. Key takeaways include understanding the basics of RNN architecture and their suitability for sequential data tasks.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Convolution Neural Networks, explain that they are a type of deep learning model inspired by the structure and function of biological neural networks. Provide examples of their application in image and signal processing tasks, such as image classification, object detection, and speech recognition. Emphasize the importance of convolutional and pooling layers in these networks, and how they enable the detection of local patterns and automatic feature extraction. Discuss how the performance of CNNs can be improved with large datasets, and ask students to consider potential applications and limitations of this technology. Key takeaways include understanding the basic architecture and functionality of CNNs, as well as their potential applications and challenges.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Convolution Neural Networks, emphasize their biological inspiration and key applications. Explain the role of convolutional and pooling layers in image processing. Provide examples of pioneering models like LeNet-5 and AlexNet. Discuss the importance of activation functions and key layers like Conv2D and MaxPooling2D. Ask students about potential uses of CNNs in real-world scenarios and encourage them to explore current research in the field. Key takeaways include understanding the basic architecture and applications of CNNs.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explaining the architecture of a Convolution Neural Network, emphasize the role of convolutional and pooling layers in feature extraction and dimensionality reduction. Provide examples of how these layers are used in models like ImageNet for image classification tasks. Discuss the importance of activation functions and batch normalization in stabilizing the training process. Ask students to consider how the architecture of a CNN would change for different applications, such as object detection or segmentation, and what key takeaways they should remember about the CNN architecture.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Deep Learning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Recurrent Neural Network, Convolution Neural Network</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Recurrent Neural Network - Introduction</a:t>
            </a:r>
          </a:p>
        </p:txBody>
      </p:sp>
      <p:sp>
        <p:nvSpPr>
          <p:cNvPr id="3" name="Content Placeholder 2"/>
          <p:cNvSpPr>
            <a:spLocks noGrp="1"/>
          </p:cNvSpPr>
          <p:nvPr>
            <p:ph idx="1"/>
          </p:nvPr>
        </p:nvSpPr>
        <p:spPr/>
        <p:txBody>
          <a:bodyPr/>
          <a:lstStyle/>
          <a:p>
            <a:pPr>
              <a:defRPr sz="2000">
                <a:solidFill>
                  <a:srgbClr val="444444"/>
                </a:solidFill>
              </a:defRPr>
            </a:pPr>
            <a:r>
              <a:t>Utilizes sequential data or time series data</a:t>
            </a:r>
          </a:p>
          <a:p>
            <a:pPr>
              <a:defRPr sz="2000">
                <a:solidFill>
                  <a:srgbClr val="444444"/>
                </a:solidFill>
              </a:defRPr>
            </a:pPr>
            <a:r>
              <a:t>Trained using backpropagation through time</a:t>
            </a:r>
          </a:p>
          <a:p>
            <a:pPr>
              <a:defRPr sz="2000">
                <a:solidFill>
                  <a:srgbClr val="444444"/>
                </a:solidFill>
              </a:defRPr>
            </a:pPr>
            <a:r>
              <a:t>Has feedback connections to previous states</a:t>
            </a:r>
          </a:p>
          <a:p>
            <a:pPr>
              <a:defRPr sz="2000">
                <a:solidFill>
                  <a:srgbClr val="444444"/>
                </a:solidFill>
              </a:defRPr>
            </a:pPr>
            <a:r>
              <a:t>Key component: recurrent connections</a:t>
            </a:r>
          </a:p>
          <a:p>
            <a:pPr>
              <a:defRPr sz="2000">
                <a:solidFill>
                  <a:srgbClr val="444444"/>
                </a:solidFill>
              </a:defRPr>
            </a:pPr>
            <a:r>
              <a:t>Enables learning from sequential inputs</a:t>
            </a:r>
          </a:p>
          <a:p>
            <a:pPr>
              <a:defRPr sz="2000">
                <a:solidFill>
                  <a:srgbClr val="444444"/>
                </a:solidFill>
              </a:defRPr>
            </a:pPr>
            <a:r>
              <a:t>Applies to speech, text, or time series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Recurrent Neural Network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process sequential data</a:t>
            </a:r>
          </a:p>
          <a:p>
            <a:pPr>
              <a:defRPr sz="2000">
                <a:solidFill>
                  <a:srgbClr val="444444"/>
                </a:solidFill>
              </a:defRPr>
            </a:pPr>
            <a:r>
              <a:t>Use feedback connections to capture temporal relationships</a:t>
            </a:r>
          </a:p>
          <a:p>
            <a:pPr>
              <a:defRPr sz="2000">
                <a:solidFill>
                  <a:srgbClr val="444444"/>
                </a:solidFill>
              </a:defRPr>
            </a:pPr>
            <a:r>
              <a:t>Suitable for time series forecasting and language modeling</a:t>
            </a:r>
          </a:p>
          <a:p>
            <a:pPr>
              <a:defRPr sz="2000">
                <a:solidFill>
                  <a:srgbClr val="444444"/>
                </a:solidFill>
              </a:defRPr>
            </a:pPr>
            <a:r>
              <a:t>Can learn from experience and adapt to new data</a:t>
            </a:r>
          </a:p>
          <a:p>
            <a:pPr>
              <a:defRPr sz="2000">
                <a:solidFill>
                  <a:srgbClr val="444444"/>
                </a:solidFill>
              </a:defRPr>
            </a:pPr>
            <a:r>
              <a:t>Train using backpropagation through time algorithm</a:t>
            </a:r>
          </a:p>
          <a:p>
            <a:pPr>
              <a:defRPr sz="2000">
                <a:solidFill>
                  <a:srgbClr val="444444"/>
                </a:solidFill>
              </a:defRPr>
            </a:pPr>
            <a:r>
              <a:t>Effective for speech recognition and natural language processing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Recurrent Neural Network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process sequential data</a:t>
            </a:r>
          </a:p>
          <a:p>
            <a:pPr>
              <a:defRPr sz="2000">
                <a:solidFill>
                  <a:srgbClr val="444444"/>
                </a:solidFill>
              </a:defRPr>
            </a:pPr>
            <a:r>
              <a:t>Use recurrent connections to capture temporal relationships</a:t>
            </a:r>
          </a:p>
          <a:p>
            <a:pPr>
              <a:defRPr sz="2000">
                <a:solidFill>
                  <a:srgbClr val="444444"/>
                </a:solidFill>
              </a:defRPr>
            </a:pPr>
            <a:r>
              <a:t>Suitable for time series data and speech recognition</a:t>
            </a:r>
          </a:p>
          <a:p>
            <a:pPr>
              <a:defRPr sz="2000">
                <a:solidFill>
                  <a:srgbClr val="444444"/>
                </a:solidFill>
              </a:defRPr>
            </a:pPr>
            <a:r>
              <a:t>Employ feedback loops to maintain internal state</a:t>
            </a:r>
          </a:p>
          <a:p>
            <a:pPr>
              <a:defRPr sz="2000">
                <a:solidFill>
                  <a:srgbClr val="444444"/>
                </a:solidFill>
              </a:defRPr>
            </a:pPr>
            <a:r>
              <a:t>Can learn long-term dependencies and patterns</a:t>
            </a:r>
          </a:p>
          <a:p>
            <a:pPr>
              <a:defRPr sz="2000">
                <a:solidFill>
                  <a:srgbClr val="444444"/>
                </a:solidFill>
              </a:defRPr>
            </a:pPr>
            <a:r>
              <a:t>Often used in natural language processing tasks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Convolution Neural Network - Introduction</a:t>
            </a:r>
          </a:p>
        </p:txBody>
      </p:sp>
      <p:sp>
        <p:nvSpPr>
          <p:cNvPr id="3" name="Content Placeholder 2"/>
          <p:cNvSpPr>
            <a:spLocks noGrp="1"/>
          </p:cNvSpPr>
          <p:nvPr>
            <p:ph idx="1"/>
          </p:nvPr>
        </p:nvSpPr>
        <p:spPr/>
        <p:txBody>
          <a:bodyPr/>
          <a:lstStyle/>
          <a:p>
            <a:pPr>
              <a:defRPr sz="2000">
                <a:solidFill>
                  <a:srgbClr val="444444"/>
                </a:solidFill>
              </a:defRPr>
            </a:pPr>
            <a:r>
              <a:t>Convolution Neural Networks are deep learning models</a:t>
            </a:r>
          </a:p>
          <a:p>
            <a:pPr>
              <a:defRPr sz="2000">
                <a:solidFill>
                  <a:srgbClr val="444444"/>
                </a:solidFill>
              </a:defRPr>
            </a:pPr>
            <a:r>
              <a:t>Inspired by biological neural networks structure</a:t>
            </a:r>
          </a:p>
          <a:p>
            <a:pPr>
              <a:defRPr sz="2000">
                <a:solidFill>
                  <a:srgbClr val="444444"/>
                </a:solidFill>
              </a:defRPr>
            </a:pPr>
            <a:r>
              <a:t>Used for image and signal processing tasks</a:t>
            </a:r>
          </a:p>
          <a:p>
            <a:pPr>
              <a:defRPr sz="2000">
                <a:solidFill>
                  <a:srgbClr val="444444"/>
                </a:solidFill>
              </a:defRPr>
            </a:pPr>
            <a:r>
              <a:t>Consist of convolutional and pooling layers</a:t>
            </a:r>
          </a:p>
          <a:p>
            <a:pPr>
              <a:defRPr sz="2000">
                <a:solidFill>
                  <a:srgbClr val="444444"/>
                </a:solidFill>
              </a:defRPr>
            </a:pPr>
            <a:r>
              <a:t>Apply filters to detect local patterns</a:t>
            </a:r>
          </a:p>
          <a:p>
            <a:pPr>
              <a:defRPr sz="2000">
                <a:solidFill>
                  <a:srgbClr val="444444"/>
                </a:solidFill>
              </a:defRPr>
            </a:pPr>
            <a:r>
              <a:t>Enable automatic feature extraction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Convolution Neural Network - Introduction</a:t>
            </a:r>
          </a:p>
        </p:txBody>
      </p:sp>
      <p:sp>
        <p:nvSpPr>
          <p:cNvPr id="3" name="Content Placeholder 2"/>
          <p:cNvSpPr>
            <a:spLocks noGrp="1"/>
          </p:cNvSpPr>
          <p:nvPr>
            <p:ph idx="1"/>
          </p:nvPr>
        </p:nvSpPr>
        <p:spPr/>
        <p:txBody>
          <a:bodyPr/>
          <a:lstStyle/>
          <a:p>
            <a:pPr>
              <a:defRPr sz="2000">
                <a:solidFill>
                  <a:srgbClr val="444444"/>
                </a:solidFill>
              </a:defRPr>
            </a:pPr>
            <a:r>
              <a:t>CNNs inspired by biological neural networks</a:t>
            </a:r>
          </a:p>
          <a:p>
            <a:pPr>
              <a:defRPr sz="2000">
                <a:solidFill>
                  <a:srgbClr val="444444"/>
                </a:solidFill>
              </a:defRPr>
            </a:pPr>
            <a:r>
              <a:t>Use convolutional and pooling layers</a:t>
            </a:r>
          </a:p>
          <a:p>
            <a:pPr>
              <a:defRPr sz="2000">
                <a:solidFill>
                  <a:srgbClr val="444444"/>
                </a:solidFill>
              </a:defRPr>
            </a:pPr>
            <a:r>
              <a:t>Image classification and recognition tasks</a:t>
            </a:r>
          </a:p>
          <a:p>
            <a:pPr>
              <a:defRPr sz="2000">
                <a:solidFill>
                  <a:srgbClr val="444444"/>
                </a:solidFill>
              </a:defRPr>
            </a:pPr>
            <a:r>
              <a:t>Object detection and segmentation applications</a:t>
            </a:r>
          </a:p>
          <a:p>
            <a:pPr>
              <a:defRPr sz="2000">
                <a:solidFill>
                  <a:srgbClr val="444444"/>
                </a:solidFill>
              </a:defRPr>
            </a:pPr>
            <a:r>
              <a:t>LeNet-5 and AlexNet pioneering models</a:t>
            </a:r>
          </a:p>
          <a:p>
            <a:pPr>
              <a:defRPr sz="2000">
                <a:solidFill>
                  <a:srgbClr val="444444"/>
                </a:solidFill>
              </a:defRPr>
            </a:pPr>
            <a:r>
              <a:t>Conv2D and MaxPooling2D key layers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Convolution Neural Network - Architecture</a:t>
            </a:r>
          </a:p>
        </p:txBody>
      </p:sp>
      <p:sp>
        <p:nvSpPr>
          <p:cNvPr id="3" name="Content Placeholder 2"/>
          <p:cNvSpPr>
            <a:spLocks noGrp="1"/>
          </p:cNvSpPr>
          <p:nvPr>
            <p:ph idx="1"/>
          </p:nvPr>
        </p:nvSpPr>
        <p:spPr/>
        <p:txBody>
          <a:bodyPr/>
          <a:lstStyle/>
          <a:p>
            <a:pPr>
              <a:defRPr sz="2000">
                <a:solidFill>
                  <a:srgbClr val="444444"/>
                </a:solidFill>
              </a:defRPr>
            </a:pPr>
            <a:r>
              <a:t>CNNs use convolutional and pooling layers</a:t>
            </a:r>
          </a:p>
          <a:p>
            <a:pPr>
              <a:defRPr sz="2000">
                <a:solidFill>
                  <a:srgbClr val="444444"/>
                </a:solidFill>
              </a:defRPr>
            </a:pPr>
            <a:r>
              <a:t>Convolutional layers extract local features</a:t>
            </a:r>
          </a:p>
          <a:p>
            <a:pPr>
              <a:defRPr sz="2000">
                <a:solidFill>
                  <a:srgbClr val="444444"/>
                </a:solidFill>
              </a:defRPr>
            </a:pPr>
            <a:r>
              <a:t>Pooling layers reduce spatial dimensions</a:t>
            </a:r>
          </a:p>
          <a:p>
            <a:pPr>
              <a:defRPr sz="2000">
                <a:solidFill>
                  <a:srgbClr val="444444"/>
                </a:solidFill>
              </a:defRPr>
            </a:pPr>
            <a:r>
              <a:t>Fully connected layers for classification</a:t>
            </a:r>
          </a:p>
          <a:p>
            <a:pPr>
              <a:defRPr sz="2000">
                <a:solidFill>
                  <a:srgbClr val="444444"/>
                </a:solidFill>
              </a:defRPr>
            </a:pPr>
            <a:r>
              <a:t>Activation functions like ReLU are used</a:t>
            </a:r>
          </a:p>
          <a:p>
            <a:pPr>
              <a:defRPr sz="2000">
                <a:solidFill>
                  <a:srgbClr val="444444"/>
                </a:solidFill>
              </a:defRPr>
            </a:pPr>
            <a:r>
              <a:t>Batch normalization for stable training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