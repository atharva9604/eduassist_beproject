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RNNs, CNNs.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their applications in NLP. Provide examples of language translation and text summarization to illustrate their use. Discuss the challenges of training RNNs, such as vanishing gradients, and ask students to consider how RNNs can be used in real-world scenarios, like chatbots and sentiment analysis. Key takeaways include understanding the basic architecture of RNNs and their potential applications in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the importance of recurrence. Provide examples such as speech recognition and language modeling to illustrate their applications. Explain the basic architecture and common activation functions used. Discuss the challenges in training RNNs, such as vanishing gradients, and ask students to consider how these challenges might be addressed. Key takeaways include understanding the role of RNNs in deep learning and their relevance to natural language processing tasks.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explain their ability to handle sequential data and provide examples such as speech recognition, time-series forecasting, and natural language processing. Discuss the challenges of training RNNs and introduce the concept of Long Short-Term Memory networks as a solution. Ask students to consider how RNNs can be applied to real-world problems and what benefits they offer over other neural network architectures. Key takeaways should include understanding the basic architecture of RNNs and their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RNNs, emphasize the feedback connections that allow the network to keep track of information over time. Provide examples of sequential data such as speech, text, or time series data. Explain the role of each layer and the activation functions used. Discuss the challenges of training RNNs, including vanishing gradients, and introduce the variants such as LSTM and GRU that help mitigate these issues. Ask students to consider how RNNs can be applied to real-world problems, such as language translation or speech recognition, and what the key benefits and limitations are.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CNNs, explain the biological inspiration and the key components of the architecture, including convolutional and pooling layers. Provide examples of applications such as image classification, object detection, and image segmentation. Discuss the importance of large datasets for training and validation, and highlight the achievements of popular architectures like LeNet and AlexNet. Ask students to consider the advantages of CNNs over traditional machine learning methods and how they enable deep learning for complex image analysis tasks. Key takeaways should include the automatic feature extraction capabilities of CNNs and their effectiveness in various computer vision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CNNs, focus on the role of each layer type, such as convolutional layers for feature extraction and pooling layers for dimensionality reduction. Provide examples of how these layers work together to enable image classification tasks. Discuss the importance of activation functions like ReLU and the use of backpropagation for training. Ask students to consider how the architecture of a CNN would change for different applications, such as object detection or image segmentation. Key takeaways include understanding the basic components of a CNN and how they contribute to its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architecture of CNNs, highlighting the role of convolutional and pooling layers in feature extraction. Emphasize the importance of activation functions like ReLU and sigmoid. Provide examples of image classification tasks where CNNs excel, such as handwritten digit recognition. Ask students to consider how the architecture of a CNN would change for different applications, such as speech recognition or natural language processing. Key takeaways include understanding the components of a CNN and their functions, as well as the ability to design a basic CNN architecture for a given task.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CNNs, emphasize the role of convolutional and pooling layers in feature extraction. Provide examples of how filters detect edges and patterns in images. Discuss the importance of activation functions, such as ReLU, in introducing non-linearity to the model. Ask students to consider how the architecture of a CNN would change for different applications, such as image classification versus object detection. Key takeaways include understanding the components of a CNN and how they work together to enable deep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RNNs, CNNs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allowing information recall</a:t>
            </a:r>
          </a:p>
          <a:p>
            <a:pPr>
              <a:defRPr sz="2000">
                <a:solidFill>
                  <a:srgbClr val="444444"/>
                </a:solidFill>
              </a:defRPr>
            </a:pPr>
            <a:r>
              <a:t>Used for natural language processing and speech recognition</a:t>
            </a:r>
          </a:p>
          <a:p>
            <a:pPr>
              <a:defRPr sz="2000">
                <a:solidFill>
                  <a:srgbClr val="444444"/>
                </a:solidFill>
              </a:defRPr>
            </a:pPr>
            <a:r>
              <a:t>RNNs learn patterns in time series data and sequences</a:t>
            </a:r>
          </a:p>
          <a:p>
            <a:pPr>
              <a:defRPr sz="2000">
                <a:solidFill>
                  <a:srgbClr val="444444"/>
                </a:solidFill>
              </a:defRPr>
            </a:pPr>
            <a:r>
              <a:t>Examples include language translation and text summarization</a:t>
            </a:r>
          </a:p>
          <a:p>
            <a:pPr>
              <a:defRPr sz="2000">
                <a:solidFill>
                  <a:srgbClr val="444444"/>
                </a:solidFill>
              </a:defRPr>
            </a:pPr>
            <a:r>
              <a:t>RNNs are trained using backpropagation through time</a:t>
            </a:r>
          </a:p>
          <a:p>
            <a:pPr>
              <a:defRPr sz="2000">
                <a:solidFill>
                  <a:srgbClr val="444444"/>
                </a:solidFill>
              </a:defRPr>
            </a:pPr>
            <a:r>
              <a:t>Vanishing gradients affect RNN training and performance</a:t>
            </a:r>
          </a:p>
          <a:p>
            <a:pPr>
              <a:defRPr sz="2000">
                <a:solidFill>
                  <a:srgbClr val="444444"/>
                </a:solidFill>
              </a:defRPr>
            </a:pPr>
            <a:r>
              <a:t>RNNs are a type of deep learning model with temporal dependencies</a:t>
            </a:r>
          </a:p>
          <a:p>
            <a:pPr>
              <a:defRPr sz="2000">
                <a:solidFill>
                  <a:srgbClr val="444444"/>
                </a:solidFill>
              </a:defRPr>
            </a:pPr>
            <a:r>
              <a:t>Key applications include sentiment analysis and chatbots</a:t>
            </a:r>
          </a:p>
          <a:p>
            <a:pPr>
              <a:defRPr sz="2000">
                <a:solidFill>
                  <a:srgbClr val="444444"/>
                </a:solidFill>
              </a:defRPr>
            </a:pPr>
            <a:r>
              <a:t>RNNs can be used for predictive modeling and forecasting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allowing recurrence</a:t>
            </a:r>
          </a:p>
          <a:p>
            <a:pPr>
              <a:defRPr sz="2000">
                <a:solidFill>
                  <a:srgbClr val="444444"/>
                </a:solidFill>
              </a:defRPr>
            </a:pPr>
            <a:r>
              <a:t>Used for speech recognition, language modeling</a:t>
            </a:r>
          </a:p>
          <a:p>
            <a:pPr>
              <a:defRPr sz="2000">
                <a:solidFill>
                  <a:srgbClr val="444444"/>
                </a:solidFill>
              </a:defRPr>
            </a:pPr>
            <a:r>
              <a:t>Can learn long-term dependencies in data</a:t>
            </a:r>
          </a:p>
          <a:p>
            <a:pPr>
              <a:defRPr sz="2000">
                <a:solidFill>
                  <a:srgbClr val="444444"/>
                </a:solidFill>
              </a:defRPr>
            </a:pPr>
            <a:r>
              <a:t>Basic RNN architecture includes input, hidden, output</a:t>
            </a:r>
          </a:p>
          <a:p>
            <a:pPr>
              <a:defRPr sz="2000">
                <a:solidFill>
                  <a:srgbClr val="444444"/>
                </a:solidFill>
              </a:defRPr>
            </a:pPr>
            <a:r>
              <a:t>Activation functions used: sigmoid, tanh, ReLU</a:t>
            </a:r>
          </a:p>
          <a:p>
            <a:pPr>
              <a:defRPr sz="2000">
                <a:solidFill>
                  <a:srgbClr val="444444"/>
                </a:solidFill>
              </a:defRPr>
            </a:pPr>
            <a:r>
              <a:t>Training RNNs involves backpropagation through time</a:t>
            </a:r>
          </a:p>
          <a:p>
            <a:pPr>
              <a:defRPr sz="2000">
                <a:solidFill>
                  <a:srgbClr val="444444"/>
                </a:solidFill>
              </a:defRPr>
            </a:pPr>
            <a:r>
              <a:t>Vanishing gradients affect deep RNN training</a:t>
            </a:r>
          </a:p>
          <a:p>
            <a:pPr>
              <a:defRPr sz="2000">
                <a:solidFill>
                  <a:srgbClr val="444444"/>
                </a:solidFill>
              </a:defRPr>
            </a:pPr>
            <a:r>
              <a:t>RNNs are fundamental to natural language processing</a:t>
            </a:r>
          </a:p>
        </p:txBody>
      </p:sp>
      <p:pic>
        <p:nvPicPr>
          <p:cNvPr id="4" name="Picture 3" descr="b8bde90e338c48a792e6d9a0ca9026b4_rnns_cnns_deep_learning_overview.jpg"/>
          <p:cNvPicPr>
            <a:picLocks noChangeAspect="1"/>
          </p:cNvPicPr>
          <p:nvPr/>
        </p:nvPicPr>
        <p:blipFill>
          <a:blip r:embed="rId2"/>
          <a:stretch>
            <a:fillRect/>
          </a:stretch>
        </p:blipFill>
        <p:spPr>
          <a:xfrm>
            <a:off x="7315200" y="1828800"/>
            <a:ext cx="4114800" cy="275463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store data in memory</a:t>
            </a:r>
          </a:p>
          <a:p>
            <a:pPr>
              <a:defRPr sz="2000">
                <a:solidFill>
                  <a:srgbClr val="444444"/>
                </a:solidFill>
              </a:defRPr>
            </a:pPr>
            <a:r>
              <a:t>Use sequential data for training and predictions</a:t>
            </a:r>
          </a:p>
          <a:p>
            <a:pPr>
              <a:defRPr sz="2000">
                <a:solidFill>
                  <a:srgbClr val="444444"/>
                </a:solidFill>
              </a:defRPr>
            </a:pPr>
            <a:r>
              <a:t>RNNs have feedback connections for loop creation</a:t>
            </a:r>
          </a:p>
          <a:p>
            <a:pPr>
              <a:defRPr sz="2000">
                <a:solidFill>
                  <a:srgbClr val="444444"/>
                </a:solidFill>
              </a:defRPr>
            </a:pPr>
            <a:r>
              <a:t>Mainly used for time-series forecasting and analysis</a:t>
            </a:r>
          </a:p>
          <a:p>
            <a:pPr>
              <a:defRPr sz="2000">
                <a:solidFill>
                  <a:srgbClr val="444444"/>
                </a:solidFill>
              </a:defRPr>
            </a:pPr>
            <a:r>
              <a:t>Can learn patterns in sequential data sets</a:t>
            </a:r>
          </a:p>
          <a:p>
            <a:pPr>
              <a:defRPr sz="2000">
                <a:solidFill>
                  <a:srgbClr val="444444"/>
                </a:solidFill>
              </a:defRPr>
            </a:pPr>
            <a:r>
              <a:t>Training RNNs can be computationally expensive</a:t>
            </a:r>
          </a:p>
          <a:p>
            <a:pPr>
              <a:defRPr sz="2000">
                <a:solidFill>
                  <a:srgbClr val="444444"/>
                </a:solidFill>
              </a:defRPr>
            </a:pPr>
            <a:r>
              <a:t>Long Short-Term Memory networks are a variant</a:t>
            </a:r>
          </a:p>
          <a:p>
            <a:pPr>
              <a:defRPr sz="2000">
                <a:solidFill>
                  <a:srgbClr val="444444"/>
                </a:solidFill>
              </a:defRPr>
            </a:pPr>
            <a:r>
              <a:t>RNNs are useful for natural language processing</a:t>
            </a:r>
          </a:p>
          <a:p>
            <a:pPr>
              <a:defRPr sz="2000">
                <a:solidFill>
                  <a:srgbClr val="444444"/>
                </a:solidFill>
              </a:defRPr>
            </a:pPr>
            <a:r>
              <a:t>Examples include speech recognition and translation</a:t>
            </a:r>
          </a:p>
          <a:p>
            <a:pPr>
              <a:defRPr sz="2000">
                <a:solidFill>
                  <a:srgbClr val="444444"/>
                </a:solidFill>
              </a:defRPr>
            </a:pPr>
            <a:r>
              <a:t>Basic RNN equation: y = sigmoid(Wx + Uh)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Architecture</a:t>
            </a:r>
          </a:p>
        </p:txBody>
      </p:sp>
      <p:sp>
        <p:nvSpPr>
          <p:cNvPr id="3" name="Content Placeholder 2"/>
          <p:cNvSpPr>
            <a:spLocks noGrp="1"/>
          </p:cNvSpPr>
          <p:nvPr>
            <p:ph idx="1"/>
          </p:nvPr>
        </p:nvSpPr>
        <p:spPr/>
        <p:txBody>
          <a:bodyPr/>
          <a:lstStyle/>
          <a:p>
            <a:pPr>
              <a:defRPr sz="2000">
                <a:solidFill>
                  <a:srgbClr val="444444"/>
                </a:solidFill>
              </a:defRPr>
            </a:pPr>
            <a:r>
              <a:t>Recurrent Neural Networks have feedback connections</a:t>
            </a:r>
          </a:p>
          <a:p>
            <a:pPr>
              <a:defRPr sz="2000">
                <a:solidFill>
                  <a:srgbClr val="444444"/>
                </a:solidFill>
              </a:defRPr>
            </a:pPr>
            <a:r>
              <a:t>Allowing information to loop back in time</a:t>
            </a:r>
          </a:p>
          <a:p>
            <a:pPr>
              <a:defRPr sz="2000">
                <a:solidFill>
                  <a:srgbClr val="444444"/>
                </a:solidFill>
              </a:defRPr>
            </a:pPr>
            <a:r>
              <a:t>Enabling processing of sequential data</a:t>
            </a:r>
          </a:p>
          <a:p>
            <a:pPr>
              <a:defRPr sz="2000">
                <a:solidFill>
                  <a:srgbClr val="444444"/>
                </a:solidFill>
              </a:defRPr>
            </a:pPr>
            <a:r>
              <a:t>Input, output, and hidden layers exist</a:t>
            </a:r>
          </a:p>
          <a:p>
            <a:pPr>
              <a:defRPr sz="2000">
                <a:solidFill>
                  <a:srgbClr val="444444"/>
                </a:solidFill>
              </a:defRPr>
            </a:pPr>
            <a:r>
              <a:t>Activation functions used in hidden layers</a:t>
            </a:r>
          </a:p>
          <a:p>
            <a:pPr>
              <a:defRPr sz="2000">
                <a:solidFill>
                  <a:srgbClr val="444444"/>
                </a:solidFill>
              </a:defRPr>
            </a:pPr>
            <a:r>
              <a:t>Sigmoid, tanh, and ReLU are common choices</a:t>
            </a:r>
          </a:p>
          <a:p>
            <a:pPr>
              <a:defRPr sz="2000">
                <a:solidFill>
                  <a:srgbClr val="444444"/>
                </a:solidFill>
              </a:defRPr>
            </a:pPr>
            <a:r>
              <a:t>Backpropagation used for training RNNs</a:t>
            </a:r>
          </a:p>
          <a:p>
            <a:pPr>
              <a:defRPr sz="2000">
                <a:solidFill>
                  <a:srgbClr val="444444"/>
                </a:solidFill>
              </a:defRPr>
            </a:pPr>
            <a:r>
              <a:t>vanishing gradients can be a problem</a:t>
            </a:r>
          </a:p>
          <a:p>
            <a:pPr>
              <a:defRPr sz="2000">
                <a:solidFill>
                  <a:srgbClr val="444444"/>
                </a:solidFill>
              </a:defRPr>
            </a:pPr>
            <a:r>
              <a:t>LSTM, GRU are variants to mitigate issues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(CNNs) for image processing</a:t>
            </a:r>
          </a:p>
          <a:p>
            <a:pPr>
              <a:defRPr sz="2000">
                <a:solidFill>
                  <a:srgbClr val="444444"/>
                </a:solidFill>
              </a:defRPr>
            </a:pPr>
            <a:r>
              <a:t>Inspired by biological neural networks and visual cortex</a:t>
            </a:r>
          </a:p>
          <a:p>
            <a:pPr>
              <a:defRPr sz="2000">
                <a:solidFill>
                  <a:srgbClr val="444444"/>
                </a:solidFill>
              </a:defRPr>
            </a:pPr>
            <a:r>
              <a:t>Use convolutional and pooling layers for feature extraction</a:t>
            </a:r>
          </a:p>
          <a:p>
            <a:pPr>
              <a:defRPr sz="2000">
                <a:solidFill>
                  <a:srgbClr val="444444"/>
                </a:solidFill>
              </a:defRPr>
            </a:pPr>
            <a:r>
              <a:t>Automatically learn spatial hierarchies of features</a:t>
            </a:r>
          </a:p>
          <a:p>
            <a:pPr>
              <a:defRPr sz="2000">
                <a:solidFill>
                  <a:srgbClr val="444444"/>
                </a:solidFill>
              </a:defRPr>
            </a:pPr>
            <a:r>
              <a:t>Effective for image classification, detection, and segmentation</a:t>
            </a:r>
          </a:p>
          <a:p>
            <a:pPr>
              <a:defRPr sz="2000">
                <a:solidFill>
                  <a:srgbClr val="444444"/>
                </a:solidFill>
              </a:defRPr>
            </a:pPr>
            <a:r>
              <a:t>Key applications in computer vision and robotics</a:t>
            </a:r>
          </a:p>
          <a:p>
            <a:pPr>
              <a:defRPr sz="2000">
                <a:solidFill>
                  <a:srgbClr val="444444"/>
                </a:solidFill>
              </a:defRPr>
            </a:pPr>
            <a:r>
              <a:t>CNNs outperform traditional machine learning methods</a:t>
            </a:r>
          </a:p>
          <a:p>
            <a:pPr>
              <a:defRPr sz="2000">
                <a:solidFill>
                  <a:srgbClr val="444444"/>
                </a:solidFill>
              </a:defRPr>
            </a:pPr>
            <a:r>
              <a:t>Require large datasets for training and validation</a:t>
            </a:r>
          </a:p>
          <a:p>
            <a:pPr>
              <a:defRPr sz="2000">
                <a:solidFill>
                  <a:srgbClr val="444444"/>
                </a:solidFill>
              </a:defRPr>
            </a:pPr>
            <a:r>
              <a:t>Popular architectures include LeNet and AlexNet</a:t>
            </a:r>
          </a:p>
          <a:p>
            <a:pPr>
              <a:defRPr sz="2000">
                <a:solidFill>
                  <a:srgbClr val="444444"/>
                </a:solidFill>
              </a:defRPr>
            </a:pPr>
            <a:r>
              <a:t>Enable deep learning for complex image analysis tasks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Architecture</a:t>
            </a:r>
          </a:p>
        </p:txBody>
      </p:sp>
      <p:sp>
        <p:nvSpPr>
          <p:cNvPr id="3" name="Content Placeholder 2"/>
          <p:cNvSpPr>
            <a:spLocks noGrp="1"/>
          </p:cNvSpPr>
          <p:nvPr>
            <p:ph idx="1"/>
          </p:nvPr>
        </p:nvSpPr>
        <p:spPr/>
        <p:txBody>
          <a:bodyPr/>
          <a:lstStyle/>
          <a:p>
            <a:pPr>
              <a:defRPr sz="2000">
                <a:solidFill>
                  <a:srgbClr val="444444"/>
                </a:solidFill>
              </a:defRPr>
            </a:pPr>
            <a:r>
              <a:t>Convolutional Neural Networks use convolutional layers</a:t>
            </a:r>
          </a:p>
          <a:p>
            <a:pPr>
              <a:defRPr sz="2000">
                <a:solidFill>
                  <a:srgbClr val="444444"/>
                </a:solidFill>
              </a:defRPr>
            </a:pPr>
            <a:r>
              <a:t>Convolutional layers extract local features from data</a:t>
            </a:r>
          </a:p>
          <a:p>
            <a:pPr>
              <a:defRPr sz="2000">
                <a:solidFill>
                  <a:srgbClr val="444444"/>
                </a:solidFill>
              </a:defRPr>
            </a:pPr>
            <a:r>
              <a:t>Pooling layers reduce spatial dimensions of data</a:t>
            </a:r>
          </a:p>
          <a:p>
            <a:pPr>
              <a:defRPr sz="2000">
                <a:solidFill>
                  <a:srgbClr val="444444"/>
                </a:solidFill>
              </a:defRPr>
            </a:pPr>
            <a:r>
              <a:t>Fully connected layers classify output</a:t>
            </a:r>
          </a:p>
          <a:p>
            <a:pPr>
              <a:defRPr sz="2000">
                <a:solidFill>
                  <a:srgbClr val="444444"/>
                </a:solidFill>
              </a:defRPr>
            </a:pPr>
            <a:r>
              <a:t>Activation functions introduce non-linearity</a:t>
            </a:r>
          </a:p>
          <a:p>
            <a:pPr>
              <a:defRPr sz="2000">
                <a:solidFill>
                  <a:srgbClr val="444444"/>
                </a:solidFill>
              </a:defRPr>
            </a:pPr>
            <a:r>
              <a:t>ReLU is a commonly used activation function</a:t>
            </a:r>
          </a:p>
          <a:p>
            <a:pPr>
              <a:defRPr sz="2000">
                <a:solidFill>
                  <a:srgbClr val="444444"/>
                </a:solidFill>
              </a:defRPr>
            </a:pPr>
            <a:r>
              <a:t>CNNs use backpropagation for training</a:t>
            </a:r>
          </a:p>
          <a:p>
            <a:pPr>
              <a:defRPr sz="2000">
                <a:solidFill>
                  <a:srgbClr val="444444"/>
                </a:solidFill>
              </a:defRPr>
            </a:pPr>
            <a:r>
              <a:t>Optimizers like SGD are used for weight updates</a:t>
            </a:r>
          </a:p>
          <a:p>
            <a:pPr>
              <a:defRPr sz="2000">
                <a:solidFill>
                  <a:srgbClr val="444444"/>
                </a:solidFill>
              </a:defRPr>
            </a:pPr>
            <a:r>
              <a:t>Batch normalization improves training speed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Architecture</a:t>
            </a:r>
          </a:p>
        </p:txBody>
      </p:sp>
      <p:sp>
        <p:nvSpPr>
          <p:cNvPr id="3" name="Content Placeholder 2"/>
          <p:cNvSpPr>
            <a:spLocks noGrp="1"/>
          </p:cNvSpPr>
          <p:nvPr>
            <p:ph idx="1"/>
          </p:nvPr>
        </p:nvSpPr>
        <p:spPr/>
        <p:txBody>
          <a:bodyPr/>
          <a:lstStyle/>
          <a:p>
            <a:pPr>
              <a:defRPr sz="2000">
                <a:solidFill>
                  <a:srgbClr val="444444"/>
                </a:solidFill>
              </a:defRPr>
            </a:pPr>
            <a:r>
              <a:t>Convolutional Neural Networks use convolutional layers</a:t>
            </a:r>
          </a:p>
          <a:p>
            <a:pPr>
              <a:defRPr sz="2000">
                <a:solidFill>
                  <a:srgbClr val="444444"/>
                </a:solidFill>
              </a:defRPr>
            </a:pPr>
            <a:r>
              <a:t>Convolutional layers apply filters to input data</a:t>
            </a:r>
          </a:p>
          <a:p>
            <a:pPr>
              <a:defRPr sz="2000">
                <a:solidFill>
                  <a:srgbClr val="444444"/>
                </a:solidFill>
              </a:defRPr>
            </a:pPr>
            <a:r>
              <a:t>Filters detect local patterns and features</a:t>
            </a:r>
          </a:p>
          <a:p>
            <a:pPr>
              <a:defRPr sz="2000">
                <a:solidFill>
                  <a:srgbClr val="444444"/>
                </a:solidFill>
              </a:defRPr>
            </a:pPr>
            <a:r>
              <a:t>Pooling layers reduce spatial dimensions</a:t>
            </a:r>
          </a:p>
          <a:p>
            <a:pPr>
              <a:defRPr sz="2000">
                <a:solidFill>
                  <a:srgbClr val="444444"/>
                </a:solidFill>
              </a:defRPr>
            </a:pPr>
            <a:r>
              <a:t>Fully connected layers classify output</a:t>
            </a:r>
          </a:p>
          <a:p>
            <a:pPr>
              <a:defRPr sz="2000">
                <a:solidFill>
                  <a:srgbClr val="444444"/>
                </a:solidFill>
              </a:defRPr>
            </a:pPr>
            <a:r>
              <a:t>ReLU activation function introduces non-linearity</a:t>
            </a:r>
          </a:p>
          <a:p>
            <a:pPr>
              <a:defRPr sz="2000">
                <a:solidFill>
                  <a:srgbClr val="444444"/>
                </a:solidFill>
              </a:defRPr>
            </a:pPr>
            <a:r>
              <a:t>Sigmoid function used for binary classification</a:t>
            </a:r>
          </a:p>
          <a:p>
            <a:pPr>
              <a:defRPr sz="2000">
                <a:solidFill>
                  <a:srgbClr val="444444"/>
                </a:solidFill>
              </a:defRPr>
            </a:pPr>
            <a:r>
              <a:t>CNNs learn spatial hierarchies of features</a:t>
            </a:r>
          </a:p>
          <a:p>
            <a:pPr>
              <a:defRPr sz="2000">
                <a:solidFill>
                  <a:srgbClr val="444444"/>
                </a:solidFill>
              </a:defRPr>
            </a:pPr>
            <a:r>
              <a:t>Typical architecture: conv-pool-conv-pool-fc</a:t>
            </a:r>
          </a:p>
          <a:p>
            <a:pPr>
              <a:defRPr sz="2000">
                <a:solidFill>
                  <a:srgbClr val="444444"/>
                </a:solidFill>
              </a:defRPr>
            </a:pPr>
            <a:r>
              <a:t>y = σ(Wx + b) simple neural network equation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CNNs - Architecture</a:t>
            </a:r>
          </a:p>
        </p:txBody>
      </p:sp>
      <p:sp>
        <p:nvSpPr>
          <p:cNvPr id="3" name="Content Placeholder 2"/>
          <p:cNvSpPr>
            <a:spLocks noGrp="1"/>
          </p:cNvSpPr>
          <p:nvPr>
            <p:ph idx="1"/>
          </p:nvPr>
        </p:nvSpPr>
        <p:spPr/>
        <p:txBody>
          <a:bodyPr/>
          <a:lstStyle/>
          <a:p>
            <a:pPr>
              <a:defRPr sz="2000">
                <a:solidFill>
                  <a:srgbClr val="444444"/>
                </a:solidFill>
              </a:defRPr>
            </a:pPr>
            <a:r>
              <a:t>Convolutional Neural Networks utilize convolutional layers</a:t>
            </a:r>
          </a:p>
          <a:p>
            <a:pPr>
              <a:defRPr sz="2000">
                <a:solidFill>
                  <a:srgbClr val="444444"/>
                </a:solidFill>
              </a:defRPr>
            </a:pPr>
            <a:r>
              <a:t>Convolutional layers apply filters to input data</a:t>
            </a:r>
          </a:p>
          <a:p>
            <a:pPr>
              <a:defRPr sz="2000">
                <a:solidFill>
                  <a:srgbClr val="444444"/>
                </a:solidFill>
              </a:defRPr>
            </a:pPr>
            <a:r>
              <a:t>Filters detect local patterns and features</a:t>
            </a:r>
          </a:p>
          <a:p>
            <a:pPr>
              <a:defRPr sz="2000">
                <a:solidFill>
                  <a:srgbClr val="444444"/>
                </a:solidFill>
              </a:defRPr>
            </a:pPr>
            <a:r>
              <a:t>Pooling layers reduce spatial dimensions</a:t>
            </a:r>
          </a:p>
          <a:p>
            <a:pPr>
              <a:defRPr sz="2000">
                <a:solidFill>
                  <a:srgbClr val="444444"/>
                </a:solidFill>
              </a:defRPr>
            </a:pPr>
            <a:r>
              <a:t>Flatten layers prepare data for dense layers</a:t>
            </a:r>
          </a:p>
          <a:p>
            <a:pPr>
              <a:defRPr sz="2000">
                <a:solidFill>
                  <a:srgbClr val="444444"/>
                </a:solidFill>
              </a:defRPr>
            </a:pPr>
            <a:r>
              <a:t>Dense layers perform classification or regression</a:t>
            </a:r>
          </a:p>
          <a:p>
            <a:pPr>
              <a:defRPr sz="2000">
                <a:solidFill>
                  <a:srgbClr val="444444"/>
                </a:solidFill>
              </a:defRPr>
            </a:pPr>
            <a:r>
              <a:t>Activation functions introduce non-linearity</a:t>
            </a:r>
          </a:p>
          <a:p>
            <a:pPr>
              <a:defRPr sz="2000">
                <a:solidFill>
                  <a:srgbClr val="444444"/>
                </a:solidFill>
              </a:defRPr>
            </a:pPr>
            <a:r>
              <a:t>ReLU activation function: f(x) = max(0, x)</a:t>
            </a:r>
          </a:p>
          <a:p>
            <a:pPr>
              <a:defRPr sz="2000">
                <a:solidFill>
                  <a:srgbClr val="444444"/>
                </a:solidFill>
              </a:defRPr>
            </a:pPr>
            <a:r>
              <a:t>Batch normalization improves training stability</a:t>
            </a:r>
          </a:p>
          <a:p>
            <a:pPr>
              <a:defRPr sz="2000">
                <a:solidFill>
                  <a:srgbClr val="444444"/>
                </a:solidFill>
              </a:defRPr>
            </a:pPr>
            <a:r>
              <a:t>Dropout prevents overfitting by randomizing weights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Slide 10</a:t>
            </a:r>
          </a:p>
        </p:txBody>
      </p:sp>
      <p:sp>
        <p:nvSpPr>
          <p:cNvPr id="3" name="Content Placeholder 2"/>
          <p:cNvSpPr>
            <a:spLocks noGrp="1"/>
          </p:cNvSpPr>
          <p:nvPr>
            <p:ph idx="1"/>
          </p:nvPr>
        </p:nvSpPr>
        <p:spPr/>
        <p:txBody>
          <a:bodyPr/>
          <a:lstStyle/>
          <a:p>
            <a:pPr>
              <a:defRPr sz="2000">
                <a:solidFill>
                  <a:srgbClr val="444444"/>
                </a:solidFill>
              </a:defRPr>
            </a:pPr>
            <a:r>
              <a:t>Content to be added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Slide 11</a:t>
            </a:r>
          </a:p>
        </p:txBody>
      </p:sp>
      <p:sp>
        <p:nvSpPr>
          <p:cNvPr id="3" name="Content Placeholder 2"/>
          <p:cNvSpPr>
            <a:spLocks noGrp="1"/>
          </p:cNvSpPr>
          <p:nvPr>
            <p:ph idx="1"/>
          </p:nvPr>
        </p:nvSpPr>
        <p:spPr/>
        <p:txBody>
          <a:bodyPr/>
          <a:lstStyle/>
          <a:p>
            <a:pPr>
              <a:defRPr sz="2000">
                <a:solidFill>
                  <a:srgbClr val="444444"/>
                </a:solidFill>
              </a:defRPr>
            </a:pPr>
            <a:r>
              <a:t>Content to be added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