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learn from experience. Provide examples of speech recognition and language modeling tasks. Explain the basic architecture and training process, highlighting backpropagation through time. Discuss the differences between unidirectional and bidirectional RNNs. Ask students to consider scenarios where RNNs would be useful and how they can be applied to real-world problems. Key takeaways include understanding the role of feedback connections and the importance of sequence direction in RNNs.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their ability to handle sequential data and provide examples such as speech recognition, time series forecasting, and natural language processing. Discuss the concept of recurrence and how it allows RNNs to keep track of state over time. Mention the challenges associated with training RNNs, such as the vanishing gradient problem, and introduce the concepts of LSTM and GRU as solutions. Ask students to consider how RNNs can be applied to real-world problems and what benefits they offer over traditional neural networks. Key takeaways should include understanding the basics of RNN architecture and their applications, as well as the importance of addressing the vanishing gradient issue.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such as speech or text. Explain the basic architecture, including the role of the hidden state in capturing temporal relationships. Provide examples of applications, like speech recognition or language modeling. Discuss the challenges of training RNNs, including the vanishing gradient problem, and introduce Long Short-Term Memory as a solution. Ask students to consider how RNNs can be applied to real-world problems, such as predicting stock prices or generating 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 uses neural networks to learn from data. Provide examples of applications such as image recognition, speech recognition, and natural language processing. Ask students if they have any experience with machine learning or neural networks. Emphasize the importance of deep learning in industry and academia, and highlight its ability to learn from large datasets with minimal human intervention. Key takeaways include understanding the basics of deep learning and its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ability to learn from large datasets without manual feature engineering. Provide examples of deep learning applications, such as image recognition, speech recognition, and natural language processing. Explain the concept of artificial neural networks and how they mimic the human brain. Ask students to consider the potential benefits and challenges of using deep learning in various industries. Key takeaways include understanding the basics of deep learning, its applications, and the importance of computational resources and data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fundamentals of deep learning, explain how it's a subset of machine learning and highlight its inspiration from the brain's structure. Provide examples of its applications in image recognition, such as self-driving cars, and speech recognition, like virtual assistants. Ask students to consider the challenges of requiring large datasets and significant computational resources. Key takeaways should include understanding the basic concepts of deep learning and its potential uses in various fields.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language modeling tasks</a:t>
            </a:r>
          </a:p>
          <a:p>
            <a:pPr>
              <a:defRPr sz="2000">
                <a:solidFill>
                  <a:srgbClr val="444444"/>
                </a:solidFill>
              </a:defRPr>
            </a:pPr>
            <a:r>
              <a:t>Can learn from experience, improve over time</a:t>
            </a:r>
          </a:p>
          <a:p>
            <a:pPr>
              <a:defRPr sz="2000">
                <a:solidFill>
                  <a:srgbClr val="444444"/>
                </a:solidFill>
              </a:defRPr>
            </a:pPr>
            <a:r>
              <a:t>Basic RNN architecture includes input, hidden, output layers</a:t>
            </a:r>
          </a:p>
          <a:p>
            <a:pPr>
              <a:defRPr sz="2000">
                <a:solidFill>
                  <a:srgbClr val="444444"/>
                </a:solidFill>
              </a:defRPr>
            </a:pPr>
            <a:r>
              <a:t>Training RNNs involves backpropagation through time</a:t>
            </a:r>
          </a:p>
          <a:p>
            <a:pPr>
              <a:defRPr sz="2000">
                <a:solidFill>
                  <a:srgbClr val="444444"/>
                </a:solidFill>
              </a:defRPr>
            </a:pPr>
            <a:r>
              <a:t>RNNs can be unidirectional or bidirectional</a:t>
            </a:r>
          </a:p>
          <a:p>
            <a:pPr>
              <a:defRPr sz="2000">
                <a:solidFill>
                  <a:srgbClr val="444444"/>
                </a:solidFill>
              </a:defRPr>
            </a:pPr>
            <a:r>
              <a:t>Unidirectional RNNs process sequences in one direction</a:t>
            </a:r>
          </a:p>
          <a:p>
            <a:pPr>
              <a:defRPr sz="2000">
                <a:solidFill>
                  <a:srgbClr val="444444"/>
                </a:solidFill>
              </a:defRPr>
            </a:pPr>
            <a:r>
              <a:t>Bidirectional RNNs process sequences in both directions</a:t>
            </a:r>
          </a:p>
          <a:p>
            <a:pPr>
              <a:defRPr sz="2000">
                <a:solidFill>
                  <a:srgbClr val="444444"/>
                </a:solidFill>
              </a:defRPr>
            </a:pPr>
            <a:r>
              <a:t>RNNs are foundation for more complex models like LSTMs</a:t>
            </a:r>
          </a:p>
        </p:txBody>
      </p:sp>
      <p:pic>
        <p:nvPicPr>
          <p:cNvPr id="4" name="Picture 3" descr="25737986ec1d458e93f738fa1601d9f0_rnns_deep_learning_deep_learning_archit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recurrence</a:t>
            </a:r>
          </a:p>
          <a:p>
            <a:pPr>
              <a:defRPr sz="2000">
                <a:solidFill>
                  <a:srgbClr val="444444"/>
                </a:solidFill>
              </a:defRPr>
            </a:pPr>
            <a:r>
              <a:t>Used for time series forecasting and prediction</a:t>
            </a:r>
          </a:p>
          <a:p>
            <a:pPr>
              <a:defRPr sz="2000">
                <a:solidFill>
                  <a:srgbClr val="444444"/>
                </a:solidFill>
              </a:defRPr>
            </a:pPr>
            <a:r>
              <a:t>Applications include speech recognition systems</a:t>
            </a:r>
          </a:p>
          <a:p>
            <a:pPr>
              <a:defRPr sz="2000">
                <a:solidFill>
                  <a:srgbClr val="444444"/>
                </a:solidFill>
              </a:defRPr>
            </a:pPr>
            <a:r>
              <a:t>RNNs learn patterns in sequential data streams</a:t>
            </a:r>
          </a:p>
          <a:p>
            <a:pPr>
              <a:defRPr sz="2000">
                <a:solidFill>
                  <a:srgbClr val="444444"/>
                </a:solidFill>
              </a:defRPr>
            </a:pPr>
            <a:r>
              <a:t>Can be trained on variable-length input sequences</a:t>
            </a:r>
          </a:p>
          <a:p>
            <a:pPr>
              <a:defRPr sz="2000">
                <a:solidFill>
                  <a:srgbClr val="444444"/>
                </a:solidFill>
              </a:defRPr>
            </a:pPr>
            <a:r>
              <a:t>RNNs use backpropagation for training purposes</a:t>
            </a:r>
          </a:p>
          <a:p>
            <a:pPr>
              <a:defRPr sz="2000">
                <a:solidFill>
                  <a:srgbClr val="444444"/>
                </a:solidFill>
              </a:defRPr>
            </a:pPr>
            <a:r>
              <a:t>Simple RNNs suffer from vanishing gradient issue</a:t>
            </a:r>
          </a:p>
          <a:p>
            <a:pPr>
              <a:defRPr sz="2000">
                <a:solidFill>
                  <a:srgbClr val="444444"/>
                </a:solidFill>
              </a:defRPr>
            </a:pPr>
            <a:r>
              <a:t>Long Short-Term Memory networks mitigate this</a:t>
            </a:r>
          </a:p>
          <a:p>
            <a:pPr>
              <a:defRPr sz="2000">
                <a:solidFill>
                  <a:srgbClr val="444444"/>
                </a:solidFill>
              </a:defRPr>
            </a:pPr>
            <a:r>
              <a:t>Gated Recurrent Units also address vanishing gradients</a:t>
            </a:r>
          </a:p>
        </p:txBody>
      </p:sp>
      <p:pic>
        <p:nvPicPr>
          <p:cNvPr id="4" name="Picture 3" descr="d81174fdbd334b98af8da74411d30f0c_rnns_deep_learning_deep_learning_overvie.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handle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language modeling</a:t>
            </a:r>
          </a:p>
          <a:p>
            <a:pPr>
              <a:defRPr sz="2000">
                <a:solidFill>
                  <a:srgbClr val="444444"/>
                </a:solidFill>
              </a:defRPr>
            </a:pPr>
            <a:r>
              <a:t>RNNs can learn from experience and adapt</a:t>
            </a:r>
          </a:p>
          <a:p>
            <a:pPr>
              <a:defRPr sz="2000">
                <a:solidFill>
                  <a:srgbClr val="444444"/>
                </a:solidFill>
              </a:defRPr>
            </a:pPr>
            <a:r>
              <a:t>Basic RNN architecture includes input and output</a:t>
            </a:r>
          </a:p>
          <a:p>
            <a:pPr>
              <a:defRPr sz="2000">
                <a:solidFill>
                  <a:srgbClr val="444444"/>
                </a:solidFill>
              </a:defRPr>
            </a:pPr>
            <a:r>
              <a:t>Hidden state captures sequential information</a:t>
            </a:r>
          </a:p>
          <a:p>
            <a:pPr>
              <a:defRPr sz="2000">
                <a:solidFill>
                  <a:srgbClr val="444444"/>
                </a:solidFill>
              </a:defRPr>
            </a:pPr>
            <a:r>
              <a:t>Training RNNs involves backpropagation through time</a:t>
            </a:r>
          </a:p>
          <a:p>
            <a:pPr>
              <a:defRPr sz="2000">
                <a:solidFill>
                  <a:srgbClr val="444444"/>
                </a:solidFill>
              </a:defRPr>
            </a:pPr>
            <a:r>
              <a:t>RNNs suffer from vanishing gradient problem</a:t>
            </a:r>
          </a:p>
          <a:p>
            <a:pPr>
              <a:defRPr sz="2000">
                <a:solidFill>
                  <a:srgbClr val="444444"/>
                </a:solidFill>
              </a:defRPr>
            </a:pPr>
            <a:r>
              <a:t>Long Short-Term Memory helps alleviate issues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with multiple layers</a:t>
            </a:r>
          </a:p>
          <a:p>
            <a:pPr>
              <a:defRPr sz="2000">
                <a:solidFill>
                  <a:srgbClr val="444444"/>
                </a:solidFill>
              </a:defRPr>
            </a:pPr>
            <a:r>
              <a:t>Enables computers to learn from data without programming</a:t>
            </a:r>
          </a:p>
          <a:p>
            <a:pPr>
              <a:defRPr sz="2000">
                <a:solidFill>
                  <a:srgbClr val="444444"/>
                </a:solidFill>
              </a:defRPr>
            </a:pPr>
            <a:r>
              <a:t>Can learn from large datasets with minimal human intervention</a:t>
            </a:r>
          </a:p>
          <a:p>
            <a:pPr>
              <a:defRPr sz="2000">
                <a:solidFill>
                  <a:srgbClr val="444444"/>
                </a:solidFill>
              </a:defRPr>
            </a:pPr>
            <a:r>
              <a:t>Applied in image recognition, speech recognition, and NLP</a:t>
            </a:r>
          </a:p>
          <a:p>
            <a:pPr>
              <a:defRPr sz="2000">
                <a:solidFill>
                  <a:srgbClr val="444444"/>
                </a:solidFill>
              </a:defRPr>
            </a:pPr>
            <a:r>
              <a:t>Requires significant computational power and memory</a:t>
            </a:r>
          </a:p>
          <a:p>
            <a:pPr>
              <a:defRPr sz="2000">
                <a:solidFill>
                  <a:srgbClr val="444444"/>
                </a:solidFill>
              </a:defRPr>
            </a:pPr>
            <a:r>
              <a:t>Has many applications in industry and academia</a:t>
            </a:r>
          </a:p>
          <a:p>
            <a:pPr>
              <a:defRPr sz="2000">
                <a:solidFill>
                  <a:srgbClr val="444444"/>
                </a:solidFill>
              </a:defRPr>
            </a:pPr>
            <a:r>
              <a:t>Includes techniques like convolutional and recurrent networks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Uses artificial neural networks with multiple layers.</a:t>
            </a:r>
          </a:p>
          <a:p>
            <a:pPr>
              <a:defRPr sz="2000">
                <a:solidFill>
                  <a:srgbClr val="444444"/>
                </a:solidFill>
              </a:defRPr>
            </a:pPr>
            <a:r>
              <a:t>Enables computers to learn from data without programming.</a:t>
            </a:r>
          </a:p>
          <a:p>
            <a:pPr>
              <a:defRPr sz="2000">
                <a:solidFill>
                  <a:srgbClr val="444444"/>
                </a:solidFill>
              </a:defRPr>
            </a:pPr>
            <a:r>
              <a:t>Can learn from large amounts of data automatically.</a:t>
            </a:r>
          </a:p>
          <a:p>
            <a:pPr>
              <a:defRPr sz="2000">
                <a:solidFill>
                  <a:srgbClr val="444444"/>
                </a:solidFill>
              </a:defRPr>
            </a:pPr>
            <a:r>
              <a:t>Key aspect is automatic feature extraction.</a:t>
            </a:r>
          </a:p>
          <a:p>
            <a:pPr>
              <a:defRPr sz="2000">
                <a:solidFill>
                  <a:srgbClr val="444444"/>
                </a:solidFill>
              </a:defRPr>
            </a:pPr>
            <a:r>
              <a:t>Improves accuracy with more data and computing power.</a:t>
            </a:r>
          </a:p>
          <a:p>
            <a:pPr>
              <a:defRPr sz="2000">
                <a:solidFill>
                  <a:srgbClr val="444444"/>
                </a:solidFill>
              </a:defRPr>
            </a:pPr>
            <a:r>
              <a:t>Applications in image, speech, and natural language processing.</a:t>
            </a:r>
          </a:p>
          <a:p>
            <a:pPr>
              <a:defRPr sz="2000">
                <a:solidFill>
                  <a:srgbClr val="444444"/>
                </a:solidFill>
              </a:defRPr>
            </a:pPr>
            <a:r>
              <a:t>Requires significant computational resources and data.</a:t>
            </a:r>
          </a:p>
          <a:p>
            <a:pPr>
              <a:defRPr sz="2000">
                <a:solidFill>
                  <a:srgbClr val="444444"/>
                </a:solidFill>
              </a:defRPr>
            </a:pPr>
            <a:r>
              <a:t>Used in self-driving cars, facial recognition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Fundamentals</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Requires significant computational resources and time</a:t>
            </a:r>
          </a:p>
          <a:p>
            <a:pPr>
              <a:defRPr sz="2000">
                <a:solidFill>
                  <a:srgbClr val="444444"/>
                </a:solidFill>
              </a:defRPr>
            </a:pPr>
            <a:r>
              <a:t>Includes techniques like convolution and pooling</a:t>
            </a:r>
          </a:p>
          <a:p>
            <a:pPr>
              <a:defRPr sz="2000">
                <a:solidFill>
                  <a:srgbClr val="444444"/>
                </a:solidFill>
              </a:defRPr>
            </a:pPr>
            <a:r>
              <a:t>Used for image and speech recognition applications</a:t>
            </a:r>
          </a:p>
          <a:p>
            <a:pPr>
              <a:defRPr sz="2000">
                <a:solidFill>
                  <a:srgbClr val="444444"/>
                </a:solidFill>
              </a:defRPr>
            </a:pPr>
            <a:r>
              <a:t>Can be applied to natural language processing tasks</a:t>
            </a:r>
          </a:p>
          <a:p>
            <a:pPr>
              <a:defRPr sz="2000">
                <a:solidFill>
                  <a:srgbClr val="444444"/>
                </a:solidFill>
              </a:defRPr>
            </a:pPr>
            <a:r>
              <a:t>Requires optimization algorithms like stochastic gradient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