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Operating Systems presentation covering multiple topics. Today we'll explore: Introduction to Process Management, Process States and Life Cycle, Process Control Block (PCB), CPU Scheduling Concepts, Context Switching.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management, explain that it's a critical component of operating systems. Provide examples of how processes are used in real-world applications, such as job scheduling and batch processing. Emphasize the importance of efficient resource allocation and deadlock handling. Ask students to consider how process management contributes to system stability and reliability. Key takeaways include understanding the basics of process management and its role in operating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process management fundamentals, emphasize the role of the operating system in creating, scheduling, and terminating processes. Provide examples of process states, such as a running process, a waiting process, and a zombie process. Discuss the importance of context switching, process synchronization, and interprocess communication. Use examples like a web server and a database to illustrate IPC. Ask students to consider the trade-offs between different process management algorithms, such as FCFS and RR, and how they impact system performance and efficiency. Key takeaways include understanding the basics of process management, PCBs, and IPC, as well as the importance of optimizing system performance using algorithms like FCFS and RR.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process management fundamentals, emphasize the importance of efficient resource utilization and context switching. Provide examples of process states, such as a running web browser and a waiting print job. Discuss the role of the process control block and scheduling algorithms in managing processes. Ask students to consider scenarios where inter-process communication and synchronization are necessary, like in a database application. Key takeaways include understanding process states, scheduling, and synchronization mechanisms.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states and life cycle, explain that these concepts are fundamental to understanding how operating systems manage programs. Provide examples of how a process moves through different states, such as a web browser loading a page. Emphasize the role of the operating system scheduler in managing these states and context switching. Ask students to consider how process states impact system performance and responsiveness. Key takeaways include understanding the different process states and how they relate to the process life cycle.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states and life cycle, explain each state's significance and provide examples of transitions between them. Discuss the role of CPU scheduling in managing these transitions and the importance of process control blocks in storing state information. Ask students to consider how process states impact system performance and what factors influence state transitions. Key takeaways include understanding the different process states, their relationships, and the process life cycle.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Operating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Process Management, Process States and Life Cycle, Process Control Block (PCB), CPU Scheduling Concepts, Context Switching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Process Management - Introduction</a:t>
            </a:r>
          </a:p>
        </p:txBody>
      </p:sp>
      <p:sp>
        <p:nvSpPr>
          <p:cNvPr id="3" name="Content Placeholder 2"/>
          <p:cNvSpPr>
            <a:spLocks noGrp="1"/>
          </p:cNvSpPr>
          <p:nvPr>
            <p:ph idx="1"/>
          </p:nvPr>
        </p:nvSpPr>
        <p:spPr/>
        <p:txBody>
          <a:bodyPr/>
          <a:lstStyle/>
          <a:p>
            <a:pPr>
              <a:defRPr sz="2000">
                <a:solidFill>
                  <a:srgbClr val="444444"/>
                </a:solidFill>
              </a:defRPr>
            </a:pPr>
            <a:r>
              <a:t>Process management involves managing processes in OS</a:t>
            </a:r>
          </a:p>
          <a:p>
            <a:pPr>
              <a:defRPr sz="2000">
                <a:solidFill>
                  <a:srgbClr val="444444"/>
                </a:solidFill>
              </a:defRPr>
            </a:pPr>
            <a:r>
              <a:t>Processes are programs in execution with resources</a:t>
            </a:r>
          </a:p>
          <a:p>
            <a:pPr>
              <a:defRPr sz="2000">
                <a:solidFill>
                  <a:srgbClr val="444444"/>
                </a:solidFill>
              </a:defRPr>
            </a:pPr>
            <a:r>
              <a:t>Each process has unique ID and memory space</a:t>
            </a:r>
          </a:p>
          <a:p>
            <a:pPr>
              <a:defRPr sz="2000">
                <a:solidFill>
                  <a:srgbClr val="444444"/>
                </a:solidFill>
              </a:defRPr>
            </a:pPr>
            <a:r>
              <a:t>Process management enhances system stability</a:t>
            </a:r>
          </a:p>
          <a:p>
            <a:pPr>
              <a:defRPr sz="2000">
                <a:solidFill>
                  <a:srgbClr val="444444"/>
                </a:solidFill>
              </a:defRPr>
            </a:pPr>
            <a:r>
              <a:t>It ensures efficient resource allocation and usage</a:t>
            </a:r>
          </a:p>
          <a:p>
            <a:pPr>
              <a:defRPr sz="2000">
                <a:solidFill>
                  <a:srgbClr val="444444"/>
                </a:solidFill>
              </a:defRPr>
            </a:pPr>
            <a:r>
              <a:t>Key aspects include process creation and termination</a:t>
            </a:r>
          </a:p>
          <a:p>
            <a:pPr>
              <a:defRPr sz="2000">
                <a:solidFill>
                  <a:srgbClr val="444444"/>
                </a:solidFill>
              </a:defRPr>
            </a:pPr>
            <a:r>
              <a:t>Process synchronization and communication are crucial</a:t>
            </a:r>
          </a:p>
          <a:p>
            <a:pPr>
              <a:defRPr sz="2000">
                <a:solidFill>
                  <a:srgbClr val="444444"/>
                </a:solidFill>
              </a:defRPr>
            </a:pPr>
            <a:r>
              <a:t>Deadlock handling is a critical process management task</a:t>
            </a:r>
          </a:p>
          <a:p>
            <a:pPr>
              <a:defRPr sz="2000">
                <a:solidFill>
                  <a:srgbClr val="444444"/>
                </a:solidFill>
              </a:defRPr>
            </a:pPr>
            <a:r>
              <a:t>Examples include job scheduling and batch processing</a:t>
            </a:r>
          </a:p>
          <a:p>
            <a:pPr>
              <a:defRPr sz="2000">
                <a:solidFill>
                  <a:srgbClr val="444444"/>
                </a:solidFill>
              </a:defRPr>
            </a:pPr>
            <a:r>
              <a:t>Real-world applications include operating system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Process Management - Fundamentals</a:t>
            </a:r>
          </a:p>
        </p:txBody>
      </p:sp>
      <p:sp>
        <p:nvSpPr>
          <p:cNvPr id="3" name="Content Placeholder 2"/>
          <p:cNvSpPr>
            <a:spLocks noGrp="1"/>
          </p:cNvSpPr>
          <p:nvPr>
            <p:ph idx="1"/>
          </p:nvPr>
        </p:nvSpPr>
        <p:spPr/>
        <p:txBody>
          <a:bodyPr/>
          <a:lstStyle/>
          <a:p>
            <a:pPr>
              <a:defRPr sz="2000">
                <a:solidFill>
                  <a:srgbClr val="444444"/>
                </a:solidFill>
              </a:defRPr>
            </a:pPr>
            <a:r>
              <a:t>Process management involves creating, scheduling, and terminating processes.</a:t>
            </a:r>
          </a:p>
          <a:p>
            <a:pPr>
              <a:defRPr sz="2000">
                <a:solidFill>
                  <a:srgbClr val="444444"/>
                </a:solidFill>
              </a:defRPr>
            </a:pPr>
            <a:r>
              <a:t>Operating systems manage processes using process control blocks (PCBs).</a:t>
            </a:r>
          </a:p>
          <a:p>
            <a:pPr>
              <a:defRPr sz="2000">
                <a:solidFill>
                  <a:srgbClr val="444444"/>
                </a:solidFill>
              </a:defRPr>
            </a:pPr>
            <a:r>
              <a:t>PCBs store process metadata, such as ID, state, and priority.</a:t>
            </a:r>
          </a:p>
          <a:p>
            <a:pPr>
              <a:defRPr sz="2000">
                <a:solidFill>
                  <a:srgbClr val="444444"/>
                </a:solidFill>
              </a:defRPr>
            </a:pPr>
            <a:r>
              <a:t>Process states include running, waiting, and zombie states.</a:t>
            </a:r>
          </a:p>
          <a:p>
            <a:pPr>
              <a:defRPr sz="2000">
                <a:solidFill>
                  <a:srgbClr val="444444"/>
                </a:solidFill>
              </a:defRPr>
            </a:pPr>
            <a:r>
              <a:t>Context switching occurs when the OS switches between processes.</a:t>
            </a:r>
          </a:p>
          <a:p>
            <a:pPr>
              <a:defRPr sz="2000">
                <a:solidFill>
                  <a:srgbClr val="444444"/>
                </a:solidFill>
              </a:defRPr>
            </a:pPr>
            <a:r>
              <a:t>Process synchronization ensures data consistency and integrity.</a:t>
            </a:r>
          </a:p>
          <a:p>
            <a:pPr>
              <a:defRPr sz="2000">
                <a:solidFill>
                  <a:srgbClr val="444444"/>
                </a:solidFill>
              </a:defRPr>
            </a:pPr>
            <a:r>
              <a:t>Interprocess communication (IPC) enables process interaction.</a:t>
            </a:r>
          </a:p>
          <a:p>
            <a:pPr>
              <a:defRPr sz="2000">
                <a:solidFill>
                  <a:srgbClr val="444444"/>
                </a:solidFill>
              </a:defRPr>
            </a:pPr>
            <a:r>
              <a:t>Examples of IPC include pipes, sockets, and shared memory.</a:t>
            </a:r>
          </a:p>
          <a:p>
            <a:pPr>
              <a:defRPr sz="2000">
                <a:solidFill>
                  <a:srgbClr val="444444"/>
                </a:solidFill>
              </a:defRPr>
            </a:pPr>
            <a:r>
              <a:t>Process management algorithms optimize system performance and efficiency.</a:t>
            </a:r>
          </a:p>
          <a:p>
            <a:pPr>
              <a:defRPr sz="2000">
                <a:solidFill>
                  <a:srgbClr val="444444"/>
                </a:solidFill>
              </a:defRPr>
            </a:pPr>
            <a:r>
              <a:t>Common algorithms include First-Come-First-Served (FCFS) and Round Robin (RR).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Process Management - Fundamentals</a:t>
            </a:r>
          </a:p>
        </p:txBody>
      </p:sp>
      <p:sp>
        <p:nvSpPr>
          <p:cNvPr id="3" name="Content Placeholder 2"/>
          <p:cNvSpPr>
            <a:spLocks noGrp="1"/>
          </p:cNvSpPr>
          <p:nvPr>
            <p:ph idx="1"/>
          </p:nvPr>
        </p:nvSpPr>
        <p:spPr/>
        <p:txBody>
          <a:bodyPr/>
          <a:lstStyle/>
          <a:p>
            <a:pPr>
              <a:defRPr sz="2000">
                <a:solidFill>
                  <a:srgbClr val="444444"/>
                </a:solidFill>
              </a:defRPr>
            </a:pPr>
            <a:r>
              <a:t>Process management involves creating, scheduling, and terminating processes.</a:t>
            </a:r>
          </a:p>
          <a:p>
            <a:pPr>
              <a:defRPr sz="2000">
                <a:solidFill>
                  <a:srgbClr val="444444"/>
                </a:solidFill>
              </a:defRPr>
            </a:pPr>
            <a:r>
              <a:t>It ensures efficient use of system resources like CPU and memory.</a:t>
            </a:r>
          </a:p>
          <a:p>
            <a:pPr>
              <a:defRPr sz="2000">
                <a:solidFill>
                  <a:srgbClr val="444444"/>
                </a:solidFill>
              </a:defRPr>
            </a:pPr>
            <a:r>
              <a:t>Process states include running, waiting, and zombie states.</a:t>
            </a:r>
          </a:p>
          <a:p>
            <a:pPr>
              <a:defRPr sz="2000">
                <a:solidFill>
                  <a:srgbClr val="444444"/>
                </a:solidFill>
              </a:defRPr>
            </a:pPr>
            <a:r>
              <a:t>Context switching occurs when CPU switches between processes.</a:t>
            </a:r>
          </a:p>
          <a:p>
            <a:pPr>
              <a:defRPr sz="2000">
                <a:solidFill>
                  <a:srgbClr val="444444"/>
                </a:solidFill>
              </a:defRPr>
            </a:pPr>
            <a:r>
              <a:t>Process control block stores process information like ID and state.</a:t>
            </a:r>
          </a:p>
          <a:p>
            <a:pPr>
              <a:defRPr sz="2000">
                <a:solidFill>
                  <a:srgbClr val="444444"/>
                </a:solidFill>
              </a:defRPr>
            </a:pPr>
            <a:r>
              <a:t>Scheduling algorithms manage process execution and priority.</a:t>
            </a:r>
          </a:p>
          <a:p>
            <a:pPr>
              <a:defRPr sz="2000">
                <a:solidFill>
                  <a:srgbClr val="444444"/>
                </a:solidFill>
              </a:defRPr>
            </a:pPr>
            <a:r>
              <a:t>Inter-process communication enables data exchange between processes.</a:t>
            </a:r>
          </a:p>
          <a:p>
            <a:pPr>
              <a:defRPr sz="2000">
                <a:solidFill>
                  <a:srgbClr val="444444"/>
                </a:solidFill>
              </a:defRPr>
            </a:pPr>
            <a:r>
              <a:t>Process synchronization prevents data inconsistencies and deadlocks.</a:t>
            </a:r>
          </a:p>
          <a:p>
            <a:pPr>
              <a:defRPr sz="2000">
                <a:solidFill>
                  <a:srgbClr val="444444"/>
                </a:solidFill>
              </a:defRPr>
            </a:pPr>
            <a:r>
              <a:t>System calls initiate process creation and management functions.</a:t>
            </a:r>
          </a:p>
          <a:p>
            <a:pPr>
              <a:defRPr sz="2000">
                <a:solidFill>
                  <a:srgbClr val="444444"/>
                </a:solidFill>
              </a:defRPr>
            </a:pPr>
            <a:r>
              <a:t>Process management is crucial for multitasking operating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States and Life Cycle - Introduction</a:t>
            </a:r>
          </a:p>
        </p:txBody>
      </p:sp>
      <p:sp>
        <p:nvSpPr>
          <p:cNvPr id="3" name="Content Placeholder 2"/>
          <p:cNvSpPr>
            <a:spLocks noGrp="1"/>
          </p:cNvSpPr>
          <p:nvPr>
            <p:ph idx="1"/>
          </p:nvPr>
        </p:nvSpPr>
        <p:spPr/>
        <p:txBody>
          <a:bodyPr/>
          <a:lstStyle/>
          <a:p>
            <a:pPr>
              <a:defRPr sz="2000">
                <a:solidFill>
                  <a:srgbClr val="444444"/>
                </a:solidFill>
              </a:defRPr>
            </a:pPr>
            <a:r>
              <a:t>Process states define execution status of a program</a:t>
            </a:r>
          </a:p>
          <a:p>
            <a:pPr>
              <a:defRPr sz="2000">
                <a:solidFill>
                  <a:srgbClr val="444444"/>
                </a:solidFill>
              </a:defRPr>
            </a:pPr>
            <a:r>
              <a:t>Life cycle includes creation, execution, and termination</a:t>
            </a:r>
          </a:p>
          <a:p>
            <a:pPr>
              <a:defRPr sz="2000">
                <a:solidFill>
                  <a:srgbClr val="444444"/>
                </a:solidFill>
              </a:defRPr>
            </a:pPr>
            <a:r>
              <a:t>Ready state indicates process is waiting for CPU</a:t>
            </a:r>
          </a:p>
          <a:p>
            <a:pPr>
              <a:defRPr sz="2000">
                <a:solidFill>
                  <a:srgbClr val="444444"/>
                </a:solidFill>
              </a:defRPr>
            </a:pPr>
            <a:r>
              <a:t>Running state shows process is executing on CPU</a:t>
            </a:r>
          </a:p>
          <a:p>
            <a:pPr>
              <a:defRPr sz="2000">
                <a:solidFill>
                  <a:srgbClr val="444444"/>
                </a:solidFill>
              </a:defRPr>
            </a:pPr>
            <a:r>
              <a:t>Waiting state occurs when process awaits resource</a:t>
            </a:r>
          </a:p>
          <a:p>
            <a:pPr>
              <a:defRPr sz="2000">
                <a:solidFill>
                  <a:srgbClr val="444444"/>
                </a:solidFill>
              </a:defRPr>
            </a:pPr>
            <a:r>
              <a:t>Zombie state is when process has terminated but</a:t>
            </a:r>
          </a:p>
          <a:p>
            <a:pPr>
              <a:defRPr sz="2000">
                <a:solidFill>
                  <a:srgbClr val="444444"/>
                </a:solidFill>
              </a:defRPr>
            </a:pPr>
            <a:r>
              <a:t>Parent process must acknowledge child's termination</a:t>
            </a:r>
          </a:p>
          <a:p>
            <a:pPr>
              <a:defRPr sz="2000">
                <a:solidFill>
                  <a:srgbClr val="444444"/>
                </a:solidFill>
              </a:defRPr>
            </a:pPr>
            <a:r>
              <a:t>Process control block stores state information</a:t>
            </a:r>
          </a:p>
          <a:p>
            <a:pPr>
              <a:defRPr sz="2000">
                <a:solidFill>
                  <a:srgbClr val="444444"/>
                </a:solidFill>
              </a:defRPr>
            </a:pPr>
            <a:r>
              <a:t>Context switching occurs between process states</a:t>
            </a:r>
          </a:p>
          <a:p>
            <a:pPr>
              <a:defRPr sz="2000">
                <a:solidFill>
                  <a:srgbClr val="444444"/>
                </a:solidFill>
              </a:defRPr>
            </a:pPr>
            <a:r>
              <a:t>States are managed by operating system scheduler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Process States and Life Cycle - Introduction</a:t>
            </a:r>
          </a:p>
        </p:txBody>
      </p:sp>
      <p:sp>
        <p:nvSpPr>
          <p:cNvPr id="3" name="Content Placeholder 2"/>
          <p:cNvSpPr>
            <a:spLocks noGrp="1"/>
          </p:cNvSpPr>
          <p:nvPr>
            <p:ph idx="1"/>
          </p:nvPr>
        </p:nvSpPr>
        <p:spPr/>
        <p:txBody>
          <a:bodyPr/>
          <a:lstStyle/>
          <a:p>
            <a:pPr>
              <a:defRPr sz="2000">
                <a:solidFill>
                  <a:srgbClr val="444444"/>
                </a:solidFill>
              </a:defRPr>
            </a:pPr>
            <a:r>
              <a:t>Process states define execution status of a program.</a:t>
            </a:r>
          </a:p>
          <a:p>
            <a:pPr>
              <a:defRPr sz="2000">
                <a:solidFill>
                  <a:srgbClr val="444444"/>
                </a:solidFill>
              </a:defRPr>
            </a:pPr>
            <a:r>
              <a:t>Ready state indicates process is waiting for CPU time.</a:t>
            </a:r>
          </a:p>
          <a:p>
            <a:pPr>
              <a:defRPr sz="2000">
                <a:solidFill>
                  <a:srgbClr val="444444"/>
                </a:solidFill>
              </a:defRPr>
            </a:pPr>
            <a:r>
              <a:t>Running state shows process is currently executing.</a:t>
            </a:r>
          </a:p>
          <a:p>
            <a:pPr>
              <a:defRPr sz="2000">
                <a:solidFill>
                  <a:srgbClr val="444444"/>
                </a:solidFill>
              </a:defRPr>
            </a:pPr>
            <a:r>
              <a:t>Waiting state occurs when process awaits I/O operations.</a:t>
            </a:r>
          </a:p>
          <a:p>
            <a:pPr>
              <a:defRPr sz="2000">
                <a:solidFill>
                  <a:srgbClr val="444444"/>
                </a:solidFill>
              </a:defRPr>
            </a:pPr>
            <a:r>
              <a:t>Zombie state represents terminated process with remains.</a:t>
            </a:r>
          </a:p>
          <a:p>
            <a:pPr>
              <a:defRPr sz="2000">
                <a:solidFill>
                  <a:srgbClr val="444444"/>
                </a:solidFill>
              </a:defRPr>
            </a:pPr>
            <a:r>
              <a:t>Dead state signifies process has finished execution.</a:t>
            </a:r>
          </a:p>
          <a:p>
            <a:pPr>
              <a:defRPr sz="2000">
                <a:solidFill>
                  <a:srgbClr val="444444"/>
                </a:solidFill>
              </a:defRPr>
            </a:pPr>
            <a:r>
              <a:t>Context switching occurs between process states.</a:t>
            </a:r>
          </a:p>
          <a:p>
            <a:pPr>
              <a:defRPr sz="2000">
                <a:solidFill>
                  <a:srgbClr val="444444"/>
                </a:solidFill>
              </a:defRPr>
            </a:pPr>
            <a:r>
              <a:t>Process life cycle includes creation and termination.</a:t>
            </a:r>
          </a:p>
          <a:p>
            <a:pPr>
              <a:defRPr sz="2000">
                <a:solidFill>
                  <a:srgbClr val="444444"/>
                </a:solidFill>
              </a:defRPr>
            </a:pPr>
            <a:r>
              <a:t>CPU scheduling manages process state transitions.</a:t>
            </a:r>
          </a:p>
          <a:p>
            <a:pPr>
              <a:defRPr sz="2000">
                <a:solidFill>
                  <a:srgbClr val="444444"/>
                </a:solidFill>
              </a:defRPr>
            </a:pPr>
            <a:r>
              <a:t>Process control block stores state information.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