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RNNs,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 key aspect of many real-world applications such as speech recognition and natural language processing. Explain how RNNs learn patterns over time and mention their limitations, such as the vanishing gradient problem. Introduce Long Short-Term Memory networks as a solution to this problem. Provide examples of RNN applications, including machine translation, music generation, and text generation. Ask students to consider how RNNs could be applied to other sequential data problems. Key takeaways should include the basic architecture of RNNs and their potential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explain the concept of sequential data and how RNNs are designed to handle it. Provide examples of NLP tasks, such as language translation or text summarization. Emphasize the importance of feedback connections in RNNs, allowing the network to recall previous information. Discuss the challenges of training RNNs, including the vanishing gradient problem, and how techniques like BPTT and SGD can be used to address these issues. Ask students to consider how RNNs can be applied to real-world problems, such as speech recognition or sentiment analysis. Key takeaways include understanding the basic architecture of RNNs and their applications in NLP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capture temporal relationships. Provide examples such as speech recognition, language modeling, and time series forecasting. Explain the basic architecture of RNNs, including input, output, and hidden layers. Discuss the challenges of training RNNs, including vanishing gradients. Ask students to consider how RNNs can be applied to real-world problems, such as predicting stock prices or generating text. Key takeaways include understanding the fundamentals of RNNs and their applications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that's inspired by the brain's structure and function. Give examples of how deep learning is used in real-world applications, such as self-driving cars and speech recognition systems. Ask students what they think are the benefits and limitations of deep learning. Key takeaways include understanding the basics of deep learning and its potential applications. Provide a simple example, such as image classification, to illustrate how deep learning works. Emphasize the importance of computational power and large datasets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key area of machine learning that leverages neural networks to analyze complex data. Provide examples of its applications, such as self-driving cars and speech recognition systems. Discuss the importance of computational power and large datasets in training deep learning models. Ask students to consider the potential benefits and challenges of deep learning in various industries. Key takeaways should include understanding the basics of deep learning and its potential to drive innovation in many fields.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fundamentals of deep learning, emphasize the inspiration from the brain's structure and function. Explain how deep learning differs from traditional machine learning, highlighting its ability to learn from large datasets. Provide examples of key applications such as image recognition, speech recognition, and natural language processing. Mention the difference between supervised and unsupervised learning and briefly introduce common architectures like CNN and RNN. Use the equation y = σ(Wx + b) to illustrate a basic neural network operation, and ask students to consider how these elements come together in a deep learning model. Key takeaways should include understanding the basics of deep learning, its applications, and the importance of computational resources.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RNNs, 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speech recognition and natural language</a:t>
            </a:r>
          </a:p>
          <a:p>
            <a:pPr>
              <a:defRPr sz="2000">
                <a:solidFill>
                  <a:srgbClr val="444444"/>
                </a:solidFill>
              </a:defRPr>
            </a:pPr>
            <a:r>
              <a:t>RNNs learn patterns in time-series data effectively</a:t>
            </a:r>
          </a:p>
          <a:p>
            <a:pPr>
              <a:defRPr sz="2000">
                <a:solidFill>
                  <a:srgbClr val="444444"/>
                </a:solidFill>
              </a:defRPr>
            </a:pPr>
            <a:r>
              <a:t>Simple RNNs have limitations due to vanishing gradients</a:t>
            </a:r>
          </a:p>
          <a:p>
            <a:pPr>
              <a:defRPr sz="2000">
                <a:solidFill>
                  <a:srgbClr val="444444"/>
                </a:solidFill>
              </a:defRPr>
            </a:pPr>
            <a:r>
              <a:t>Long Short-Term Memory networks address this issue</a:t>
            </a:r>
          </a:p>
          <a:p>
            <a:pPr>
              <a:defRPr sz="2000">
                <a:solidFill>
                  <a:srgbClr val="444444"/>
                </a:solidFill>
              </a:defRPr>
            </a:pPr>
            <a:r>
              <a:t>RNNs are useful for machine translation tasks also</a:t>
            </a:r>
          </a:p>
          <a:p>
            <a:pPr>
              <a:defRPr sz="2000">
                <a:solidFill>
                  <a:srgbClr val="444444"/>
                </a:solidFill>
              </a:defRPr>
            </a:pPr>
            <a:r>
              <a:t>Can be applied to music and text generation too</a:t>
            </a:r>
          </a:p>
          <a:p>
            <a:pPr>
              <a:defRPr sz="2000">
                <a:solidFill>
                  <a:srgbClr val="444444"/>
                </a:solidFill>
              </a:defRPr>
            </a:pPr>
            <a:r>
              <a:t>Basic RNN architecture includes input and output</a:t>
            </a:r>
          </a:p>
          <a:p>
            <a:pPr>
              <a:defRPr sz="2000">
                <a:solidFill>
                  <a:srgbClr val="444444"/>
                </a:solidFill>
              </a:defRPr>
            </a:pPr>
            <a:r>
              <a:t>Activation functions like sigmoid are commonly used</a:t>
            </a:r>
          </a:p>
        </p:txBody>
      </p:sp>
      <p:pic>
        <p:nvPicPr>
          <p:cNvPr id="4" name="Picture 3" descr="4fa0775b142e40f78a9965e0e417e84d_rnns_deep_learning_deep_learning_archite.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(RNNs) process sequential data</a:t>
            </a:r>
          </a:p>
          <a:p>
            <a:pPr>
              <a:defRPr sz="2000">
                <a:solidFill>
                  <a:srgbClr val="444444"/>
                </a:solidFill>
              </a:defRPr>
            </a:pPr>
            <a:r>
              <a:t>RNNs have feedback connections, allowing information recall</a:t>
            </a:r>
          </a:p>
          <a:p>
            <a:pPr>
              <a:defRPr sz="2000">
                <a:solidFill>
                  <a:srgbClr val="444444"/>
                </a:solidFill>
              </a:defRPr>
            </a:pPr>
            <a:r>
              <a:t>Temporal relationships are modeled using RNNs</a:t>
            </a:r>
          </a:p>
          <a:p>
            <a:pPr>
              <a:defRPr sz="2000">
                <a:solidFill>
                  <a:srgbClr val="444444"/>
                </a:solidFill>
              </a:defRPr>
            </a:pPr>
            <a:r>
              <a:t>Vanilla RNNs are basic, with simple recurrent connections</a:t>
            </a:r>
          </a:p>
          <a:p>
            <a:pPr>
              <a:defRPr sz="2000">
                <a:solidFill>
                  <a:srgbClr val="444444"/>
                </a:solidFill>
              </a:defRPr>
            </a:pPr>
            <a:r>
              <a:t>RNNs are used in natural language processing (NLP) tasks</a:t>
            </a:r>
          </a:p>
          <a:p>
            <a:pPr>
              <a:defRPr sz="2000">
                <a:solidFill>
                  <a:srgbClr val="444444"/>
                </a:solidFill>
              </a:defRPr>
            </a:pPr>
            <a:r>
              <a:t>Speech recognition, language modeling, and text classification</a:t>
            </a:r>
          </a:p>
          <a:p>
            <a:pPr>
              <a:defRPr sz="2000">
                <a:solidFill>
                  <a:srgbClr val="444444"/>
                </a:solidFill>
              </a:defRPr>
            </a:pPr>
            <a:r>
              <a:t>RNNs can learn long-term dependencies in data sequences</a:t>
            </a:r>
          </a:p>
          <a:p>
            <a:pPr>
              <a:defRPr sz="2000">
                <a:solidFill>
                  <a:srgbClr val="444444"/>
                </a:solidFill>
              </a:defRPr>
            </a:pPr>
            <a:r>
              <a:t>Backpropagation through time (BPTT) is used for training</a:t>
            </a:r>
          </a:p>
          <a:p>
            <a:pPr>
              <a:defRPr sz="2000">
                <a:solidFill>
                  <a:srgbClr val="444444"/>
                </a:solidFill>
              </a:defRPr>
            </a:pPr>
            <a:r>
              <a:t>RNNs can be trained using stochastic gradient descent (SGD)</a:t>
            </a:r>
          </a:p>
          <a:p>
            <a:pPr>
              <a:defRPr sz="2000">
                <a:solidFill>
                  <a:srgbClr val="444444"/>
                </a:solidFill>
              </a:defRPr>
            </a:pPr>
            <a:r>
              <a:t>RNNs architecture: input, hidden, output layers</a:t>
            </a:r>
          </a:p>
        </p:txBody>
      </p:sp>
      <p:pic>
        <p:nvPicPr>
          <p:cNvPr id="4" name="Picture 3" descr="57ae6fcad536445e8e99c7274430e8c2.jpg"/>
          <p:cNvPicPr>
            <a:picLocks noChangeAspect="1"/>
          </p:cNvPicPr>
          <p:nvPr/>
        </p:nvPicPr>
        <p:blipFill>
          <a:blip r:embed="rId2"/>
          <a:stretch>
            <a:fillRect/>
          </a:stretch>
        </p:blipFill>
        <p:spPr>
          <a:xfrm>
            <a:off x="7315200" y="1828800"/>
            <a:ext cx="4114800" cy="409651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 feedback connections to capture temporal relationships</a:t>
            </a:r>
          </a:p>
          <a:p>
            <a:pPr>
              <a:defRPr sz="2000">
                <a:solidFill>
                  <a:srgbClr val="444444"/>
                </a:solidFill>
              </a:defRPr>
            </a:pPr>
            <a:r>
              <a:t>Suitable for speech, text, and time series data</a:t>
            </a:r>
          </a:p>
          <a:p>
            <a:pPr>
              <a:defRPr sz="2000">
                <a:solidFill>
                  <a:srgbClr val="444444"/>
                </a:solidFill>
              </a:defRPr>
            </a:pPr>
            <a:r>
              <a:t>Can learn long-term dependencies and patterns</a:t>
            </a:r>
          </a:p>
          <a:p>
            <a:pPr>
              <a:defRPr sz="2000">
                <a:solidFill>
                  <a:srgbClr val="444444"/>
                </a:solidFill>
              </a:defRPr>
            </a:pPr>
            <a:r>
              <a:t>RNNs have input, output, and hidden layers</a:t>
            </a:r>
          </a:p>
          <a:p>
            <a:pPr>
              <a:defRPr sz="2000">
                <a:solidFill>
                  <a:srgbClr val="444444"/>
                </a:solidFill>
              </a:defRPr>
            </a:pPr>
            <a:r>
              <a:t>Hidden state captures information from previous steps</a:t>
            </a:r>
          </a:p>
          <a:p>
            <a:pPr>
              <a:defRPr sz="2000">
                <a:solidFill>
                  <a:srgbClr val="444444"/>
                </a:solidFill>
              </a:defRPr>
            </a:pPr>
            <a:r>
              <a:t>Backpropagation used for training RNNs</a:t>
            </a:r>
          </a:p>
          <a:p>
            <a:pPr>
              <a:defRPr sz="2000">
                <a:solidFill>
                  <a:srgbClr val="444444"/>
                </a:solidFill>
              </a:defRPr>
            </a:pPr>
            <a:r>
              <a:t>Vanishing gradients affect RNN training</a:t>
            </a:r>
          </a:p>
          <a:p>
            <a:pPr>
              <a:defRPr sz="2000">
                <a:solidFill>
                  <a:srgbClr val="444444"/>
                </a:solidFill>
              </a:defRPr>
            </a:pPr>
            <a:r>
              <a:t>Simple RNNs are basic form of recurrent networks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Enables computers to perform complex tasks</a:t>
            </a:r>
          </a:p>
          <a:p>
            <a:pPr>
              <a:defRPr sz="2000">
                <a:solidFill>
                  <a:srgbClr val="444444"/>
                </a:solidFill>
              </a:defRPr>
            </a:pPr>
            <a:r>
              <a:t>Such as image recognition and natural language processing</a:t>
            </a:r>
          </a:p>
          <a:p>
            <a:pPr>
              <a:defRPr sz="2000">
                <a:solidFill>
                  <a:srgbClr val="444444"/>
                </a:solidFill>
              </a:defRPr>
            </a:pPr>
            <a:r>
              <a:t>Requires significant computational power and resources</a:t>
            </a:r>
          </a:p>
          <a:p>
            <a:pPr>
              <a:defRPr sz="2000">
                <a:solidFill>
                  <a:srgbClr val="444444"/>
                </a:solidFill>
              </a:defRPr>
            </a:pPr>
            <a:r>
              <a:t>Has many applications in industries like healthcare and finance</a:t>
            </a:r>
          </a:p>
          <a:p>
            <a:pPr>
              <a:defRPr sz="2000">
                <a:solidFill>
                  <a:srgbClr val="444444"/>
                </a:solidFill>
              </a:defRPr>
            </a:pPr>
            <a:r>
              <a:t>Can be used for predictive modeling and decision-making</a:t>
            </a:r>
          </a:p>
          <a:p>
            <a:pPr>
              <a:defRPr sz="2000">
                <a:solidFill>
                  <a:srgbClr val="444444"/>
                </a:solidFill>
              </a:defRPr>
            </a:pPr>
            <a:r>
              <a:t>Continuously evolving with new techniques and architectures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techniques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Enables computers to perform complex tasks</a:t>
            </a:r>
          </a:p>
          <a:p>
            <a:pPr>
              <a:defRPr sz="2000">
                <a:solidFill>
                  <a:srgbClr val="444444"/>
                </a:solidFill>
              </a:defRPr>
            </a:pPr>
            <a:r>
              <a:t>Such as image recognition and natural language processing</a:t>
            </a:r>
          </a:p>
          <a:p>
            <a:pPr>
              <a:defRPr sz="2000">
                <a:solidFill>
                  <a:srgbClr val="444444"/>
                </a:solidFill>
              </a:defRPr>
            </a:pPr>
            <a:r>
              <a:t>Requires significant computational power and data</a:t>
            </a:r>
          </a:p>
          <a:p>
            <a:pPr>
              <a:defRPr sz="2000">
                <a:solidFill>
                  <a:srgbClr val="444444"/>
                </a:solidFill>
              </a:defRPr>
            </a:pPr>
            <a:r>
              <a:t>Has many applications in industry and research</a:t>
            </a:r>
          </a:p>
          <a:p>
            <a:pPr>
              <a:defRPr sz="2000">
                <a:solidFill>
                  <a:srgbClr val="444444"/>
                </a:solidFill>
              </a:defRPr>
            </a:pPr>
            <a:r>
              <a:t>Includes techniques like convolutional neural networks</a:t>
            </a:r>
          </a:p>
          <a:p>
            <a:pPr>
              <a:defRPr sz="2000">
                <a:solidFill>
                  <a:srgbClr val="444444"/>
                </a:solidFill>
              </a:defRPr>
            </a:pPr>
            <a:r>
              <a:t>Used in self-driving cars and speech recognition systems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Fundamentals</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with multiple layers</a:t>
            </a:r>
          </a:p>
          <a:p>
            <a:pPr>
              <a:defRPr sz="2000">
                <a:solidFill>
                  <a:srgbClr val="444444"/>
                </a:solidFill>
              </a:defRPr>
            </a:pPr>
            <a:r>
              <a:t>Can learn from large amounts of data automatically</a:t>
            </a:r>
          </a:p>
          <a:p>
            <a:pPr>
              <a:defRPr sz="2000">
                <a:solidFill>
                  <a:srgbClr val="444444"/>
                </a:solidFill>
              </a:defRPr>
            </a:pPr>
            <a:r>
              <a:t>Requires significant computational resources and time</a:t>
            </a:r>
          </a:p>
          <a:p>
            <a:pPr>
              <a:defRPr sz="2000">
                <a:solidFill>
                  <a:srgbClr val="444444"/>
                </a:solidFill>
              </a:defRPr>
            </a:pPr>
            <a:r>
              <a:t>Key applications include image recognition and speech</a:t>
            </a:r>
          </a:p>
          <a:p>
            <a:pPr>
              <a:defRPr sz="2000">
                <a:solidFill>
                  <a:srgbClr val="444444"/>
                </a:solidFill>
              </a:defRPr>
            </a:pPr>
            <a:r>
              <a:t>Natural language processing is also a major area</a:t>
            </a:r>
          </a:p>
          <a:p>
            <a:pPr>
              <a:defRPr sz="2000">
                <a:solidFill>
                  <a:srgbClr val="444444"/>
                </a:solidFill>
              </a:defRPr>
            </a:pPr>
            <a:r>
              <a:t>Deep learning models can be supervised or unsupervised</a:t>
            </a:r>
          </a:p>
          <a:p>
            <a:pPr>
              <a:defRPr sz="2000">
                <a:solidFill>
                  <a:srgbClr val="444444"/>
                </a:solidFill>
              </a:defRPr>
            </a:pPr>
            <a:r>
              <a:t>Common architectures include CNN and RNN models</a:t>
            </a:r>
          </a:p>
          <a:p>
            <a:pPr>
              <a:defRPr sz="2000">
                <a:solidFill>
                  <a:srgbClr val="444444"/>
                </a:solidFill>
              </a:defRPr>
            </a:pPr>
            <a:r>
              <a:t>y = σ(Wx + b) is a basic neural network equation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