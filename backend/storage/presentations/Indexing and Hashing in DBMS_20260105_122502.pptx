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Introduction to the presentation on Indexing and Hashing in DBMS.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Introduction to Indexing and Hashing in detail, covering key concepts and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presenting this slide, emphasize the importance of indexing in databases for faster data retrieval and improved query performance. Provide examples of how indexing can optimize database performance and scalability. Ask students to consider scenarios where indexing would be crucial, such as in large e-commerce databases or complex data analysis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types of indexing techniques, emphasize the importance of choosing the right indexing method based on the database schema and query patterns. Provide examples of how B-Tree indexing can improve query performance and ask students to consider the trade-offs between different indexing techniques. Encourage students to think about how they would apply these indexing techniques in real-world database design scenarios.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Emphasize the different hashing methods, such as division and multiplication, and provide examples of how they are used in DBMS. Ask students to consider the trade-offs between static and dynamic hashing. Discuss how hash functions are used for indexing in DBMS and explore the advantages of extensible hashing.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applications and advantages of indexing and hashing, emphasize how these techniques improve query performance, data security, and storage efficiency. Provide examples of real-world database systems that utilize indexing and hashing, and ask students to consider how these methods can be applied to solve common database management challenges. Encourage students to think critically about the trade-offs between different indexing and hashing approaches.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Indexing and Hashing in DBMS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Database Management Systems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to Indexing and Hashing</a:t>
            </a:r>
          </a:p>
        </p:txBody>
      </p:sp>
      <p:sp>
        <p:nvSpPr>
          <p:cNvPr id="3" name="Content Placeholder 2"/>
          <p:cNvSpPr>
            <a:spLocks noGrp="1"/>
          </p:cNvSpPr>
          <p:nvPr>
            <p:ph idx="1"/>
          </p:nvPr>
        </p:nvSpPr>
        <p:spPr/>
        <p:txBody>
          <a:bodyPr/>
          <a:lstStyle/>
          <a:p>
            <a:pPr>
              <a:defRPr sz="2000">
                <a:solidFill>
                  <a:srgbClr val="444444"/>
                </a:solidFill>
              </a:defRPr>
            </a:pPr>
            <a:r>
              <a:t>Introduction to Introduction to Indexing and Hashing</a:t>
            </a:r>
          </a:p>
          <a:p>
            <a:pPr>
              <a:defRPr sz="2000">
                <a:solidFill>
                  <a:srgbClr val="444444"/>
                </a:solidFill>
              </a:defRPr>
            </a:pPr>
            <a:r>
              <a:t>Key concepts related to Introduction to Indexing and Hashing</a:t>
            </a:r>
          </a:p>
          <a:p>
            <a:pPr>
              <a:defRPr sz="2000">
                <a:solidFill>
                  <a:srgbClr val="444444"/>
                </a:solidFill>
              </a:defRPr>
            </a:pPr>
            <a:r>
              <a:t>Important aspects of Introduction to Indexing and Hashing</a:t>
            </a:r>
          </a:p>
          <a:p>
            <a:pPr>
              <a:defRPr sz="2000">
                <a:solidFill>
                  <a:srgbClr val="444444"/>
                </a:solidFill>
              </a:defRPr>
            </a:pPr>
            <a:r>
              <a:t>Applications and examples of Introduction to Indexing and Hashing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Need for Indexing in Databases</a:t>
            </a:r>
          </a:p>
        </p:txBody>
      </p:sp>
      <p:sp>
        <p:nvSpPr>
          <p:cNvPr id="3" name="Content Placeholder 2"/>
          <p:cNvSpPr>
            <a:spLocks noGrp="1"/>
          </p:cNvSpPr>
          <p:nvPr>
            <p:ph idx="1"/>
          </p:nvPr>
        </p:nvSpPr>
        <p:spPr/>
        <p:txBody>
          <a:bodyPr/>
          <a:lstStyle/>
          <a:p>
            <a:pPr>
              <a:defRPr sz="2000">
                <a:solidFill>
                  <a:srgbClr val="444444"/>
                </a:solidFill>
              </a:defRPr>
            </a:pPr>
            <a:r>
              <a:t>Faster data retrieval and access</a:t>
            </a:r>
          </a:p>
          <a:p>
            <a:pPr>
              <a:defRPr sz="2000">
                <a:solidFill>
                  <a:srgbClr val="444444"/>
                </a:solidFill>
              </a:defRPr>
            </a:pPr>
            <a:r>
              <a:t>Improved query performance and efficiency</a:t>
            </a:r>
          </a:p>
          <a:p>
            <a:pPr>
              <a:defRPr sz="2000">
                <a:solidFill>
                  <a:srgbClr val="444444"/>
                </a:solidFill>
              </a:defRPr>
            </a:pPr>
            <a:r>
              <a:t>Reduced disk I/O and storage costs</a:t>
            </a:r>
          </a:p>
          <a:p>
            <a:pPr>
              <a:defRPr sz="2000">
                <a:solidFill>
                  <a:srgbClr val="444444"/>
                </a:solidFill>
              </a:defRPr>
            </a:pPr>
            <a:r>
              <a:t>Enhanced data management and organization</a:t>
            </a:r>
          </a:p>
          <a:p>
            <a:pPr>
              <a:defRPr sz="2000">
                <a:solidFill>
                  <a:srgbClr val="444444"/>
                </a:solidFill>
              </a:defRPr>
            </a:pPr>
            <a:r>
              <a:t>Quicker location of specific data records</a:t>
            </a:r>
          </a:p>
          <a:p>
            <a:pPr>
              <a:defRPr sz="2000">
                <a:solidFill>
                  <a:srgbClr val="444444"/>
                </a:solidFill>
              </a:defRPr>
            </a:pPr>
            <a:r>
              <a:t>Optimized database performance and scalability</a:t>
            </a:r>
          </a:p>
          <a:p>
            <a:pPr>
              <a:defRPr sz="2000">
                <a:solidFill>
                  <a:srgbClr val="444444"/>
                </a:solidFill>
              </a:defRPr>
            </a:pPr>
            <a:r>
              <a:t>Simplified data analysis and reporting</a:t>
            </a:r>
          </a:p>
          <a:p>
            <a:pPr>
              <a:defRPr sz="2000">
                <a:solidFill>
                  <a:srgbClr val="444444"/>
                </a:solidFill>
              </a:defRPr>
            </a:pPr>
            <a:r>
              <a:t>Better support for complex queries</a:t>
            </a:r>
          </a:p>
          <a:p>
            <a:pPr>
              <a:defRPr sz="2000">
                <a:solidFill>
                  <a:srgbClr val="444444"/>
                </a:solidFill>
              </a:defRPr>
            </a:pPr>
            <a:r>
              <a:t>Increased overall database productivity</a:t>
            </a:r>
          </a:p>
          <a:p>
            <a:pPr>
              <a:defRPr sz="2000">
                <a:solidFill>
                  <a:srgbClr val="444444"/>
                </a:solidFill>
              </a:defRPr>
            </a:pPr>
            <a:r>
              <a:t>Efficient handling of large datasets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Types of Indexing Techniques</a:t>
            </a:r>
          </a:p>
        </p:txBody>
      </p:sp>
      <p:sp>
        <p:nvSpPr>
          <p:cNvPr id="3" name="Content Placeholder 2"/>
          <p:cNvSpPr>
            <a:spLocks noGrp="1"/>
          </p:cNvSpPr>
          <p:nvPr>
            <p:ph idx="1"/>
          </p:nvPr>
        </p:nvSpPr>
        <p:spPr/>
        <p:txBody>
          <a:bodyPr/>
          <a:lstStyle/>
          <a:p>
            <a:pPr>
              <a:defRPr sz="2000">
                <a:solidFill>
                  <a:srgbClr val="444444"/>
                </a:solidFill>
              </a:defRPr>
            </a:pPr>
            <a:r>
              <a:t>B-Tree indexing for efficient data retrieval</a:t>
            </a:r>
          </a:p>
          <a:p>
            <a:pPr>
              <a:defRPr sz="2000">
                <a:solidFill>
                  <a:srgbClr val="444444"/>
                </a:solidFill>
              </a:defRPr>
            </a:pPr>
            <a:r>
              <a:t>Hash indexing for fast data access</a:t>
            </a:r>
          </a:p>
          <a:p>
            <a:pPr>
              <a:defRPr sz="2000">
                <a:solidFill>
                  <a:srgbClr val="444444"/>
                </a:solidFill>
              </a:defRPr>
            </a:pPr>
            <a:r>
              <a:t>Clustered indexing for physical data ordering</a:t>
            </a:r>
          </a:p>
          <a:p>
            <a:pPr>
              <a:defRPr sz="2000">
                <a:solidFill>
                  <a:srgbClr val="444444"/>
                </a:solidFill>
              </a:defRPr>
            </a:pPr>
            <a:r>
              <a:t>Unclustered indexing for non-physical data ordering</a:t>
            </a:r>
          </a:p>
          <a:p>
            <a:pPr>
              <a:defRPr sz="2000">
                <a:solidFill>
                  <a:srgbClr val="444444"/>
                </a:solidFill>
              </a:defRPr>
            </a:pPr>
            <a:r>
              <a:t>Composite indexing for multiple columns</a:t>
            </a:r>
          </a:p>
          <a:p>
            <a:pPr>
              <a:defRPr sz="2000">
                <a:solidFill>
                  <a:srgbClr val="444444"/>
                </a:solidFill>
              </a:defRPr>
            </a:pPr>
            <a:r>
              <a:t>Unique indexing for distinct data values</a:t>
            </a:r>
          </a:p>
          <a:p>
            <a:pPr>
              <a:defRPr sz="2000">
                <a:solidFill>
                  <a:srgbClr val="444444"/>
                </a:solidFill>
              </a:defRPr>
            </a:pPr>
            <a:r>
              <a:t>Full-text indexing for text data search</a:t>
            </a:r>
          </a:p>
          <a:p>
            <a:pPr>
              <a:defRPr sz="2000">
                <a:solidFill>
                  <a:srgbClr val="444444"/>
                </a:solidFill>
              </a:defRPr>
            </a:pPr>
            <a:r>
              <a:t>Functional indexing for function-based queries</a:t>
            </a:r>
          </a:p>
          <a:p>
            <a:pPr>
              <a:defRPr sz="2000">
                <a:solidFill>
                  <a:srgbClr val="444444"/>
                </a:solidFill>
              </a:defRPr>
            </a:pPr>
            <a:r>
              <a:t>Bitmap indexing for bit-vector operations</a:t>
            </a:r>
          </a:p>
          <a:p>
            <a:pPr>
              <a:defRPr sz="2000">
                <a:solidFill>
                  <a:srgbClr val="444444"/>
                </a:solidFill>
              </a:defRPr>
            </a:pPr>
            <a:r>
              <a:t>Density indexing for data distribution analysis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Hashing Methods in DBMS</a:t>
            </a:r>
          </a:p>
        </p:txBody>
      </p:sp>
      <p:sp>
        <p:nvSpPr>
          <p:cNvPr id="3" name="Content Placeholder 2"/>
          <p:cNvSpPr>
            <a:spLocks noGrp="1"/>
          </p:cNvSpPr>
          <p:nvPr>
            <p:ph idx="1"/>
          </p:nvPr>
        </p:nvSpPr>
        <p:spPr/>
        <p:txBody>
          <a:bodyPr/>
          <a:lstStyle/>
          <a:p>
            <a:pPr>
              <a:defRPr sz="2000">
                <a:solidFill>
                  <a:srgbClr val="444444"/>
                </a:solidFill>
              </a:defRPr>
            </a:pPr>
            <a:r>
              <a:t>Division method for hashing in DBMS</a:t>
            </a:r>
          </a:p>
          <a:p>
            <a:pPr>
              <a:defRPr sz="2000">
                <a:solidFill>
                  <a:srgbClr val="444444"/>
                </a:solidFill>
              </a:defRPr>
            </a:pPr>
            <a:r>
              <a:t>Multiplication method for hashing in DBMS</a:t>
            </a:r>
          </a:p>
          <a:p>
            <a:pPr>
              <a:defRPr sz="2000">
                <a:solidFill>
                  <a:srgbClr val="444444"/>
                </a:solidFill>
              </a:defRPr>
            </a:pPr>
            <a:r>
              <a:t>Folding method for hashing in DBMS</a:t>
            </a:r>
          </a:p>
          <a:p>
            <a:pPr>
              <a:defRPr sz="2000">
                <a:solidFill>
                  <a:srgbClr val="444444"/>
                </a:solidFill>
              </a:defRPr>
            </a:pPr>
            <a:r>
              <a:t>Mid-square method for hashing in DBMS</a:t>
            </a:r>
          </a:p>
          <a:p>
            <a:pPr>
              <a:defRPr sz="2000">
                <a:solidFill>
                  <a:srgbClr val="444444"/>
                </a:solidFill>
              </a:defRPr>
            </a:pPr>
            <a:r>
              <a:t>Hash functions for indexing in DBMS</a:t>
            </a:r>
          </a:p>
          <a:p>
            <a:pPr>
              <a:defRPr sz="2000">
                <a:solidFill>
                  <a:srgbClr val="444444"/>
                </a:solidFill>
              </a:defRPr>
            </a:pPr>
            <a:r>
              <a:t>Static hashing for database storage</a:t>
            </a:r>
          </a:p>
          <a:p>
            <a:pPr>
              <a:defRPr sz="2000">
                <a:solidFill>
                  <a:srgbClr val="444444"/>
                </a:solidFill>
              </a:defRPr>
            </a:pPr>
            <a:r>
              <a:t>Dynamic hashing for database storage</a:t>
            </a:r>
          </a:p>
          <a:p>
            <a:pPr>
              <a:defRPr sz="2000">
                <a:solidFill>
                  <a:srgbClr val="444444"/>
                </a:solidFill>
              </a:defRPr>
            </a:pPr>
            <a:r>
              <a:t>Extensible hashing for database storage</a:t>
            </a:r>
          </a:p>
          <a:p>
            <a:pPr>
              <a:defRPr sz="2000">
                <a:solidFill>
                  <a:srgbClr val="444444"/>
                </a:solidFill>
              </a:defRPr>
            </a:pPr>
            <a:r>
              <a:t>Linear hashing for database storage</a:t>
            </a:r>
          </a:p>
          <a:p>
            <a:pPr>
              <a:defRPr sz="2000">
                <a:solidFill>
                  <a:srgbClr val="444444"/>
                </a:solidFill>
              </a:defRPr>
            </a:pPr>
            <a:r>
              <a:t>Hash table implementation in DBMS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and Advantages</a:t>
            </a:r>
          </a:p>
        </p:txBody>
      </p:sp>
      <p:sp>
        <p:nvSpPr>
          <p:cNvPr id="3" name="Content Placeholder 2"/>
          <p:cNvSpPr>
            <a:spLocks noGrp="1"/>
          </p:cNvSpPr>
          <p:nvPr>
            <p:ph idx="1"/>
          </p:nvPr>
        </p:nvSpPr>
        <p:spPr/>
        <p:txBody>
          <a:bodyPr/>
          <a:lstStyle/>
          <a:p>
            <a:pPr>
              <a:defRPr sz="2000">
                <a:solidFill>
                  <a:srgbClr val="444444"/>
                </a:solidFill>
              </a:defRPr>
            </a:pPr>
            <a:r>
              <a:t>Faster data retrieval using indexing and hashing techniques</a:t>
            </a:r>
          </a:p>
          <a:p>
            <a:pPr>
              <a:defRPr sz="2000">
                <a:solidFill>
                  <a:srgbClr val="444444"/>
                </a:solidFill>
              </a:defRPr>
            </a:pPr>
            <a:r>
              <a:t>Improved query performance in database management systems</a:t>
            </a:r>
          </a:p>
          <a:p>
            <a:pPr>
              <a:defRPr sz="2000">
                <a:solidFill>
                  <a:srgbClr val="444444"/>
                </a:solidFill>
              </a:defRPr>
            </a:pPr>
            <a:r>
              <a:t>Enhanced data security with hashing algorithms</a:t>
            </a:r>
          </a:p>
          <a:p>
            <a:pPr>
              <a:defRPr sz="2000">
                <a:solidFill>
                  <a:srgbClr val="444444"/>
                </a:solidFill>
              </a:defRPr>
            </a:pPr>
            <a:r>
              <a:t>Efficient data storage and retrieval applications</a:t>
            </a:r>
          </a:p>
          <a:p>
            <a:pPr>
              <a:defRPr sz="2000">
                <a:solidFill>
                  <a:srgbClr val="444444"/>
                </a:solidFill>
              </a:defRPr>
            </a:pPr>
            <a:r>
              <a:t>Accelerated data processing with indexing methods</a:t>
            </a:r>
          </a:p>
          <a:p>
            <a:pPr>
              <a:defRPr sz="2000">
                <a:solidFill>
                  <a:srgbClr val="444444"/>
                </a:solidFill>
              </a:defRPr>
            </a:pPr>
            <a:r>
              <a:t>Optimized database performance with hashing</a:t>
            </a:r>
          </a:p>
          <a:p>
            <a:pPr>
              <a:defRPr sz="2000">
                <a:solidFill>
                  <a:srgbClr val="444444"/>
                </a:solidFill>
              </a:defRPr>
            </a:pPr>
            <a:r>
              <a:t>Better data organization and management</a:t>
            </a:r>
          </a:p>
          <a:p>
            <a:pPr>
              <a:defRPr sz="2000">
                <a:solidFill>
                  <a:srgbClr val="444444"/>
                </a:solidFill>
              </a:defRPr>
            </a:pPr>
            <a:r>
              <a:t>Increased data integrity with indexing and hashing</a:t>
            </a:r>
          </a:p>
          <a:p>
            <a:pPr>
              <a:defRPr sz="2000">
                <a:solidFill>
                  <a:srgbClr val="444444"/>
                </a:solidFill>
              </a:defRPr>
            </a:pPr>
            <a:r>
              <a:t>Support for complex query operations</a:t>
            </a:r>
          </a:p>
          <a:p>
            <a:pPr>
              <a:defRPr sz="2000">
                <a:solidFill>
                  <a:srgbClr val="444444"/>
                </a:solidFill>
              </a:defRPr>
            </a:pPr>
            <a:r>
              <a:t>Improved database scalability and reliability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