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LSTM Networks,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LSTM networks, explain that they are a type of Recurrent Neural Network (RNN) designed to handle sequential data. Provide examples of time series forecasting, such as predicting stock prices or weather, and speech recognition, like voice assistants. Emphasize the role of memory cells and gates in controlling data flow. Ask students to consider how LSTMs can learn long-term dependencies in data, such as in language translation tasks. Key takeaways should include the components of LSTM architecture and their applications in deep learning tasks.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LSTM networks, emphasize the role of gates in controlling the flow of information into and out of the memory cells. Use examples such as language translation or time series forecasting to illustrate the importance of capturing long-term dependencies. Ask students to consider how the forget gate helps in preventing overfitting by allowing the model to discard irrelevant information. Key takeaways include understanding the components of an LSTM cell and how they contribute to the network's ability to handle sequential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LSTM networks, emphasize the role of memory cells and gates. Provide examples of sequential data, such as speech or text, and how LSTMs can learn from these. Discuss the importance of handling long-term dependencies and how LSTMs overcome the vanishing gradient problem. Ask students to consider how LSTMs can be applied to real-world problems, such as language translation or text summarization. Key takeaways include understanding the components of an LSTM network and their functions, as well as the advantages of using LSTMs for sequential data tasks.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key area of machine learning, inspired by the structure and function of the human brain. Give examples of its applications in image recognition, such as self-driving cars, and speech processing, like virtual assistants. Emphasize the need for large datasets and computational power. Ask students to consider how deep learning might be used in their future careers, and what ethical considerations might arise from its use. Key takeaways should include the definition of deep learning, its relationship to machine learning, and its potential applications and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key area of machine learning that's inspired by the brain's structure and function. Provide examples of how deep learning is used in real-world applications, such as self-driving cars and virtual assistants. Ask students to consider the potential benefits and limitations of deep learning, and how it can be applied to solve complex problems. Emphasize the importance of large datasets and computational resources in training deep learning models. Key takeaways include understanding the basics of deep learning, its applications, and the requirements for successful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subset of machine learning that's inspired by the brain's structure. Provide examples of its applications, such as image recognition and natural language processing. Emphasize the need for large datasets and computational resources. Ask students to consider potential uses of deep learning in their own fields of interest. Key takeaways include understanding the basics of deep learning and its potential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LSTM Networks, 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LSTM Networks - Introduction</a:t>
            </a:r>
          </a:p>
        </p:txBody>
      </p:sp>
      <p:sp>
        <p:nvSpPr>
          <p:cNvPr id="3" name="Content Placeholder 2"/>
          <p:cNvSpPr>
            <a:spLocks noGrp="1"/>
          </p:cNvSpPr>
          <p:nvPr>
            <p:ph idx="1"/>
          </p:nvPr>
        </p:nvSpPr>
        <p:spPr/>
        <p:txBody>
          <a:bodyPr/>
          <a:lstStyle/>
          <a:p>
            <a:pPr>
              <a:defRPr sz="2000">
                <a:solidFill>
                  <a:srgbClr val="444444"/>
                </a:solidFill>
              </a:defRPr>
            </a:pPr>
            <a:r>
              <a:t>Long Short-Term Memory networks handle sequential data</a:t>
            </a:r>
          </a:p>
          <a:p>
            <a:pPr>
              <a:defRPr sz="2000">
                <a:solidFill>
                  <a:srgbClr val="444444"/>
                </a:solidFill>
              </a:defRPr>
            </a:pPr>
            <a:r>
              <a:t>Used for time series forecasting and speech recognition</a:t>
            </a:r>
          </a:p>
          <a:p>
            <a:pPr>
              <a:defRPr sz="2000">
                <a:solidFill>
                  <a:srgbClr val="444444"/>
                </a:solidFill>
              </a:defRPr>
            </a:pPr>
            <a:r>
              <a:t>Consist of memory cells and gates for data flow</a:t>
            </a:r>
          </a:p>
          <a:p>
            <a:pPr>
              <a:defRPr sz="2000">
                <a:solidFill>
                  <a:srgbClr val="444444"/>
                </a:solidFill>
              </a:defRPr>
            </a:pPr>
            <a:r>
              <a:t>Gates control information entering and leaving cells</a:t>
            </a:r>
          </a:p>
          <a:p>
            <a:pPr>
              <a:defRPr sz="2000">
                <a:solidFill>
                  <a:srgbClr val="444444"/>
                </a:solidFill>
              </a:defRPr>
            </a:pPr>
            <a:r>
              <a:t>Forget gate decides what to discard from memory</a:t>
            </a:r>
          </a:p>
          <a:p>
            <a:pPr>
              <a:defRPr sz="2000">
                <a:solidFill>
                  <a:srgbClr val="444444"/>
                </a:solidFill>
              </a:defRPr>
            </a:pPr>
            <a:r>
              <a:t>Input gate updates cell state with new information</a:t>
            </a:r>
          </a:p>
          <a:p>
            <a:pPr>
              <a:defRPr sz="2000">
                <a:solidFill>
                  <a:srgbClr val="444444"/>
                </a:solidFill>
              </a:defRPr>
            </a:pPr>
            <a:r>
              <a:t>Output gate generates final output from cell</a:t>
            </a:r>
          </a:p>
          <a:p>
            <a:pPr>
              <a:defRPr sz="2000">
                <a:solidFill>
                  <a:srgbClr val="444444"/>
                </a:solidFill>
              </a:defRPr>
            </a:pPr>
            <a:r>
              <a:t>LSTM networks learn long-term dependencies in data</a:t>
            </a:r>
          </a:p>
          <a:p>
            <a:pPr>
              <a:defRPr sz="2000">
                <a:solidFill>
                  <a:srgbClr val="444444"/>
                </a:solidFill>
              </a:defRPr>
            </a:pPr>
            <a:r>
              <a:t>Effective for tasks with temporal relationships</a:t>
            </a:r>
          </a:p>
          <a:p>
            <a:pPr>
              <a:defRPr sz="2000">
                <a:solidFill>
                  <a:srgbClr val="444444"/>
                </a:solidFill>
              </a:defRPr>
            </a:pPr>
            <a:r>
              <a:t>Key applications in natural language processing</a:t>
            </a:r>
          </a:p>
        </p:txBody>
      </p:sp>
      <p:pic>
        <p:nvPicPr>
          <p:cNvPr id="4" name="Picture 3" descr="c9dcb61eb7964f1d872ee83ee1747ba9_lstm_networks_deep_learning_deep_learnin.jpg"/>
          <p:cNvPicPr>
            <a:picLocks noChangeAspect="1"/>
          </p:cNvPicPr>
          <p:nvPr/>
        </p:nvPicPr>
        <p:blipFill>
          <a:blip r:embed="rId2"/>
          <a:stretch>
            <a:fillRect/>
          </a:stretch>
        </p:blipFill>
        <p:spPr>
          <a:xfrm>
            <a:off x="7315200" y="1828800"/>
            <a:ext cx="4114800" cy="224409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LSTM Networks - Architecture</a:t>
            </a:r>
          </a:p>
        </p:txBody>
      </p:sp>
      <p:sp>
        <p:nvSpPr>
          <p:cNvPr id="3" name="Content Placeholder 2"/>
          <p:cNvSpPr>
            <a:spLocks noGrp="1"/>
          </p:cNvSpPr>
          <p:nvPr>
            <p:ph idx="1"/>
          </p:nvPr>
        </p:nvSpPr>
        <p:spPr/>
        <p:txBody>
          <a:bodyPr/>
          <a:lstStyle/>
          <a:p>
            <a:pPr>
              <a:defRPr sz="2000">
                <a:solidFill>
                  <a:srgbClr val="444444"/>
                </a:solidFill>
              </a:defRPr>
            </a:pPr>
            <a:r>
              <a:t>Long Short-Term Memory networks store data in memory cells</a:t>
            </a:r>
          </a:p>
          <a:p>
            <a:pPr>
              <a:defRPr sz="2000">
                <a:solidFill>
                  <a:srgbClr val="444444"/>
                </a:solidFill>
              </a:defRPr>
            </a:pPr>
            <a:r>
              <a:t>LSTM cells contain gates for input, output, and forget operations</a:t>
            </a:r>
          </a:p>
          <a:p>
            <a:pPr>
              <a:defRPr sz="2000">
                <a:solidFill>
                  <a:srgbClr val="444444"/>
                </a:solidFill>
              </a:defRPr>
            </a:pPr>
            <a:r>
              <a:t>Input gate controls new data entry into cell state</a:t>
            </a:r>
          </a:p>
          <a:p>
            <a:pPr>
              <a:defRPr sz="2000">
                <a:solidFill>
                  <a:srgbClr val="444444"/>
                </a:solidFill>
              </a:defRPr>
            </a:pPr>
            <a:r>
              <a:t>Output gate generates output based on cell state</a:t>
            </a:r>
          </a:p>
          <a:p>
            <a:pPr>
              <a:defRPr sz="2000">
                <a:solidFill>
                  <a:srgbClr val="444444"/>
                </a:solidFill>
              </a:defRPr>
            </a:pPr>
            <a:r>
              <a:t>Forget gate decides what to discard from previous state</a:t>
            </a:r>
          </a:p>
          <a:p>
            <a:pPr>
              <a:defRPr sz="2000">
                <a:solidFill>
                  <a:srgbClr val="444444"/>
                </a:solidFill>
              </a:defRPr>
            </a:pPr>
            <a:r>
              <a:t>Cell state acts as internal memory for sequence data</a:t>
            </a:r>
          </a:p>
          <a:p>
            <a:pPr>
              <a:defRPr sz="2000">
                <a:solidFill>
                  <a:srgbClr val="444444"/>
                </a:solidFill>
              </a:defRPr>
            </a:pPr>
            <a:r>
              <a:t>Hidden state captures short-term dependencies in data</a:t>
            </a:r>
          </a:p>
          <a:p>
            <a:pPr>
              <a:defRPr sz="2000">
                <a:solidFill>
                  <a:srgbClr val="444444"/>
                </a:solidFill>
              </a:defRPr>
            </a:pPr>
            <a:r>
              <a:t>LSTM architecture reduces vanishing gradient problem</a:t>
            </a:r>
          </a:p>
          <a:p>
            <a:pPr>
              <a:defRPr sz="2000">
                <a:solidFill>
                  <a:srgbClr val="444444"/>
                </a:solidFill>
              </a:defRPr>
            </a:pPr>
            <a:r>
              <a:t>Equation: h_t = o_t * tanh(c_t), where h_t is hidden state</a:t>
            </a:r>
          </a:p>
          <a:p>
            <a:pPr>
              <a:defRPr sz="2000">
                <a:solidFill>
                  <a:srgbClr val="444444"/>
                </a:solidFill>
              </a:defRPr>
            </a:pPr>
            <a:r>
              <a:t>LSTM networks learn long-term dependencies in data</a:t>
            </a:r>
          </a:p>
        </p:txBody>
      </p:sp>
      <p:pic>
        <p:nvPicPr>
          <p:cNvPr id="4" name="Picture 3" descr="0d600299617e4f44a7069194bf35846f.png"/>
          <p:cNvPicPr>
            <a:picLocks noChangeAspect="1"/>
          </p:cNvPicPr>
          <p:nvPr/>
        </p:nvPicPr>
        <p:blipFill>
          <a:blip r:embed="rId2"/>
          <a:stretch>
            <a:fillRect/>
          </a:stretch>
        </p:blipFill>
        <p:spPr>
          <a:xfrm>
            <a:off x="7315200" y="1828800"/>
            <a:ext cx="4114800" cy="2057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LSTM Networks - Architecture</a:t>
            </a:r>
          </a:p>
        </p:txBody>
      </p:sp>
      <p:sp>
        <p:nvSpPr>
          <p:cNvPr id="3" name="Content Placeholder 2"/>
          <p:cNvSpPr>
            <a:spLocks noGrp="1"/>
          </p:cNvSpPr>
          <p:nvPr>
            <p:ph idx="1"/>
          </p:nvPr>
        </p:nvSpPr>
        <p:spPr/>
        <p:txBody>
          <a:bodyPr/>
          <a:lstStyle/>
          <a:p>
            <a:pPr>
              <a:defRPr sz="2000">
                <a:solidFill>
                  <a:srgbClr val="444444"/>
                </a:solidFill>
              </a:defRPr>
            </a:pPr>
            <a:r>
              <a:t>LSTM stands for Long Short-Term Memory network</a:t>
            </a:r>
          </a:p>
          <a:p>
            <a:pPr>
              <a:defRPr sz="2000">
                <a:solidFill>
                  <a:srgbClr val="444444"/>
                </a:solidFill>
              </a:defRPr>
            </a:pPr>
            <a:r>
              <a:t>LSTM is a type of Recurrent Neural Network (RNN)</a:t>
            </a:r>
          </a:p>
          <a:p>
            <a:pPr>
              <a:defRPr sz="2000">
                <a:solidFill>
                  <a:srgbClr val="444444"/>
                </a:solidFill>
              </a:defRPr>
            </a:pPr>
            <a:r>
              <a:t>Designed to handle sequential data and time series</a:t>
            </a:r>
          </a:p>
          <a:p>
            <a:pPr>
              <a:defRPr sz="2000">
                <a:solidFill>
                  <a:srgbClr val="444444"/>
                </a:solidFill>
              </a:defRPr>
            </a:pPr>
            <a:r>
              <a:t>Comprises memory cells and gates for data flow</a:t>
            </a:r>
          </a:p>
          <a:p>
            <a:pPr>
              <a:defRPr sz="2000">
                <a:solidFill>
                  <a:srgbClr val="444444"/>
                </a:solidFill>
              </a:defRPr>
            </a:pPr>
            <a:r>
              <a:t>Input gate controls data entry into memory cell</a:t>
            </a:r>
          </a:p>
          <a:p>
            <a:pPr>
              <a:defRPr sz="2000">
                <a:solidFill>
                  <a:srgbClr val="444444"/>
                </a:solidFill>
              </a:defRPr>
            </a:pPr>
            <a:r>
              <a:t>Output gate generates output from memory cell</a:t>
            </a:r>
          </a:p>
          <a:p>
            <a:pPr>
              <a:defRPr sz="2000">
                <a:solidFill>
                  <a:srgbClr val="444444"/>
                </a:solidFill>
              </a:defRPr>
            </a:pPr>
            <a:r>
              <a:t>Forget gate resets memory cell for new inputs</a:t>
            </a:r>
          </a:p>
          <a:p>
            <a:pPr>
              <a:defRPr sz="2000">
                <a:solidFill>
                  <a:srgbClr val="444444"/>
                </a:solidFill>
              </a:defRPr>
            </a:pPr>
            <a:r>
              <a:t>LSTM equation: σ(x) = 1 / (1 + e^(-x))</a:t>
            </a:r>
          </a:p>
          <a:p>
            <a:pPr>
              <a:defRPr sz="2000">
                <a:solidFill>
                  <a:srgbClr val="444444"/>
                </a:solidFill>
              </a:defRPr>
            </a:pPr>
            <a:r>
              <a:t>LSTM networks learn long-term dependencies in data</a:t>
            </a:r>
          </a:p>
          <a:p>
            <a:pPr>
              <a:defRPr sz="2000">
                <a:solidFill>
                  <a:srgbClr val="444444"/>
                </a:solidFill>
              </a:defRPr>
            </a:pPr>
            <a:r>
              <a:t>Effective for natural language processing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neural networks in the human brain</a:t>
            </a:r>
          </a:p>
          <a:p>
            <a:pPr>
              <a:defRPr sz="2000">
                <a:solidFill>
                  <a:srgbClr val="444444"/>
                </a:solidFill>
              </a:defRPr>
            </a:pPr>
            <a:r>
              <a:t>Uses layered representations of data for analysis</a:t>
            </a:r>
          </a:p>
          <a:p>
            <a:pPr>
              <a:defRPr sz="2000">
                <a:solidFill>
                  <a:srgbClr val="444444"/>
                </a:solidFill>
              </a:defRPr>
            </a:pPr>
            <a:r>
              <a:t>Enables automatic feature extraction and learning</a:t>
            </a:r>
          </a:p>
          <a:p>
            <a:pPr>
              <a:defRPr sz="2000">
                <a:solidFill>
                  <a:srgbClr val="444444"/>
                </a:solidFill>
              </a:defRPr>
            </a:pPr>
            <a:r>
              <a:t>Trained using large datasets and computational power</a:t>
            </a:r>
          </a:p>
          <a:p>
            <a:pPr>
              <a:defRPr sz="2000">
                <a:solidFill>
                  <a:srgbClr val="444444"/>
                </a:solidFill>
              </a:defRPr>
            </a:pPr>
            <a:r>
              <a:t>Can learn complex patterns in data and images</a:t>
            </a:r>
          </a:p>
          <a:p>
            <a:pPr>
              <a:defRPr sz="2000">
                <a:solidFill>
                  <a:srgbClr val="444444"/>
                </a:solidFill>
              </a:defRPr>
            </a:pPr>
            <a:r>
              <a:t>Applications in image recognition and speech processing</a:t>
            </a:r>
          </a:p>
          <a:p>
            <a:pPr>
              <a:defRPr sz="2000">
                <a:solidFill>
                  <a:srgbClr val="444444"/>
                </a:solidFill>
              </a:defRPr>
            </a:pPr>
            <a:r>
              <a:t>Requires significant computational resources and data</a:t>
            </a:r>
          </a:p>
          <a:p>
            <a:pPr>
              <a:defRPr sz="2000">
                <a:solidFill>
                  <a:srgbClr val="444444"/>
                </a:solidFill>
              </a:defRPr>
            </a:pPr>
            <a:r>
              <a:t>Has many variants, including CNNs and RNNs</a:t>
            </a:r>
          </a:p>
          <a:p>
            <a:pPr>
              <a:defRPr sz="2000">
                <a:solidFill>
                  <a:srgbClr val="444444"/>
                </a:solidFill>
              </a:defRPr>
            </a:pPr>
            <a:r>
              <a:t>Used in self-driving cars, medical diagnosis, and more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Enables computers to learn from experience</a:t>
            </a:r>
          </a:p>
          <a:p>
            <a:pPr>
              <a:defRPr sz="2000">
                <a:solidFill>
                  <a:srgbClr val="444444"/>
                </a:solidFill>
              </a:defRPr>
            </a:pPr>
            <a:r>
              <a:t>Improves performance on complex tasks over time</a:t>
            </a:r>
          </a:p>
          <a:p>
            <a:pPr>
              <a:defRPr sz="2000">
                <a:solidFill>
                  <a:srgbClr val="444444"/>
                </a:solidFill>
              </a:defRPr>
            </a:pPr>
            <a:r>
              <a:t>Requires large amounts of data and computing power</a:t>
            </a:r>
          </a:p>
          <a:p>
            <a:pPr>
              <a:defRPr sz="2000">
                <a:solidFill>
                  <a:srgbClr val="444444"/>
                </a:solidFill>
              </a:defRPr>
            </a:pPr>
            <a:r>
              <a:t>Used in image recognition, speech recognition, and more</a:t>
            </a:r>
          </a:p>
          <a:p>
            <a:pPr>
              <a:defRPr sz="2000">
                <a:solidFill>
                  <a:srgbClr val="444444"/>
                </a:solidFill>
              </a:defRPr>
            </a:pPr>
            <a:r>
              <a:t>Can learn from raw, unprocessed data inputs</a:t>
            </a:r>
          </a:p>
          <a:p>
            <a:pPr>
              <a:defRPr sz="2000">
                <a:solidFill>
                  <a:srgbClr val="444444"/>
                </a:solidFill>
              </a:defRPr>
            </a:pPr>
            <a:r>
              <a:t>Has many applications in industry and research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Can learn from large amounts of data automatically</a:t>
            </a:r>
          </a:p>
          <a:p>
            <a:pPr>
              <a:defRPr sz="2000">
                <a:solidFill>
                  <a:srgbClr val="444444"/>
                </a:solidFill>
              </a:defRPr>
            </a:pPr>
            <a:r>
              <a:t>Applications in image recognition and natural language</a:t>
            </a:r>
          </a:p>
          <a:p>
            <a:pPr>
              <a:defRPr sz="2000">
                <a:solidFill>
                  <a:srgbClr val="444444"/>
                </a:solidFill>
              </a:defRPr>
            </a:pPr>
            <a:r>
              <a:t>Can be used for predictive modeling and classification</a:t>
            </a:r>
          </a:p>
          <a:p>
            <a:pPr>
              <a:defRPr sz="2000">
                <a:solidFill>
                  <a:srgbClr val="444444"/>
                </a:solidFill>
              </a:defRPr>
            </a:pPr>
            <a:r>
              <a:t>Requires significant computational resources and data</a:t>
            </a:r>
          </a:p>
          <a:p>
            <a:pPr>
              <a:defRPr sz="2000">
                <a:solidFill>
                  <a:srgbClr val="444444"/>
                </a:solidFill>
              </a:defRPr>
            </a:pPr>
            <a:r>
              <a:t>Has many real-world applications and uses</a:t>
            </a:r>
          </a:p>
          <a:p>
            <a:pPr>
              <a:defRPr sz="2000">
                <a:solidFill>
                  <a:srgbClr val="444444"/>
                </a:solidFill>
              </a:defRPr>
            </a:pPr>
            <a:r>
              <a:t>Includes techniques like convolutional and recurrent nets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