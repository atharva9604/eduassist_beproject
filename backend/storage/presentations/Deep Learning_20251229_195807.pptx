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RNNs,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such as time series or natural language. Explain how the feedback connections allow the model to capture temporal relationships. Provide examples of applications, such as language translation or speech recognition, and ask students to think about how RNNs can be used in these contexts. Discuss the basic architecture and how the hidden state is used to capture sequential information. Key takeaways include understanding the role of RNNs in deep learning and their ability to learn from experience and adapt to new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learn from experience. Provide examples of speech recognition and language modeling tasks. Explain the concept of feedback connections and how they enable RNNs to capture temporal relationships. Discuss the limitations of basic RNNs, such as the vanishing gradient problem, and how LSTMs address this issue. Use simple equations to illustrate the basic architecture of RNNs. Ask students to consider how RNNs can be applied to real-world problems, such as text classification and time-series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RNNs, emphasize the importance of feedback connections and the role of the hidden state in capturing sequential information. Provide examples of time series forecasting and language modeling to illustrate the applications of RNNs. Discuss the challenges of training RNNs, such as vanishing gradients, and introduce the concept of Backpropagation Through Time. Write the simple RNN equation on the board and explain each component. Finally, mention the variants of RNNs, such as LSTM and GRU, and ask students to consider the advantages and disadvantages of each.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connection to machine learning and the brain's neural structure. Provide examples of deep learning applications, such as image recognition in self-driving cars and speech recognition in virtual assistants. Ask students to consider how deep learning improves with more data and computation. Key takeaways include the importance of large datasets and computational resources, as well as the potential for deep learning to enhance decision-making in various industries.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that's inspired by the brain's structure and function. Provide examples of how deep learning is used in image recognition and speech processing. Ask students if they have any experience with machine learning or neural networks. Discuss the importance of computational resources and large datasets in training deep learning models. Key takeaways should include the definition of deep learning, its applications, and the differences between supervised and unsupervised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that's inspired by the brain's structure and function. Provide examples of how deep learning is used in real-world applications, such as self-driving cars and speech recognition systems. Ask students to consider the potential benefits and limitations of using deep learning in different contexts. Key takeaways include understanding the basics of neural networks and the importance of large datasets in training deep learning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RNNs,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language modeling and text generation</a:t>
            </a:r>
          </a:p>
          <a:p>
            <a:pPr>
              <a:defRPr sz="2000">
                <a:solidFill>
                  <a:srgbClr val="444444"/>
                </a:solidFill>
              </a:defRPr>
            </a:pPr>
            <a:r>
              <a:t>Effective for speech recognition and machine translation</a:t>
            </a:r>
          </a:p>
          <a:p>
            <a:pPr>
              <a:defRPr sz="2000">
                <a:solidFill>
                  <a:srgbClr val="444444"/>
                </a:solidFill>
              </a:defRPr>
            </a:pPr>
            <a:r>
              <a:t>RNNs can learn from experience and adapt</a:t>
            </a:r>
          </a:p>
          <a:p>
            <a:pPr>
              <a:defRPr sz="2000">
                <a:solidFill>
                  <a:srgbClr val="444444"/>
                </a:solidFill>
              </a:defRPr>
            </a:pPr>
            <a:r>
              <a:t>Basic RNN architecture includes input and output</a:t>
            </a:r>
          </a:p>
          <a:p>
            <a:pPr>
              <a:defRPr sz="2000">
                <a:solidFill>
                  <a:srgbClr val="444444"/>
                </a:solidFill>
              </a:defRPr>
            </a:pPr>
            <a:r>
              <a:t>Hidden state captures sequential information</a:t>
            </a:r>
          </a:p>
          <a:p>
            <a:pPr>
              <a:defRPr sz="2000">
                <a:solidFill>
                  <a:srgbClr val="444444"/>
                </a:solidFill>
              </a:defRPr>
            </a:pPr>
            <a:r>
              <a:t>Training RNNs involves backpropagation through time</a:t>
            </a:r>
          </a:p>
          <a:p>
            <a:pPr>
              <a:defRPr sz="2000">
                <a:solidFill>
                  <a:srgbClr val="444444"/>
                </a:solidFill>
              </a:defRPr>
            </a:pPr>
            <a:r>
              <a:t>RNNs are a type of deep learning model</a:t>
            </a:r>
          </a:p>
          <a:p>
            <a:pPr>
              <a:defRPr sz="2000">
                <a:solidFill>
                  <a:srgbClr val="444444"/>
                </a:solidFill>
              </a:defRPr>
            </a:pPr>
            <a:r>
              <a:t>Inspired by biological neural networks</a:t>
            </a:r>
          </a:p>
        </p:txBody>
      </p:sp>
      <p:pic>
        <p:nvPicPr>
          <p:cNvPr id="4" name="Picture 3" descr="b564a96dc7a043c59df05e24fdafb25a_rnns_deep_learning_deep_learning_archit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language modeling tasks</a:t>
            </a:r>
          </a:p>
          <a:p>
            <a:pPr>
              <a:defRPr sz="2000">
                <a:solidFill>
                  <a:srgbClr val="444444"/>
                </a:solidFill>
              </a:defRPr>
            </a:pPr>
            <a:r>
              <a:t>Can learn from experience, adapt to new data</a:t>
            </a:r>
          </a:p>
          <a:p>
            <a:pPr>
              <a:defRPr sz="2000">
                <a:solidFill>
                  <a:srgbClr val="444444"/>
                </a:solidFill>
              </a:defRPr>
            </a:pPr>
            <a:r>
              <a:t>Basic RNNs suffer from vanishing gradient problem</a:t>
            </a:r>
          </a:p>
          <a:p>
            <a:pPr>
              <a:defRPr sz="2000">
                <a:solidFill>
                  <a:srgbClr val="444444"/>
                </a:solidFill>
              </a:defRPr>
            </a:pPr>
            <a:r>
              <a:t>Long Short-Term Memory networks mitigate this issue</a:t>
            </a:r>
          </a:p>
          <a:p>
            <a:pPr>
              <a:defRPr sz="2000">
                <a:solidFill>
                  <a:srgbClr val="444444"/>
                </a:solidFill>
              </a:defRPr>
            </a:pPr>
            <a:r>
              <a:t>RNNs can be trained using backpropagation algorithm</a:t>
            </a:r>
          </a:p>
          <a:p>
            <a:pPr>
              <a:defRPr sz="2000">
                <a:solidFill>
                  <a:srgbClr val="444444"/>
                </a:solidFill>
              </a:defRPr>
            </a:pPr>
            <a:r>
              <a:t>Applications include text classification, sentiment analysis</a:t>
            </a:r>
          </a:p>
          <a:p>
            <a:pPr>
              <a:defRPr sz="2000">
                <a:solidFill>
                  <a:srgbClr val="444444"/>
                </a:solidFill>
              </a:defRPr>
            </a:pPr>
            <a:r>
              <a:t>RNNs are suitable for time-series forecasting, prediction</a:t>
            </a:r>
          </a:p>
          <a:p>
            <a:pPr>
              <a:defRPr sz="2000">
                <a:solidFill>
                  <a:srgbClr val="444444"/>
                </a:solidFill>
              </a:defRPr>
            </a:pPr>
            <a:r>
              <a:t>Simple RNN equation: y = sigmoid(Wx + Uh)</a:t>
            </a:r>
          </a:p>
        </p:txBody>
      </p:sp>
      <p:pic>
        <p:nvPicPr>
          <p:cNvPr id="4" name="Picture 3" descr="49d42d691d2f483ca368da6c1d6a4e12.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Architecture</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to previous states</a:t>
            </a:r>
          </a:p>
          <a:p>
            <a:pPr>
              <a:defRPr sz="2000">
                <a:solidFill>
                  <a:srgbClr val="444444"/>
                </a:solidFill>
              </a:defRPr>
            </a:pPr>
            <a:r>
              <a:t>Useful for time series forecasting and language modeling</a:t>
            </a:r>
          </a:p>
          <a:p>
            <a:pPr>
              <a:defRPr sz="2000">
                <a:solidFill>
                  <a:srgbClr val="444444"/>
                </a:solidFill>
              </a:defRPr>
            </a:pPr>
            <a:r>
              <a:t>Consist of input, hidden, and output layers</a:t>
            </a:r>
          </a:p>
          <a:p>
            <a:pPr>
              <a:defRPr sz="2000">
                <a:solidFill>
                  <a:srgbClr val="444444"/>
                </a:solidFill>
              </a:defRPr>
            </a:pPr>
            <a:r>
              <a:t>Hidden state captures sequential information</a:t>
            </a:r>
          </a:p>
          <a:p>
            <a:pPr>
              <a:defRPr sz="2000">
                <a:solidFill>
                  <a:srgbClr val="444444"/>
                </a:solidFill>
              </a:defRPr>
            </a:pPr>
            <a:r>
              <a:t>Training RNNs can be challenging due to vanishing gradients</a:t>
            </a:r>
          </a:p>
          <a:p>
            <a:pPr>
              <a:defRPr sz="2000">
                <a:solidFill>
                  <a:srgbClr val="444444"/>
                </a:solidFill>
              </a:defRPr>
            </a:pPr>
            <a:r>
              <a:t>Backpropagation Through Time is used for training</a:t>
            </a:r>
          </a:p>
          <a:p>
            <a:pPr>
              <a:defRPr sz="2000">
                <a:solidFill>
                  <a:srgbClr val="444444"/>
                </a:solidFill>
              </a:defRPr>
            </a:pPr>
            <a:r>
              <a:t>Simple RNN equation: h_t = sigmoid(Wx_t + Uh_{t-1})</a:t>
            </a:r>
          </a:p>
          <a:p>
            <a:pPr>
              <a:defRPr sz="2000">
                <a:solidFill>
                  <a:srgbClr val="444444"/>
                </a:solidFill>
              </a:defRPr>
            </a:pPr>
            <a:r>
              <a:t>Long Short-Term Memory networks are a variant</a:t>
            </a:r>
          </a:p>
          <a:p>
            <a:pPr>
              <a:defRPr sz="2000">
                <a:solidFill>
                  <a:srgbClr val="444444"/>
                </a:solidFill>
              </a:defRPr>
            </a:pPr>
            <a:r>
              <a:t>Gated Recurrent Units are another popular variant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Enables computers to learn from experience</a:t>
            </a:r>
          </a:p>
          <a:p>
            <a:pPr>
              <a:defRPr sz="2000">
                <a:solidFill>
                  <a:srgbClr val="444444"/>
                </a:solidFill>
              </a:defRPr>
            </a:pPr>
            <a:r>
              <a:t>Improves performance with more data and computation</a:t>
            </a:r>
          </a:p>
          <a:p>
            <a:pPr>
              <a:defRPr sz="2000">
                <a:solidFill>
                  <a:srgbClr val="444444"/>
                </a:solidFill>
              </a:defRPr>
            </a:pPr>
            <a:r>
              <a:t>Key applications include image recognition and speech</a:t>
            </a:r>
          </a:p>
          <a:p>
            <a:pPr>
              <a:defRPr sz="2000">
                <a:solidFill>
                  <a:srgbClr val="444444"/>
                </a:solidFill>
              </a:defRPr>
            </a:pPr>
            <a:r>
              <a:t>Deep learning models can be supervised or unsupervised</a:t>
            </a:r>
          </a:p>
          <a:p>
            <a:pPr>
              <a:defRPr sz="2000">
                <a:solidFill>
                  <a:srgbClr val="444444"/>
                </a:solidFill>
              </a:defRPr>
            </a:pPr>
            <a:r>
              <a:t>Requires large datasets and computational resources</a:t>
            </a:r>
          </a:p>
          <a:p>
            <a:pPr>
              <a:defRPr sz="2000">
                <a:solidFill>
                  <a:srgbClr val="444444"/>
                </a:solidFill>
              </a:defRPr>
            </a:pPr>
            <a:r>
              <a:t>Used in self-driving cars and natural language processing</a:t>
            </a:r>
          </a:p>
          <a:p>
            <a:pPr>
              <a:defRPr sz="2000">
                <a:solidFill>
                  <a:srgbClr val="444444"/>
                </a:solidFill>
              </a:defRPr>
            </a:pPr>
            <a:r>
              <a:t>Enhances decision-making in various industries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Key applications include image recognition and speech</a:t>
            </a:r>
          </a:p>
          <a:p>
            <a:pPr>
              <a:defRPr sz="2000">
                <a:solidFill>
                  <a:srgbClr val="444444"/>
                </a:solidFill>
              </a:defRPr>
            </a:pPr>
            <a:r>
              <a:t>Deep learning models can be trained on various tasks</a:t>
            </a:r>
          </a:p>
          <a:p>
            <a:pPr>
              <a:defRPr sz="2000">
                <a:solidFill>
                  <a:srgbClr val="444444"/>
                </a:solidFill>
              </a:defRPr>
            </a:pPr>
            <a:r>
              <a:t>Requires significant computational resources and data</a:t>
            </a:r>
          </a:p>
          <a:p>
            <a:pPr>
              <a:defRPr sz="2000">
                <a:solidFill>
                  <a:srgbClr val="444444"/>
                </a:solidFill>
              </a:defRPr>
            </a:pPr>
            <a:r>
              <a:t>Has many real-world applications and uses cases</a:t>
            </a:r>
          </a:p>
          <a:p>
            <a:pPr>
              <a:defRPr sz="2000">
                <a:solidFill>
                  <a:srgbClr val="444444"/>
                </a:solidFill>
              </a:defRPr>
            </a:pPr>
            <a:r>
              <a:t>Can be used for both supervised and unsupervised learning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Enables computers to perform complex tasks</a:t>
            </a:r>
          </a:p>
          <a:p>
            <a:pPr>
              <a:defRPr sz="2000">
                <a:solidFill>
                  <a:srgbClr val="444444"/>
                </a:solidFill>
              </a:defRPr>
            </a:pPr>
            <a:r>
              <a:t>Such as image recognition and natural language processing</a:t>
            </a:r>
          </a:p>
          <a:p>
            <a:pPr>
              <a:defRPr sz="2000">
                <a:solidFill>
                  <a:srgbClr val="444444"/>
                </a:solidFill>
              </a:defRPr>
            </a:pPr>
            <a:r>
              <a:t>Requires significant computational resources and data</a:t>
            </a:r>
          </a:p>
          <a:p>
            <a:pPr>
              <a:defRPr sz="2000">
                <a:solidFill>
                  <a:srgbClr val="444444"/>
                </a:solidFill>
              </a:defRPr>
            </a:pPr>
            <a:r>
              <a:t>Has many applications in industry and research</a:t>
            </a:r>
          </a:p>
          <a:p>
            <a:pPr>
              <a:defRPr sz="2000">
                <a:solidFill>
                  <a:srgbClr val="444444"/>
                </a:solidFill>
              </a:defRPr>
            </a:pPr>
            <a:r>
              <a:t>Includes techniques like convolutional and recurrent networks</a:t>
            </a:r>
          </a:p>
          <a:p>
            <a:pPr>
              <a:defRPr sz="2000">
                <a:solidFill>
                  <a:srgbClr val="444444"/>
                </a:solidFill>
              </a:defRPr>
            </a:pPr>
            <a:r>
              <a:t>Y = σ(WX + b) simple neural network equation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