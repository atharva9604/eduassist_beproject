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Recurrent Neural Network, Convolutional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that Recurrent Neural Networks are a type of Deep Learning model designed to handle sequential data. Provide examples such as speech recognition, time series forecasting, and natural language processing. Discuss the concept of feedback loops and how they enable the network to retain information over time. Ask students to consider how RNNs can be applied to real-world problems, such as language translation or stock market prediction. Key takeaways include understanding the basic architecture and applications of RNNs.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such as time series or natural language. Explain that RNNs have feedback connections, allowing them to retain information over time. Discuss the challenges of training RNNs, including vanishing gradients, and introduce solutions like LSTMs and GRUs. Provide examples of RNN applications, such as speech recognition and machine translation, to illustrate their practical uses. Ask students to consider how RNNs can be applied to real-world problems and what benefits they offer over other neural network architectures.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Recurrent Neural Networks (RNNs), emphasize the importance of sequential data processing and how feedback connections enable the model to capture temporal relationships. Provide examples such as speech recognition, language translation, or stock price prediction to illustrate the application of RNNs. Discuss how backpropagation through time is used for training and highlight the challenges associated with vanishing gradients. Ask students to consider how RNNs can be applied to real-world problems involving sequential data and what benefits they offer over traditional neural networks.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Convolutional Neural Networks, explain how they mimic the human brain's visual processing. Provide examples of applications such as image classification, object detection, and signal processing. Emphasize the importance of local connectivity and shared weights in reducing parameters. Ask students to consider real-world uses like self-driving cars and facial recognition, and discuss the training process using backpropagation and stochastic gradient descent. Key takeaways include understanding the basics of CNNs and their versatility in various tasks.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Convolutional Neural Networks, emphasize their inspiration from biological systems and their primary application in image classification. Explain that these networks can automatically learn features from images, which is a significant advancement over traditional machine learning methods. Give examples of applications such as object recognition, facial recognition, and self-driving cars. Ask students to consider how the architecture of CNNs, including convolutional and pooling layers, contributes to their effectiveness. Key takeaways should include understanding the basic components of CNNs and their ability to learn from visual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a Convolutional Neural Network, emphasize the role of convolutional and pooling layers in feature extraction. Provide examples of how filters detect edges and textures in images. Discuss the importance of activation functions and batch normalization in improving model performance. Ask students to consider how the architecture of a CNN might be adapted for different applications, such as image classification or object detection. Key takeaways include understanding the components of a CNN and how they work together to enable deep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 Convolutional Neural Network</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handle sequential data</a:t>
            </a:r>
          </a:p>
          <a:p>
            <a:pPr>
              <a:defRPr sz="2000">
                <a:solidFill>
                  <a:srgbClr val="444444"/>
                </a:solidFill>
              </a:defRPr>
            </a:pPr>
            <a:r>
              <a:t>Used for time series forecasting and prediction</a:t>
            </a:r>
          </a:p>
          <a:p>
            <a:pPr>
              <a:defRPr sz="2000">
                <a:solidFill>
                  <a:srgbClr val="444444"/>
                </a:solidFill>
              </a:defRPr>
            </a:pPr>
            <a:r>
              <a:t>Inspired by human brain's recurrent connections</a:t>
            </a:r>
          </a:p>
          <a:p>
            <a:pPr>
              <a:defRPr sz="2000">
                <a:solidFill>
                  <a:srgbClr val="444444"/>
                </a:solidFill>
              </a:defRPr>
            </a:pPr>
            <a:r>
              <a:t>Feedback loops allow information retention</a:t>
            </a:r>
          </a:p>
          <a:p>
            <a:pPr>
              <a:defRPr sz="2000">
                <a:solidFill>
                  <a:srgbClr val="444444"/>
                </a:solidFill>
              </a:defRPr>
            </a:pPr>
            <a:r>
              <a:t>Trained using backpropagation through time</a:t>
            </a:r>
          </a:p>
          <a:p>
            <a:pPr>
              <a:defRPr sz="2000">
                <a:solidFill>
                  <a:srgbClr val="444444"/>
                </a:solidFill>
              </a:defRPr>
            </a:pPr>
            <a:r>
              <a:t>Effective for speech recognition and translation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Used for time series forecasting and language modeling</a:t>
            </a:r>
          </a:p>
          <a:p>
            <a:pPr>
              <a:defRPr sz="2000">
                <a:solidFill>
                  <a:srgbClr val="444444"/>
                </a:solidFill>
              </a:defRPr>
            </a:pPr>
            <a:r>
              <a:t>Feedback connections allow information retention</a:t>
            </a:r>
          </a:p>
          <a:p>
            <a:pPr>
              <a:defRPr sz="2000">
                <a:solidFill>
                  <a:srgbClr val="444444"/>
                </a:solidFill>
              </a:defRPr>
            </a:pPr>
            <a:r>
              <a:t>Trained using backpropagation through time</a:t>
            </a:r>
          </a:p>
          <a:p>
            <a:pPr>
              <a:defRPr sz="2000">
                <a:solidFill>
                  <a:srgbClr val="444444"/>
                </a:solidFill>
              </a:defRPr>
            </a:pPr>
            <a:r>
              <a:t>Vanishing gradients affect deep RNNs</a:t>
            </a:r>
          </a:p>
          <a:p>
            <a:pPr>
              <a:defRPr sz="2000">
                <a:solidFill>
                  <a:srgbClr val="444444"/>
                </a:solidFill>
              </a:defRPr>
            </a:pPr>
            <a:r>
              <a:t>LSTMs and GRUs address vanishing gradient issue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 - Architecture</a:t>
            </a:r>
          </a:p>
        </p:txBody>
      </p:sp>
      <p:sp>
        <p:nvSpPr>
          <p:cNvPr id="3" name="Content Placeholder 2"/>
          <p:cNvSpPr>
            <a:spLocks noGrp="1"/>
          </p:cNvSpPr>
          <p:nvPr>
            <p:ph idx="1"/>
          </p:nvPr>
        </p:nvSpPr>
        <p:spPr/>
        <p:txBody>
          <a:bodyPr/>
          <a:lstStyle/>
          <a:p>
            <a:pPr>
              <a:defRPr sz="2000">
                <a:solidFill>
                  <a:srgbClr val="444444"/>
                </a:solidFill>
              </a:defRPr>
            </a:pPr>
            <a:r>
              <a:t>Utilizes sequential data or time series data</a:t>
            </a:r>
          </a:p>
          <a:p>
            <a:pPr>
              <a:defRPr sz="2000">
                <a:solidFill>
                  <a:srgbClr val="444444"/>
                </a:solidFill>
              </a:defRPr>
            </a:pPr>
            <a:r>
              <a:t>Comprises input, hidden, and output layers</a:t>
            </a:r>
          </a:p>
          <a:p>
            <a:pPr>
              <a:defRPr sz="2000">
                <a:solidFill>
                  <a:srgbClr val="444444"/>
                </a:solidFill>
              </a:defRPr>
            </a:pPr>
            <a:r>
              <a:t>Feedback connections allow information reuse</a:t>
            </a:r>
          </a:p>
          <a:p>
            <a:pPr>
              <a:defRPr sz="2000">
                <a:solidFill>
                  <a:srgbClr val="444444"/>
                </a:solidFill>
              </a:defRPr>
            </a:pPr>
            <a:r>
              <a:t>Trained using backpropagation through time</a:t>
            </a:r>
          </a:p>
          <a:p>
            <a:pPr>
              <a:defRPr sz="2000">
                <a:solidFill>
                  <a:srgbClr val="444444"/>
                </a:solidFill>
              </a:defRPr>
            </a:pPr>
            <a:r>
              <a:t>Handles variable-length input sequences</a:t>
            </a:r>
          </a:p>
          <a:p>
            <a:pPr>
              <a:defRPr sz="2000">
                <a:solidFill>
                  <a:srgbClr val="444444"/>
                </a:solidFill>
              </a:defRPr>
            </a:pPr>
            <a:r>
              <a:t>Effective for speech, text, and time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 - Introduction</a:t>
            </a:r>
          </a:p>
        </p:txBody>
      </p:sp>
      <p:sp>
        <p:nvSpPr>
          <p:cNvPr id="3" name="Content Placeholder 2"/>
          <p:cNvSpPr>
            <a:spLocks noGrp="1"/>
          </p:cNvSpPr>
          <p:nvPr>
            <p:ph idx="1"/>
          </p:nvPr>
        </p:nvSpPr>
        <p:spPr/>
        <p:txBody>
          <a:bodyPr/>
          <a:lstStyle/>
          <a:p>
            <a:pPr>
              <a:defRPr sz="2000">
                <a:solidFill>
                  <a:srgbClr val="444444"/>
                </a:solidFill>
              </a:defRPr>
            </a:pPr>
            <a:r>
              <a:t>Inspired by biological neural networks and visual cortex</a:t>
            </a:r>
          </a:p>
          <a:p>
            <a:pPr>
              <a:defRPr sz="2000">
                <a:solidFill>
                  <a:srgbClr val="444444"/>
                </a:solidFill>
              </a:defRPr>
            </a:pPr>
            <a:r>
              <a:t>Use convolutional and pooling layers for image processing</a:t>
            </a:r>
          </a:p>
          <a:p>
            <a:pPr>
              <a:defRPr sz="2000">
                <a:solidFill>
                  <a:srgbClr val="444444"/>
                </a:solidFill>
              </a:defRPr>
            </a:pPr>
            <a:r>
              <a:t>Effective in image classification and object detection tasks</a:t>
            </a:r>
          </a:p>
          <a:p>
            <a:pPr>
              <a:defRPr sz="2000">
                <a:solidFill>
                  <a:srgbClr val="444444"/>
                </a:solidFill>
              </a:defRPr>
            </a:pPr>
            <a:r>
              <a:t>Utilize local connectivity and shared weights</a:t>
            </a:r>
          </a:p>
          <a:p>
            <a:pPr>
              <a:defRPr sz="2000">
                <a:solidFill>
                  <a:srgbClr val="444444"/>
                </a:solidFill>
              </a:defRPr>
            </a:pPr>
            <a:r>
              <a:t>Apply to signal processing and natural language processing</a:t>
            </a:r>
          </a:p>
          <a:p>
            <a:pPr>
              <a:defRPr sz="2000">
                <a:solidFill>
                  <a:srgbClr val="444444"/>
                </a:solidFill>
              </a:defRPr>
            </a:pPr>
            <a:r>
              <a:t>Train using backpropagation and stochastic gradient descent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 - Introduction</a:t>
            </a:r>
          </a:p>
        </p:txBody>
      </p:sp>
      <p:sp>
        <p:nvSpPr>
          <p:cNvPr id="3" name="Content Placeholder 2"/>
          <p:cNvSpPr>
            <a:spLocks noGrp="1"/>
          </p:cNvSpPr>
          <p:nvPr>
            <p:ph idx="1"/>
          </p:nvPr>
        </p:nvSpPr>
        <p:spPr/>
        <p:txBody>
          <a:bodyPr/>
          <a:lstStyle/>
          <a:p>
            <a:pPr>
              <a:defRPr sz="2000">
                <a:solidFill>
                  <a:srgbClr val="444444"/>
                </a:solidFill>
              </a:defRPr>
            </a:pPr>
            <a:r>
              <a:t>Convolutional Neural Networks are deep learning models</a:t>
            </a:r>
          </a:p>
          <a:p>
            <a:pPr>
              <a:defRPr sz="2000">
                <a:solidFill>
                  <a:srgbClr val="444444"/>
                </a:solidFill>
              </a:defRPr>
            </a:pPr>
            <a:r>
              <a:t>Inspired by biological neural networks and visual cortex</a:t>
            </a:r>
          </a:p>
          <a:p>
            <a:pPr>
              <a:defRPr sz="2000">
                <a:solidFill>
                  <a:srgbClr val="444444"/>
                </a:solidFill>
              </a:defRPr>
            </a:pPr>
            <a:r>
              <a:t>Primarily used for image classification tasks</a:t>
            </a:r>
          </a:p>
          <a:p>
            <a:pPr>
              <a:defRPr sz="2000">
                <a:solidFill>
                  <a:srgbClr val="444444"/>
                </a:solidFill>
              </a:defRPr>
            </a:pPr>
            <a:r>
              <a:t>Can learn spatial hierarchies of features automatically</a:t>
            </a:r>
          </a:p>
          <a:p>
            <a:pPr>
              <a:defRPr sz="2000">
                <a:solidFill>
                  <a:srgbClr val="444444"/>
                </a:solidFill>
              </a:defRPr>
            </a:pPr>
            <a:r>
              <a:t>Consist of convolutional and pooling layers</a:t>
            </a:r>
          </a:p>
          <a:p>
            <a:pPr>
              <a:defRPr sz="2000">
                <a:solidFill>
                  <a:srgbClr val="444444"/>
                </a:solidFill>
              </a:defRPr>
            </a:pPr>
            <a:r>
              <a:t>Use convolutional layers for feature extraction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Convolutional Neural Network - Architecture</a:t>
            </a:r>
          </a:p>
        </p:txBody>
      </p:sp>
      <p:sp>
        <p:nvSpPr>
          <p:cNvPr id="3" name="Content Placeholder 2"/>
          <p:cNvSpPr>
            <a:spLocks noGrp="1"/>
          </p:cNvSpPr>
          <p:nvPr>
            <p:ph idx="1"/>
          </p:nvPr>
        </p:nvSpPr>
        <p:spPr/>
        <p:txBody>
          <a:bodyPr/>
          <a:lstStyle/>
          <a:p>
            <a:pPr>
              <a:defRPr sz="2000">
                <a:solidFill>
                  <a:srgbClr val="444444"/>
                </a:solidFill>
              </a:defRPr>
            </a:pPr>
            <a:r>
              <a:t>Consists of convolutional and pooling layers</a:t>
            </a:r>
          </a:p>
          <a:p>
            <a:pPr>
              <a:defRPr sz="2000">
                <a:solidFill>
                  <a:srgbClr val="444444"/>
                </a:solidFill>
              </a:defRPr>
            </a:pPr>
            <a:r>
              <a:t>Uses filters to detect local patterns</a:t>
            </a:r>
          </a:p>
          <a:p>
            <a:pPr>
              <a:defRPr sz="2000">
                <a:solidFill>
                  <a:srgbClr val="444444"/>
                </a:solidFill>
              </a:defRPr>
            </a:pPr>
            <a:r>
              <a:t>Activation functions introduce non-linearity</a:t>
            </a:r>
          </a:p>
          <a:p>
            <a:pPr>
              <a:defRPr sz="2000">
                <a:solidFill>
                  <a:srgbClr val="444444"/>
                </a:solidFill>
              </a:defRPr>
            </a:pPr>
            <a:r>
              <a:t>Flatten layer transforms data for dense layers</a:t>
            </a:r>
          </a:p>
          <a:p>
            <a:pPr>
              <a:defRPr sz="2000">
                <a:solidFill>
                  <a:srgbClr val="444444"/>
                </a:solidFill>
              </a:defRPr>
            </a:pPr>
            <a:r>
              <a:t>Dense layers for classification or regression</a:t>
            </a:r>
          </a:p>
          <a:p>
            <a:pPr>
              <a:defRPr sz="2000">
                <a:solidFill>
                  <a:srgbClr val="444444"/>
                </a:solidFill>
              </a:defRPr>
            </a:pPr>
            <a:r>
              <a:t>y = σ(Wx + b) for neural network output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