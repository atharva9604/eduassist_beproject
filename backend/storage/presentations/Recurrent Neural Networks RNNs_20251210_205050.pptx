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topic of Recurrent Neural Networks, a fundamental component of deep learning. Today, we'll explore what RNNs are, their architecture, and applications. Ask students if they have any prior knowledge of neural networks.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that RNNs are designed to handle sequential data, which is common in many real-world scenarios. Provide examples of language modeling and speech recognition. Ask students to think of other areas where sequential data is used, such as time-series forecasting.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basic architecture of an RNN, including the feedback connections and hidden state. Write the simple RNN equation on the board and explain what each component represents. Ask students to consider how the gates control information flow in the RNN.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different variants of RNNs, including LSTMs and GRUs. Explain the advantages and limitations of each. Provide examples of how RNNs are used in industry and research, such as language translation and speech recognition. Ask students to consider the potential applications of RNNs in their own fields of interest.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advantages and limitations of RNNs. Explain how RNNs can learn long-term dependencies and handle sequential data. Provide examples of how RNNs are widely used in industry. Ask students to consider the potential limitations of RNNs, such as computational expense and sensitivity to hyperparameters.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Provide examples of real-world applications of RNNs. Explain how RNNs are used in language translation, speech recognition, and time-series forecasting. Ask students to think of other potential applications of RNNs, such as sentiment analysis and text classification.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Summarize the key takeaways from the presentation. Explain that RNNs are a type of neural network that handles sequential data and learns from experience. Provide examples of the many applications of RNNs and discuss the advantages and limitations. Ask students to reflect on what they have learned and how they can apply it in their own work.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Recurrent Neural Networks (RNNs)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Deep Learning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and Background</a:t>
            </a:r>
          </a:p>
        </p:txBody>
      </p:sp>
      <p:sp>
        <p:nvSpPr>
          <p:cNvPr id="3" name="Content Placeholder 2"/>
          <p:cNvSpPr>
            <a:spLocks noGrp="1"/>
          </p:cNvSpPr>
          <p:nvPr>
            <p:ph idx="1"/>
          </p:nvPr>
        </p:nvSpPr>
        <p:spPr/>
        <p:txBody>
          <a:bodyPr/>
          <a:lstStyle/>
          <a:p>
            <a:pPr>
              <a:defRPr sz="2000">
                <a:solidFill>
                  <a:srgbClr val="444444"/>
                </a:solidFill>
              </a:defRPr>
            </a:pPr>
            <a:r>
              <a:t>RNNs handle sequential data</a:t>
            </a:r>
          </a:p>
          <a:p>
            <a:pPr>
              <a:defRPr sz="2000">
                <a:solidFill>
                  <a:srgbClr val="444444"/>
                </a:solidFill>
              </a:defRPr>
            </a:pPr>
            <a:r>
              <a:t>Used in language modeling, speech recognition</a:t>
            </a:r>
          </a:p>
          <a:p>
            <a:pPr>
              <a:defRPr sz="2000">
                <a:solidFill>
                  <a:srgbClr val="444444"/>
                </a:solidFill>
              </a:defRPr>
            </a:pPr>
            <a:r>
              <a:t>Time-series forecasting, natural language processing</a:t>
            </a:r>
          </a:p>
          <a:p>
            <a:pPr>
              <a:defRPr sz="2000">
                <a:solidFill>
                  <a:srgbClr val="444444"/>
                </a:solidFill>
              </a:defRPr>
            </a:pPr>
            <a:r>
              <a:t>RNNs learn from experience, improve over time</a:t>
            </a:r>
          </a:p>
          <a:p>
            <a:pPr>
              <a:defRPr sz="2000">
                <a:solidFill>
                  <a:srgbClr val="444444"/>
                </a:solidFill>
              </a:defRPr>
            </a:pPr>
            <a:r>
              <a:t>Sequential data is common in real-world scenarios</a:t>
            </a:r>
          </a:p>
          <a:p>
            <a:pPr>
              <a:defRPr sz="2000">
                <a:solidFill>
                  <a:srgbClr val="444444"/>
                </a:solidFill>
              </a:defRPr>
            </a:pPr>
            <a:r>
              <a:t>RNNs are a type of supervised learning</a:t>
            </a:r>
          </a:p>
          <a:p>
            <a:pPr>
              <a:defRPr sz="2000">
                <a:solidFill>
                  <a:srgbClr val="444444"/>
                </a:solidFill>
              </a:defRPr>
            </a:pPr>
            <a:r>
              <a:t>Training data consists of input sequences</a:t>
            </a:r>
          </a:p>
          <a:p>
            <a:pPr>
              <a:defRPr sz="2000">
                <a:solidFill>
                  <a:srgbClr val="444444"/>
                </a:solidFill>
              </a:defRPr>
            </a:pPr>
            <a:r>
              <a:t>RNNs predict output sequences</a:t>
            </a:r>
          </a:p>
          <a:p>
            <a:pPr>
              <a:defRPr sz="2000">
                <a:solidFill>
                  <a:srgbClr val="444444"/>
                </a:solidFill>
              </a:defRPr>
            </a:pPr>
            <a:r>
              <a:t>RNNs are widely used in industry and research</a:t>
            </a:r>
          </a:p>
          <a:p>
            <a:pPr>
              <a:defRPr sz="2000">
                <a:solidFill>
                  <a:srgbClr val="444444"/>
                </a:solidFill>
              </a:defRPr>
            </a:pPr>
            <a:r>
              <a:t>RNNs have many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Architecture and Key Equation</a:t>
            </a:r>
          </a:p>
        </p:txBody>
      </p:sp>
      <p:sp>
        <p:nvSpPr>
          <p:cNvPr id="3" name="Content Placeholder 2"/>
          <p:cNvSpPr>
            <a:spLocks noGrp="1"/>
          </p:cNvSpPr>
          <p:nvPr>
            <p:ph idx="1"/>
          </p:nvPr>
        </p:nvSpPr>
        <p:spPr/>
        <p:txBody>
          <a:bodyPr/>
          <a:lstStyle/>
          <a:p>
            <a:pPr>
              <a:defRPr sz="2000">
                <a:solidFill>
                  <a:srgbClr val="444444"/>
                </a:solidFill>
              </a:defRPr>
            </a:pPr>
            <a:r>
              <a:t>Simple RNN architecture: image_query</a:t>
            </a:r>
          </a:p>
          <a:p>
            <a:pPr>
              <a:defRPr sz="2000">
                <a:solidFill>
                  <a:srgbClr val="444444"/>
                </a:solidFill>
              </a:defRPr>
            </a:pPr>
            <a:r>
              <a:t>Basic RNN equation: h_t = tanh</a:t>
            </a:r>
          </a:p>
          <a:p>
            <a:pPr>
              <a:defRPr sz="2000">
                <a:solidFill>
                  <a:srgbClr val="444444"/>
                </a:solidFill>
              </a:defRPr>
            </a:pPr>
            <a:r>
              <a:t>RNNs have feedback connections</a:t>
            </a:r>
          </a:p>
          <a:p>
            <a:pPr>
              <a:defRPr sz="2000">
                <a:solidFill>
                  <a:srgbClr val="444444"/>
                </a:solidFill>
              </a:defRPr>
            </a:pPr>
            <a:r>
              <a:t>Hidden state is used to store information</a:t>
            </a:r>
          </a:p>
          <a:p>
            <a:pPr>
              <a:defRPr sz="2000">
                <a:solidFill>
                  <a:srgbClr val="444444"/>
                </a:solidFill>
              </a:defRPr>
            </a:pPr>
            <a:r>
              <a:t>Input gate, output gate, forget gate</a:t>
            </a:r>
          </a:p>
          <a:p>
            <a:pPr>
              <a:defRPr sz="2000">
                <a:solidFill>
                  <a:srgbClr val="444444"/>
                </a:solidFill>
              </a:defRPr>
            </a:pPr>
            <a:r>
              <a:t>Gates control information flow</a:t>
            </a:r>
          </a:p>
          <a:p>
            <a:pPr>
              <a:defRPr sz="2000">
                <a:solidFill>
                  <a:srgbClr val="444444"/>
                </a:solidFill>
              </a:defRPr>
            </a:pPr>
            <a:r>
              <a:t>RNNs can be trained using backpropagation</a:t>
            </a:r>
          </a:p>
          <a:p>
            <a:pPr>
              <a:defRPr sz="2000">
                <a:solidFill>
                  <a:srgbClr val="444444"/>
                </a:solidFill>
              </a:defRPr>
            </a:pPr>
            <a:r>
              <a:t>RNNs are computationally expensive</a:t>
            </a:r>
          </a:p>
          <a:p>
            <a:pPr>
              <a:defRPr sz="2000">
                <a:solidFill>
                  <a:srgbClr val="444444"/>
                </a:solidFill>
              </a:defRPr>
            </a:pPr>
            <a:r>
              <a:t>RNNs require large amounts of training data</a:t>
            </a:r>
          </a:p>
          <a:p>
            <a:pPr>
              <a:defRPr sz="2000">
                <a:solidFill>
                  <a:srgbClr val="444444"/>
                </a:solidFill>
              </a:defRPr>
            </a:pPr>
            <a:r>
              <a:t>RNNs are sensitive to hyperparameters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Variants and Applications</a:t>
            </a:r>
          </a:p>
        </p:txBody>
      </p:sp>
      <p:sp>
        <p:nvSpPr>
          <p:cNvPr id="3" name="Content Placeholder 2"/>
          <p:cNvSpPr>
            <a:spLocks noGrp="1"/>
          </p:cNvSpPr>
          <p:nvPr>
            <p:ph idx="1"/>
          </p:nvPr>
        </p:nvSpPr>
        <p:spPr/>
        <p:txBody>
          <a:bodyPr/>
          <a:lstStyle/>
          <a:p>
            <a:pPr>
              <a:defRPr sz="2000">
                <a:solidFill>
                  <a:srgbClr val="444444"/>
                </a:solidFill>
              </a:defRPr>
            </a:pPr>
            <a:r>
              <a:t>LSTM (Long Short-Term Memory) networks</a:t>
            </a:r>
          </a:p>
          <a:p>
            <a:pPr>
              <a:defRPr sz="2000">
                <a:solidFill>
                  <a:srgbClr val="444444"/>
                </a:solidFill>
              </a:defRPr>
            </a:pPr>
            <a:r>
              <a:t>GRU (Gated Recurrent Unit) networks</a:t>
            </a:r>
          </a:p>
          <a:p>
            <a:pPr>
              <a:defRPr sz="2000">
                <a:solidFill>
                  <a:srgbClr val="444444"/>
                </a:solidFill>
              </a:defRPr>
            </a:pPr>
            <a:r>
              <a:t>Bidirectional RNNs</a:t>
            </a:r>
          </a:p>
          <a:p>
            <a:pPr>
              <a:defRPr sz="2000">
                <a:solidFill>
                  <a:srgbClr val="444444"/>
                </a:solidFill>
              </a:defRPr>
            </a:pPr>
            <a:r>
              <a:t>Multilayer RNNs</a:t>
            </a:r>
          </a:p>
          <a:p>
            <a:pPr>
              <a:defRPr sz="2000">
                <a:solidFill>
                  <a:srgbClr val="444444"/>
                </a:solidFill>
              </a:defRPr>
            </a:pPr>
            <a:r>
              <a:t>RNNs are used in language translation</a:t>
            </a:r>
          </a:p>
          <a:p>
            <a:pPr>
              <a:defRPr sz="2000">
                <a:solidFill>
                  <a:srgbClr val="444444"/>
                </a:solidFill>
              </a:defRPr>
            </a:pPr>
            <a:r>
              <a:t>RNNs are used in speech recognition</a:t>
            </a:r>
          </a:p>
          <a:p>
            <a:pPr>
              <a:defRPr sz="2000">
                <a:solidFill>
                  <a:srgbClr val="444444"/>
                </a:solidFill>
              </a:defRPr>
            </a:pPr>
            <a:r>
              <a:t>RNNs are used in time-series forecasting</a:t>
            </a:r>
          </a:p>
          <a:p>
            <a:pPr>
              <a:defRPr sz="2000">
                <a:solidFill>
                  <a:srgbClr val="444444"/>
                </a:solidFill>
              </a:defRPr>
            </a:pPr>
            <a:r>
              <a:t>RNNs have many advantages</a:t>
            </a:r>
          </a:p>
          <a:p>
            <a:pPr>
              <a:defRPr sz="2000">
                <a:solidFill>
                  <a:srgbClr val="444444"/>
                </a:solidFill>
              </a:defRPr>
            </a:pPr>
            <a:r>
              <a:t>RNNs have some limitations</a:t>
            </a:r>
          </a:p>
          <a:p>
            <a:pPr>
              <a:defRPr sz="2000">
                <a:solidFill>
                  <a:srgbClr val="444444"/>
                </a:solidFill>
              </a:defRPr>
            </a:pPr>
            <a:r>
              <a:t>RNNs are widely used in industry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Advantages and Limitations</a:t>
            </a:r>
          </a:p>
        </p:txBody>
      </p:sp>
      <p:sp>
        <p:nvSpPr>
          <p:cNvPr id="3" name="Content Placeholder 2"/>
          <p:cNvSpPr>
            <a:spLocks noGrp="1"/>
          </p:cNvSpPr>
          <p:nvPr>
            <p:ph idx="1"/>
          </p:nvPr>
        </p:nvSpPr>
        <p:spPr/>
        <p:txBody>
          <a:bodyPr/>
          <a:lstStyle/>
          <a:p>
            <a:pPr>
              <a:defRPr sz="2000">
                <a:solidFill>
                  <a:srgbClr val="444444"/>
                </a:solidFill>
              </a:defRPr>
            </a:pPr>
            <a:r>
              <a:t>RNNs can learn long-term dependencies</a:t>
            </a:r>
          </a:p>
          <a:p>
            <a:pPr>
              <a:defRPr sz="2000">
                <a:solidFill>
                  <a:srgbClr val="444444"/>
                </a:solidFill>
              </a:defRPr>
            </a:pPr>
            <a:r>
              <a:t>RNNs can handle sequential data</a:t>
            </a:r>
          </a:p>
          <a:p>
            <a:pPr>
              <a:defRPr sz="2000">
                <a:solidFill>
                  <a:srgbClr val="444444"/>
                </a:solidFill>
              </a:defRPr>
            </a:pPr>
            <a:r>
              <a:t>RNNs are widely used in industry</a:t>
            </a:r>
          </a:p>
          <a:p>
            <a:pPr>
              <a:defRPr sz="2000">
                <a:solidFill>
                  <a:srgbClr val="444444"/>
                </a:solidFill>
              </a:defRPr>
            </a:pPr>
            <a:r>
              <a:t>RNNs are computationally expensive</a:t>
            </a:r>
          </a:p>
          <a:p>
            <a:pPr>
              <a:defRPr sz="2000">
                <a:solidFill>
                  <a:srgbClr val="444444"/>
                </a:solidFill>
              </a:defRPr>
            </a:pPr>
            <a:r>
              <a:t>RNNs require large amounts of training data</a:t>
            </a:r>
          </a:p>
          <a:p>
            <a:pPr>
              <a:defRPr sz="2000">
                <a:solidFill>
                  <a:srgbClr val="444444"/>
                </a:solidFill>
              </a:defRPr>
            </a:pPr>
            <a:r>
              <a:t>RNNs are sensitive to hyperparameters</a:t>
            </a:r>
          </a:p>
          <a:p>
            <a:pPr>
              <a:defRPr sz="2000">
                <a:solidFill>
                  <a:srgbClr val="444444"/>
                </a:solidFill>
              </a:defRPr>
            </a:pPr>
            <a:r>
              <a:t>RNNs can suffer from vanishing gradients</a:t>
            </a:r>
          </a:p>
          <a:p>
            <a:pPr>
              <a:defRPr sz="2000">
                <a:solidFill>
                  <a:srgbClr val="444444"/>
                </a:solidFill>
              </a:defRPr>
            </a:pPr>
            <a:r>
              <a:t>RNNs can suffer from exploding gradients</a:t>
            </a:r>
          </a:p>
          <a:p>
            <a:pPr>
              <a:defRPr sz="2000">
                <a:solidFill>
                  <a:srgbClr val="444444"/>
                </a:solidFill>
              </a:defRPr>
            </a:pPr>
            <a:r>
              <a:t>RNNs have many applications</a:t>
            </a:r>
          </a:p>
          <a:p>
            <a:pPr>
              <a:defRPr sz="2000">
                <a:solidFill>
                  <a:srgbClr val="444444"/>
                </a:solidFill>
              </a:defRPr>
            </a:pPr>
            <a:r>
              <a:t>RNNs are a type of supervised learning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Real-World Applications</a:t>
            </a:r>
          </a:p>
        </p:txBody>
      </p:sp>
      <p:sp>
        <p:nvSpPr>
          <p:cNvPr id="3" name="Content Placeholder 2"/>
          <p:cNvSpPr>
            <a:spLocks noGrp="1"/>
          </p:cNvSpPr>
          <p:nvPr>
            <p:ph idx="1"/>
          </p:nvPr>
        </p:nvSpPr>
        <p:spPr/>
        <p:txBody>
          <a:bodyPr/>
          <a:lstStyle/>
          <a:p>
            <a:pPr>
              <a:defRPr sz="2000">
                <a:solidFill>
                  <a:srgbClr val="444444"/>
                </a:solidFill>
              </a:defRPr>
            </a:pPr>
            <a:r>
              <a:t>Language translation</a:t>
            </a:r>
          </a:p>
          <a:p>
            <a:pPr>
              <a:defRPr sz="2000">
                <a:solidFill>
                  <a:srgbClr val="444444"/>
                </a:solidFill>
              </a:defRPr>
            </a:pPr>
            <a:r>
              <a:t>Speech recognition</a:t>
            </a:r>
          </a:p>
          <a:p>
            <a:pPr>
              <a:defRPr sz="2000">
                <a:solidFill>
                  <a:srgbClr val="444444"/>
                </a:solidFill>
              </a:defRPr>
            </a:pPr>
            <a:r>
              <a:t>Time-series forecasting</a:t>
            </a:r>
          </a:p>
          <a:p>
            <a:pPr>
              <a:defRPr sz="2000">
                <a:solidFill>
                  <a:srgbClr val="444444"/>
                </a:solidFill>
              </a:defRPr>
            </a:pPr>
            <a:r>
              <a:t>Natural language processing</a:t>
            </a:r>
          </a:p>
          <a:p>
            <a:pPr>
              <a:defRPr sz="2000">
                <a:solidFill>
                  <a:srgbClr val="444444"/>
                </a:solidFill>
              </a:defRPr>
            </a:pPr>
            <a:r>
              <a:t>Sentiment analysis</a:t>
            </a:r>
          </a:p>
          <a:p>
            <a:pPr>
              <a:defRPr sz="2000">
                <a:solidFill>
                  <a:srgbClr val="444444"/>
                </a:solidFill>
              </a:defRPr>
            </a:pPr>
            <a:r>
              <a:t>Text classification</a:t>
            </a:r>
          </a:p>
          <a:p>
            <a:pPr>
              <a:defRPr sz="2000">
                <a:solidFill>
                  <a:srgbClr val="444444"/>
                </a:solidFill>
              </a:defRPr>
            </a:pPr>
            <a:r>
              <a:t>Image captioning</a:t>
            </a:r>
          </a:p>
          <a:p>
            <a:pPr>
              <a:defRPr sz="2000">
                <a:solidFill>
                  <a:srgbClr val="444444"/>
                </a:solidFill>
              </a:defRPr>
            </a:pPr>
            <a:r>
              <a:t>Machine translation</a:t>
            </a:r>
          </a:p>
          <a:p>
            <a:pPr>
              <a:defRPr sz="2000">
                <a:solidFill>
                  <a:srgbClr val="444444"/>
                </a:solidFill>
              </a:defRPr>
            </a:pPr>
            <a:r>
              <a:t>Dialogue systems</a:t>
            </a:r>
          </a:p>
          <a:p>
            <a:pPr>
              <a:defRPr sz="2000">
                <a:solidFill>
                  <a:srgbClr val="444444"/>
                </a:solidFill>
              </a:defRPr>
            </a:pPr>
            <a:r>
              <a:t>Chatbots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C00000"/>
                </a:solidFill>
              </a:defRPr>
            </a:pPr>
            <a:r>
              <a:t>Summary</a:t>
            </a:r>
          </a:p>
        </p:txBody>
      </p:sp>
      <p:sp>
        <p:nvSpPr>
          <p:cNvPr id="3" name="Content Placeholder 2"/>
          <p:cNvSpPr>
            <a:spLocks noGrp="1"/>
          </p:cNvSpPr>
          <p:nvPr>
            <p:ph idx="1"/>
          </p:nvPr>
        </p:nvSpPr>
        <p:spPr/>
        <p:txBody>
          <a:bodyPr/>
          <a:lstStyle/>
          <a:p>
            <a:pPr>
              <a:defRPr sz="2200" b="1">
                <a:solidFill>
                  <a:srgbClr val="1F497D"/>
                </a:solidFill>
              </a:defRPr>
            </a:pPr>
            <a:r>
              <a:t>RNNs handle sequential data</a:t>
            </a:r>
          </a:p>
          <a:p>
            <a:pPr>
              <a:defRPr sz="2200" b="1">
                <a:solidFill>
                  <a:srgbClr val="1F497D"/>
                </a:solidFill>
              </a:defRPr>
            </a:pPr>
            <a:r>
              <a:t>Simple RNN architecture: image_query</a:t>
            </a:r>
          </a:p>
          <a:p>
            <a:pPr>
              <a:defRPr sz="2200" b="1">
                <a:solidFill>
                  <a:srgbClr val="1F497D"/>
                </a:solidFill>
              </a:defRPr>
            </a:pPr>
            <a:r>
              <a:t>LSTM (Long Short-Term Memory) networks</a:t>
            </a:r>
          </a:p>
          <a:p>
            <a:pPr>
              <a:defRPr sz="2200" b="1">
                <a:solidFill>
                  <a:srgbClr val="1F497D"/>
                </a:solidFill>
              </a:defRPr>
            </a:pPr>
            <a:r>
              <a:t>RNNs can learn long-term dependencies</a:t>
            </a:r>
          </a:p>
          <a:p>
            <a:pPr>
              <a:defRPr sz="2200" b="1">
                <a:solidFill>
                  <a:srgbClr val="1F497D"/>
                </a:solidFill>
              </a:defRPr>
            </a:pPr>
            <a:r>
              <a:t>Language translation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