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Machine Learning presentation covering multiple topics. Today we'll explore: Autoencoders, Introduction, Architecture, Mathematical Formulation, Types of Autoencoders, Applications,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autoencoders, explain their primary function as a dimensionality reduction tool and their application in unsupervised learning. Provide examples of how they can be used in image processing for noise reduction and in text data for feature extraction. Discuss the components of an autoencoder, including the encoder and decoder, and how they work together to minimize reconstruction error. Ask students to consider how autoencoders could be applied to real-world problems, such as data compression or anomaly detection. Key takeaways should include understanding the basic architecture and the potential applications of autoencoders in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autoencoders, explain that they are a type of neural network used for dimensionality reduction, which is the process of reducing the number of features or dimensions in a dataset while preserving the most important information. Provide examples of how autoencoders can be used in real-world applications such as image compression, anomaly detection, and generative models. Ask students to consider the benefits of using autoencoders, such as improved performance of other machine learning models and the ability to extract meaningful features from data. Key takeaways include understanding the components of an autoencoder, including the encoder and decoder, and how they work together to minimize reconstruction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autoencoders, emphasize the role of the encoder and decoder networks. Provide examples of how autoencoders can be customized for specific tasks, such as image compression or anomaly detection. Ask students to consider how the choice of loss function and architecture can impact the performance of the autoencoder. Key takeaways include understanding the basic components of an autoencoder and how they can be applied to real-world problems.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machine learning, emphasize its role as a subset of artificial intelligence that allows systems to learn from data. Provide examples of applications such as image recognition, natural language processing, and recommendation systems. Explain the difference between supervised, unsupervised, and reinforcement learning. Use real-world examples like self-driving cars and chatbots to illustrate the impact of machine learning. Ask students to consider how machine learning can be applied in various industries and what ethical considerations arise from its use. Key takeaways should include understanding machine learning's potential and its growing importance in business intelligence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machine learning, emphasize its connection to artificial intelligence and its ability to learn from data. Provide examples of applications such as image recognition and self-driving cars to illustrate its impact. Discuss the different types of machine learning, including supervised, unsupervised, and reinforcement learning. Ask students about potential applications in their own fields of interest and how machine learning could solve real-world problems. Key takeaways should include understanding the basics of machine learning and its vast potential for innovation and improvement in various industries.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machine learning, emphasize its role as a subset of AI, focusing on learning from data. Provide examples such as image recognition in self-driving cars and natural language processing in virtual assistants. Explain that machine learning involves statistical models and algorithms, and highlight its applications across various industries. Ask students to consider how machine learning can be applied to real-world problems they're interested in, and how it differs from traditional programming. Key takeaways should include the definition of machine learning, its types, and its broad range of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topic of machine learning in architecture, emphasize the potential of predictive modeling and pattern recognition in building design. Provide examples of how neural networks can analyze and optimize architectural structures, and discuss the role of deep learning in energy consumption prediction. Ask students to consider how ML can improve building management and maintenance, and what implications this has for urban planning and development. Key takeaways include the integration of ML and architecture, and the application of data-driven approaches to design and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topic, emphasize the role of machine learning in revolutionizing architectural design and optimization. Provide examples of how neural networks and deep learning can be applied to predict building performance, enhance visualization, and automate design tasks. Ask students to consider the potential benefits and limitations of integrating machine learning with architecture, and encourage them to explore case studies of successful implementations. Key takeaways should include the various machine learning techniques and their applications in architecture, as well as the importance of interdisciplinary collaboration between architects, engineers, and data scientists.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slide, explain how machine learning is integrated into architecture to enhance predictive modeling and design. Provide examples of neural networks used in image classification and deep learning for object detection. Discuss the applications of convolutional neural networks in architectural style analysis and recurrent neural networks in sequential data. Use the equation y = wx + b to illustrate simple linear regression models. Ask students to consider how generative models can be used to create new building designs and how architecture informatics combines machine learning and architecture principles. Key takeaways include understanding the role of machine learning in architecture and its potential applications in urban planning and sustainable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mathematical formulation in machine learning, emphasize the importance of linear algebra, probability, and calculus. Explain how these mathematical concepts are used to develop and optimize machine learning models. Use simple examples like linear regression (y = wx + b) to illustrate the concept. Ask students to think about how different mathematical formulations can impact model performance and accuracy. Key takeaways should include understanding the role of mathematical models in machine learning and recognizing the significance of proper formulation for effective model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mathematical formulation of machine learning, emphasize the importance of linear algebra, probability theory, and optimization techniques. Provide examples of how these concepts are applied in real-world ML applications. Ask students to consider how mathematical models can be used to interpret and improve ML models. Discuss the role of statistical learning theory in providing a framework for machine learning. Use the simple linear equation y = wx + b as an example to illustrate the concept of mathematical formulation in ML. Encourage students to think about the mathematical foundations of ML and how they can be used to build more effective models.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mathematical formulation foundations, emphasize the importance of understanding the underlying algorithms. Provide examples of linear and logistic regression, and explain how decision trees and random forests work. Use the equation y = wx + b to illustrate a simple linear model. Ask students to consider the role of regularization and cross-validation in preventing overfitting and evaluating model performance. Key takeaways include understanding the mathematical basis of machine learning algorithms and recognizing the importance of model evaluation and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types of autoencoders, explain that autoencoders are a type of neural network that can be used for dimensionality reduction, anomaly detection, and generative modeling. Provide examples of how autoencoders can be used in image and text processing tasks, such as image compression and text summarization. Emphasize the importance of the encoder and decoder components and how they work together to learn a compact representation of the input data. Ask students to consider the potential applications of autoencoders in their own research or projects, and how they can be used to improve the performance of other machine learning models. Key takeaways include understanding the basic architecture of an autoencoder and the different variants that exist, such as sparse and denoising autoencoders.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variants of autoencoders, emphasize their applications and strengths. For instance, Simple Autoencoders are useful for dimensionality reduction, while Convolutional Autoencoders are more suitable for image data. Ask students to consider the type of data they are working with and which autoencoder variant would be most appropriate. Key takeaways include understanding the differences between autoencoder variants and their applications in machine learning tasks.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variants of autoencoders, emphasize their applications and strengths. For instance, highlight how sparse autoencoders can be used for feature learning and how variational autoencoders can be used for generative modeling. Provide examples of each type, such as using convolutional autoencoders for image compression and recurrent autoencoders for text data. Ask students to consider the trade-offs between different variants and how they can be combined for more complex tasks. Key takeaways include understanding the different architectures and their use cases, as well as the importance of selecting the right variant for a specific problem.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applications of machine learning, emphasize the breadth of areas where machine learning is used, from image recognition to natural language processing and predictive analytics. Provide examples such as how Netflix uses recommendation systems to suggest movies. Ask students to think about how machine learning impacts their daily lives and what other potential applications they can envision. Key takeaways should include understanding the variety of machine learning applications and how these technologies are transforming industries.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the various applications of machine learning, providing concrete examples such as Siri for speech recognition and Netflix for recommendation systems. Discuss the role of machine learning in predictive maintenance and anomaly detection. Ask students to consider real-world scenarios where machine learning can be applied, and what benefits it can bring to industries. Emphasize the importance of understanding the different variants of machine learning and their applications in solving complex problems.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real-world implementations of machine learning, highlight the diversity of applications across industries. Explain how predictive maintenance can reduce downtime in manufacturing, and how image recognition aids in medical diagnosis. Use examples like Netflix's recommendation system to illustrate the impact on consumer behavior. Ask students to consider the ethical implications of machine learning in areas like surveillance and data privacy, and how these technologies can be used responsibly. Key takeaways should include the broad applicability of machine learning and its potential to drive innovation and efficiency in various sectors.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limitations of machine learning, emphasize the importance of understanding these constraints to improve model performance and fairness. Discuss how lack of interpretability and transparency can lead to mistrust in AI systems. Provide examples of how insufficient training data or biased data can affect model accuracy and fairness. Ask students to consider real-world scenarios where these limitations might be particularly problematic, such as in healthcare or finance, and how they might address these challenges in their own projects. Key takeaways include recognizing the potential pitfalls in machine learning development and the need for ongoing model evaluation and refinement.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the limitations of machine learning, emphasize the importance of understanding these constraints to effectively apply and improve machine learning models. Discuss how overfitting and underfitting can be addressed through techniques like regularization and cross-validation. Provide examples of how data quality and availability can significantly impact model performance, such as in medical diagnosis or financial forecasting. Ask students to consider the ethical implications of limited interpretability and vulnerability to adversarial attacks. Key takeaways should include the need for careful model selection, data preprocessing, and ongoing evaluation to mitigate these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limitations of machine learning, emphasize the importance of data quality and quantity. Explain how overfitting and underfitting can occur, and provide examples of how these issues can be addressed. Ask students to consider the challenges of working with noisy or missing data, and how these challenges can be overcome. Key takeaways include the need for careful model selection and validation, as well as the importance of considering the limitations of machine learning models in real-world applications.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Machine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Autoencoders, Introduction, Architecture, Mathematical Formulation, Types of Autoencoders, Applications, Limitations</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Autoencoders - Introduction</a:t>
            </a:r>
          </a:p>
        </p:txBody>
      </p:sp>
      <p:sp>
        <p:nvSpPr>
          <p:cNvPr id="3" name="Content Placeholder 2"/>
          <p:cNvSpPr>
            <a:spLocks noGrp="1"/>
          </p:cNvSpPr>
          <p:nvPr>
            <p:ph idx="1"/>
          </p:nvPr>
        </p:nvSpPr>
        <p:spPr/>
        <p:txBody>
          <a:bodyPr/>
          <a:lstStyle/>
          <a:p>
            <a:pPr>
              <a:defRPr sz="2000">
                <a:solidFill>
                  <a:srgbClr val="444444"/>
                </a:solidFill>
              </a:defRPr>
            </a:pPr>
            <a:r>
              <a:t>Autoencoders are neural networks for dimensionality reduction</a:t>
            </a:r>
          </a:p>
          <a:p>
            <a:pPr>
              <a:defRPr sz="2000">
                <a:solidFill>
                  <a:srgbClr val="444444"/>
                </a:solidFill>
              </a:defRPr>
            </a:pPr>
            <a:r>
              <a:t>Used for unsupervised learning and anomaly detection</a:t>
            </a:r>
          </a:p>
          <a:p>
            <a:pPr>
              <a:defRPr sz="2000">
                <a:solidFill>
                  <a:srgbClr val="444444"/>
                </a:solidFill>
              </a:defRPr>
            </a:pPr>
            <a:r>
              <a:t>Consist of encoder and decoder components</a:t>
            </a:r>
          </a:p>
          <a:p>
            <a:pPr>
              <a:defRPr sz="2000">
                <a:solidFill>
                  <a:srgbClr val="444444"/>
                </a:solidFill>
              </a:defRPr>
            </a:pPr>
            <a:r>
              <a:t>Encoder maps input to lower dimension</a:t>
            </a:r>
          </a:p>
          <a:p>
            <a:pPr>
              <a:defRPr sz="2000">
                <a:solidFill>
                  <a:srgbClr val="444444"/>
                </a:solidFill>
              </a:defRPr>
            </a:pPr>
            <a:r>
              <a:t>Decoder maps lower dimension back to input</a:t>
            </a:r>
          </a:p>
          <a:p>
            <a:pPr>
              <a:defRPr sz="2000">
                <a:solidFill>
                  <a:srgbClr val="444444"/>
                </a:solidFill>
              </a:defRPr>
            </a:pPr>
            <a:r>
              <a:t>Trained to minimize reconstruction error</a:t>
            </a:r>
          </a:p>
          <a:p>
            <a:pPr>
              <a:defRPr sz="2000">
                <a:solidFill>
                  <a:srgbClr val="444444"/>
                </a:solidFill>
              </a:defRPr>
            </a:pPr>
            <a:r>
              <a:t>Can learn compressed representations of data</a:t>
            </a:r>
          </a:p>
          <a:p>
            <a:pPr>
              <a:defRPr sz="2000">
                <a:solidFill>
                  <a:srgbClr val="444444"/>
                </a:solidFill>
              </a:defRPr>
            </a:pPr>
            <a:r>
              <a:t>Applicable to image and text data processing</a:t>
            </a:r>
          </a:p>
          <a:p>
            <a:pPr>
              <a:defRPr sz="2000">
                <a:solidFill>
                  <a:srgbClr val="444444"/>
                </a:solidFill>
              </a:defRPr>
            </a:pPr>
            <a:r>
              <a:t>Helps in noise reduction and feature learning</a:t>
            </a:r>
          </a:p>
        </p:txBody>
      </p:sp>
      <p:pic>
        <p:nvPicPr>
          <p:cNvPr id="4" name="Picture 3" descr="43dae95ddadd4cbebc5ac351af9c5140_autoencoders_introduction_architecture_m.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Autoencoders - Introduction</a:t>
            </a:r>
          </a:p>
        </p:txBody>
      </p:sp>
      <p:sp>
        <p:nvSpPr>
          <p:cNvPr id="3" name="Content Placeholder 2"/>
          <p:cNvSpPr>
            <a:spLocks noGrp="1"/>
          </p:cNvSpPr>
          <p:nvPr>
            <p:ph idx="1"/>
          </p:nvPr>
        </p:nvSpPr>
        <p:spPr/>
        <p:txBody>
          <a:bodyPr/>
          <a:lstStyle/>
          <a:p>
            <a:pPr>
              <a:defRPr sz="2000">
                <a:solidFill>
                  <a:srgbClr val="444444"/>
                </a:solidFill>
              </a:defRPr>
            </a:pPr>
            <a:r>
              <a:t>Autoencoders are neural networks for dimensionality reduction</a:t>
            </a:r>
          </a:p>
          <a:p>
            <a:pPr>
              <a:defRPr sz="2000">
                <a:solidFill>
                  <a:srgbClr val="444444"/>
                </a:solidFill>
              </a:defRPr>
            </a:pPr>
            <a:r>
              <a:t>Comprise encoder and decoder components</a:t>
            </a:r>
          </a:p>
          <a:p>
            <a:pPr>
              <a:defRPr sz="2000">
                <a:solidFill>
                  <a:srgbClr val="444444"/>
                </a:solidFill>
              </a:defRPr>
            </a:pPr>
            <a:r>
              <a:t>Encoder maps input to lower dimension</a:t>
            </a:r>
          </a:p>
          <a:p>
            <a:pPr>
              <a:defRPr sz="2000">
                <a:solidFill>
                  <a:srgbClr val="444444"/>
                </a:solidFill>
              </a:defRPr>
            </a:pPr>
            <a:r>
              <a:t>Decoder maps lower dimension back to input</a:t>
            </a:r>
          </a:p>
          <a:p>
            <a:pPr>
              <a:defRPr sz="2000">
                <a:solidFill>
                  <a:srgbClr val="444444"/>
                </a:solidFill>
              </a:defRPr>
            </a:pPr>
            <a:r>
              <a:t>Trained to minimize reconstruction error</a:t>
            </a:r>
          </a:p>
          <a:p>
            <a:pPr>
              <a:defRPr sz="2000">
                <a:solidFill>
                  <a:srgbClr val="444444"/>
                </a:solidFill>
              </a:defRPr>
            </a:pPr>
            <a:r>
              <a:t>Used for anomaly detection and generative models</a:t>
            </a:r>
          </a:p>
          <a:p>
            <a:pPr>
              <a:defRPr sz="2000">
                <a:solidFill>
                  <a:srgbClr val="444444"/>
                </a:solidFill>
              </a:defRPr>
            </a:pPr>
            <a:r>
              <a:t>Can be used for image and text data compression</a:t>
            </a:r>
          </a:p>
          <a:p>
            <a:pPr>
              <a:defRPr sz="2000">
                <a:solidFill>
                  <a:srgbClr val="444444"/>
                </a:solidFill>
              </a:defRPr>
            </a:pPr>
            <a:r>
              <a:t>Autoencoders are unsupervised learning models</a:t>
            </a:r>
          </a:p>
          <a:p>
            <a:pPr>
              <a:defRPr sz="2000">
                <a:solidFill>
                  <a:srgbClr val="444444"/>
                </a:solidFill>
              </a:defRPr>
            </a:pPr>
            <a:r>
              <a:t>Helps in feature learning and extraction</a:t>
            </a:r>
          </a:p>
          <a:p>
            <a:pPr>
              <a:defRPr sz="2000">
                <a:solidFill>
                  <a:srgbClr val="444444"/>
                </a:solidFill>
              </a:defRPr>
            </a:pPr>
            <a:r>
              <a:t>Improves performance of other machine learning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Autoencoders - Architecture</a:t>
            </a:r>
          </a:p>
        </p:txBody>
      </p:sp>
      <p:sp>
        <p:nvSpPr>
          <p:cNvPr id="3" name="Content Placeholder 2"/>
          <p:cNvSpPr>
            <a:spLocks noGrp="1"/>
          </p:cNvSpPr>
          <p:nvPr>
            <p:ph idx="1"/>
          </p:nvPr>
        </p:nvSpPr>
        <p:spPr/>
        <p:txBody>
          <a:bodyPr/>
          <a:lstStyle/>
          <a:p>
            <a:pPr>
              <a:defRPr sz="2000">
                <a:solidFill>
                  <a:srgbClr val="444444"/>
                </a:solidFill>
              </a:defRPr>
            </a:pPr>
            <a:r>
              <a:t>Autoencoders consist of encoder and decoder networks</a:t>
            </a:r>
          </a:p>
          <a:p>
            <a:pPr>
              <a:defRPr sz="2000">
                <a:solidFill>
                  <a:srgbClr val="444444"/>
                </a:solidFill>
              </a:defRPr>
            </a:pPr>
            <a:r>
              <a:t>Encoder maps input to lower-dimensional latent space</a:t>
            </a:r>
          </a:p>
          <a:p>
            <a:pPr>
              <a:defRPr sz="2000">
                <a:solidFill>
                  <a:srgbClr val="444444"/>
                </a:solidFill>
              </a:defRPr>
            </a:pPr>
            <a:r>
              <a:t>Decoder maps latent space back to original input space</a:t>
            </a:r>
          </a:p>
          <a:p>
            <a:pPr>
              <a:defRPr sz="2000">
                <a:solidFill>
                  <a:srgbClr val="444444"/>
                </a:solidFill>
              </a:defRPr>
            </a:pPr>
            <a:r>
              <a:t>Training involves minimizing reconstruction error</a:t>
            </a:r>
          </a:p>
          <a:p>
            <a:pPr>
              <a:defRPr sz="2000">
                <a:solidFill>
                  <a:srgbClr val="444444"/>
                </a:solidFill>
              </a:defRPr>
            </a:pPr>
            <a:r>
              <a:t>Commonly used loss function is mean squared error</a:t>
            </a:r>
          </a:p>
          <a:p>
            <a:pPr>
              <a:defRPr sz="2000">
                <a:solidFill>
                  <a:srgbClr val="444444"/>
                </a:solidFill>
              </a:defRPr>
            </a:pPr>
            <a:r>
              <a:t>Architecture can be customized for specific tasks</a:t>
            </a:r>
          </a:p>
          <a:p>
            <a:pPr>
              <a:defRPr sz="2000">
                <a:solidFill>
                  <a:srgbClr val="444444"/>
                </a:solidFill>
              </a:defRPr>
            </a:pPr>
            <a:r>
              <a:t>Convolutional autoencoders use convolutional layers</a:t>
            </a:r>
          </a:p>
          <a:p>
            <a:pPr>
              <a:defRPr sz="2000">
                <a:solidFill>
                  <a:srgbClr val="444444"/>
                </a:solidFill>
              </a:defRPr>
            </a:pPr>
            <a:r>
              <a:t>Recurrent autoencoders use recurrent neural networks</a:t>
            </a:r>
          </a:p>
          <a:p>
            <a:pPr>
              <a:defRPr sz="2000">
                <a:solidFill>
                  <a:srgbClr val="444444"/>
                </a:solidFill>
              </a:defRPr>
            </a:pPr>
            <a:r>
              <a:t>Autoencoders can be used for dimensionality reduction</a:t>
            </a:r>
          </a:p>
          <a:p>
            <a:pPr>
              <a:defRPr sz="2000">
                <a:solidFill>
                  <a:srgbClr val="444444"/>
                </a:solidFill>
              </a:defRPr>
            </a:pPr>
            <a:r>
              <a:t>Example: image compression using autoencoders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 Overview of Machine Learning</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a:t>
            </a:r>
          </a:p>
          <a:p>
            <a:pPr>
              <a:defRPr sz="2000">
                <a:solidFill>
                  <a:srgbClr val="444444"/>
                </a:solidFill>
              </a:defRPr>
            </a:pPr>
            <a:r>
              <a:t>Enables systems to learn from data without programming</a:t>
            </a:r>
          </a:p>
          <a:p>
            <a:pPr>
              <a:defRPr sz="2000">
                <a:solidFill>
                  <a:srgbClr val="444444"/>
                </a:solidFill>
              </a:defRPr>
            </a:pPr>
            <a:r>
              <a:t>Improves performance on tasks over time</a:t>
            </a:r>
          </a:p>
          <a:p>
            <a:pPr>
              <a:defRPr sz="2000">
                <a:solidFill>
                  <a:srgbClr val="444444"/>
                </a:solidFill>
              </a:defRPr>
            </a:pPr>
            <a:r>
              <a:t>Applications in image recognition and natural language</a:t>
            </a:r>
          </a:p>
          <a:p>
            <a:pPr>
              <a:defRPr sz="2000">
                <a:solidFill>
                  <a:srgbClr val="444444"/>
                </a:solidFill>
              </a:defRPr>
            </a:pPr>
            <a:r>
              <a:t>Used in recommendation systems and predictive analytics</a:t>
            </a:r>
          </a:p>
          <a:p>
            <a:pPr>
              <a:defRPr sz="2000">
                <a:solidFill>
                  <a:srgbClr val="444444"/>
                </a:solidFill>
              </a:defRPr>
            </a:pPr>
            <a:r>
              <a:t>Supervised and unsupervised learning techniques exist</a:t>
            </a:r>
          </a:p>
          <a:p>
            <a:pPr>
              <a:defRPr sz="2000">
                <a:solidFill>
                  <a:srgbClr val="444444"/>
                </a:solidFill>
              </a:defRPr>
            </a:pPr>
            <a:r>
              <a:t>Reinforcement learning is a subfield of machine learning</a:t>
            </a:r>
          </a:p>
          <a:p>
            <a:pPr>
              <a:defRPr sz="2000">
                <a:solidFill>
                  <a:srgbClr val="444444"/>
                </a:solidFill>
              </a:defRPr>
            </a:pPr>
            <a:r>
              <a:t>Real-world examples include self-driving cars and chatbots</a:t>
            </a:r>
          </a:p>
          <a:p>
            <a:pPr>
              <a:defRPr sz="2000">
                <a:solidFill>
                  <a:srgbClr val="444444"/>
                </a:solidFill>
              </a:defRPr>
            </a:pPr>
            <a:r>
              <a:t>Machine learning drives business intelligence and decision-making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 Introduction</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a:t>
            </a:r>
          </a:p>
          <a:p>
            <a:pPr>
              <a:defRPr sz="2000">
                <a:solidFill>
                  <a:srgbClr val="444444"/>
                </a:solidFill>
              </a:defRPr>
            </a:pPr>
            <a:r>
              <a:t>Involves training algorithms on data to make predictions.</a:t>
            </a:r>
          </a:p>
          <a:p>
            <a:pPr>
              <a:defRPr sz="2000">
                <a:solidFill>
                  <a:srgbClr val="444444"/>
                </a:solidFill>
              </a:defRPr>
            </a:pPr>
            <a:r>
              <a:t>Enables computers to learn from experience.</a:t>
            </a:r>
          </a:p>
          <a:p>
            <a:pPr>
              <a:defRPr sz="2000">
                <a:solidFill>
                  <a:srgbClr val="444444"/>
                </a:solidFill>
              </a:defRPr>
            </a:pPr>
            <a:r>
              <a:t>Improves performance on tasks without explicit programming.</a:t>
            </a:r>
          </a:p>
          <a:p>
            <a:pPr>
              <a:defRPr sz="2000">
                <a:solidFill>
                  <a:srgbClr val="444444"/>
                </a:solidFill>
              </a:defRPr>
            </a:pPr>
            <a:r>
              <a:t>Applies to image recognition, speech recognition, and more.</a:t>
            </a:r>
          </a:p>
          <a:p>
            <a:pPr>
              <a:defRPr sz="2000">
                <a:solidFill>
                  <a:srgbClr val="444444"/>
                </a:solidFill>
              </a:defRPr>
            </a:pPr>
            <a:r>
              <a:t>Used in self-driving cars, medical diagnosis, and finance.</a:t>
            </a:r>
          </a:p>
          <a:p>
            <a:pPr>
              <a:defRPr sz="2000">
                <a:solidFill>
                  <a:srgbClr val="444444"/>
                </a:solidFill>
              </a:defRPr>
            </a:pPr>
            <a:r>
              <a:t>Can be supervised, unsupervised, or reinforcement learning.</a:t>
            </a:r>
          </a:p>
          <a:p>
            <a:pPr>
              <a:defRPr sz="2000">
                <a:solidFill>
                  <a:srgbClr val="444444"/>
                </a:solidFill>
              </a:defRPr>
            </a:pPr>
            <a:r>
              <a:t>Requires large datasets and computational resources.</a:t>
            </a:r>
          </a:p>
          <a:p>
            <a:pPr>
              <a:defRPr sz="2000">
                <a:solidFill>
                  <a:srgbClr val="444444"/>
                </a:solidFill>
              </a:defRPr>
            </a:pPr>
            <a:r>
              <a:t>Has many real-world applications and growing demand.</a:t>
            </a:r>
          </a:p>
          <a:p>
            <a:pPr>
              <a:defRPr sz="2000">
                <a:solidFill>
                  <a:srgbClr val="444444"/>
                </a:solidFill>
              </a:defRPr>
            </a:pPr>
            <a:r>
              <a:t>Impacts various industries and aspects of daily life.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 - Definition and Overview</a:t>
            </a:r>
          </a:p>
        </p:txBody>
      </p:sp>
      <p:sp>
        <p:nvSpPr>
          <p:cNvPr id="3" name="Content Placeholder 2"/>
          <p:cNvSpPr>
            <a:spLocks noGrp="1"/>
          </p:cNvSpPr>
          <p:nvPr>
            <p:ph idx="1"/>
          </p:nvPr>
        </p:nvSpPr>
        <p:spPr/>
        <p:txBody>
          <a:bodyPr/>
          <a:lstStyle/>
          <a:p>
            <a:pPr>
              <a:defRPr sz="2000">
                <a:solidFill>
                  <a:srgbClr val="444444"/>
                </a:solidFill>
              </a:defRPr>
            </a:pPr>
            <a:r>
              <a:t>Machine learning is a subset of artificial intelligence</a:t>
            </a:r>
          </a:p>
          <a:p>
            <a:pPr>
              <a:defRPr sz="2000">
                <a:solidFill>
                  <a:srgbClr val="444444"/>
                </a:solidFill>
              </a:defRPr>
            </a:pPr>
            <a:r>
              <a:t>Enables systems to learn from data without programming</a:t>
            </a:r>
          </a:p>
          <a:p>
            <a:pPr>
              <a:defRPr sz="2000">
                <a:solidFill>
                  <a:srgbClr val="444444"/>
                </a:solidFill>
              </a:defRPr>
            </a:pPr>
            <a:r>
              <a:t>Involves statistical models and algorithms</a:t>
            </a:r>
          </a:p>
          <a:p>
            <a:pPr>
              <a:defRPr sz="2000">
                <a:solidFill>
                  <a:srgbClr val="444444"/>
                </a:solidFill>
              </a:defRPr>
            </a:pPr>
            <a:r>
              <a:t>Used in image recognition and natural language processing</a:t>
            </a:r>
          </a:p>
          <a:p>
            <a:pPr>
              <a:defRPr sz="2000">
                <a:solidFill>
                  <a:srgbClr val="444444"/>
                </a:solidFill>
              </a:defRPr>
            </a:pPr>
            <a:r>
              <a:t>Applies to predictive maintenance and quality control</a:t>
            </a:r>
          </a:p>
          <a:p>
            <a:pPr>
              <a:defRPr sz="2000">
                <a:solidFill>
                  <a:srgbClr val="444444"/>
                </a:solidFill>
              </a:defRPr>
            </a:pPr>
            <a:r>
              <a:t>Includes supervised, unsupervised, and reinforcement learning</a:t>
            </a:r>
          </a:p>
          <a:p>
            <a:pPr>
              <a:defRPr sz="2000">
                <a:solidFill>
                  <a:srgbClr val="444444"/>
                </a:solidFill>
              </a:defRPr>
            </a:pPr>
            <a:r>
              <a:t>Improves performance with experience and data</a:t>
            </a:r>
          </a:p>
          <a:p>
            <a:pPr>
              <a:defRPr sz="2000">
                <a:solidFill>
                  <a:srgbClr val="444444"/>
                </a:solidFill>
              </a:defRPr>
            </a:pPr>
            <a:r>
              <a:t>Requires large datasets for training and testing</a:t>
            </a:r>
          </a:p>
          <a:p>
            <a:pPr>
              <a:defRPr sz="2000">
                <a:solidFill>
                  <a:srgbClr val="444444"/>
                </a:solidFill>
              </a:defRPr>
            </a:pPr>
            <a:r>
              <a:t>Has applications in healthcare, finance, and transportation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 Introduction</a:t>
            </a:r>
          </a:p>
        </p:txBody>
      </p:sp>
      <p:sp>
        <p:nvSpPr>
          <p:cNvPr id="3" name="Content Placeholder 2"/>
          <p:cNvSpPr>
            <a:spLocks noGrp="1"/>
          </p:cNvSpPr>
          <p:nvPr>
            <p:ph idx="1"/>
          </p:nvPr>
        </p:nvSpPr>
        <p:spPr/>
        <p:txBody>
          <a:bodyPr/>
          <a:lstStyle/>
          <a:p>
            <a:pPr>
              <a:defRPr sz="2000">
                <a:solidFill>
                  <a:srgbClr val="444444"/>
                </a:solidFill>
              </a:defRPr>
            </a:pPr>
            <a:r>
              <a:t>Machine learning integrates with architecture for predictive modeling</a:t>
            </a:r>
          </a:p>
          <a:p>
            <a:pPr>
              <a:defRPr sz="2000">
                <a:solidFill>
                  <a:srgbClr val="444444"/>
                </a:solidFill>
              </a:defRPr>
            </a:pPr>
            <a:r>
              <a:t>Neural networks enable complex pattern recognition in buildings</a:t>
            </a:r>
          </a:p>
          <a:p>
            <a:pPr>
              <a:defRPr sz="2000">
                <a:solidFill>
                  <a:srgbClr val="444444"/>
                </a:solidFill>
              </a:defRPr>
            </a:pPr>
            <a:r>
              <a:t>Deep learning applies to architectural design and optimization</a:t>
            </a:r>
          </a:p>
          <a:p>
            <a:pPr>
              <a:defRPr sz="2000">
                <a:solidFill>
                  <a:srgbClr val="444444"/>
                </a:solidFill>
              </a:defRPr>
            </a:pPr>
            <a:r>
              <a:t>Convolutional neural networks analyze building images and structures</a:t>
            </a:r>
          </a:p>
          <a:p>
            <a:pPr>
              <a:defRPr sz="2000">
                <a:solidFill>
                  <a:srgbClr val="444444"/>
                </a:solidFill>
              </a:defRPr>
            </a:pPr>
            <a:r>
              <a:t>Recurrent neural networks predict energy consumption patterns</a:t>
            </a:r>
          </a:p>
          <a:p>
            <a:pPr>
              <a:defRPr sz="2000">
                <a:solidFill>
                  <a:srgbClr val="444444"/>
                </a:solidFill>
              </a:defRPr>
            </a:pPr>
            <a:r>
              <a:t>Architecture informatics combines ML and design principles</a:t>
            </a:r>
          </a:p>
          <a:p>
            <a:pPr>
              <a:defRPr sz="2000">
                <a:solidFill>
                  <a:srgbClr val="444444"/>
                </a:solidFill>
              </a:defRPr>
            </a:pPr>
            <a:r>
              <a:t>Generative models create novel architectural designs and layouts</a:t>
            </a:r>
          </a:p>
          <a:p>
            <a:pPr>
              <a:defRPr sz="2000">
                <a:solidFill>
                  <a:srgbClr val="444444"/>
                </a:solidFill>
              </a:defRPr>
            </a:pPr>
            <a:r>
              <a:t>ML algorithms improve building management and maintenance systems</a:t>
            </a:r>
          </a:p>
          <a:p>
            <a:pPr>
              <a:defRPr sz="2000">
                <a:solidFill>
                  <a:srgbClr val="444444"/>
                </a:solidFill>
              </a:defRPr>
            </a:pPr>
            <a:r>
              <a:t>Data-driven approaches enhance urban planning and development</a:t>
            </a:r>
          </a:p>
          <a:p>
            <a:pPr>
              <a:defRPr sz="2000">
                <a:solidFill>
                  <a:srgbClr val="444444"/>
                </a:solidFill>
              </a:defRPr>
            </a:pPr>
            <a:r>
              <a:t>y = f(x) equation applies to ML-based architectural modeling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 Machine Learning Fundamentals</a:t>
            </a:r>
          </a:p>
        </p:txBody>
      </p:sp>
      <p:sp>
        <p:nvSpPr>
          <p:cNvPr id="3" name="Content Placeholder 2"/>
          <p:cNvSpPr>
            <a:spLocks noGrp="1"/>
          </p:cNvSpPr>
          <p:nvPr>
            <p:ph idx="1"/>
          </p:nvPr>
        </p:nvSpPr>
        <p:spPr/>
        <p:txBody>
          <a:bodyPr/>
          <a:lstStyle/>
          <a:p>
            <a:pPr>
              <a:defRPr sz="2000">
                <a:solidFill>
                  <a:srgbClr val="444444"/>
                </a:solidFill>
              </a:defRPr>
            </a:pPr>
            <a:r>
              <a:t>Machine learning integrates with architecture for predictive modeling</a:t>
            </a:r>
          </a:p>
          <a:p>
            <a:pPr>
              <a:defRPr sz="2000">
                <a:solidFill>
                  <a:srgbClr val="444444"/>
                </a:solidFill>
              </a:defRPr>
            </a:pPr>
            <a:r>
              <a:t>Neural networks apply to building design and optimization</a:t>
            </a:r>
          </a:p>
          <a:p>
            <a:pPr>
              <a:defRPr sz="2000">
                <a:solidFill>
                  <a:srgbClr val="444444"/>
                </a:solidFill>
              </a:defRPr>
            </a:pPr>
            <a:r>
              <a:t>Deep learning enhances architectural visualization techniques</a:t>
            </a:r>
          </a:p>
          <a:p>
            <a:pPr>
              <a:defRPr sz="2000">
                <a:solidFill>
                  <a:srgbClr val="444444"/>
                </a:solidFill>
              </a:defRPr>
            </a:pPr>
            <a:r>
              <a:t>Convolutional neural networks for image recognition in architecture</a:t>
            </a:r>
          </a:p>
          <a:p>
            <a:pPr>
              <a:defRPr sz="2000">
                <a:solidFill>
                  <a:srgbClr val="444444"/>
                </a:solidFill>
              </a:defRPr>
            </a:pPr>
            <a:r>
              <a:t>Recurrent neural networks for sequential data in building design</a:t>
            </a:r>
          </a:p>
          <a:p>
            <a:pPr>
              <a:defRPr sz="2000">
                <a:solidFill>
                  <a:srgbClr val="444444"/>
                </a:solidFill>
              </a:defRPr>
            </a:pPr>
            <a:r>
              <a:t>Y = sigmoid(X) equation applies to neural network activation</a:t>
            </a:r>
          </a:p>
          <a:p>
            <a:pPr>
              <a:defRPr sz="2000">
                <a:solidFill>
                  <a:srgbClr val="444444"/>
                </a:solidFill>
              </a:defRPr>
            </a:pPr>
            <a:r>
              <a:t>Generative models create new building designs and layouts</a:t>
            </a:r>
          </a:p>
          <a:p>
            <a:pPr>
              <a:defRPr sz="2000">
                <a:solidFill>
                  <a:srgbClr val="444444"/>
                </a:solidFill>
              </a:defRPr>
            </a:pPr>
            <a:r>
              <a:t>Computer vision analyzes and improves architectural designs</a:t>
            </a:r>
          </a:p>
          <a:p>
            <a:pPr>
              <a:defRPr sz="2000">
                <a:solidFill>
                  <a:srgbClr val="444444"/>
                </a:solidFill>
              </a:defRPr>
            </a:pPr>
            <a:r>
              <a:t>Natural language processing for architectural text analysis</a:t>
            </a:r>
          </a:p>
          <a:p>
            <a:pPr>
              <a:defRPr sz="2000">
                <a:solidFill>
                  <a:srgbClr val="444444"/>
                </a:solidFill>
              </a:defRPr>
            </a:pPr>
            <a:r>
              <a:t>Machine learning algorithms improve building energy efficiency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Architecture - Machine Learning Basics</a:t>
            </a:r>
          </a:p>
        </p:txBody>
      </p:sp>
      <p:sp>
        <p:nvSpPr>
          <p:cNvPr id="3" name="Content Placeholder 2"/>
          <p:cNvSpPr>
            <a:spLocks noGrp="1"/>
          </p:cNvSpPr>
          <p:nvPr>
            <p:ph idx="1"/>
          </p:nvPr>
        </p:nvSpPr>
        <p:spPr/>
        <p:txBody>
          <a:bodyPr/>
          <a:lstStyle/>
          <a:p>
            <a:pPr>
              <a:defRPr sz="2000">
                <a:solidFill>
                  <a:srgbClr val="444444"/>
                </a:solidFill>
              </a:defRPr>
            </a:pPr>
            <a:r>
              <a:t>Machine learning integrates with architecture for predictive modeling</a:t>
            </a:r>
          </a:p>
          <a:p>
            <a:pPr>
              <a:defRPr sz="2000">
                <a:solidFill>
                  <a:srgbClr val="444444"/>
                </a:solidFill>
              </a:defRPr>
            </a:pPr>
            <a:r>
              <a:t>Neural networks used for image classification in architecture</a:t>
            </a:r>
          </a:p>
          <a:p>
            <a:pPr>
              <a:defRPr sz="2000">
                <a:solidFill>
                  <a:srgbClr val="444444"/>
                </a:solidFill>
              </a:defRPr>
            </a:pPr>
            <a:r>
              <a:t>Deep learning for object detection in building designs</a:t>
            </a:r>
          </a:p>
          <a:p>
            <a:pPr>
              <a:defRPr sz="2000">
                <a:solidFill>
                  <a:srgbClr val="444444"/>
                </a:solidFill>
              </a:defRPr>
            </a:pPr>
            <a:r>
              <a:t>Convolutional neural networks for architectural style analysis</a:t>
            </a:r>
          </a:p>
          <a:p>
            <a:pPr>
              <a:defRPr sz="2000">
                <a:solidFill>
                  <a:srgbClr val="444444"/>
                </a:solidFill>
              </a:defRPr>
            </a:pPr>
            <a:r>
              <a:t>Recurrent neural networks for sequential data in architecture</a:t>
            </a:r>
          </a:p>
          <a:p>
            <a:pPr>
              <a:defRPr sz="2000">
                <a:solidFill>
                  <a:srgbClr val="444444"/>
                </a:solidFill>
              </a:defRPr>
            </a:pPr>
            <a:r>
              <a:t>Autoencoders for dimensionality reduction in building models</a:t>
            </a:r>
          </a:p>
          <a:p>
            <a:pPr>
              <a:defRPr sz="2000">
                <a:solidFill>
                  <a:srgbClr val="444444"/>
                </a:solidFill>
              </a:defRPr>
            </a:pPr>
            <a:r>
              <a:t>Generative models for generating new building designs</a:t>
            </a:r>
          </a:p>
          <a:p>
            <a:pPr>
              <a:defRPr sz="2000">
                <a:solidFill>
                  <a:srgbClr val="444444"/>
                </a:solidFill>
              </a:defRPr>
            </a:pPr>
            <a:r>
              <a:t>y = wx + b equation used in linear regression models</a:t>
            </a:r>
          </a:p>
          <a:p>
            <a:pPr>
              <a:defRPr sz="2000">
                <a:solidFill>
                  <a:srgbClr val="444444"/>
                </a:solidFill>
              </a:defRPr>
            </a:pPr>
            <a:r>
              <a:t>Architecture informatics combines ML and architecture principles</a:t>
            </a:r>
          </a:p>
          <a:p>
            <a:pPr>
              <a:defRPr sz="2000">
                <a:solidFill>
                  <a:srgbClr val="444444"/>
                </a:solidFill>
              </a:defRPr>
            </a:pPr>
            <a:r>
              <a:t>Applications in urban planning and sustainable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 - Introduction</a:t>
            </a:r>
          </a:p>
        </p:txBody>
      </p:sp>
      <p:sp>
        <p:nvSpPr>
          <p:cNvPr id="3" name="Content Placeholder 2"/>
          <p:cNvSpPr>
            <a:spLocks noGrp="1"/>
          </p:cNvSpPr>
          <p:nvPr>
            <p:ph idx="1"/>
          </p:nvPr>
        </p:nvSpPr>
        <p:spPr/>
        <p:txBody>
          <a:bodyPr/>
          <a:lstStyle/>
          <a:p>
            <a:pPr>
              <a:defRPr sz="2000">
                <a:solidFill>
                  <a:srgbClr val="444444"/>
                </a:solidFill>
              </a:defRPr>
            </a:pPr>
            <a:r>
              <a:t>Machine learning relies on mathematical models</a:t>
            </a:r>
          </a:p>
          <a:p>
            <a:pPr>
              <a:defRPr sz="2000">
                <a:solidFill>
                  <a:srgbClr val="444444"/>
                </a:solidFill>
              </a:defRPr>
            </a:pPr>
            <a:r>
              <a:t>Linear algebra is fundamental to ML</a:t>
            </a:r>
          </a:p>
          <a:p>
            <a:pPr>
              <a:defRPr sz="2000">
                <a:solidFill>
                  <a:srgbClr val="444444"/>
                </a:solidFill>
              </a:defRPr>
            </a:pPr>
            <a:r>
              <a:t>Probability theory is crucial for predictions</a:t>
            </a:r>
          </a:p>
          <a:p>
            <a:pPr>
              <a:defRPr sz="2000">
                <a:solidFill>
                  <a:srgbClr val="444444"/>
                </a:solidFill>
              </a:defRPr>
            </a:pPr>
            <a:r>
              <a:t>Calculus optimizes model parameters</a:t>
            </a:r>
          </a:p>
          <a:p>
            <a:pPr>
              <a:defRPr sz="2000">
                <a:solidFill>
                  <a:srgbClr val="444444"/>
                </a:solidFill>
              </a:defRPr>
            </a:pPr>
            <a:r>
              <a:t>Statistics helps in data analysis and visualization</a:t>
            </a:r>
          </a:p>
          <a:p>
            <a:pPr>
              <a:defRPr sz="2000">
                <a:solidFill>
                  <a:srgbClr val="444444"/>
                </a:solidFill>
              </a:defRPr>
            </a:pPr>
            <a:r>
              <a:t>Mathematical formulation is key to ML algorithms</a:t>
            </a:r>
          </a:p>
          <a:p>
            <a:pPr>
              <a:defRPr sz="2000">
                <a:solidFill>
                  <a:srgbClr val="444444"/>
                </a:solidFill>
              </a:defRPr>
            </a:pPr>
            <a:r>
              <a:t>Vector spaces represent data in ML</a:t>
            </a:r>
          </a:p>
          <a:p>
            <a:pPr>
              <a:defRPr sz="2000">
                <a:solidFill>
                  <a:srgbClr val="444444"/>
                </a:solidFill>
              </a:defRPr>
            </a:pPr>
            <a:r>
              <a:t>Matrices and tensors are used extensively</a:t>
            </a:r>
          </a:p>
          <a:p>
            <a:pPr>
              <a:defRPr sz="2000">
                <a:solidFill>
                  <a:srgbClr val="444444"/>
                </a:solidFill>
              </a:defRPr>
            </a:pPr>
            <a:r>
              <a:t>Equation: y = wx + b, simple linear model</a:t>
            </a:r>
          </a:p>
          <a:p>
            <a:pPr>
              <a:defRPr sz="2000">
                <a:solidFill>
                  <a:srgbClr val="444444"/>
                </a:solidFill>
              </a:defRPr>
            </a:pPr>
            <a:r>
              <a:t>Formulation affects model performance and accuracy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 - Introduction</a:t>
            </a:r>
          </a:p>
        </p:txBody>
      </p:sp>
      <p:sp>
        <p:nvSpPr>
          <p:cNvPr id="3" name="Content Placeholder 2"/>
          <p:cNvSpPr>
            <a:spLocks noGrp="1"/>
          </p:cNvSpPr>
          <p:nvPr>
            <p:ph idx="1"/>
          </p:nvPr>
        </p:nvSpPr>
        <p:spPr/>
        <p:txBody>
          <a:bodyPr/>
          <a:lstStyle/>
          <a:p>
            <a:pPr>
              <a:defRPr sz="2000">
                <a:solidFill>
                  <a:srgbClr val="444444"/>
                </a:solidFill>
              </a:defRPr>
            </a:pPr>
            <a:r>
              <a:t>Machine learning relies on mathematical models</a:t>
            </a:r>
          </a:p>
          <a:p>
            <a:pPr>
              <a:defRPr sz="2000">
                <a:solidFill>
                  <a:srgbClr val="444444"/>
                </a:solidFill>
              </a:defRPr>
            </a:pPr>
            <a:r>
              <a:t>Linear algebra is fundamental to ML</a:t>
            </a:r>
          </a:p>
          <a:p>
            <a:pPr>
              <a:defRPr sz="2000">
                <a:solidFill>
                  <a:srgbClr val="444444"/>
                </a:solidFill>
              </a:defRPr>
            </a:pPr>
            <a:r>
              <a:t>Probability theory underlies many algorithms</a:t>
            </a:r>
          </a:p>
          <a:p>
            <a:pPr>
              <a:defRPr sz="2000">
                <a:solidFill>
                  <a:srgbClr val="444444"/>
                </a:solidFill>
              </a:defRPr>
            </a:pPr>
            <a:r>
              <a:t>Optimization techniques are crucial for training</a:t>
            </a:r>
          </a:p>
          <a:p>
            <a:pPr>
              <a:defRPr sz="2000">
                <a:solidFill>
                  <a:srgbClr val="444444"/>
                </a:solidFill>
              </a:defRPr>
            </a:pPr>
            <a:r>
              <a:t>Statistical learning theory provides framework</a:t>
            </a:r>
          </a:p>
          <a:p>
            <a:pPr>
              <a:defRPr sz="2000">
                <a:solidFill>
                  <a:srgbClr val="444444"/>
                </a:solidFill>
              </a:defRPr>
            </a:pPr>
            <a:r>
              <a:t>Mathematical formulation enables model interpretation</a:t>
            </a:r>
          </a:p>
          <a:p>
            <a:pPr>
              <a:defRPr sz="2000">
                <a:solidFill>
                  <a:srgbClr val="444444"/>
                </a:solidFill>
              </a:defRPr>
            </a:pPr>
            <a:r>
              <a:t>Vector spaces are used for data representation</a:t>
            </a:r>
          </a:p>
          <a:p>
            <a:pPr>
              <a:defRPr sz="2000">
                <a:solidFill>
                  <a:srgbClr val="444444"/>
                </a:solidFill>
              </a:defRPr>
            </a:pPr>
            <a:r>
              <a:t>Matrix operations are essential for computations</a:t>
            </a:r>
          </a:p>
          <a:p>
            <a:pPr>
              <a:defRPr sz="2000">
                <a:solidFill>
                  <a:srgbClr val="444444"/>
                </a:solidFill>
              </a:defRPr>
            </a:pPr>
            <a:r>
              <a:t>Calculus is used for gradient descent optimization</a:t>
            </a:r>
          </a:p>
          <a:p>
            <a:pPr>
              <a:defRPr sz="2000">
                <a:solidFill>
                  <a:srgbClr val="444444"/>
                </a:solidFill>
              </a:defRPr>
            </a:pPr>
            <a:r>
              <a:t>y = wx + b is a simple linear equation example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Formulation - Foundations</a:t>
            </a:r>
          </a:p>
        </p:txBody>
      </p:sp>
      <p:sp>
        <p:nvSpPr>
          <p:cNvPr id="3" name="Content Placeholder 2"/>
          <p:cNvSpPr>
            <a:spLocks noGrp="1"/>
          </p:cNvSpPr>
          <p:nvPr>
            <p:ph idx="1"/>
          </p:nvPr>
        </p:nvSpPr>
        <p:spPr/>
        <p:txBody>
          <a:bodyPr/>
          <a:lstStyle/>
          <a:p>
            <a:pPr>
              <a:defRPr sz="2000">
                <a:solidFill>
                  <a:srgbClr val="444444"/>
                </a:solidFill>
              </a:defRPr>
            </a:pPr>
            <a:r>
              <a:t>Linear Regression uses ordinary least squares method</a:t>
            </a:r>
          </a:p>
          <a:p>
            <a:pPr>
              <a:defRPr sz="2000">
                <a:solidFill>
                  <a:srgbClr val="444444"/>
                </a:solidFill>
              </a:defRPr>
            </a:pPr>
            <a:r>
              <a:t>Logistic Regression applies sigmoid function for classification</a:t>
            </a:r>
          </a:p>
          <a:p>
            <a:pPr>
              <a:defRPr sz="2000">
                <a:solidFill>
                  <a:srgbClr val="444444"/>
                </a:solidFill>
              </a:defRPr>
            </a:pPr>
            <a:r>
              <a:t>Decision Trees utilize entropy for splitting criteria</a:t>
            </a:r>
          </a:p>
          <a:p>
            <a:pPr>
              <a:defRPr sz="2000">
                <a:solidFill>
                  <a:srgbClr val="444444"/>
                </a:solidFill>
              </a:defRPr>
            </a:pPr>
            <a:r>
              <a:t>Random Forests combine multiple decision trees</a:t>
            </a:r>
          </a:p>
          <a:p>
            <a:pPr>
              <a:defRPr sz="2000">
                <a:solidFill>
                  <a:srgbClr val="444444"/>
                </a:solidFill>
              </a:defRPr>
            </a:pPr>
            <a:r>
              <a:t>Support Vector Machines use kernels for complex data</a:t>
            </a:r>
          </a:p>
          <a:p>
            <a:pPr>
              <a:defRPr sz="2000">
                <a:solidFill>
                  <a:srgbClr val="444444"/>
                </a:solidFill>
              </a:defRPr>
            </a:pPr>
            <a:r>
              <a:t>Neural Networks employ backpropagation for training</a:t>
            </a:r>
          </a:p>
          <a:p>
            <a:pPr>
              <a:defRPr sz="2000">
                <a:solidFill>
                  <a:srgbClr val="444444"/>
                </a:solidFill>
              </a:defRPr>
            </a:pPr>
            <a:r>
              <a:t>Gradient Descent optimizes model parameters</a:t>
            </a:r>
          </a:p>
          <a:p>
            <a:pPr>
              <a:defRPr sz="2000">
                <a:solidFill>
                  <a:srgbClr val="444444"/>
                </a:solidFill>
              </a:defRPr>
            </a:pPr>
            <a:r>
              <a:t>Regularization techniques prevent overfitting</a:t>
            </a:r>
          </a:p>
          <a:p>
            <a:pPr>
              <a:defRPr sz="2000">
                <a:solidFill>
                  <a:srgbClr val="444444"/>
                </a:solidFill>
              </a:defRPr>
            </a:pPr>
            <a:r>
              <a:t>Cross-validation evaluates model performance</a:t>
            </a:r>
          </a:p>
          <a:p>
            <a:pPr>
              <a:defRPr sz="2000">
                <a:solidFill>
                  <a:srgbClr val="444444"/>
                </a:solidFill>
              </a:defRPr>
            </a:pPr>
            <a:r>
              <a:t>y = wx + b represents simple linear equation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Autoencoders - Introduction</a:t>
            </a:r>
          </a:p>
        </p:txBody>
      </p:sp>
      <p:sp>
        <p:nvSpPr>
          <p:cNvPr id="3" name="Content Placeholder 2"/>
          <p:cNvSpPr>
            <a:spLocks noGrp="1"/>
          </p:cNvSpPr>
          <p:nvPr>
            <p:ph idx="1"/>
          </p:nvPr>
        </p:nvSpPr>
        <p:spPr/>
        <p:txBody>
          <a:bodyPr/>
          <a:lstStyle/>
          <a:p>
            <a:pPr>
              <a:defRPr sz="2000">
                <a:solidFill>
                  <a:srgbClr val="444444"/>
                </a:solidFill>
              </a:defRPr>
            </a:pPr>
            <a:r>
              <a:t>Autoencoders are neural networks for dimensionality reduction</a:t>
            </a:r>
          </a:p>
          <a:p>
            <a:pPr>
              <a:defRPr sz="2000">
                <a:solidFill>
                  <a:srgbClr val="444444"/>
                </a:solidFill>
              </a:defRPr>
            </a:pPr>
            <a:r>
              <a:t>Used for anomaly detection and generative modeling tasks</a:t>
            </a:r>
          </a:p>
          <a:p>
            <a:pPr>
              <a:defRPr sz="2000">
                <a:solidFill>
                  <a:srgbClr val="444444"/>
                </a:solidFill>
              </a:defRPr>
            </a:pPr>
            <a:r>
              <a:t>Consist of encoder and decoder components</a:t>
            </a:r>
          </a:p>
          <a:p>
            <a:pPr>
              <a:defRPr sz="2000">
                <a:solidFill>
                  <a:srgbClr val="444444"/>
                </a:solidFill>
              </a:defRPr>
            </a:pPr>
            <a:r>
              <a:t>Encoder maps input to lower-dimensional representation</a:t>
            </a:r>
          </a:p>
          <a:p>
            <a:pPr>
              <a:defRPr sz="2000">
                <a:solidFill>
                  <a:srgbClr val="444444"/>
                </a:solidFill>
              </a:defRPr>
            </a:pPr>
            <a:r>
              <a:t>Decoder maps representation back to original input</a:t>
            </a:r>
          </a:p>
          <a:p>
            <a:pPr>
              <a:defRPr sz="2000">
                <a:solidFill>
                  <a:srgbClr val="444444"/>
                </a:solidFill>
              </a:defRPr>
            </a:pPr>
            <a:r>
              <a:t>Variants include sparse, denoising, and contractive autoencoders</a:t>
            </a:r>
          </a:p>
          <a:p>
            <a:pPr>
              <a:defRPr sz="2000">
                <a:solidFill>
                  <a:srgbClr val="444444"/>
                </a:solidFill>
              </a:defRPr>
            </a:pPr>
            <a:r>
              <a:t>Applications in image and text processing tasks</a:t>
            </a:r>
          </a:p>
          <a:p>
            <a:pPr>
              <a:defRPr sz="2000">
                <a:solidFill>
                  <a:srgbClr val="444444"/>
                </a:solidFill>
              </a:defRPr>
            </a:pPr>
            <a:r>
              <a:t>Can be used for feature learning and data compression</a:t>
            </a:r>
          </a:p>
          <a:p>
            <a:pPr>
              <a:defRPr sz="2000">
                <a:solidFill>
                  <a:srgbClr val="444444"/>
                </a:solidFill>
              </a:defRPr>
            </a:pPr>
            <a:r>
              <a:t>Helpful in reducing noise in datasets and improving models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Autoencoders - Variants</a:t>
            </a:r>
          </a:p>
        </p:txBody>
      </p:sp>
      <p:sp>
        <p:nvSpPr>
          <p:cNvPr id="3" name="Content Placeholder 2"/>
          <p:cNvSpPr>
            <a:spLocks noGrp="1"/>
          </p:cNvSpPr>
          <p:nvPr>
            <p:ph idx="1"/>
          </p:nvPr>
        </p:nvSpPr>
        <p:spPr/>
        <p:txBody>
          <a:bodyPr/>
          <a:lstStyle/>
          <a:p>
            <a:pPr>
              <a:defRPr sz="2000">
                <a:solidFill>
                  <a:srgbClr val="444444"/>
                </a:solidFill>
              </a:defRPr>
            </a:pPr>
            <a:r>
              <a:t>Simple Autoencoders for dimensionality reduction</a:t>
            </a:r>
          </a:p>
          <a:p>
            <a:pPr>
              <a:defRPr sz="2000">
                <a:solidFill>
                  <a:srgbClr val="444444"/>
                </a:solidFill>
              </a:defRPr>
            </a:pPr>
            <a:r>
              <a:t>Sparse Autoencoders for feature learning</a:t>
            </a:r>
          </a:p>
          <a:p>
            <a:pPr>
              <a:defRPr sz="2000">
                <a:solidFill>
                  <a:srgbClr val="444444"/>
                </a:solidFill>
              </a:defRPr>
            </a:pPr>
            <a:r>
              <a:t>Convolutional Autoencoders for image data</a:t>
            </a:r>
          </a:p>
          <a:p>
            <a:pPr>
              <a:defRPr sz="2000">
                <a:solidFill>
                  <a:srgbClr val="444444"/>
                </a:solidFill>
              </a:defRPr>
            </a:pPr>
            <a:r>
              <a:t>Recurrent Autoencoders for sequential data</a:t>
            </a:r>
          </a:p>
          <a:p>
            <a:pPr>
              <a:defRPr sz="2000">
                <a:solidFill>
                  <a:srgbClr val="444444"/>
                </a:solidFill>
              </a:defRPr>
            </a:pPr>
            <a:r>
              <a:t>Denoising Autoencoders for robustness</a:t>
            </a:r>
          </a:p>
          <a:p>
            <a:pPr>
              <a:defRPr sz="2000">
                <a:solidFill>
                  <a:srgbClr val="444444"/>
                </a:solidFill>
              </a:defRPr>
            </a:pPr>
            <a:r>
              <a:t>Contractive Autoencoders for disentangled features</a:t>
            </a:r>
          </a:p>
          <a:p>
            <a:pPr>
              <a:defRPr sz="2000">
                <a:solidFill>
                  <a:srgbClr val="444444"/>
                </a:solidFill>
              </a:defRPr>
            </a:pPr>
            <a:r>
              <a:t>Variational Autoencoders for generative models</a:t>
            </a:r>
          </a:p>
          <a:p>
            <a:pPr>
              <a:defRPr sz="2000">
                <a:solidFill>
                  <a:srgbClr val="444444"/>
                </a:solidFill>
              </a:defRPr>
            </a:pPr>
            <a:r>
              <a:t>Adversarial Autoencoders for domain adaptation</a:t>
            </a:r>
          </a:p>
          <a:p>
            <a:pPr>
              <a:defRPr sz="2000">
                <a:solidFill>
                  <a:srgbClr val="444444"/>
                </a:solidFill>
              </a:defRPr>
            </a:pPr>
            <a:r>
              <a:t>Stacked Autoencoders for deep representations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Types of Autoencoders - Variants</a:t>
            </a:r>
          </a:p>
        </p:txBody>
      </p:sp>
      <p:sp>
        <p:nvSpPr>
          <p:cNvPr id="3" name="Content Placeholder 2"/>
          <p:cNvSpPr>
            <a:spLocks noGrp="1"/>
          </p:cNvSpPr>
          <p:nvPr>
            <p:ph idx="1"/>
          </p:nvPr>
        </p:nvSpPr>
        <p:spPr/>
        <p:txBody>
          <a:bodyPr/>
          <a:lstStyle/>
          <a:p>
            <a:pPr>
              <a:defRPr sz="2000">
                <a:solidFill>
                  <a:srgbClr val="444444"/>
                </a:solidFill>
              </a:defRPr>
            </a:pPr>
            <a:r>
              <a:t>Simple Autoencoders for dimensionality reduction</a:t>
            </a:r>
          </a:p>
          <a:p>
            <a:pPr>
              <a:defRPr sz="2000">
                <a:solidFill>
                  <a:srgbClr val="444444"/>
                </a:solidFill>
              </a:defRPr>
            </a:pPr>
            <a:r>
              <a:t>Sparse Autoencoders for feature learning</a:t>
            </a:r>
          </a:p>
          <a:p>
            <a:pPr>
              <a:defRPr sz="2000">
                <a:solidFill>
                  <a:srgbClr val="444444"/>
                </a:solidFill>
              </a:defRPr>
            </a:pPr>
            <a:r>
              <a:t>Denoising Autoencoders for robustness</a:t>
            </a:r>
          </a:p>
          <a:p>
            <a:pPr>
              <a:defRPr sz="2000">
                <a:solidFill>
                  <a:srgbClr val="444444"/>
                </a:solidFill>
              </a:defRPr>
            </a:pPr>
            <a:r>
              <a:t>Contractive Autoencoders for disentangled features</a:t>
            </a:r>
          </a:p>
          <a:p>
            <a:pPr>
              <a:defRPr sz="2000">
                <a:solidFill>
                  <a:srgbClr val="444444"/>
                </a:solidFill>
              </a:defRPr>
            </a:pPr>
            <a:r>
              <a:t>Variational Autoencoders for generative models</a:t>
            </a:r>
          </a:p>
          <a:p>
            <a:pPr>
              <a:defRPr sz="2000">
                <a:solidFill>
                  <a:srgbClr val="444444"/>
                </a:solidFill>
              </a:defRPr>
            </a:pPr>
            <a:r>
              <a:t>Convolutional Autoencoders for image data</a:t>
            </a:r>
          </a:p>
          <a:p>
            <a:pPr>
              <a:defRPr sz="2000">
                <a:solidFill>
                  <a:srgbClr val="444444"/>
                </a:solidFill>
              </a:defRPr>
            </a:pPr>
            <a:r>
              <a:t>Recurrent Autoencoders for sequential data</a:t>
            </a:r>
          </a:p>
          <a:p>
            <a:pPr>
              <a:defRPr sz="2000">
                <a:solidFill>
                  <a:srgbClr val="444444"/>
                </a:solidFill>
              </a:defRPr>
            </a:pPr>
            <a:r>
              <a:t>Adversarial Autoencoders for robust representations</a:t>
            </a:r>
          </a:p>
          <a:p>
            <a:pPr>
              <a:defRPr sz="2000">
                <a:solidFill>
                  <a:srgbClr val="444444"/>
                </a:solidFill>
              </a:defRPr>
            </a:pPr>
            <a:r>
              <a:t>Stacked Autoencoders for hierarchical features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Introduction</a:t>
            </a:r>
          </a:p>
        </p:txBody>
      </p:sp>
      <p:sp>
        <p:nvSpPr>
          <p:cNvPr id="3" name="Content Placeholder 2"/>
          <p:cNvSpPr>
            <a:spLocks noGrp="1"/>
          </p:cNvSpPr>
          <p:nvPr>
            <p:ph idx="1"/>
          </p:nvPr>
        </p:nvSpPr>
        <p:spPr/>
        <p:txBody>
          <a:bodyPr/>
          <a:lstStyle/>
          <a:p>
            <a:pPr>
              <a:defRPr sz="2000">
                <a:solidFill>
                  <a:srgbClr val="444444"/>
                </a:solidFill>
              </a:defRPr>
            </a:pPr>
            <a:r>
              <a:t>Machine learning applies to image recognition systems</a:t>
            </a:r>
          </a:p>
          <a:p>
            <a:pPr>
              <a:defRPr sz="2000">
                <a:solidFill>
                  <a:srgbClr val="444444"/>
                </a:solidFill>
              </a:defRPr>
            </a:pPr>
            <a:r>
              <a:t>Natural language processing for chatbots and assistants</a:t>
            </a:r>
          </a:p>
          <a:p>
            <a:pPr>
              <a:defRPr sz="2000">
                <a:solidFill>
                  <a:srgbClr val="444444"/>
                </a:solidFill>
              </a:defRPr>
            </a:pPr>
            <a:r>
              <a:t>Predictive analytics for business decision making</a:t>
            </a:r>
          </a:p>
          <a:p>
            <a:pPr>
              <a:defRPr sz="2000">
                <a:solidFill>
                  <a:srgbClr val="444444"/>
                </a:solidFill>
              </a:defRPr>
            </a:pPr>
            <a:r>
              <a:t>Recommendation systems for e-commerce websites</a:t>
            </a:r>
          </a:p>
          <a:p>
            <a:pPr>
              <a:defRPr sz="2000">
                <a:solidFill>
                  <a:srgbClr val="444444"/>
                </a:solidFill>
              </a:defRPr>
            </a:pPr>
            <a:r>
              <a:t>Speech recognition for voice-controlled devices</a:t>
            </a:r>
          </a:p>
          <a:p>
            <a:pPr>
              <a:defRPr sz="2000">
                <a:solidFill>
                  <a:srgbClr val="444444"/>
                </a:solidFill>
              </a:defRPr>
            </a:pPr>
            <a:r>
              <a:t>Medical diagnosis with machine learning algorithms</a:t>
            </a:r>
          </a:p>
          <a:p>
            <a:pPr>
              <a:defRPr sz="2000">
                <a:solidFill>
                  <a:srgbClr val="444444"/>
                </a:solidFill>
              </a:defRPr>
            </a:pPr>
            <a:r>
              <a:t>Time series forecasting for stock market analysis</a:t>
            </a:r>
          </a:p>
          <a:p>
            <a:pPr>
              <a:defRPr sz="2000">
                <a:solidFill>
                  <a:srgbClr val="444444"/>
                </a:solidFill>
              </a:defRPr>
            </a:pPr>
            <a:r>
              <a:t>Anomaly detection for cybersecurity threats</a:t>
            </a:r>
          </a:p>
          <a:p>
            <a:pPr>
              <a:defRPr sz="2000">
                <a:solidFill>
                  <a:srgbClr val="444444"/>
                </a:solidFill>
              </a:defRPr>
            </a:pPr>
            <a:r>
              <a:t>Autonomous vehicles using machine learning models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Machine Learning Variants</a:t>
            </a:r>
          </a:p>
        </p:txBody>
      </p:sp>
      <p:sp>
        <p:nvSpPr>
          <p:cNvPr id="3" name="Content Placeholder 2"/>
          <p:cNvSpPr>
            <a:spLocks noGrp="1"/>
          </p:cNvSpPr>
          <p:nvPr>
            <p:ph idx="1"/>
          </p:nvPr>
        </p:nvSpPr>
        <p:spPr/>
        <p:txBody>
          <a:bodyPr/>
          <a:lstStyle/>
          <a:p>
            <a:pPr>
              <a:defRPr sz="2000">
                <a:solidFill>
                  <a:srgbClr val="444444"/>
                </a:solidFill>
              </a:defRPr>
            </a:pPr>
            <a:r>
              <a:t>Natural Language Processing for text analysis</a:t>
            </a:r>
          </a:p>
          <a:p>
            <a:pPr>
              <a:defRPr sz="2000">
                <a:solidFill>
                  <a:srgbClr val="444444"/>
                </a:solidFill>
              </a:defRPr>
            </a:pPr>
            <a:r>
              <a:t>Computer Vision for image recognition systems</a:t>
            </a:r>
          </a:p>
          <a:p>
            <a:pPr>
              <a:defRPr sz="2000">
                <a:solidFill>
                  <a:srgbClr val="444444"/>
                </a:solidFill>
              </a:defRPr>
            </a:pPr>
            <a:r>
              <a:t>Predictive Maintenance in industrial automation</a:t>
            </a:r>
          </a:p>
          <a:p>
            <a:pPr>
              <a:defRPr sz="2000">
                <a:solidFill>
                  <a:srgbClr val="444444"/>
                </a:solidFill>
              </a:defRPr>
            </a:pPr>
            <a:r>
              <a:t>Recommendation Systems for e-commerce platforms</a:t>
            </a:r>
          </a:p>
          <a:p>
            <a:pPr>
              <a:defRPr sz="2000">
                <a:solidFill>
                  <a:srgbClr val="444444"/>
                </a:solidFill>
              </a:defRPr>
            </a:pPr>
            <a:r>
              <a:t>Speech Recognition for voice assistants</a:t>
            </a:r>
          </a:p>
          <a:p>
            <a:pPr>
              <a:defRPr sz="2000">
                <a:solidFill>
                  <a:srgbClr val="444444"/>
                </a:solidFill>
              </a:defRPr>
            </a:pPr>
            <a:r>
              <a:t>Time Series Forecasting for financial markets</a:t>
            </a:r>
          </a:p>
          <a:p>
            <a:pPr>
              <a:defRPr sz="2000">
                <a:solidFill>
                  <a:srgbClr val="444444"/>
                </a:solidFill>
              </a:defRPr>
            </a:pPr>
            <a:r>
              <a:t>Anomaly Detection for cybersecurity threats</a:t>
            </a:r>
          </a:p>
          <a:p>
            <a:pPr>
              <a:defRPr sz="2000">
                <a:solidFill>
                  <a:srgbClr val="444444"/>
                </a:solidFill>
              </a:defRPr>
            </a:pPr>
            <a:r>
              <a:t>Clustering for customer segmentation analysis</a:t>
            </a:r>
          </a:p>
          <a:p>
            <a:pPr>
              <a:defRPr sz="2000">
                <a:solidFill>
                  <a:srgbClr val="444444"/>
                </a:solidFill>
              </a:defRPr>
            </a:pPr>
            <a:r>
              <a:t>Regression for continuous data prediction models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Real-World Implementations</a:t>
            </a:r>
          </a:p>
        </p:txBody>
      </p:sp>
      <p:sp>
        <p:nvSpPr>
          <p:cNvPr id="3" name="Content Placeholder 2"/>
          <p:cNvSpPr>
            <a:spLocks noGrp="1"/>
          </p:cNvSpPr>
          <p:nvPr>
            <p:ph idx="1"/>
          </p:nvPr>
        </p:nvSpPr>
        <p:spPr/>
        <p:txBody>
          <a:bodyPr/>
          <a:lstStyle/>
          <a:p>
            <a:pPr>
              <a:defRPr sz="2000">
                <a:solidFill>
                  <a:srgbClr val="444444"/>
                </a:solidFill>
              </a:defRPr>
            </a:pPr>
            <a:r>
              <a:t>Predictive maintenance in manufacturing industries</a:t>
            </a:r>
          </a:p>
          <a:p>
            <a:pPr>
              <a:defRPr sz="2000">
                <a:solidFill>
                  <a:srgbClr val="444444"/>
                </a:solidFill>
              </a:defRPr>
            </a:pPr>
            <a:r>
              <a:t>Image recognition in healthcare for disease diagnosis</a:t>
            </a:r>
          </a:p>
          <a:p>
            <a:pPr>
              <a:defRPr sz="2000">
                <a:solidFill>
                  <a:srgbClr val="444444"/>
                </a:solidFill>
              </a:defRPr>
            </a:pPr>
            <a:r>
              <a:t>Natural language processing in customer service chatbots</a:t>
            </a:r>
          </a:p>
          <a:p>
            <a:pPr>
              <a:defRPr sz="2000">
                <a:solidFill>
                  <a:srgbClr val="444444"/>
                </a:solidFill>
              </a:defRPr>
            </a:pPr>
            <a:r>
              <a:t>Recommendation systems in e-commerce platforms</a:t>
            </a:r>
          </a:p>
          <a:p>
            <a:pPr>
              <a:defRPr sz="2000">
                <a:solidFill>
                  <a:srgbClr val="444444"/>
                </a:solidFill>
              </a:defRPr>
            </a:pPr>
            <a:r>
              <a:t>Speech recognition in virtual assistants like Siri</a:t>
            </a:r>
          </a:p>
          <a:p>
            <a:pPr>
              <a:defRPr sz="2000">
                <a:solidFill>
                  <a:srgbClr val="444444"/>
                </a:solidFill>
              </a:defRPr>
            </a:pPr>
            <a:r>
              <a:t>Time series forecasting in financial markets analysis</a:t>
            </a:r>
          </a:p>
          <a:p>
            <a:pPr>
              <a:defRPr sz="2000">
                <a:solidFill>
                  <a:srgbClr val="444444"/>
                </a:solidFill>
              </a:defRPr>
            </a:pPr>
            <a:r>
              <a:t>Anomaly detection in cybersecurity threat identification</a:t>
            </a:r>
          </a:p>
          <a:p>
            <a:pPr>
              <a:defRPr sz="2000">
                <a:solidFill>
                  <a:srgbClr val="444444"/>
                </a:solidFill>
              </a:defRPr>
            </a:pPr>
            <a:r>
              <a:t>Sentiment analysis in social media monitoring tools</a:t>
            </a:r>
          </a:p>
          <a:p>
            <a:pPr>
              <a:defRPr sz="2000">
                <a:solidFill>
                  <a:srgbClr val="444444"/>
                </a:solidFill>
              </a:defRPr>
            </a:pPr>
            <a:r>
              <a:t>Clustering in market segmentation and targeting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Limitations - Introduction</a:t>
            </a:r>
          </a:p>
        </p:txBody>
      </p:sp>
      <p:sp>
        <p:nvSpPr>
          <p:cNvPr id="3" name="Content Placeholder 2"/>
          <p:cNvSpPr>
            <a:spLocks noGrp="1"/>
          </p:cNvSpPr>
          <p:nvPr>
            <p:ph idx="1"/>
          </p:nvPr>
        </p:nvSpPr>
        <p:spPr/>
        <p:txBody>
          <a:bodyPr/>
          <a:lstStyle/>
          <a:p>
            <a:pPr>
              <a:defRPr sz="2000">
                <a:solidFill>
                  <a:srgbClr val="444444"/>
                </a:solidFill>
              </a:defRPr>
            </a:pPr>
            <a:r>
              <a:t>Machine learning models have limited interpretability</a:t>
            </a:r>
          </a:p>
          <a:p>
            <a:pPr>
              <a:defRPr sz="2000">
                <a:solidFill>
                  <a:srgbClr val="444444"/>
                </a:solidFill>
              </a:defRPr>
            </a:pPr>
            <a:r>
              <a:t>Lack of transparency in decision-making processes</a:t>
            </a:r>
          </a:p>
          <a:p>
            <a:pPr>
              <a:defRPr sz="2000">
                <a:solidFill>
                  <a:srgbClr val="444444"/>
                </a:solidFill>
              </a:defRPr>
            </a:pPr>
            <a:r>
              <a:t>Insufficient training data affects model accuracy</a:t>
            </a:r>
          </a:p>
          <a:p>
            <a:pPr>
              <a:defRPr sz="2000">
                <a:solidFill>
                  <a:srgbClr val="444444"/>
                </a:solidFill>
              </a:defRPr>
            </a:pPr>
            <a:r>
              <a:t>Overfitting occurs when models are too complex</a:t>
            </a:r>
          </a:p>
          <a:p>
            <a:pPr>
              <a:defRPr sz="2000">
                <a:solidFill>
                  <a:srgbClr val="444444"/>
                </a:solidFill>
              </a:defRPr>
            </a:pPr>
            <a:r>
              <a:t>Underfitting happens with overly simplistic models</a:t>
            </a:r>
          </a:p>
          <a:p>
            <a:pPr>
              <a:defRPr sz="2000">
                <a:solidFill>
                  <a:srgbClr val="444444"/>
                </a:solidFill>
              </a:defRPr>
            </a:pPr>
            <a:r>
              <a:t>Biased data leads to unfair model outcomes</a:t>
            </a:r>
          </a:p>
          <a:p>
            <a:pPr>
              <a:defRPr sz="2000">
                <a:solidFill>
                  <a:srgbClr val="444444"/>
                </a:solidFill>
              </a:defRPr>
            </a:pPr>
            <a:r>
              <a:t>Model drift occurs when data distributions change</a:t>
            </a:r>
          </a:p>
          <a:p>
            <a:pPr>
              <a:defRPr sz="2000">
                <a:solidFill>
                  <a:srgbClr val="444444"/>
                </a:solidFill>
              </a:defRPr>
            </a:pPr>
            <a:r>
              <a:t>Limited explainability in deep learning models</a:t>
            </a:r>
          </a:p>
          <a:p>
            <a:pPr>
              <a:defRPr sz="2000">
                <a:solidFill>
                  <a:srgbClr val="444444"/>
                </a:solidFill>
              </a:defRPr>
            </a:pPr>
            <a:r>
              <a:t>Adversarial attacks can manipulate model outputs</a:t>
            </a:r>
          </a:p>
          <a:p>
            <a:pPr>
              <a:defRPr sz="2000">
                <a:solidFill>
                  <a:srgbClr val="444444"/>
                </a:solidFill>
              </a:defRPr>
            </a:pPr>
            <a:r>
              <a:t>Data quality issues impact model performance greatly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Limitations - Introduction to Machine Learning Constraints</a:t>
            </a:r>
          </a:p>
        </p:txBody>
      </p:sp>
      <p:sp>
        <p:nvSpPr>
          <p:cNvPr id="3" name="Content Placeholder 2"/>
          <p:cNvSpPr>
            <a:spLocks noGrp="1"/>
          </p:cNvSpPr>
          <p:nvPr>
            <p:ph idx="1"/>
          </p:nvPr>
        </p:nvSpPr>
        <p:spPr/>
        <p:txBody>
          <a:bodyPr/>
          <a:lstStyle/>
          <a:p>
            <a:pPr>
              <a:defRPr sz="2000">
                <a:solidFill>
                  <a:srgbClr val="444444"/>
                </a:solidFill>
              </a:defRPr>
            </a:pPr>
            <a:r>
              <a:t>Machine learning models are prone to overfitting and underfitting issues</a:t>
            </a:r>
          </a:p>
          <a:p>
            <a:pPr>
              <a:defRPr sz="2000">
                <a:solidFill>
                  <a:srgbClr val="444444"/>
                </a:solidFill>
              </a:defRPr>
            </a:pPr>
            <a:r>
              <a:t>Data quality and availability significantly impact model performance</a:t>
            </a:r>
          </a:p>
          <a:p>
            <a:pPr>
              <a:defRPr sz="2000">
                <a:solidFill>
                  <a:srgbClr val="444444"/>
                </a:solidFill>
              </a:defRPr>
            </a:pPr>
            <a:r>
              <a:t>Limited interpretability of complex neural network architectures</a:t>
            </a:r>
          </a:p>
          <a:p>
            <a:pPr>
              <a:defRPr sz="2000">
                <a:solidFill>
                  <a:srgbClr val="444444"/>
                </a:solidFill>
              </a:defRPr>
            </a:pPr>
            <a:r>
              <a:t>High computational costs for large-scale data processing</a:t>
            </a:r>
          </a:p>
          <a:p>
            <a:pPr>
              <a:defRPr sz="2000">
                <a:solidFill>
                  <a:srgbClr val="444444"/>
                </a:solidFill>
              </a:defRPr>
            </a:pPr>
            <a:r>
              <a:t>Requires significant expertise in programming and statistics</a:t>
            </a:r>
          </a:p>
          <a:p>
            <a:pPr>
              <a:defRPr sz="2000">
                <a:solidFill>
                  <a:srgbClr val="444444"/>
                </a:solidFill>
              </a:defRPr>
            </a:pPr>
            <a:r>
              <a:t>Vulnerability to adversarial attacks and data poisoning</a:t>
            </a:r>
          </a:p>
          <a:p>
            <a:pPr>
              <a:defRPr sz="2000">
                <a:solidFill>
                  <a:srgbClr val="444444"/>
                </a:solidFill>
              </a:defRPr>
            </a:pPr>
            <a:r>
              <a:t>Explainability and transparency are major concerns</a:t>
            </a:r>
          </a:p>
          <a:p>
            <a:pPr>
              <a:defRPr sz="2000">
                <a:solidFill>
                  <a:srgbClr val="444444"/>
                </a:solidFill>
              </a:defRPr>
            </a:pPr>
            <a:r>
              <a:t>Lack of standardization in model evaluation metrics</a:t>
            </a:r>
          </a:p>
          <a:p>
            <a:pPr>
              <a:defRPr sz="2000">
                <a:solidFill>
                  <a:srgbClr val="444444"/>
                </a:solidFill>
              </a:defRPr>
            </a:pPr>
            <a:r>
              <a:t>Dependence on high-quality training data and labeling</a:t>
            </a:r>
          </a:p>
          <a:p>
            <a:pPr>
              <a:defRPr sz="2000">
                <a:solidFill>
                  <a:srgbClr val="444444"/>
                </a:solidFill>
              </a:defRPr>
            </a:pPr>
            <a:r>
              <a:t>Scalability issues with increasing data and model complexity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Limitations - Introduction to Challenges</a:t>
            </a:r>
          </a:p>
        </p:txBody>
      </p:sp>
      <p:sp>
        <p:nvSpPr>
          <p:cNvPr id="3" name="Content Placeholder 2"/>
          <p:cNvSpPr>
            <a:spLocks noGrp="1"/>
          </p:cNvSpPr>
          <p:nvPr>
            <p:ph idx="1"/>
          </p:nvPr>
        </p:nvSpPr>
        <p:spPr/>
        <p:txBody>
          <a:bodyPr/>
          <a:lstStyle/>
          <a:p>
            <a:pPr>
              <a:defRPr sz="2000">
                <a:solidFill>
                  <a:srgbClr val="444444"/>
                </a:solidFill>
              </a:defRPr>
            </a:pPr>
            <a:r>
              <a:t>Machine learning models require large datasets for training</a:t>
            </a:r>
          </a:p>
          <a:p>
            <a:pPr>
              <a:defRPr sz="2000">
                <a:solidFill>
                  <a:srgbClr val="444444"/>
                </a:solidFill>
              </a:defRPr>
            </a:pPr>
            <a:r>
              <a:t>Insufficient data leads to poor model performance and accuracy</a:t>
            </a:r>
          </a:p>
          <a:p>
            <a:pPr>
              <a:defRPr sz="2000">
                <a:solidFill>
                  <a:srgbClr val="444444"/>
                </a:solidFill>
              </a:defRPr>
            </a:pPr>
            <a:r>
              <a:t>Overfitting occurs when models are too complex for data</a:t>
            </a:r>
          </a:p>
          <a:p>
            <a:pPr>
              <a:defRPr sz="2000">
                <a:solidFill>
                  <a:srgbClr val="444444"/>
                </a:solidFill>
              </a:defRPr>
            </a:pPr>
            <a:r>
              <a:t>Underfitting happens when models are too simple for data</a:t>
            </a:r>
          </a:p>
          <a:p>
            <a:pPr>
              <a:defRPr sz="2000">
                <a:solidFill>
                  <a:srgbClr val="444444"/>
                </a:solidFill>
              </a:defRPr>
            </a:pPr>
            <a:r>
              <a:t>Bias and variance issues affect model generalization</a:t>
            </a:r>
          </a:p>
          <a:p>
            <a:pPr>
              <a:defRPr sz="2000">
                <a:solidFill>
                  <a:srgbClr val="444444"/>
                </a:solidFill>
              </a:defRPr>
            </a:pPr>
            <a:r>
              <a:t>Noise and missing data impact model reliability</a:t>
            </a:r>
          </a:p>
          <a:p>
            <a:pPr>
              <a:defRPr sz="2000">
                <a:solidFill>
                  <a:srgbClr val="444444"/>
                </a:solidFill>
              </a:defRPr>
            </a:pPr>
            <a:r>
              <a:t>High-dimensional data poses computational challenges</a:t>
            </a:r>
          </a:p>
          <a:p>
            <a:pPr>
              <a:defRPr sz="2000">
                <a:solidFill>
                  <a:srgbClr val="444444"/>
                </a:solidFill>
              </a:defRPr>
            </a:pPr>
            <a:r>
              <a:t>Interpretability of models is often difficult to achieve</a:t>
            </a:r>
          </a:p>
          <a:p>
            <a:pPr>
              <a:defRPr sz="2000">
                <a:solidFill>
                  <a:srgbClr val="444444"/>
                </a:solidFill>
              </a:defRPr>
            </a:pPr>
            <a:r>
              <a:t>Explainability of results is crucial for model trustworthiness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