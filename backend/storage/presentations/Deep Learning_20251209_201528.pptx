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Recurrent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concept of Recurrent Neural Networks, it's essential to emphasize the importance of sequential data and the network's ability to maintain an internal state. Provide examples of real-world applications, such as speech recognition and language translation, to illustrate the network's capabilities. Ask students to consider the challenges of training RNNs, such as the vanishing gradient problem, and discuss techniques for addressing these challenges, such as gradient clipping and recurrent dropout. Use analogies, such as the network's internal state being similar to a computer's memory, to help students understand the concept of recurrent connections. Key takeaways should include the architecture of an RNN, the importance of activation functions, and the applications of RNNs in various fields. Encourage students to think critically about the choice of RNN architecture and hyperparameters, and how these choices depend on the specific problem being tackled.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architecture and functionality of Recurrent Neural Networks, emphasize the importance of capturing temporal relationships in sequential data. Provide examples of how RNNs can be used in real-world applications, such as language modeling or speech recognition. Explain the challenges of training RNNs, including the vanishing gradient problem, and how techniques such as LSTMs or gradient clipping can be used to mitigate these challenges. Ask students to consider the types of problems that RNNs are well-suited to solve, and how they can be used in conjunction with other machine learning techniques to solve complex problems. Key takeaways should include the ability to describe the architecture and functionality of RNNs, explain the challenges of training RNNs, and provide examples of real-world applications of RNNs.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be sure to explain the different types of RNN architectures, such as LSTMs and GRUs, and how they are used to handle sequential data. Provide examples of real-world applications, such as language modeling and speech recognition, and explain how the choice of RNN architecture and training method depends on the specific problem and dataset being used. Ask students to consider the strengths and weaknesses of different RNN architectures and how they can be used to solve different types of problems. Key takeaways include the importance of understanding the different types of RNN architectures and how they are used to handle sequential data, as well as the need to carefully tune hyperparameters when training RNNs. Be sure to provide concrete examples and analogies to help illustrate the concepts, such as comparing the hidden state of an RNN to a computer's memory, and ask students to think critically about how RNNs can be used to solve real-world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are a type of neural network designed to handle sequential data, such as time series data, speech, or text, by maintaining an internal state that captures information from previous inputs, allowing the network to keep track of context and make predictions based on that context.</a:t>
            </a:r>
          </a:p>
          <a:p>
            <a:pPr>
              <a:defRPr sz="2000">
                <a:solidFill>
                  <a:srgbClr val="444444"/>
                </a:solidFill>
              </a:defRPr>
            </a:pPr>
            <a:r>
              <a:t>RNNs are characterized by the presence of recurrent connections, which enable the network to feedback its previous outputs as inputs to the current time step, creating a loop in the network, and this recurrent connection allows the network to capture temporal relationships in the data.</a:t>
            </a:r>
          </a:p>
          <a:p>
            <a:pPr>
              <a:defRPr sz="2000">
                <a:solidFill>
                  <a:srgbClr val="444444"/>
                </a:solidFill>
              </a:defRPr>
            </a:pPr>
            <a:r>
              <a:t>The architecture of an RNN typically consists of an input layer, a hidden layer with recurrent connections, and an output layer, where the hidden layer is responsible for capturing the temporal relationships in the data, and the output layer generates the predicted output based on the internal state of the network.</a:t>
            </a:r>
          </a:p>
          <a:p>
            <a:pPr>
              <a:defRPr sz="2000">
                <a:solidFill>
                  <a:srgbClr val="444444"/>
                </a:solidFill>
              </a:defRPr>
            </a:pPr>
            <a:r>
              <a:t>The activation functions used in RNNs, such as sigmoid, tanh, or ReLU, introduce non-linearity into the network, enabling it to learn complex patterns and relationships in the data, and the choice of activation function depends on the specific problem being tackled.</a:t>
            </a:r>
          </a:p>
          <a:p>
            <a:pPr>
              <a:defRPr sz="2000">
                <a:solidFill>
                  <a:srgbClr val="444444"/>
                </a:solidFill>
              </a:defRPr>
            </a:pPr>
            <a:r>
              <a:t>Training an RNN involves optimizing the network's parameters to minimize the difference between the predicted output and the actual output, using backpropagation through time (BPTT), which is an extension of the backpropagation algorithm used in feedforward neural networks, and is used to compute the gradients of the loss function with respect to the network's parameters.</a:t>
            </a:r>
          </a:p>
          <a:p>
            <a:pPr>
              <a:defRPr sz="2000">
                <a:solidFill>
                  <a:srgbClr val="444444"/>
                </a:solidFill>
              </a:defRPr>
            </a:pPr>
            <a:r>
              <a:t>RNNs have been successfully applied to a wide range of tasks, including language modeling, speech recognition, machine translation, and time series forecasting, where the network's ability to capture temporal relationships and maintain an internal state is particularly useful.</a:t>
            </a:r>
          </a:p>
          <a:p>
            <a:pPr>
              <a:defRPr sz="2000">
                <a:solidFill>
                  <a:srgbClr val="444444"/>
                </a:solidFill>
              </a:defRPr>
            </a:pPr>
            <a:r>
              <a:t>A key challenge in training RNNs is the vanishing gradient problem, which occurs when the gradients of the loss function with respect to the network's parameters become very small, making it difficult to optimize the network's parameters, and techniques such as gradient clipping, weight regularization, and recurrent dropout can help mitigate this issue.</a:t>
            </a:r>
          </a:p>
          <a:p>
            <a:pPr>
              <a:defRPr sz="2000">
                <a:solidFill>
                  <a:srgbClr val="444444"/>
                </a:solidFill>
              </a:defRPr>
            </a:pPr>
            <a:r>
              <a:t>Long Short-Term Memory (LSTM) networks and Gated Recurrent Units (GRUs) are two popular variants of RNNs that are designed to address the vanishing gradient problem, by introducing additional gates and connections that help control the flow of information through the network, and enable the network to learn long-term dependencies in the data.</a:t>
            </a:r>
          </a:p>
          <a:p>
            <a:pPr>
              <a:defRPr sz="2000">
                <a:solidFill>
                  <a:srgbClr val="444444"/>
                </a:solidFill>
              </a:defRPr>
            </a:pPr>
            <a:r>
              <a:t>RNNs can be further extended to more complex architectures, such as bidirectional RNNs, which process the input sequence in both forward and backward directions, and encoder-decoder models, which consist of two RNNs, one for encoding the input sequence and another for decoding the output sequence, and are commonly used in machine translation and text summarization tasks.</a:t>
            </a:r>
          </a:p>
          <a:p>
            <a:pPr>
              <a:defRPr sz="2000">
                <a:solidFill>
                  <a:srgbClr val="444444"/>
                </a:solidFill>
              </a:defRPr>
            </a:pPr>
            <a:r>
              <a:t>The choice of RNN architecture and hyperparameters depends on the specific problem being tackled, and requires careful consideration of factors such as the size of the input and output sequences, the complexity of the relationships in the data, and the computational resources available.</a:t>
            </a:r>
          </a:p>
          <a:p>
            <a:pPr>
              <a:defRPr sz="2000">
                <a:solidFill>
                  <a:srgbClr val="444444"/>
                </a:solidFill>
              </a:defRPr>
            </a:pPr>
            <a:r>
              <a:t>Real-world applications of RNNs include speech recognition systems, such as Siri and Google Assistant, language translation systems, such as Google Translate, and time series forecasting systems, such as those used in finance and economics, where the network's ability to capture temporal relationships and make predictions based on that context is particularly valuable.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 and Functionality</a:t>
            </a:r>
          </a:p>
        </p:txBody>
      </p:sp>
      <p:sp>
        <p:nvSpPr>
          <p:cNvPr id="3" name="Content Placeholder 2"/>
          <p:cNvSpPr>
            <a:spLocks noGrp="1"/>
          </p:cNvSpPr>
          <p:nvPr>
            <p:ph idx="1"/>
          </p:nvPr>
        </p:nvSpPr>
        <p:spPr/>
        <p:txBody>
          <a:bodyPr/>
          <a:lstStyle/>
          <a:p>
            <a:pPr>
              <a:defRPr sz="2000">
                <a:solidFill>
                  <a:srgbClr val="444444"/>
                </a:solidFill>
              </a:defRPr>
            </a:pPr>
            <a:r>
              <a:t>Recurrent Neural Networks (RNNs) are a type of neural network designed to handle sequential data, such as time series data, speech, or text, by maintaining an internal state that captures information from previous inputs, allowing the network to keep track of context and make predictions based on that context.</a:t>
            </a:r>
          </a:p>
          <a:p>
            <a:pPr>
              <a:defRPr sz="2000">
                <a:solidFill>
                  <a:srgbClr val="444444"/>
                </a:solidFill>
              </a:defRPr>
            </a:pPr>
            <a:r>
              <a:t>The architecture of an RNN typically consists of an input layer, a hidden layer with recurrent connections, and an output layer, where the recurrent connections in the hidden layer allow the network to capture temporal relationships in the data, enabling the network to learn patterns and make predictions.</a:t>
            </a:r>
          </a:p>
          <a:p>
            <a:pPr>
              <a:defRPr sz="2000">
                <a:solidFill>
                  <a:srgbClr val="444444"/>
                </a:solidFill>
              </a:defRPr>
            </a:pPr>
            <a:r>
              <a:t>The Long Short-Term Memory (LSTM) network is a variant of RNNs that uses memory cells and gates to control the flow of information, allowing the network to learn long-term dependencies in data, such as language models or speech recognition systems, by mitigating the vanishing gradient problem.</a:t>
            </a:r>
          </a:p>
          <a:p>
            <a:pPr>
              <a:defRPr sz="2000">
                <a:solidFill>
                  <a:srgbClr val="444444"/>
                </a:solidFill>
              </a:defRPr>
            </a:pPr>
            <a:r>
              <a:t>The Gated Recurrent Unit (GRU) is another variant of RNNs that uses gates to control the flow of information, similar to LSTMs, but with fewer parameters, making it faster to train and more suitable for real-time applications, such as language translation or text summarization.</a:t>
            </a:r>
          </a:p>
          <a:p>
            <a:pPr>
              <a:defRPr sz="2000">
                <a:solidFill>
                  <a:srgbClr val="444444"/>
                </a:solidFill>
              </a:defRPr>
            </a:pPr>
            <a:r>
              <a:t>RNNs can be trained using backpropagation through time (BPTT), which involves unfolding the network in time and applying the backpropagation algorithm to compute the gradients of the loss function with respect to the model parameters, allowing the network to learn from sequential data.</a:t>
            </a:r>
          </a:p>
          <a:p>
            <a:pPr>
              <a:defRPr sz="2000">
                <a:solidFill>
                  <a:srgbClr val="444444"/>
                </a:solidFill>
              </a:defRPr>
            </a:pPr>
            <a:r>
              <a:t>One of the key challenges in training RNNs is the vanishing gradient problem, which occurs when the gradients of the loss function with respect to the model parameters become very small, making it difficult for the network to learn long-term dependencies, and can be mitigated using techniques such as gradient clipping or LSTMs.</a:t>
            </a:r>
          </a:p>
          <a:p>
            <a:pPr>
              <a:defRPr sz="2000">
                <a:solidFill>
                  <a:srgbClr val="444444"/>
                </a:solidFill>
              </a:defRPr>
            </a:pPr>
            <a:r>
              <a:t>RNNs have a wide range of applications, including language modeling, speech recognition, machine translation, and time series forecasting, where they can be used to predict future values based on past patterns, such as predicting stock prices or weather forecasts.</a:t>
            </a:r>
          </a:p>
          <a:p>
            <a:pPr>
              <a:defRPr sz="2000">
                <a:solidFill>
                  <a:srgbClr val="444444"/>
                </a:solidFill>
              </a:defRPr>
            </a:pPr>
            <a:r>
              <a:t>In natural language processing, RNNs can be used for tasks such as language modeling, sentiment analysis, and text classification, where they can capture the context and nuances of language, allowing for more accurate predictions and classifications.</a:t>
            </a:r>
          </a:p>
          <a:p>
            <a:pPr>
              <a:defRPr sz="2000">
                <a:solidFill>
                  <a:srgbClr val="444444"/>
                </a:solidFill>
              </a:defRPr>
            </a:pPr>
            <a:r>
              <a:t>RNNs can also be used for speech recognition, where they can be trained to recognize patterns in speech and transcribe audio into text, with applications in voice assistants, voice-to-text systems, and speech-to-text systems.</a:t>
            </a:r>
          </a:p>
          <a:p>
            <a:pPr>
              <a:defRPr sz="2000">
                <a:solidFill>
                  <a:srgbClr val="444444"/>
                </a:solidFill>
              </a:defRPr>
            </a:pPr>
            <a:r>
              <a:t>In addition to these applications, RNNs can also be used for time series forecasting, where they can be trained to predict future values based on past patterns, such as predicting energy consumption or traffic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Architectures and Training Methods</a:t>
            </a:r>
          </a:p>
        </p:txBody>
      </p:sp>
      <p:sp>
        <p:nvSpPr>
          <p:cNvPr id="3" name="Content Placeholder 2"/>
          <p:cNvSpPr>
            <a:spLocks noGrp="1"/>
          </p:cNvSpPr>
          <p:nvPr>
            <p:ph idx="1"/>
          </p:nvPr>
        </p:nvSpPr>
        <p:spPr/>
        <p:txBody>
          <a:bodyPr/>
          <a:lstStyle/>
          <a:p>
            <a:pPr>
              <a:defRPr sz="2000">
                <a:solidFill>
                  <a:srgbClr val="444444"/>
                </a:solidFill>
              </a:defRPr>
            </a:pPr>
            <a:r>
              <a:t>Recurrent Neural Networks (RNNs) are a type of neural network designed to handle sequential data, such as time series data or natural language, by maintaining an internal state that captures information from previous inputs, allowing the network to keep track of context and make predictions based on that context.</a:t>
            </a:r>
          </a:p>
          <a:p>
            <a:pPr>
              <a:defRPr sz="2000">
                <a:solidFill>
                  <a:srgbClr val="444444"/>
                </a:solidFill>
              </a:defRPr>
            </a:pPr>
            <a:r>
              <a:t>The simplest RNN architecture consists of an input layer, a hidden layer with recurrent connections, and an output layer, where the recurrent connections allow the hidden layer to maintain a hidden state that is updated at each time step based on the current input and the previous hidden state.</a:t>
            </a:r>
          </a:p>
          <a:p>
            <a:pPr>
              <a:defRPr sz="2000">
                <a:solidFill>
                  <a:srgbClr val="444444"/>
                </a:solidFill>
              </a:defRPr>
            </a:pPr>
            <a:r>
              <a:t>Long Short-Term Memory (LSTM) networks are a variant of RNNs that use memory cells and gates to control the flow of information, allowing the network to learn long-term dependencies in data, such as those found in language models or speech recognition systems.</a:t>
            </a:r>
          </a:p>
          <a:p>
            <a:pPr>
              <a:defRPr sz="2000">
                <a:solidFill>
                  <a:srgbClr val="444444"/>
                </a:solidFill>
              </a:defRPr>
            </a:pPr>
            <a:r>
              <a:t>Gated Recurrent Units (GRUs) are another variant of RNNs that use gates to control the flow of information, but with fewer parameters than LSTMs, making them faster to train and more suitable for certain applications, such as language modeling or machine translation.</a:t>
            </a:r>
          </a:p>
          <a:p>
            <a:pPr>
              <a:defRPr sz="2000">
                <a:solidFill>
                  <a:srgbClr val="444444"/>
                </a:solidFill>
              </a:defRPr>
            </a:pPr>
            <a:r>
              <a:t>The training process for RNNs typically involves backpropagation through time (BPTT), which is a variant of backpropagation that is designed to handle the sequential nature of RNNs, by unfolding the network in time and computing the gradients of the loss function with respect to the model parameters.</a:t>
            </a:r>
          </a:p>
          <a:p>
            <a:pPr>
              <a:defRPr sz="2000">
                <a:solidFill>
                  <a:srgbClr val="444444"/>
                </a:solidFill>
              </a:defRPr>
            </a:pPr>
            <a:r>
              <a:t>RNNs can be trained using a variety of optimization algorithms, including stochastic gradient descent (SGD), Adam, and RMSprop, each with its own strengths and weaknesses, and the choice of optimizer often depends on the specific problem and dataset being used.</a:t>
            </a:r>
          </a:p>
          <a:p>
            <a:pPr>
              <a:defRPr sz="2000">
                <a:solidFill>
                  <a:srgbClr val="444444"/>
                </a:solidFill>
              </a:defRPr>
            </a:pPr>
            <a:r>
              <a:t>Regularization techniques, such as dropout and weight decay, can be used to prevent overfitting in RNNs, by randomly dropping out units during training or adding a penalty term to the loss function to discourage large weights.</a:t>
            </a:r>
          </a:p>
          <a:p>
            <a:pPr>
              <a:defRPr sz="2000">
                <a:solidFill>
                  <a:srgbClr val="444444"/>
                </a:solidFill>
              </a:defRPr>
            </a:pPr>
            <a:r>
              <a:t>Batch normalization can also be used to normalize the inputs to each layer, which can help to improve the stability and speed of training, by reducing the effect of internal covariate shift and allowing the network to learn more robust features.</a:t>
            </a:r>
          </a:p>
          <a:p>
            <a:pPr>
              <a:defRPr sz="2000">
                <a:solidFill>
                  <a:srgbClr val="444444"/>
                </a:solidFill>
              </a:defRPr>
            </a:pPr>
            <a:r>
              <a:t>RNNs can be used for a variety of tasks, including language modeling, speech recognition, and time series forecasting, and have been applied to many real-world problems, such as predicting stock prices, detecting anomalies in network traffic, and generating text or music.</a:t>
            </a:r>
          </a:p>
          <a:p>
            <a:pPr>
              <a:defRPr sz="2000">
                <a:solidFill>
                  <a:srgbClr val="444444"/>
                </a:solidFill>
              </a:defRPr>
            </a:pPr>
            <a:r>
              <a:t>The choice of RNN architecture and training method depends on the specific problem and dataset being used, and often requires careful tuning of hyperparameters, such as the number of layers, the number of units in each layer, and the learning rate.</a:t>
            </a:r>
          </a:p>
          <a:p>
            <a:pPr>
              <a:defRPr sz="2000">
                <a:solidFill>
                  <a:srgbClr val="444444"/>
                </a:solidFill>
              </a:defRPr>
            </a:pPr>
            <a:r>
              <a:t>Real-world applications of RNNs include virtual assistants, such as Siri or Alexa, which use RNNs to recognize and respond to voice commands, and language translation systems, such as Google Translate, which use RNNs to translate text from one language to another.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