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RNNs.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Emphasize the importance of understanding sequential data and recurrent connections in RNNs. Provide examples of applications like speech recognition and language translation. Ask students if they have experience with neural networks or deep learning concepts to gauge prior knowledge.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core concept and architecture of RNNs, emphasize the importance of recurrent connections and feedback loops for capturing temporal relationships. Provide examples of sequential data, such as time series or natural language processing tasks. Ask students to consider how RNNs can be applied to real-world problems, such as speech recognition or language translation, and how the architecture of RNNs enables these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Emphasize the role of recursive equations and backpropagation through time in RNNs. Provide examples of vanishing gradients and how LSTMs address this issue. Ask students to consider the implications of recurrent connections on RNN state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Applications / Use Cases in detail, covering key concepts and applications related to RNNs.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Emphasize the importance of understanding RNN components and training methods. Provide examples of sequence prediction tasks, such as language translation. Ask students to consider the limitations of basic RNNs and how LSTM and GRU cells improve performance.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RNNs are neural networks with recurrent connections</a:t>
            </a:r>
          </a:p>
          <a:p>
            <a:pPr>
              <a:defRPr sz="2000">
                <a:solidFill>
                  <a:srgbClr val="444444"/>
                </a:solidFill>
              </a:defRPr>
            </a:pPr>
            <a:r>
              <a:t>RNNs process sequential data like time series or speech</a:t>
            </a:r>
          </a:p>
          <a:p>
            <a:pPr>
              <a:defRPr sz="2000">
                <a:solidFill>
                  <a:srgbClr val="444444"/>
                </a:solidFill>
              </a:defRPr>
            </a:pPr>
            <a:r>
              <a:t>Introduction to RNNs involves understanding deep learning</a:t>
            </a:r>
          </a:p>
          <a:p>
            <a:pPr>
              <a:defRPr sz="2000">
                <a:solidFill>
                  <a:srgbClr val="444444"/>
                </a:solidFill>
              </a:defRPr>
            </a:pPr>
            <a:r>
              <a:t>RNNs have feedback connections to capture sequences</a:t>
            </a:r>
          </a:p>
          <a:p>
            <a:pPr>
              <a:defRPr sz="2000">
                <a:solidFill>
                  <a:srgbClr val="444444"/>
                </a:solidFill>
              </a:defRPr>
            </a:pPr>
            <a:r>
              <a:t>Basic RNNs are simple, yet powerful models</a:t>
            </a:r>
          </a:p>
          <a:p>
            <a:pPr>
              <a:defRPr sz="2000">
                <a:solidFill>
                  <a:srgbClr val="444444"/>
                </a:solidFill>
              </a:defRPr>
            </a:pPr>
            <a:r>
              <a:t>RNNs are used for language modeling and translation</a:t>
            </a:r>
          </a:p>
          <a:p>
            <a:pPr>
              <a:defRPr sz="2000">
                <a:solidFill>
                  <a:srgbClr val="444444"/>
                </a:solidFill>
              </a:defRPr>
            </a:pPr>
            <a:r>
              <a:t>Introduction to RNNs requires knowledge of activation functions</a:t>
            </a:r>
          </a:p>
          <a:p>
            <a:pPr>
              <a:defRPr sz="2000">
                <a:solidFill>
                  <a:srgbClr val="444444"/>
                </a:solidFill>
              </a:defRPr>
            </a:pPr>
            <a:r>
              <a:t>RNNs can be trained using backpropagation through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Core Concept / Architecture</a:t>
            </a:r>
          </a:p>
        </p:txBody>
      </p:sp>
      <p:sp>
        <p:nvSpPr>
          <p:cNvPr id="3" name="Content Placeholder 2"/>
          <p:cNvSpPr>
            <a:spLocks noGrp="1"/>
          </p:cNvSpPr>
          <p:nvPr>
            <p:ph idx="1"/>
          </p:nvPr>
        </p:nvSpPr>
        <p:spPr/>
        <p:txBody>
          <a:bodyPr/>
          <a:lstStyle/>
          <a:p>
            <a:pPr>
              <a:defRPr sz="2000">
                <a:solidFill>
                  <a:srgbClr val="444444"/>
                </a:solidFill>
              </a:defRPr>
            </a:pPr>
            <a:r>
              <a:t>RNNs process sequential data with recurrent connections</a:t>
            </a:r>
          </a:p>
          <a:p>
            <a:pPr>
              <a:defRPr sz="2000">
                <a:solidFill>
                  <a:srgbClr val="444444"/>
                </a:solidFill>
              </a:defRPr>
            </a:pPr>
            <a:r>
              <a:t>Core concept involves feedback loops for temporal relationships</a:t>
            </a:r>
          </a:p>
          <a:p>
            <a:pPr>
              <a:defRPr sz="2000">
                <a:solidFill>
                  <a:srgbClr val="444444"/>
                </a:solidFill>
              </a:defRPr>
            </a:pPr>
            <a:r>
              <a:t>Architecture includes input, hidden, and output layers</a:t>
            </a:r>
          </a:p>
          <a:p>
            <a:pPr>
              <a:defRPr sz="2000">
                <a:solidFill>
                  <a:srgbClr val="444444"/>
                </a:solidFill>
              </a:defRPr>
            </a:pPr>
            <a:r>
              <a:t>Recurrent layers capture sequential patterns and dependencies</a:t>
            </a:r>
          </a:p>
          <a:p>
            <a:pPr>
              <a:defRPr sz="2000">
                <a:solidFill>
                  <a:srgbClr val="444444"/>
                </a:solidFill>
              </a:defRPr>
            </a:pPr>
            <a:r>
              <a:t>Hidden state retains information from previous time steps</a:t>
            </a:r>
          </a:p>
          <a:p>
            <a:pPr>
              <a:defRPr sz="2000">
                <a:solidFill>
                  <a:srgbClr val="444444"/>
                </a:solidFill>
              </a:defRPr>
            </a:pPr>
            <a:r>
              <a:t>Activation functions introduce non-linearity in hidden layers</a:t>
            </a:r>
          </a:p>
          <a:p>
            <a:pPr>
              <a:defRPr sz="2000">
                <a:solidFill>
                  <a:srgbClr val="444444"/>
                </a:solidFill>
              </a:defRPr>
            </a:pPr>
            <a:r>
              <a:t>Backpropagation through time trains RNNs on sequential data</a:t>
            </a:r>
          </a:p>
          <a:p>
            <a:pPr>
              <a:defRPr sz="2000">
                <a:solidFill>
                  <a:srgbClr val="444444"/>
                </a:solidFill>
              </a:defRPr>
            </a:pPr>
            <a:r>
              <a:t>Vanishing gradients impact RNN training and optimization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 Logical Explanation</a:t>
            </a:r>
          </a:p>
        </p:txBody>
      </p:sp>
      <p:sp>
        <p:nvSpPr>
          <p:cNvPr id="3" name="Content Placeholder 2"/>
          <p:cNvSpPr>
            <a:spLocks noGrp="1"/>
          </p:cNvSpPr>
          <p:nvPr>
            <p:ph idx="1"/>
          </p:nvPr>
        </p:nvSpPr>
        <p:spPr/>
        <p:txBody>
          <a:bodyPr/>
          <a:lstStyle/>
          <a:p>
            <a:pPr>
              <a:defRPr sz="2000">
                <a:solidFill>
                  <a:srgbClr val="444444"/>
                </a:solidFill>
              </a:defRPr>
            </a:pPr>
            <a:r>
              <a:t>RNNs use recursive equations for sequential data processing</a:t>
            </a:r>
          </a:p>
          <a:p>
            <a:pPr>
              <a:defRPr sz="2000">
                <a:solidFill>
                  <a:srgbClr val="444444"/>
                </a:solidFill>
              </a:defRPr>
            </a:pPr>
            <a:r>
              <a:t>Activation functions introduce non-linearity in RNN models</a:t>
            </a:r>
          </a:p>
          <a:p>
            <a:pPr>
              <a:defRPr sz="2000">
                <a:solidFill>
                  <a:srgbClr val="444444"/>
                </a:solidFill>
              </a:defRPr>
            </a:pPr>
            <a:r>
              <a:t>Backpropagation through time is used for RNN training</a:t>
            </a:r>
          </a:p>
          <a:p>
            <a:pPr>
              <a:defRPr sz="2000">
                <a:solidFill>
                  <a:srgbClr val="444444"/>
                </a:solidFill>
              </a:defRPr>
            </a:pPr>
            <a:r>
              <a:t>Vanishing gradients affect RNNs during backpropagation</a:t>
            </a:r>
          </a:p>
          <a:p>
            <a:pPr>
              <a:defRPr sz="2000">
                <a:solidFill>
                  <a:srgbClr val="444444"/>
                </a:solidFill>
              </a:defRPr>
            </a:pPr>
            <a:r>
              <a:t>Recurrent connections allow RNNs to maintain state</a:t>
            </a:r>
          </a:p>
          <a:p>
            <a:pPr>
              <a:defRPr sz="2000">
                <a:solidFill>
                  <a:srgbClr val="444444"/>
                </a:solidFill>
              </a:defRPr>
            </a:pPr>
            <a:r>
              <a:t>RNNs can be trained using stochastic gradient descent</a:t>
            </a:r>
          </a:p>
          <a:p>
            <a:pPr>
              <a:defRPr sz="2000">
                <a:solidFill>
                  <a:srgbClr val="444444"/>
                </a:solidFill>
              </a:defRPr>
            </a:pPr>
            <a:r>
              <a:t>Long short-term memory units solve vanishing gradient issue</a:t>
            </a:r>
          </a:p>
          <a:p>
            <a:pPr>
              <a:defRPr sz="2000">
                <a:solidFill>
                  <a:srgbClr val="444444"/>
                </a:solidFill>
              </a:defRPr>
            </a:pPr>
            <a:r>
              <a:t>Gated recurrent units simplify LSTM architecture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Use Cases</a:t>
            </a:r>
          </a:p>
        </p:txBody>
      </p:sp>
      <p:sp>
        <p:nvSpPr>
          <p:cNvPr id="3" name="Content Placeholder 2"/>
          <p:cNvSpPr>
            <a:spLocks noGrp="1"/>
          </p:cNvSpPr>
          <p:nvPr>
            <p:ph idx="1"/>
          </p:nvPr>
        </p:nvSpPr>
        <p:spPr/>
        <p:txBody>
          <a:bodyPr/>
          <a:lstStyle/>
          <a:p>
            <a:pPr>
              <a:defRPr sz="2000">
                <a:solidFill>
                  <a:srgbClr val="444444"/>
                </a:solidFill>
              </a:defRPr>
            </a:pPr>
            <a:r>
              <a:t>Practical applications of RNNs in real-world scenarios</a:t>
            </a:r>
          </a:p>
          <a:p>
            <a:pPr>
              <a:defRPr sz="2000">
                <a:solidFill>
                  <a:srgbClr val="444444"/>
                </a:solidFill>
              </a:defRPr>
            </a:pPr>
            <a:r>
              <a:t>Use cases and implementation examples</a:t>
            </a:r>
          </a:p>
          <a:p>
            <a:pPr>
              <a:defRPr sz="2000">
                <a:solidFill>
                  <a:srgbClr val="444444"/>
                </a:solidFill>
              </a:defRPr>
            </a:pPr>
            <a:r>
              <a:t>Industry applications and commercial uses</a:t>
            </a:r>
          </a:p>
          <a:p>
            <a:pPr>
              <a:defRPr sz="2000">
                <a:solidFill>
                  <a:srgbClr val="444444"/>
                </a:solidFill>
              </a:defRPr>
            </a:pPr>
            <a:r>
              <a:t>Case studies and real-world implementations</a:t>
            </a:r>
          </a:p>
          <a:p>
            <a:pPr>
              <a:defRPr sz="2000">
                <a:solidFill>
                  <a:srgbClr val="444444"/>
                </a:solidFill>
              </a:defRPr>
            </a:pPr>
            <a:r>
              <a:t>Benefits and advantages of applying RNNs</a:t>
            </a:r>
          </a:p>
          <a:p>
            <a:pPr>
              <a:defRPr sz="2000">
                <a:solidFill>
                  <a:srgbClr val="444444"/>
                </a:solidFill>
              </a:defRPr>
            </a:pPr>
            <a:r>
              <a:t>Challenges and limitations in practical use</a:t>
            </a:r>
          </a:p>
          <a:p>
            <a:pPr>
              <a:defRPr sz="2000">
                <a:solidFill>
                  <a:srgbClr val="444444"/>
                </a:solidFill>
              </a:defRPr>
            </a:pPr>
            <a:r>
              <a:t>Best practices and recommended approaches</a:t>
            </a:r>
          </a:p>
          <a:p>
            <a:pPr>
              <a:defRPr sz="2000">
                <a:solidFill>
                  <a:srgbClr val="444444"/>
                </a:solidFill>
              </a:defRPr>
            </a:pPr>
            <a:r>
              <a:t>Future trends and emerging applications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 &amp; Key Takeaways</a:t>
            </a:r>
          </a:p>
        </p:txBody>
      </p:sp>
      <p:sp>
        <p:nvSpPr>
          <p:cNvPr id="3" name="Content Placeholder 2"/>
          <p:cNvSpPr>
            <a:spLocks noGrp="1"/>
          </p:cNvSpPr>
          <p:nvPr>
            <p:ph idx="1"/>
          </p:nvPr>
        </p:nvSpPr>
        <p:spPr/>
        <p:txBody>
          <a:bodyPr/>
          <a:lstStyle/>
          <a:p>
            <a:pPr>
              <a:defRPr sz="2000">
                <a:solidFill>
                  <a:srgbClr val="444444"/>
                </a:solidFill>
              </a:defRPr>
            </a:pPr>
            <a:r>
              <a:t>RNNs process sequential data with temporal dependencies</a:t>
            </a:r>
          </a:p>
          <a:p>
            <a:pPr>
              <a:defRPr sz="2000">
                <a:solidFill>
                  <a:srgbClr val="444444"/>
                </a:solidFill>
              </a:defRPr>
            </a:pPr>
            <a:r>
              <a:t>Key components include inputs, hidden states, and outputs</a:t>
            </a:r>
          </a:p>
          <a:p>
            <a:pPr>
              <a:defRPr sz="2000">
                <a:solidFill>
                  <a:srgbClr val="444444"/>
                </a:solidFill>
              </a:defRPr>
            </a:pPr>
            <a:r>
              <a:t>Backpropagation through time trains RNN models effectively</a:t>
            </a:r>
          </a:p>
          <a:p>
            <a:pPr>
              <a:defRPr sz="2000">
                <a:solidFill>
                  <a:srgbClr val="444444"/>
                </a:solidFill>
              </a:defRPr>
            </a:pPr>
            <a:r>
              <a:t>Vanishing gradients affect deep RNN training negatively</a:t>
            </a:r>
          </a:p>
          <a:p>
            <a:pPr>
              <a:defRPr sz="2000">
                <a:solidFill>
                  <a:srgbClr val="444444"/>
                </a:solidFill>
              </a:defRPr>
            </a:pPr>
            <a:r>
              <a:t>LSTM and GRU cells mitigate vanishing gradient issues</a:t>
            </a:r>
          </a:p>
          <a:p>
            <a:pPr>
              <a:defRPr sz="2000">
                <a:solidFill>
                  <a:srgbClr val="444444"/>
                </a:solidFill>
              </a:defRPr>
            </a:pPr>
            <a:r>
              <a:t>RNNs are applied in natural language processing tasks</a:t>
            </a:r>
          </a:p>
          <a:p>
            <a:pPr>
              <a:defRPr sz="2000">
                <a:solidFill>
                  <a:srgbClr val="444444"/>
                </a:solidFill>
              </a:defRPr>
            </a:pPr>
            <a:r>
              <a:t>Sequence prediction and classification are primary uses</a:t>
            </a:r>
          </a:p>
          <a:p>
            <a:pPr>
              <a:defRPr sz="2000">
                <a:solidFill>
                  <a:srgbClr val="444444"/>
                </a:solidFill>
              </a:defRPr>
            </a:pPr>
            <a:r>
              <a:t>RNN architectures can be unidirectional or bidirectional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