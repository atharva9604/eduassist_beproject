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presentation on Deep Learning, specifically focusing on RNNs. Introduce the importance of RNNs in sequence data processing. Ask students about their prior knowledge on the subject.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RNNs are designed to handle sequential data, such as speech or text. Provide examples of applications, like speech recognition and language translation. Discuss the basic structure and the challenges of training RNNs, such as vanishing gradients. Ask students if they can think of other scenarios where sequential data is processed.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basic RNN architecture, emphasizing the role of the hidden layer and its recurrent connections. Explain the key equation and how it involves both the current input and the previous hidden state. Discuss the importance of non-linearity and how backpropagation through time is used for training RNNs. Show the image of the basic RNN architecture to illustrate the concept.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various RNN variants, such as LSTM and GRU, and explain their advantages and disadvantages. Discuss bidirectional RNNs and deep RNNs, highlighting their applications and challenges. Mention the role of residual connections and attention mechanisms in improving RNN performance. Provide examples of different RNN architectures and ask students to consider which variant might be most suitable for a given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wide range of applications for RNNs, including speech recognition, language translation, and time series forecasting. Highlight the advantages of RNNs, such as their ability to learn from sequential data and handle variable-length inputs. Also, address the limitations, including the risk of vanishing gradients and the need for large amounts of training data. Emphasize the importance of regularization and hyperparameter tuning. Provide examples of pre-trained RNN models and how they can be fine-tuned for specific tasks.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points from the presentation, emphasizing the importance of RNNs in processing sequential data. Recap the basic architecture, variants, applications, advantages, and limitations. Remind students of the need for regularization and hyperparameter tuning. Encourage them to explore pre-trained models and fine-tune them for specific tasks. End with a statement on the power and versatility of RNNs in deep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RNNs</a:t>
            </a:r>
          </a:p>
        </p:txBody>
      </p:sp>
      <p:sp>
        <p:nvSpPr>
          <p:cNvPr id="3" name="Content Placeholder 2"/>
          <p:cNvSpPr>
            <a:spLocks noGrp="1"/>
          </p:cNvSpPr>
          <p:nvPr>
            <p:ph idx="1"/>
          </p:nvPr>
        </p:nvSpPr>
        <p:spPr/>
        <p:txBody>
          <a:bodyPr/>
          <a:lstStyle/>
          <a:p>
            <a:pPr>
              <a:defRPr sz="2000">
                <a:solidFill>
                  <a:srgbClr val="444444"/>
                </a:solidFill>
              </a:defRPr>
            </a:pPr>
            <a:r>
              <a:t>RNNs process sequential data</a:t>
            </a:r>
          </a:p>
          <a:p>
            <a:pPr>
              <a:defRPr sz="2000">
                <a:solidFill>
                  <a:srgbClr val="444444"/>
                </a:solidFill>
              </a:defRPr>
            </a:pPr>
            <a:r>
              <a:t>Used in speech recognition, language translation</a:t>
            </a:r>
          </a:p>
          <a:p>
            <a:pPr>
              <a:defRPr sz="2000">
                <a:solidFill>
                  <a:srgbClr val="444444"/>
                </a:solidFill>
              </a:defRPr>
            </a:pPr>
            <a:r>
              <a:t>Can learn from experience, improve over time</a:t>
            </a:r>
          </a:p>
          <a:p>
            <a:pPr>
              <a:defRPr sz="2000">
                <a:solidFill>
                  <a:srgbClr val="444444"/>
                </a:solidFill>
              </a:defRPr>
            </a:pPr>
            <a:r>
              <a:t>Basic RNN structure includes input, hidden, output layers</a:t>
            </a:r>
          </a:p>
          <a:p>
            <a:pPr>
              <a:defRPr sz="2000">
                <a:solidFill>
                  <a:srgbClr val="444444"/>
                </a:solidFill>
              </a:defRPr>
            </a:pPr>
            <a:r>
              <a:t>Training RNNs can be challenging due to vanishing gradients</a:t>
            </a:r>
          </a:p>
          <a:p>
            <a:pPr>
              <a:defRPr sz="2000">
                <a:solidFill>
                  <a:srgbClr val="444444"/>
                </a:solidFill>
              </a:defRPr>
            </a:pPr>
            <a:r>
              <a:t>RNNs are a type of neural network</a:t>
            </a:r>
          </a:p>
          <a:p>
            <a:pPr>
              <a:defRPr sz="2000">
                <a:solidFill>
                  <a:srgbClr val="444444"/>
                </a:solidFill>
              </a:defRPr>
            </a:pPr>
            <a:r>
              <a:t>RNNs have feedback connections, allowing information to loop back</a:t>
            </a:r>
          </a:p>
          <a:p>
            <a:pPr>
              <a:defRPr sz="2000">
                <a:solidFill>
                  <a:srgbClr val="444444"/>
                </a:solidFill>
              </a:defRPr>
            </a:pPr>
            <a:r>
              <a:t>This looping back allows the network to keep track of state</a:t>
            </a:r>
          </a:p>
          <a:p>
            <a:pPr>
              <a:defRPr sz="2000">
                <a:solidFill>
                  <a:srgbClr val="444444"/>
                </a:solidFill>
              </a:defRPr>
            </a:pPr>
            <a:r>
              <a:t>State is essential for processing sequences of data</a:t>
            </a:r>
          </a:p>
        </p:txBody>
      </p:sp>
      <p:pic>
        <p:nvPicPr>
          <p:cNvPr id="4" name="Picture 3" descr="eeba225b860e44b28e42b0cf55182c3d_rnns_deep_learning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Simple RNN architecture: input, hidden, output</a:t>
            </a:r>
          </a:p>
          <a:p>
            <a:pPr>
              <a:defRPr sz="2000">
                <a:solidFill>
                  <a:srgbClr val="444444"/>
                </a:solidFill>
              </a:defRPr>
            </a:pPr>
            <a:r>
              <a:t>Hidden layer has recurrent connections</a:t>
            </a:r>
          </a:p>
          <a:p>
            <a:pPr>
              <a:defRPr sz="2000">
                <a:solidFill>
                  <a:srgbClr val="444444"/>
                </a:solidFill>
              </a:defRPr>
            </a:pPr>
            <a:r>
              <a:t>Output depends on current input and previous hidden state</a:t>
            </a:r>
          </a:p>
          <a:p>
            <a:pPr>
              <a:defRPr sz="2000">
                <a:solidFill>
                  <a:srgbClr val="444444"/>
                </a:solidFill>
              </a:defRPr>
            </a:pPr>
            <a:r>
              <a:t>Equation: h_t = tanh(W_h * h_(t-1) + W_x * x_t)</a:t>
            </a:r>
          </a:p>
          <a:p>
            <a:pPr>
              <a:defRPr sz="2000">
                <a:solidFill>
                  <a:srgbClr val="444444"/>
                </a:solidFill>
              </a:defRPr>
            </a:pPr>
            <a:r>
              <a:t>Image_query: basic_rnn_architecture</a:t>
            </a:r>
          </a:p>
          <a:p>
            <a:pPr>
              <a:defRPr sz="2000">
                <a:solidFill>
                  <a:srgbClr val="444444"/>
                </a:solidFill>
              </a:defRPr>
            </a:pPr>
            <a:r>
              <a:t>Recurrent connections allow information to persist</a:t>
            </a:r>
          </a:p>
          <a:p>
            <a:pPr>
              <a:defRPr sz="2000">
                <a:solidFill>
                  <a:srgbClr val="444444"/>
                </a:solidFill>
              </a:defRPr>
            </a:pPr>
            <a:r>
              <a:t>Activation functions introduce non-linearity</a:t>
            </a:r>
          </a:p>
          <a:p>
            <a:pPr>
              <a:defRPr sz="2000">
                <a:solidFill>
                  <a:srgbClr val="444444"/>
                </a:solidFill>
              </a:defRPr>
            </a:pPr>
            <a:r>
              <a:t>Non-linearity is crucial for learning complex patterns</a:t>
            </a:r>
          </a:p>
          <a:p>
            <a:pPr>
              <a:defRPr sz="2000">
                <a:solidFill>
                  <a:srgbClr val="444444"/>
                </a:solidFill>
              </a:defRPr>
            </a:pPr>
            <a:r>
              <a:t>Backpropagation through time is used for 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 handle vanishing gradients</a:t>
            </a:r>
          </a:p>
          <a:p>
            <a:pPr>
              <a:defRPr sz="2000">
                <a:solidFill>
                  <a:srgbClr val="444444"/>
                </a:solidFill>
              </a:defRPr>
            </a:pPr>
            <a:r>
              <a:t>GRU (Gated Recurrent Unit) networks: simpler, faster, and less powerful than LSTM</a:t>
            </a:r>
          </a:p>
          <a:p>
            <a:pPr>
              <a:defRPr sz="2000">
                <a:solidFill>
                  <a:srgbClr val="444444"/>
                </a:solidFill>
              </a:defRPr>
            </a:pPr>
            <a:r>
              <a:t>Bidirectional RNNs: process sequences in both forward and backward directions</a:t>
            </a:r>
          </a:p>
          <a:p>
            <a:pPr>
              <a:defRPr sz="2000">
                <a:solidFill>
                  <a:srgbClr val="444444"/>
                </a:solidFill>
              </a:defRPr>
            </a:pPr>
            <a:r>
              <a:t>Deep RNNs: use multiple hidden layers to learn complex patterns</a:t>
            </a:r>
          </a:p>
          <a:p>
            <a:pPr>
              <a:defRPr sz="2000">
                <a:solidFill>
                  <a:srgbClr val="444444"/>
                </a:solidFill>
              </a:defRPr>
            </a:pPr>
            <a:r>
              <a:t>Residual connections: help with training deep RNNs</a:t>
            </a:r>
          </a:p>
          <a:p>
            <a:pPr>
              <a:defRPr sz="2000">
                <a:solidFill>
                  <a:srgbClr val="444444"/>
                </a:solidFill>
              </a:defRPr>
            </a:pPr>
            <a:r>
              <a:t>Attention mechanisms: focus on specific parts of the input sequence</a:t>
            </a:r>
          </a:p>
          <a:p>
            <a:pPr>
              <a:defRPr sz="2000">
                <a:solidFill>
                  <a:srgbClr val="444444"/>
                </a:solidFill>
              </a:defRPr>
            </a:pPr>
            <a:r>
              <a:t>One-to-one, one-to-many, many-to-one, many-to-many RNN architectures</a:t>
            </a:r>
          </a:p>
          <a:p>
            <a:pPr>
              <a:defRPr sz="2000">
                <a:solidFill>
                  <a:srgbClr val="444444"/>
                </a:solidFill>
              </a:defRPr>
            </a:pPr>
            <a:r>
              <a:t>Each variant has its strengths and weaknesses</a:t>
            </a:r>
          </a:p>
          <a:p>
            <a:pPr>
              <a:defRPr sz="2000">
                <a:solidFill>
                  <a:srgbClr val="444444"/>
                </a:solidFill>
              </a:defRPr>
            </a:pPr>
            <a:r>
              <a:t>Choosing the right variant depends on the specific application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language translation, text summarization</a:t>
            </a:r>
          </a:p>
          <a:p>
            <a:pPr>
              <a:defRPr sz="2000">
                <a:solidFill>
                  <a:srgbClr val="444444"/>
                </a:solidFill>
              </a:defRPr>
            </a:pPr>
            <a:r>
              <a:t>Time series forecasting, sentiment analysis, chatbots</a:t>
            </a:r>
          </a:p>
          <a:p>
            <a:pPr>
              <a:defRPr sz="2000">
                <a:solidFill>
                  <a:srgbClr val="444444"/>
                </a:solidFill>
              </a:defRPr>
            </a:pPr>
            <a:r>
              <a:t>Advantages: can learn from sequential data, handle variable-length inputs</a:t>
            </a:r>
          </a:p>
          <a:p>
            <a:pPr>
              <a:defRPr sz="2000">
                <a:solidFill>
                  <a:srgbClr val="444444"/>
                </a:solidFill>
              </a:defRPr>
            </a:pPr>
            <a:r>
              <a:t>Limitations: can suffer from vanishing gradients, are computationally expensive</a:t>
            </a:r>
          </a:p>
          <a:p>
            <a:pPr>
              <a:defRPr sz="2000">
                <a:solidFill>
                  <a:srgbClr val="444444"/>
                </a:solidFill>
              </a:defRPr>
            </a:pPr>
            <a:r>
              <a:t>Require large amounts of training data to perform well</a:t>
            </a:r>
          </a:p>
          <a:p>
            <a:pPr>
              <a:defRPr sz="2000">
                <a:solidFill>
                  <a:srgbClr val="444444"/>
                </a:solidFill>
              </a:defRPr>
            </a:pPr>
            <a:r>
              <a:t>Can be sensitive to hyperparameter choices</a:t>
            </a:r>
          </a:p>
          <a:p>
            <a:pPr>
              <a:defRPr sz="2000">
                <a:solidFill>
                  <a:srgbClr val="444444"/>
                </a:solidFill>
              </a:defRPr>
            </a:pPr>
            <a:r>
              <a:t>Regularization techniques can help prevent overfitting</a:t>
            </a:r>
          </a:p>
          <a:p>
            <a:pPr>
              <a:defRPr sz="2000">
                <a:solidFill>
                  <a:srgbClr val="444444"/>
                </a:solidFill>
              </a:defRPr>
            </a:pPr>
            <a:r>
              <a:t>Pre-trained RNN models can be fine-tuned for specific tasks</a:t>
            </a:r>
          </a:p>
          <a:p>
            <a:pPr>
              <a:defRPr sz="2000">
                <a:solidFill>
                  <a:srgbClr val="444444"/>
                </a:solidFill>
              </a:defRPr>
            </a:pPr>
            <a:r>
              <a:t>RNNs have many real-world applications and advantages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process sequential data</a:t>
            </a:r>
          </a:p>
          <a:p>
            <a:pPr>
              <a:defRPr sz="2200" b="1">
                <a:solidFill>
                  <a:srgbClr val="1F497D"/>
                </a:solidFill>
              </a:defRPr>
            </a:pPr>
            <a:r>
              <a:t>Simple RNN architecture: input, hidden, output</a:t>
            </a:r>
          </a:p>
          <a:p>
            <a:pPr>
              <a:defRPr sz="2200" b="1">
                <a:solidFill>
                  <a:srgbClr val="1F497D"/>
                </a:solidFill>
              </a:defRPr>
            </a:pPr>
            <a:r>
              <a:t>LSTM (Long Short-Term Memory) networks: handle vanishing gradients</a:t>
            </a:r>
          </a:p>
          <a:p>
            <a:pPr>
              <a:defRPr sz="2200" b="1">
                <a:solidFill>
                  <a:srgbClr val="1F497D"/>
                </a:solidFill>
              </a:defRPr>
            </a:pPr>
            <a:r>
              <a:t>Speech recognition, language translation, text summarization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