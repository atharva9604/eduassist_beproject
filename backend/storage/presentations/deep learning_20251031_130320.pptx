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deep learning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recurrent neural network</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Recurrent Neural Networks - Introduction</a:t>
            </a:r>
          </a:p>
        </p:txBody>
      </p:sp>
      <p:sp>
        <p:nvSpPr>
          <p:cNvPr id="3" name="Content Placeholder 2"/>
          <p:cNvSpPr>
            <a:spLocks noGrp="1"/>
          </p:cNvSpPr>
          <p:nvPr>
            <p:ph idx="1"/>
          </p:nvPr>
        </p:nvSpPr>
        <p:spPr/>
        <p:txBody>
          <a:bodyPr/>
          <a:lstStyle/>
          <a:p>
            <a:pPr>
              <a:defRPr sz="2000">
                <a:solidFill>
                  <a:srgbClr val="444444"/>
                </a:solidFill>
              </a:defRPr>
            </a:pPr>
            <a:r>
              <a:t>RNNs are a class of neural networks designed specifically for **sequential data** where order matters, such as text, speech, or time-series. Unlike standard networks, they don't assume inputs are independent.</a:t>
            </a:r>
          </a:p>
          <a:p>
            <a:pPr>
              <a:defRPr sz="2000">
                <a:solidFill>
                  <a:srgbClr val="444444"/>
                </a:solidFill>
              </a:defRPr>
            </a:pPr>
            <a:r>
              <a:t>The core mechanism is a **recurrent loop**: the output from a previous step (the hidden state) is fed back as an input to the current step. This creates an internal 'memory' that allows the network to persist information across the sequence.</a:t>
            </a:r>
          </a:p>
          <a:p>
            <a:pPr>
              <a:defRPr sz="2000">
                <a:solidFill>
                  <a:srgbClr val="444444"/>
                </a:solidFill>
              </a:defRPr>
            </a:pPr>
            <a:r>
              <a:t>This ability to 'remember' makes RNNs powerful for tasks where context is key, such as: **Natural Language Processing (NLP)** for machine translation and sentiment analysis, **Speech Recognition**, and **Time-Series Prediction** like forecasting stock prices.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Recurrent Neural Network - Architecture &amp; The Concept of Memory</a:t>
            </a:r>
          </a:p>
        </p:txBody>
      </p:sp>
      <p:sp>
        <p:nvSpPr>
          <p:cNvPr id="3" name="Content Placeholder 2"/>
          <p:cNvSpPr>
            <a:spLocks noGrp="1"/>
          </p:cNvSpPr>
          <p:nvPr>
            <p:ph idx="1"/>
          </p:nvPr>
        </p:nvSpPr>
        <p:spPr/>
        <p:txBody>
          <a:bodyPr/>
          <a:lstStyle/>
          <a:p>
            <a:pPr>
              <a:defRPr sz="2000">
                <a:solidFill>
                  <a:srgbClr val="444444"/>
                </a:solidFill>
              </a:defRPr>
            </a:pPr>
            <a:r>
              <a:t>The defining feature of an RNN is its internal 'loop', which allows information to persist. The output of a layer at one time step is fed back as an input to the same layer at the next time step, creating a form of short-term memory that captures sequential context.</a:t>
            </a:r>
          </a:p>
          <a:p>
            <a:pPr>
              <a:defRPr sz="2000">
                <a:solidFill>
                  <a:srgbClr val="444444"/>
                </a:solidFill>
              </a:defRPr>
            </a:pPr>
            <a:r>
              <a:t>This 'memory' is maintained in a vector called the 'hidden state' (hₜ). The hidden state at any given time `t` is a function of both the current input (xₜ) and the hidden state from the previous step (hₜ₋₁), effectively summarizing the entire past sequence.</a:t>
            </a:r>
          </a:p>
          <a:p>
            <a:pPr>
              <a:defRPr sz="2000">
                <a:solidFill>
                  <a:srgbClr val="444444"/>
                </a:solidFill>
              </a:defRPr>
            </a:pPr>
            <a:r>
              <a:t>For training and visualization, the network is conceptually 'unrolled' through time into a deep chain. A critical principle is 'parameter sharing': the same set of weights and biases are used at every time step, making the model efficient and allowing it to generalize its learned patterns across the entire sequence.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Recurrent Neural Network - Training with BPTT</a:t>
            </a:r>
          </a:p>
        </p:txBody>
      </p:sp>
      <p:sp>
        <p:nvSpPr>
          <p:cNvPr id="3" name="Content Placeholder 2"/>
          <p:cNvSpPr>
            <a:spLocks noGrp="1"/>
          </p:cNvSpPr>
          <p:nvPr>
            <p:ph idx="1"/>
          </p:nvPr>
        </p:nvSpPr>
        <p:spPr/>
        <p:txBody>
          <a:bodyPr/>
          <a:lstStyle/>
          <a:p>
            <a:pPr>
              <a:defRPr sz="2000">
                <a:solidFill>
                  <a:srgbClr val="444444"/>
                </a:solidFill>
              </a:defRPr>
            </a:pPr>
            <a:r>
              <a:t>RNNs are trained using Backpropagation Through Time (BPTT), an extension of standard backpropagation. The network is first 'unrolled' in time, creating a deep feedforward-like network where each layer corresponds to a specific time step, but with a crucial difference: the weights are shared across all layers.</a:t>
            </a:r>
          </a:p>
          <a:p>
            <a:pPr>
              <a:defRPr sz="2000">
                <a:solidFill>
                  <a:srgbClr val="444444"/>
                </a:solidFill>
              </a:defRPr>
            </a:pPr>
            <a:r>
              <a:t>The BPTT process involves a forward pass to compute outputs and total loss across the sequence. Then, during the backward pass, gradients are calculated at each time step and propagated backwards 'through time' from `t` to `t-1`. The gradients for the shared weights are summed across all time steps before the model is updated.</a:t>
            </a:r>
          </a:p>
          <a:p>
            <a:pPr>
              <a:defRPr sz="2000">
                <a:solidFill>
                  <a:srgbClr val="444444"/>
                </a:solidFill>
              </a:defRPr>
            </a:pPr>
            <a:r>
              <a:t>A major challenge arises from this process: the Vanishing &amp; Exploding Gradient Problem. As gradients flow back through many time steps, they are repeatedly multiplied by the same recurrent weight matrix. This can cause the gradients to shrink to zero (vanish) or grow uncontrollably (explode), making it difficult for the network to learn long-range dependencies.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