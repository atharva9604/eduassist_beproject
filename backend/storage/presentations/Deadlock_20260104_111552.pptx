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Deadlock.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definition and consequences of deadlock in database management systems. Provide examples of how deadlocks can occur in real-world scenarios, such as multiple users attempting to access the same resource simultaneously. Ask students to consider how deadlocks might be prevented or resolved in a database system, encouraging critical thinking about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causes of deadlock, emphasize the role of mutual exclusion and hold and wait conditions. Provide examples of how circular wait and no preemption can lead to deadlocks. Ask students to consider how poor resource allocation and uncontrolled interrupts can contribute to deadlocks in real-world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types of deadlock, emphasize the differences between livelock and deadlock, and provide examples of each, such as a process waiting for a resource that is held by another process. Ask students to consider how starvation and priority inversion can lead to deadlock. Encourage students to think about how these concepts apply to real-world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deadlock prevention, emphasize the importance of avoiding nested locks and ensuring consistent lock request orders. Provide examples of how lock timeouts and rollbacks can help prevent or recover from deadlocks. Ask students to consider scenarios where limiting lock duration or avoiding unnecessary locks can minimize conflicts, and how prioritizing lock requests can help prevent deadlocks.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conclusion of deadlocks in DBMS, emphasize the importance of deadlock prevention and recovery techniques. Provide examples of how deadlocks can occur in real-world database systems and ask students to think about how they would implement deadlock prevention techniques in their own database designs. Ask questions like 'What are some common causes of deadlocks in DBMS?' to encourage critical thinking.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Deadlock</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DBMS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Deadlock</a:t>
            </a:r>
          </a:p>
        </p:txBody>
      </p:sp>
      <p:sp>
        <p:nvSpPr>
          <p:cNvPr id="3" name="Content Placeholder 2"/>
          <p:cNvSpPr>
            <a:spLocks noGrp="1"/>
          </p:cNvSpPr>
          <p:nvPr>
            <p:ph idx="1"/>
          </p:nvPr>
        </p:nvSpPr>
        <p:spPr/>
        <p:txBody>
          <a:bodyPr/>
          <a:lstStyle/>
          <a:p>
            <a:pPr>
              <a:defRPr sz="2000">
                <a:solidFill>
                  <a:srgbClr val="444444"/>
                </a:solidFill>
              </a:defRPr>
            </a:pPr>
            <a:r>
              <a:t>Deadlock occurs when two processes wait for each other's resources.</a:t>
            </a:r>
          </a:p>
          <a:p>
            <a:pPr>
              <a:defRPr sz="2000">
                <a:solidFill>
                  <a:srgbClr val="444444"/>
                </a:solidFill>
              </a:defRPr>
            </a:pPr>
            <a:r>
              <a:t>It is a critical issue in database management systems.</a:t>
            </a:r>
          </a:p>
          <a:p>
            <a:pPr>
              <a:defRPr sz="2000">
                <a:solidFill>
                  <a:srgbClr val="444444"/>
                </a:solidFill>
              </a:defRPr>
            </a:pPr>
            <a:r>
              <a:t>Deadlock prevents systems from making progress or responding.</a:t>
            </a:r>
          </a:p>
          <a:p>
            <a:pPr>
              <a:defRPr sz="2000">
                <a:solidFill>
                  <a:srgbClr val="444444"/>
                </a:solidFill>
              </a:defRPr>
            </a:pPr>
            <a:r>
              <a:t>It involves multiple processes and shared resources.</a:t>
            </a:r>
          </a:p>
          <a:p>
            <a:pPr>
              <a:defRPr sz="2000">
                <a:solidFill>
                  <a:srgbClr val="444444"/>
                </a:solidFill>
              </a:defRPr>
            </a:pPr>
            <a:r>
              <a:t>Deadlock can lead to system failure or slowdown.</a:t>
            </a:r>
          </a:p>
          <a:p>
            <a:pPr>
              <a:defRPr sz="2000">
                <a:solidFill>
                  <a:srgbClr val="444444"/>
                </a:solidFill>
              </a:defRPr>
            </a:pPr>
            <a:r>
              <a:t>Database transactions can deadlock due to concurrent access.</a:t>
            </a:r>
          </a:p>
          <a:p>
            <a:pPr>
              <a:defRPr sz="2000">
                <a:solidFill>
                  <a:srgbClr val="444444"/>
                </a:solidFill>
              </a:defRPr>
            </a:pPr>
            <a:r>
              <a:t>Locks on resources can cause deadlock situations.</a:t>
            </a:r>
          </a:p>
          <a:p>
            <a:pPr>
              <a:defRPr sz="2000">
                <a:solidFill>
                  <a:srgbClr val="444444"/>
                </a:solidFill>
              </a:defRPr>
            </a:pPr>
            <a:r>
              <a:t>Prevention and avoidance are key to managing deadlock.</a:t>
            </a:r>
          </a:p>
          <a:p>
            <a:pPr>
              <a:defRPr sz="2000">
                <a:solidFill>
                  <a:srgbClr val="444444"/>
                </a:solidFill>
              </a:defRPr>
            </a:pPr>
            <a:r>
              <a:t>Deadlock detection and recovery are also crucial aspects.</a:t>
            </a:r>
          </a:p>
          <a:p>
            <a:pPr>
              <a:defRPr sz="2000">
                <a:solidFill>
                  <a:srgbClr val="444444"/>
                </a:solidFill>
              </a:defRPr>
            </a:pPr>
            <a:r>
              <a:t>Understanding deadlock is essential for DBMS design.</a:t>
            </a:r>
          </a:p>
        </p:txBody>
      </p:sp>
      <p:pic>
        <p:nvPicPr>
          <p:cNvPr id="4" name="Picture 3" descr="18291da00b0e4b06adfed97948fdebe4_deadlock_dbms_overview_introduction.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Causes of Deadlock</a:t>
            </a:r>
          </a:p>
        </p:txBody>
      </p:sp>
      <p:sp>
        <p:nvSpPr>
          <p:cNvPr id="3" name="Content Placeholder 2"/>
          <p:cNvSpPr>
            <a:spLocks noGrp="1"/>
          </p:cNvSpPr>
          <p:nvPr>
            <p:ph idx="1"/>
          </p:nvPr>
        </p:nvSpPr>
        <p:spPr/>
        <p:txBody>
          <a:bodyPr/>
          <a:lstStyle/>
          <a:p>
            <a:pPr>
              <a:defRPr sz="2000">
                <a:solidFill>
                  <a:srgbClr val="444444"/>
                </a:solidFill>
              </a:defRPr>
            </a:pPr>
            <a:r>
              <a:t>Mutual Exclusion: resources cannot be shared simultaneously</a:t>
            </a:r>
          </a:p>
          <a:p>
            <a:pPr>
              <a:defRPr sz="2000">
                <a:solidFill>
                  <a:srgbClr val="444444"/>
                </a:solidFill>
              </a:defRPr>
            </a:pPr>
            <a:r>
              <a:t>Hold and Wait: process holds resource and waits for another</a:t>
            </a:r>
          </a:p>
          <a:p>
            <a:pPr>
              <a:defRPr sz="2000">
                <a:solidFill>
                  <a:srgbClr val="444444"/>
                </a:solidFill>
              </a:defRPr>
            </a:pPr>
            <a:r>
              <a:t>No Preemption: operating system never seizes resources</a:t>
            </a:r>
          </a:p>
          <a:p>
            <a:pPr>
              <a:defRPr sz="2000">
                <a:solidFill>
                  <a:srgbClr val="444444"/>
                </a:solidFill>
              </a:defRPr>
            </a:pPr>
            <a:r>
              <a:t>Circular Wait: processes form circular chain of waits</a:t>
            </a:r>
          </a:p>
          <a:p>
            <a:pPr>
              <a:defRPr sz="2000">
                <a:solidFill>
                  <a:srgbClr val="444444"/>
                </a:solidFill>
              </a:defRPr>
            </a:pPr>
            <a:r>
              <a:t>Resource Unavailability: insufficient resources to meet needs</a:t>
            </a:r>
          </a:p>
          <a:p>
            <a:pPr>
              <a:defRPr sz="2000">
                <a:solidFill>
                  <a:srgbClr val="444444"/>
                </a:solidFill>
              </a:defRPr>
            </a:pPr>
            <a:r>
              <a:t>Poor Resource Allocation: inefficient allocation of resources</a:t>
            </a:r>
          </a:p>
          <a:p>
            <a:pPr>
              <a:defRPr sz="2000">
                <a:solidFill>
                  <a:srgbClr val="444444"/>
                </a:solidFill>
              </a:defRPr>
            </a:pPr>
            <a:r>
              <a:t>Uncontrolled Interrupts: interrupts not managed properly</a:t>
            </a:r>
          </a:p>
          <a:p>
            <a:pPr>
              <a:defRPr sz="2000">
                <a:solidFill>
                  <a:srgbClr val="444444"/>
                </a:solidFill>
              </a:defRPr>
            </a:pPr>
            <a:r>
              <a:t>Inconsistent Resource Ordering: inconsistent ordering of resources</a:t>
            </a:r>
          </a:p>
          <a:p>
            <a:pPr>
              <a:defRPr sz="2000">
                <a:solidFill>
                  <a:srgbClr val="444444"/>
                </a:solidFill>
              </a:defRPr>
            </a:pPr>
            <a:r>
              <a:t>Lack of Priority: no priority assigned to processes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Deadlock</a:t>
            </a:r>
          </a:p>
        </p:txBody>
      </p:sp>
      <p:sp>
        <p:nvSpPr>
          <p:cNvPr id="3" name="Content Placeholder 2"/>
          <p:cNvSpPr>
            <a:spLocks noGrp="1"/>
          </p:cNvSpPr>
          <p:nvPr>
            <p:ph idx="1"/>
          </p:nvPr>
        </p:nvSpPr>
        <p:spPr/>
        <p:txBody>
          <a:bodyPr/>
          <a:lstStyle/>
          <a:p>
            <a:pPr>
              <a:defRPr sz="2000">
                <a:solidFill>
                  <a:srgbClr val="444444"/>
                </a:solidFill>
              </a:defRPr>
            </a:pPr>
            <a:r>
              <a:t>Livelock occurs when processes are unable to proceed.</a:t>
            </a:r>
          </a:p>
          <a:p>
            <a:pPr>
              <a:defRPr sz="2000">
                <a:solidFill>
                  <a:srgbClr val="444444"/>
                </a:solidFill>
              </a:defRPr>
            </a:pPr>
            <a:r>
              <a:t>Deadlock is a permanent blocking of processes.</a:t>
            </a:r>
          </a:p>
          <a:p>
            <a:pPr>
              <a:defRPr sz="2000">
                <a:solidFill>
                  <a:srgbClr val="444444"/>
                </a:solidFill>
              </a:defRPr>
            </a:pPr>
            <a:r>
              <a:t>Starvation happens when a process is denied resources.</a:t>
            </a:r>
          </a:p>
          <a:p>
            <a:pPr>
              <a:defRPr sz="2000">
                <a:solidFill>
                  <a:srgbClr val="444444"/>
                </a:solidFill>
              </a:defRPr>
            </a:pPr>
            <a:r>
              <a:t>Resource deadlock involves resource allocation issues.</a:t>
            </a:r>
          </a:p>
          <a:p>
            <a:pPr>
              <a:defRPr sz="2000">
                <a:solidFill>
                  <a:srgbClr val="444444"/>
                </a:solidFill>
              </a:defRPr>
            </a:pPr>
            <a:r>
              <a:t>Communication deadlock occurs during process communication.</a:t>
            </a:r>
          </a:p>
          <a:p>
            <a:pPr>
              <a:defRPr sz="2000">
                <a:solidFill>
                  <a:srgbClr val="444444"/>
                </a:solidFill>
              </a:defRPr>
            </a:pPr>
            <a:r>
              <a:t>Synchronization deadlock arises from poorly timed locks.</a:t>
            </a:r>
          </a:p>
          <a:p>
            <a:pPr>
              <a:defRPr sz="2000">
                <a:solidFill>
                  <a:srgbClr val="444444"/>
                </a:solidFill>
              </a:defRPr>
            </a:pPr>
            <a:r>
              <a:t>Priority deadlock is caused by priority inversion issues.</a:t>
            </a:r>
          </a:p>
          <a:p>
            <a:pPr>
              <a:defRPr sz="2000">
                <a:solidFill>
                  <a:srgbClr val="444444"/>
                </a:solidFill>
              </a:defRPr>
            </a:pPr>
            <a:r>
              <a:t>Circular wait deadlock involves a cycle of waiting.</a:t>
            </a:r>
          </a:p>
          <a:p>
            <a:pPr>
              <a:defRPr sz="2000">
                <a:solidFill>
                  <a:srgbClr val="444444"/>
                </a:solidFill>
              </a:defRPr>
            </a:pPr>
            <a:r>
              <a:t>Mutual exclusion deadlock requires exclusive access.</a:t>
            </a:r>
          </a:p>
          <a:p>
            <a:pPr>
              <a:defRPr sz="2000">
                <a:solidFill>
                  <a:srgbClr val="444444"/>
                </a:solidFill>
              </a:defRPr>
            </a:pPr>
            <a:r>
              <a:t>Unavoidable deadlock is a type of permanent deadlock.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Deadlock Prevention</a:t>
            </a:r>
          </a:p>
        </p:txBody>
      </p:sp>
      <p:sp>
        <p:nvSpPr>
          <p:cNvPr id="3" name="Content Placeholder 2"/>
          <p:cNvSpPr>
            <a:spLocks noGrp="1"/>
          </p:cNvSpPr>
          <p:nvPr>
            <p:ph idx="1"/>
          </p:nvPr>
        </p:nvSpPr>
        <p:spPr/>
        <p:txBody>
          <a:bodyPr/>
          <a:lstStyle/>
          <a:p>
            <a:pPr>
              <a:defRPr sz="2000">
                <a:solidFill>
                  <a:srgbClr val="444444"/>
                </a:solidFill>
              </a:defRPr>
            </a:pPr>
            <a:r>
              <a:t>Prevent deadlocks by avoiding nested locks</a:t>
            </a:r>
          </a:p>
          <a:p>
            <a:pPr>
              <a:defRPr sz="2000">
                <a:solidFill>
                  <a:srgbClr val="444444"/>
                </a:solidFill>
              </a:defRPr>
            </a:pPr>
            <a:r>
              <a:t>Ensure lock requests in consistent order</a:t>
            </a:r>
          </a:p>
          <a:p>
            <a:pPr>
              <a:defRPr sz="2000">
                <a:solidFill>
                  <a:srgbClr val="444444"/>
                </a:solidFill>
              </a:defRPr>
            </a:pPr>
            <a:r>
              <a:t>Use lock timeouts to prevent indefinite waits</a:t>
            </a:r>
          </a:p>
          <a:p>
            <a:pPr>
              <a:defRPr sz="2000">
                <a:solidFill>
                  <a:srgbClr val="444444"/>
                </a:solidFill>
              </a:defRPr>
            </a:pPr>
            <a:r>
              <a:t>Implement rollbacks to recover from deadlocks</a:t>
            </a:r>
          </a:p>
          <a:p>
            <a:pPr>
              <a:defRPr sz="2000">
                <a:solidFill>
                  <a:srgbClr val="444444"/>
                </a:solidFill>
              </a:defRPr>
            </a:pPr>
            <a:r>
              <a:t>Limit lock duration to minimize conflicts</a:t>
            </a:r>
          </a:p>
          <a:p>
            <a:pPr>
              <a:defRPr sz="2000">
                <a:solidFill>
                  <a:srgbClr val="444444"/>
                </a:solidFill>
              </a:defRPr>
            </a:pPr>
            <a:r>
              <a:t>Avoid unnecessary locks to reduce contention</a:t>
            </a:r>
          </a:p>
          <a:p>
            <a:pPr>
              <a:defRPr sz="2000">
                <a:solidFill>
                  <a:srgbClr val="444444"/>
                </a:solidFill>
              </a:defRPr>
            </a:pPr>
            <a:r>
              <a:t>Use lock escalation to reduce deadlock risk</a:t>
            </a:r>
          </a:p>
          <a:p>
            <a:pPr>
              <a:defRPr sz="2000">
                <a:solidFill>
                  <a:srgbClr val="444444"/>
                </a:solidFill>
              </a:defRPr>
            </a:pPr>
            <a:r>
              <a:t>Prioritize lock requests to prevent deadlocks</a:t>
            </a:r>
          </a:p>
          <a:p>
            <a:pPr>
              <a:defRPr sz="2000">
                <a:solidFill>
                  <a:srgbClr val="444444"/>
                </a:solidFill>
              </a:defRPr>
            </a:pPr>
            <a:r>
              <a:t>Monitor system for deadlock detection</a:t>
            </a:r>
          </a:p>
          <a:p>
            <a:pPr>
              <a:defRPr sz="2000">
                <a:solidFill>
                  <a:srgbClr val="444444"/>
                </a:solidFill>
              </a:defRPr>
            </a:pPr>
            <a:r>
              <a:t>Analyze deadlock scenarios for prevention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Conclusion</a:t>
            </a:r>
          </a:p>
        </p:txBody>
      </p:sp>
      <p:sp>
        <p:nvSpPr>
          <p:cNvPr id="3" name="Content Placeholder 2"/>
          <p:cNvSpPr>
            <a:spLocks noGrp="1"/>
          </p:cNvSpPr>
          <p:nvPr>
            <p:ph idx="1"/>
          </p:nvPr>
        </p:nvSpPr>
        <p:spPr/>
        <p:txBody>
          <a:bodyPr/>
          <a:lstStyle/>
          <a:p>
            <a:pPr>
              <a:defRPr sz="2000">
                <a:solidFill>
                  <a:srgbClr val="444444"/>
                </a:solidFill>
              </a:defRPr>
            </a:pPr>
            <a:r>
              <a:t>Deadlock occurs when transactions are blocked indefinitely.</a:t>
            </a:r>
          </a:p>
          <a:p>
            <a:pPr>
              <a:defRPr sz="2000">
                <a:solidFill>
                  <a:srgbClr val="444444"/>
                </a:solidFill>
              </a:defRPr>
            </a:pPr>
            <a:r>
              <a:t>It happens due to resource allocation and process termination.</a:t>
            </a:r>
          </a:p>
          <a:p>
            <a:pPr>
              <a:defRPr sz="2000">
                <a:solidFill>
                  <a:srgbClr val="444444"/>
                </a:solidFill>
              </a:defRPr>
            </a:pPr>
            <a:r>
              <a:t>Deadlock prevention techniques are necessary in DBMS.</a:t>
            </a:r>
          </a:p>
          <a:p>
            <a:pPr>
              <a:defRPr sz="2000">
                <a:solidFill>
                  <a:srgbClr val="444444"/>
                </a:solidFill>
              </a:defRPr>
            </a:pPr>
            <a:r>
              <a:t>Banker's algorithm is used to avoid deadlocks.</a:t>
            </a:r>
          </a:p>
          <a:p>
            <a:pPr>
              <a:defRPr sz="2000">
                <a:solidFill>
                  <a:srgbClr val="444444"/>
                </a:solidFill>
              </a:defRPr>
            </a:pPr>
            <a:r>
              <a:t>Deadlock detection and recovery are crucial in database systems.</a:t>
            </a:r>
          </a:p>
          <a:p>
            <a:pPr>
              <a:defRPr sz="2000">
                <a:solidFill>
                  <a:srgbClr val="444444"/>
                </a:solidFill>
              </a:defRPr>
            </a:pPr>
            <a:r>
              <a:t>Locks and transactions can cause deadlocks in DBMS.</a:t>
            </a:r>
          </a:p>
          <a:p>
            <a:pPr>
              <a:defRPr sz="2000">
                <a:solidFill>
                  <a:srgbClr val="444444"/>
                </a:solidFill>
              </a:defRPr>
            </a:pPr>
            <a:r>
              <a:t>Resource ordering helps prevent deadlocks in systems.</a:t>
            </a:r>
          </a:p>
          <a:p>
            <a:pPr>
              <a:defRPr sz="2000">
                <a:solidFill>
                  <a:srgbClr val="444444"/>
                </a:solidFill>
              </a:defRPr>
            </a:pPr>
            <a:r>
              <a:t>Avoiding nested transactions prevents deadlocks.</a:t>
            </a:r>
          </a:p>
          <a:p>
            <a:pPr>
              <a:defRPr sz="2000">
                <a:solidFill>
                  <a:srgbClr val="444444"/>
                </a:solidFill>
              </a:defRPr>
            </a:pPr>
            <a:r>
              <a:t>Timeouts can be used to recover from deadlocks.</a:t>
            </a:r>
          </a:p>
          <a:p>
            <a:pPr>
              <a:defRPr sz="2000">
                <a:solidFill>
                  <a:srgbClr val="444444"/>
                </a:solidFill>
              </a:defRPr>
            </a:pPr>
            <a:r>
              <a:t>DBMS uses rollbacks to recover from deadlocks.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