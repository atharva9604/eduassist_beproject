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Database Management Systems presentation covering multiple topics. Today we'll explore: Introduction to Indexing and Hashing, Need for Indexing in Databases, Types of Indexing Techniques, Hashing Methods in DBMS, Applications and Advantages.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indexing and hashing, explain that these concepts are crucial for efficient data retrieval and storage. Give examples of databases and file systems that use indexing, and discuss how hashing is used in cryptography and data compression. Ask students to consider the importance of fast data retrieval in real-world applications. Key takeaways include understanding the basics of indexing and hashing, and recognizing their applications in database management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fundamentals of indexing and hashing, emphasize their importance in database management systems. Provide examples of how indexing improves query performance and how hashing enables efficient data storage and retrieval. Ask students to consider the trade-offs between indexing and hashing, such as the space and time complexities. Key takeaways include understanding the basic concepts of indexing and hashing, their applications, and the data structures and algorithms used to implement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fundamentals of indexing and hashing, emphasize the importance of query performance in databases and how indexing and hashing techniques can improve it. Provide examples of B-tree indexing and hash tables, and discuss the trade-offs between different indexing and hashing techniques. Ask students to consider the applications of hashing in database query optimization and how indexing types can affect database performance. Key takeaways include understanding the basics of indexing and hashing, and being able to apply these concepts to real-world database management systems.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need for indexing in databases, explain how indexing improves query performance and efficiency. Provide examples of real-world applications, such as search engines and e-commerce websites, where indexing is crucial. Discuss how indexing enhances data retrieval and storage operations, and how it optimizes database storage and management. Ask students to consider scenarios where indexing would be beneficial, and how it can simplify complex query operations. Key takeaways include understanding the importance of indexing in database management systems and its impact on system performance and throughput.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need for indexing in databases, explain how indexing improves data retrieval speed and efficiency. Provide examples of large databases that rely heavily on indexing, such as search engines. Ask students to consider the impact of slow query performance on user experience. Discuss how indexing optimizes disk I/O operations and reduces overhead, and how it enables efficient handling of complex queries. Key takeaways include understanding the benefits of indexing and its role in improving overall database system performance.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Database Management Systems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Indexing and Hashing, Need for Indexing in Databases, Types of Indexing Techniques, Hashing Methods in DBMS, Applications and Advantages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Indexing and Hashing - Introduction</a:t>
            </a:r>
          </a:p>
        </p:txBody>
      </p:sp>
      <p:sp>
        <p:nvSpPr>
          <p:cNvPr id="3" name="Content Placeholder 2"/>
          <p:cNvSpPr>
            <a:spLocks noGrp="1"/>
          </p:cNvSpPr>
          <p:nvPr>
            <p:ph idx="1"/>
          </p:nvPr>
        </p:nvSpPr>
        <p:spPr/>
        <p:txBody>
          <a:bodyPr/>
          <a:lstStyle/>
          <a:p>
            <a:pPr>
              <a:defRPr sz="2000">
                <a:solidFill>
                  <a:srgbClr val="444444"/>
                </a:solidFill>
              </a:defRPr>
            </a:pPr>
            <a:r>
              <a:t>Indexing improves database query performance significantly</a:t>
            </a:r>
          </a:p>
          <a:p>
            <a:pPr>
              <a:defRPr sz="2000">
                <a:solidFill>
                  <a:srgbClr val="444444"/>
                </a:solidFill>
              </a:defRPr>
            </a:pPr>
            <a:r>
              <a:t>Hashing enables fast data retrieval and storage</a:t>
            </a:r>
          </a:p>
          <a:p>
            <a:pPr>
              <a:defRPr sz="2000">
                <a:solidFill>
                  <a:srgbClr val="444444"/>
                </a:solidFill>
              </a:defRPr>
            </a:pPr>
            <a:r>
              <a:t>Indexing uses data structures for efficient access</a:t>
            </a:r>
          </a:p>
          <a:p>
            <a:pPr>
              <a:defRPr sz="2000">
                <a:solidFill>
                  <a:srgbClr val="444444"/>
                </a:solidFill>
              </a:defRPr>
            </a:pPr>
            <a:r>
              <a:t>Hashing uses mathematical functions for data mapping</a:t>
            </a:r>
          </a:p>
          <a:p>
            <a:pPr>
              <a:defRPr sz="2000">
                <a:solidFill>
                  <a:srgbClr val="444444"/>
                </a:solidFill>
              </a:defRPr>
            </a:pPr>
            <a:r>
              <a:t>Both indexing and hashing reduce data search time</a:t>
            </a:r>
          </a:p>
          <a:p>
            <a:pPr>
              <a:defRPr sz="2000">
                <a:solidFill>
                  <a:srgbClr val="444444"/>
                </a:solidFill>
              </a:defRPr>
            </a:pPr>
            <a:r>
              <a:t>Indexing is used in databases and file systems</a:t>
            </a:r>
          </a:p>
          <a:p>
            <a:pPr>
              <a:defRPr sz="2000">
                <a:solidFill>
                  <a:srgbClr val="444444"/>
                </a:solidFill>
              </a:defRPr>
            </a:pPr>
            <a:r>
              <a:t>Hashing is used in cryptography and data compression</a:t>
            </a:r>
          </a:p>
          <a:p>
            <a:pPr>
              <a:defRPr sz="2000">
                <a:solidFill>
                  <a:srgbClr val="444444"/>
                </a:solidFill>
              </a:defRPr>
            </a:pPr>
            <a:r>
              <a:t>Indexing and hashing are fundamental concepts</a:t>
            </a:r>
          </a:p>
          <a:p>
            <a:pPr>
              <a:defRPr sz="2000">
                <a:solidFill>
                  <a:srgbClr val="444444"/>
                </a:solidFill>
              </a:defRPr>
            </a:pPr>
            <a:r>
              <a:t>Database management systems rely on these concepts</a:t>
            </a:r>
          </a:p>
          <a:p>
            <a:pPr>
              <a:defRPr sz="2000">
                <a:solidFill>
                  <a:srgbClr val="444444"/>
                </a:solidFill>
              </a:defRPr>
            </a:pPr>
            <a:r>
              <a:t>Efficient data retrieval is crucial for applications</a:t>
            </a:r>
          </a:p>
        </p:txBody>
      </p:sp>
      <p:pic>
        <p:nvPicPr>
          <p:cNvPr id="4" name="Picture 3" descr="bf48f3ae8b7a41318386ea20c718eb55_introduction_to_indexing_and_hashing_nee.jpg"/>
          <p:cNvPicPr>
            <a:picLocks noChangeAspect="1"/>
          </p:cNvPicPr>
          <p:nvPr/>
        </p:nvPicPr>
        <p:blipFill>
          <a:blip r:embed="rId2"/>
          <a:stretch>
            <a:fillRect/>
          </a:stretch>
        </p:blipFill>
        <p:spPr>
          <a:xfrm>
            <a:off x="7315200" y="1828800"/>
            <a:ext cx="4114800" cy="257175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Indexing and Hashing - Fundamentals</a:t>
            </a:r>
          </a:p>
        </p:txBody>
      </p:sp>
      <p:sp>
        <p:nvSpPr>
          <p:cNvPr id="3" name="Content Placeholder 2"/>
          <p:cNvSpPr>
            <a:spLocks noGrp="1"/>
          </p:cNvSpPr>
          <p:nvPr>
            <p:ph idx="1"/>
          </p:nvPr>
        </p:nvSpPr>
        <p:spPr/>
        <p:txBody>
          <a:bodyPr/>
          <a:lstStyle/>
          <a:p>
            <a:pPr>
              <a:defRPr sz="2000">
                <a:solidFill>
                  <a:srgbClr val="444444"/>
                </a:solidFill>
              </a:defRPr>
            </a:pPr>
            <a:r>
              <a:t>Indexing improves query performance in databases</a:t>
            </a:r>
          </a:p>
          <a:p>
            <a:pPr>
              <a:defRPr sz="2000">
                <a:solidFill>
                  <a:srgbClr val="444444"/>
                </a:solidFill>
              </a:defRPr>
            </a:pPr>
            <a:r>
              <a:t>Hashing enables efficient data storage and retrieval</a:t>
            </a:r>
          </a:p>
          <a:p>
            <a:pPr>
              <a:defRPr sz="2000">
                <a:solidFill>
                  <a:srgbClr val="444444"/>
                </a:solidFill>
              </a:defRPr>
            </a:pPr>
            <a:r>
              <a:t>Indexing uses data structures like B-trees or hash tables</a:t>
            </a:r>
          </a:p>
          <a:p>
            <a:pPr>
              <a:defRPr sz="2000">
                <a:solidFill>
                  <a:srgbClr val="444444"/>
                </a:solidFill>
              </a:defRPr>
            </a:pPr>
            <a:r>
              <a:t>Hashing uses algorithms like division or multiplication</a:t>
            </a:r>
          </a:p>
          <a:p>
            <a:pPr>
              <a:defRPr sz="2000">
                <a:solidFill>
                  <a:srgbClr val="444444"/>
                </a:solidFill>
              </a:defRPr>
            </a:pPr>
            <a:r>
              <a:t>Indexing supports query operations like select and join</a:t>
            </a:r>
          </a:p>
          <a:p>
            <a:pPr>
              <a:defRPr sz="2000">
                <a:solidFill>
                  <a:srgbClr val="444444"/>
                </a:solidFill>
              </a:defRPr>
            </a:pPr>
            <a:r>
              <a:t>Hashing supports insert, update, and delete operations</a:t>
            </a:r>
          </a:p>
          <a:p>
            <a:pPr>
              <a:defRPr sz="2000">
                <a:solidFill>
                  <a:srgbClr val="444444"/>
                </a:solidFill>
              </a:defRPr>
            </a:pPr>
            <a:r>
              <a:t>Indexing and hashing reduce data retrieval time</a:t>
            </a:r>
          </a:p>
          <a:p>
            <a:pPr>
              <a:defRPr sz="2000">
                <a:solidFill>
                  <a:srgbClr val="444444"/>
                </a:solidFill>
              </a:defRPr>
            </a:pPr>
            <a:r>
              <a:t>Both techniques enhance database management systems</a:t>
            </a:r>
          </a:p>
          <a:p>
            <a:pPr>
              <a:defRPr sz="2000">
                <a:solidFill>
                  <a:srgbClr val="444444"/>
                </a:solidFill>
              </a:defRPr>
            </a:pPr>
            <a:r>
              <a:t>Indexing and hashing have various applications and variants</a:t>
            </a:r>
          </a:p>
        </p:txBody>
      </p:sp>
      <p:pic>
        <p:nvPicPr>
          <p:cNvPr id="4" name="Picture 3" descr="25756505aee644a388b0f20e4fd4b877_introduction_to_indexing_and_hashing_nee.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Indexing and Hashing - Fundamentals</a:t>
            </a:r>
          </a:p>
        </p:txBody>
      </p:sp>
      <p:sp>
        <p:nvSpPr>
          <p:cNvPr id="3" name="Content Placeholder 2"/>
          <p:cNvSpPr>
            <a:spLocks noGrp="1"/>
          </p:cNvSpPr>
          <p:nvPr>
            <p:ph idx="1"/>
          </p:nvPr>
        </p:nvSpPr>
        <p:spPr/>
        <p:txBody>
          <a:bodyPr/>
          <a:lstStyle/>
          <a:p>
            <a:pPr>
              <a:defRPr sz="2000">
                <a:solidFill>
                  <a:srgbClr val="444444"/>
                </a:solidFill>
              </a:defRPr>
            </a:pPr>
            <a:r>
              <a:t>Indexing improves query performance in databases</a:t>
            </a:r>
          </a:p>
          <a:p>
            <a:pPr>
              <a:defRPr sz="2000">
                <a:solidFill>
                  <a:srgbClr val="444444"/>
                </a:solidFill>
              </a:defRPr>
            </a:pPr>
            <a:r>
              <a:t>Hashing enables fast data retrieval and storage</a:t>
            </a:r>
          </a:p>
          <a:p>
            <a:pPr>
              <a:defRPr sz="2000">
                <a:solidFill>
                  <a:srgbClr val="444444"/>
                </a:solidFill>
              </a:defRPr>
            </a:pPr>
            <a:r>
              <a:t>Indexing uses data structure to speed up queries</a:t>
            </a:r>
          </a:p>
          <a:p>
            <a:pPr>
              <a:defRPr sz="2000">
                <a:solidFill>
                  <a:srgbClr val="444444"/>
                </a:solidFill>
              </a:defRPr>
            </a:pPr>
            <a:r>
              <a:t>Hashing uses hash functions to map keys</a:t>
            </a:r>
          </a:p>
          <a:p>
            <a:pPr>
              <a:defRPr sz="2000">
                <a:solidFill>
                  <a:srgbClr val="444444"/>
                </a:solidFill>
              </a:defRPr>
            </a:pPr>
            <a:r>
              <a:t>B-tree indexing for efficient data retrieval</a:t>
            </a:r>
          </a:p>
          <a:p>
            <a:pPr>
              <a:defRPr sz="2000">
                <a:solidFill>
                  <a:srgbClr val="444444"/>
                </a:solidFill>
              </a:defRPr>
            </a:pPr>
            <a:r>
              <a:t>Hash tables for fast data storage and lookup</a:t>
            </a:r>
          </a:p>
          <a:p>
            <a:pPr>
              <a:defRPr sz="2000">
                <a:solidFill>
                  <a:srgbClr val="444444"/>
                </a:solidFill>
              </a:defRPr>
            </a:pPr>
            <a:r>
              <a:t>Indexing types include clustered and non-clustered</a:t>
            </a:r>
          </a:p>
          <a:p>
            <a:pPr>
              <a:defRPr sz="2000">
                <a:solidFill>
                  <a:srgbClr val="444444"/>
                </a:solidFill>
              </a:defRPr>
            </a:pPr>
            <a:r>
              <a:t>Hashing applications in database query optimization</a:t>
            </a:r>
          </a:p>
          <a:p>
            <a:pPr>
              <a:defRPr sz="2000">
                <a:solidFill>
                  <a:srgbClr val="444444"/>
                </a:solidFill>
              </a:defRPr>
            </a:pPr>
            <a:r>
              <a:t>Trade-offs between indexing and hashing techniques</a:t>
            </a:r>
          </a:p>
          <a:p>
            <a:pPr>
              <a:defRPr sz="2000">
                <a:solidFill>
                  <a:srgbClr val="444444"/>
                </a:solidFill>
              </a:defRPr>
            </a:pPr>
            <a:r>
              <a:t>Real-world examples in database management systems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Need for Indexing in Databases - Introduction</a:t>
            </a:r>
          </a:p>
        </p:txBody>
      </p:sp>
      <p:sp>
        <p:nvSpPr>
          <p:cNvPr id="3" name="Content Placeholder 2"/>
          <p:cNvSpPr>
            <a:spLocks noGrp="1"/>
          </p:cNvSpPr>
          <p:nvPr>
            <p:ph idx="1"/>
          </p:nvPr>
        </p:nvSpPr>
        <p:spPr/>
        <p:txBody>
          <a:bodyPr/>
          <a:lstStyle/>
          <a:p>
            <a:pPr>
              <a:defRPr sz="2000">
                <a:solidFill>
                  <a:srgbClr val="444444"/>
                </a:solidFill>
              </a:defRPr>
            </a:pPr>
            <a:r>
              <a:t>Improves query performance and efficiency greatly</a:t>
            </a:r>
          </a:p>
          <a:p>
            <a:pPr>
              <a:defRPr sz="2000">
                <a:solidFill>
                  <a:srgbClr val="444444"/>
                </a:solidFill>
              </a:defRPr>
            </a:pPr>
            <a:r>
              <a:t>Enhances data retrieval and storage operations</a:t>
            </a:r>
          </a:p>
          <a:p>
            <a:pPr>
              <a:defRPr sz="2000">
                <a:solidFill>
                  <a:srgbClr val="444444"/>
                </a:solidFill>
              </a:defRPr>
            </a:pPr>
            <a:r>
              <a:t>Supports fast data access and manipulation</a:t>
            </a:r>
          </a:p>
          <a:p>
            <a:pPr>
              <a:defRPr sz="2000">
                <a:solidFill>
                  <a:srgbClr val="444444"/>
                </a:solidFill>
              </a:defRPr>
            </a:pPr>
            <a:r>
              <a:t>Optimizes database storage and management</a:t>
            </a:r>
          </a:p>
          <a:p>
            <a:pPr>
              <a:defRPr sz="2000">
                <a:solidFill>
                  <a:srgbClr val="444444"/>
                </a:solidFill>
              </a:defRPr>
            </a:pPr>
            <a:r>
              <a:t>Reduces query execution time significantly</a:t>
            </a:r>
          </a:p>
          <a:p>
            <a:pPr>
              <a:defRPr sz="2000">
                <a:solidFill>
                  <a:srgbClr val="444444"/>
                </a:solidFill>
              </a:defRPr>
            </a:pPr>
            <a:r>
              <a:t>Increases overall system performance and throughput</a:t>
            </a:r>
          </a:p>
          <a:p>
            <a:pPr>
              <a:defRPr sz="2000">
                <a:solidFill>
                  <a:srgbClr val="444444"/>
                </a:solidFill>
              </a:defRPr>
            </a:pPr>
            <a:r>
              <a:t>Enhances data security and integrity measures</a:t>
            </a:r>
          </a:p>
          <a:p>
            <a:pPr>
              <a:defRPr sz="2000">
                <a:solidFill>
                  <a:srgbClr val="444444"/>
                </a:solidFill>
              </a:defRPr>
            </a:pPr>
            <a:r>
              <a:t>Facilitates efficient data indexing and caching</a:t>
            </a:r>
          </a:p>
          <a:p>
            <a:pPr>
              <a:defRPr sz="2000">
                <a:solidFill>
                  <a:srgbClr val="444444"/>
                </a:solidFill>
              </a:defRPr>
            </a:pPr>
            <a:r>
              <a:t>Simplifies complex query operations and joins</a:t>
            </a:r>
          </a:p>
          <a:p>
            <a:pPr>
              <a:defRPr sz="2000">
                <a:solidFill>
                  <a:srgbClr val="444444"/>
                </a:solidFill>
              </a:defRPr>
            </a:pPr>
            <a:r>
              <a:t>Boosts database scalability and reliability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Need for Indexing in Databases - Introduction</a:t>
            </a:r>
          </a:p>
        </p:txBody>
      </p:sp>
      <p:sp>
        <p:nvSpPr>
          <p:cNvPr id="3" name="Content Placeholder 2"/>
          <p:cNvSpPr>
            <a:spLocks noGrp="1"/>
          </p:cNvSpPr>
          <p:nvPr>
            <p:ph idx="1"/>
          </p:nvPr>
        </p:nvSpPr>
        <p:spPr/>
        <p:txBody>
          <a:bodyPr/>
          <a:lstStyle/>
          <a:p>
            <a:pPr>
              <a:defRPr sz="2000">
                <a:solidFill>
                  <a:srgbClr val="444444"/>
                </a:solidFill>
              </a:defRPr>
            </a:pPr>
            <a:r>
              <a:t>Improves data retrieval speed and efficiency greatly</a:t>
            </a:r>
          </a:p>
          <a:p>
            <a:pPr>
              <a:defRPr sz="2000">
                <a:solidFill>
                  <a:srgbClr val="444444"/>
                </a:solidFill>
              </a:defRPr>
            </a:pPr>
            <a:r>
              <a:t>Enhances query performance in large databases</a:t>
            </a:r>
          </a:p>
          <a:p>
            <a:pPr>
              <a:defRPr sz="2000">
                <a:solidFill>
                  <a:srgbClr val="444444"/>
                </a:solidFill>
              </a:defRPr>
            </a:pPr>
            <a:r>
              <a:t>Supports fast data access and manipulation</a:t>
            </a:r>
          </a:p>
          <a:p>
            <a:pPr>
              <a:defRPr sz="2000">
                <a:solidFill>
                  <a:srgbClr val="444444"/>
                </a:solidFill>
              </a:defRPr>
            </a:pPr>
            <a:r>
              <a:t>Optimizes disk I/O operations and reduces overhead</a:t>
            </a:r>
          </a:p>
          <a:p>
            <a:pPr>
              <a:defRPr sz="2000">
                <a:solidFill>
                  <a:srgbClr val="444444"/>
                </a:solidFill>
              </a:defRPr>
            </a:pPr>
            <a:r>
              <a:t>Enables efficient handling of complex queries</a:t>
            </a:r>
          </a:p>
          <a:p>
            <a:pPr>
              <a:defRPr sz="2000">
                <a:solidFill>
                  <a:srgbClr val="444444"/>
                </a:solidFill>
              </a:defRPr>
            </a:pPr>
            <a:r>
              <a:t>Facilitates data sorting and aggregation operations</a:t>
            </a:r>
          </a:p>
          <a:p>
            <a:pPr>
              <a:defRPr sz="2000">
                <a:solidFill>
                  <a:srgbClr val="444444"/>
                </a:solidFill>
              </a:defRPr>
            </a:pPr>
            <a:r>
              <a:t>Reduces the need for full table scans frequently</a:t>
            </a:r>
          </a:p>
          <a:p>
            <a:pPr>
              <a:defRPr sz="2000">
                <a:solidFill>
                  <a:srgbClr val="444444"/>
                </a:solidFill>
              </a:defRPr>
            </a:pPr>
            <a:r>
              <a:t>Boosts overall database system performance significantly</a:t>
            </a:r>
          </a:p>
          <a:p>
            <a:pPr>
              <a:defRPr sz="2000">
                <a:solidFill>
                  <a:srgbClr val="444444"/>
                </a:solidFill>
              </a:defRPr>
            </a:pPr>
            <a:r>
              <a:t>Simplifies maintenance and updates of database indexes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