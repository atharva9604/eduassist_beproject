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Database Management Systems presentation covering multiple topics. Today we'll explore: Introduction to Database Normalization, First Normal Form (1NF), Second Normal Form (2NF), Third Normal Form (3NF), Boyce-Codd Normal Form (BCNF), Normalization Example Walkthrough, Denormalization and Trade-offs, Best Practices and Summary.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database normalization, explain its importance in reducing data redundancy and improving data integrity. Provide examples of how normalization can help eliminate data anomalies and inconsistencies. Discuss the benefits of normalization, such as improved scalability, security, and data retrieval performance. Ask students to consider scenarios where normalization would be crucial, such as in e-commerce or financial databases. Emphasize key takeaways, including the role of normalization in ensuring data consistency and supporting better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database normalization, explain its importance in reducing data redundancy and improving data integrity. Provide examples of data anomalies and inconsistencies that can occur without normalization. Discuss how normalization enhances data security, scalability, and performance. Ask students to consider the benefits of normalization in real-world database applications, such as e-commerce or social media platforms. Key takeaways include understanding the fundamentals of normalization and its role in ensuring data consistency and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database normalization, emphasize its importance in reducing data redundancy and improving data integrity. Explain each normal form, providing examples of how they eliminate anomalies. Discuss the benefits of normalization, such as improved scalability and security. Ask students to consider scenarios where normalization would be crucial, like in e-commerce databases. Key takeaways include understanding the normal forms and their applications in real-world database management systems.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First Normal Form, emphasize its importance in relational database design. Explain that it ensures each cell contains a single, atomic value, and that each row is unique. Provide examples of tables that violate 1NF, such as a customer table with multiple phone numbers in a single cell. Ask students to identify how 1NF improves data consistency and reduces redundancy. Discuss how 1NF is a fundamental step in normalizing databases and prepares the ground for more advanced normalization techniques. Key takeaways include understanding the definition of 1NF, its benefits, and its applications in database management systems.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First Normal Form, explain that it's the first step in normalizing a database. Provide an example of a table that is not in 1NF, such as a student table with multiple addresses, and show how to convert it to 1NF by creating a separate address table. Emphasize the benefits of 1NF, including improved data consistency, reduced errors, and increased scalability. Ask students to think about how 1NF can be applied to real-world scenarios, such as customer databases or inventory management systems. Key takeaways: 1NF eliminates repeating groups, ensures unique column names, and improves data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First Normal Form, explain that it's the first step in normalizing a database table. Emphasize that 1NF eliminates repeating groups and ensures each cell contains a single value. Provide examples of non-1NF tables, such as a customer table with multiple phone numbers in a single row, and then show how to convert it to 1NF by creating a separate table for phone numbers. Ask students to identify which tables are in 1NF and which are not, and discuss the benefits of 1NF, including improved data consistency and reduced redundancy. Key takeaways include understanding the definition of 1NF, being able to identify 1NF tables, and recognizing the importance of 1NF in database design.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that Second Normal Form is a step in database normalization that ensures each non-key attribute in a table depends on the entire primary key, not just one part of it. Give examples of tables that are not in 2NF and ask students to identify the partial dependencies. Then, show how to normalize these tables to 2NF. Emphasize the importance of 2NF in reducing data redundancy and improving data integrity. Provide a simple example, such as a student table with student ID and course ID as a composite key, to illustrate the concept of partial dependency and how to achieve 2NF.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Second Normal Form, emphasize the importance of eliminating partial dependencies to ensure data consistency. Explain that 2NF builds upon the principles of 1NF, further reducing data redundancy and improving data integrity. Provide examples of how 2NF can be applied in real-world database design, such as in customer relationship management systems or inventory management systems. Ask students to consider the benefits of 2NF, including improved scalability and reduced data anomalies. Key takeaways should include the definition of 2NF, its relationship to 1NF, and the advantages of using 2NF in database design.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Database Management Systems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Database Normalization, First Normal Form (1NF), Second Normal Form (2NF), Third Normal Form (3NF), Boyce-Codd Normal Form (BCNF), Normalization Example Walkthrough, Denormalization and Trade-offs, Best Practices and Summary</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Database Normalization - Introduction</a:t>
            </a:r>
          </a:p>
        </p:txBody>
      </p:sp>
      <p:sp>
        <p:nvSpPr>
          <p:cNvPr id="3" name="Content Placeholder 2"/>
          <p:cNvSpPr>
            <a:spLocks noGrp="1"/>
          </p:cNvSpPr>
          <p:nvPr>
            <p:ph idx="1"/>
          </p:nvPr>
        </p:nvSpPr>
        <p:spPr/>
        <p:txBody>
          <a:bodyPr/>
          <a:lstStyle/>
          <a:p>
            <a:pPr>
              <a:defRPr sz="2000">
                <a:solidFill>
                  <a:srgbClr val="444444"/>
                </a:solidFill>
              </a:defRPr>
            </a:pPr>
            <a:r>
              <a:t>Database normalization reduces data redundancy and dependency</a:t>
            </a:r>
          </a:p>
          <a:p>
            <a:pPr>
              <a:defRPr sz="2000">
                <a:solidFill>
                  <a:srgbClr val="444444"/>
                </a:solidFill>
              </a:defRPr>
            </a:pPr>
            <a:r>
              <a:t>Improves data integrity and scalability in database systems</a:t>
            </a:r>
          </a:p>
          <a:p>
            <a:pPr>
              <a:defRPr sz="2000">
                <a:solidFill>
                  <a:srgbClr val="444444"/>
                </a:solidFill>
              </a:defRPr>
            </a:pPr>
            <a:r>
              <a:t>Helps eliminate data anomalies and inconsistencies</a:t>
            </a:r>
          </a:p>
          <a:p>
            <a:pPr>
              <a:defRPr sz="2000">
                <a:solidFill>
                  <a:srgbClr val="444444"/>
                </a:solidFill>
              </a:defRPr>
            </a:pPr>
            <a:r>
              <a:t>Supports better data organization and structure</a:t>
            </a:r>
          </a:p>
          <a:p>
            <a:pPr>
              <a:defRPr sz="2000">
                <a:solidFill>
                  <a:srgbClr val="444444"/>
                </a:solidFill>
              </a:defRPr>
            </a:pPr>
            <a:r>
              <a:t>Enhances data security and access control mechanisms</a:t>
            </a:r>
          </a:p>
          <a:p>
            <a:pPr>
              <a:defRPr sz="2000">
                <a:solidFill>
                  <a:srgbClr val="444444"/>
                </a:solidFill>
              </a:defRPr>
            </a:pPr>
            <a:r>
              <a:t>Reduces data storage requirements and costs</a:t>
            </a:r>
          </a:p>
          <a:p>
            <a:pPr>
              <a:defRPr sz="2000">
                <a:solidFill>
                  <a:srgbClr val="444444"/>
                </a:solidFill>
              </a:defRPr>
            </a:pPr>
            <a:r>
              <a:t>Improves data retrieval and query performance speeds</a:t>
            </a:r>
          </a:p>
          <a:p>
            <a:pPr>
              <a:defRPr sz="2000">
                <a:solidFill>
                  <a:srgbClr val="444444"/>
                </a:solidFill>
              </a:defRPr>
            </a:pPr>
            <a:r>
              <a:t>Simplifies database maintenance and updates</a:t>
            </a:r>
          </a:p>
          <a:p>
            <a:pPr>
              <a:defRPr sz="2000">
                <a:solidFill>
                  <a:srgbClr val="444444"/>
                </a:solidFill>
              </a:defRPr>
            </a:pPr>
            <a:r>
              <a:t>Ensures data consistency across the database</a:t>
            </a:r>
          </a:p>
          <a:p>
            <a:pPr>
              <a:defRPr sz="2000">
                <a:solidFill>
                  <a:srgbClr val="444444"/>
                </a:solidFill>
              </a:defRPr>
            </a:pPr>
            <a:r>
              <a:t>Facilitates better decision-making with accurate data</a:t>
            </a:r>
          </a:p>
        </p:txBody>
      </p:sp>
      <p:pic>
        <p:nvPicPr>
          <p:cNvPr id="4" name="Picture 3" descr="58947202a99e4ab181fb990f63d40eb2.jpg"/>
          <p:cNvPicPr>
            <a:picLocks noChangeAspect="1"/>
          </p:cNvPicPr>
          <p:nvPr/>
        </p:nvPicPr>
        <p:blipFill>
          <a:blip r:embed="rId2"/>
          <a:stretch>
            <a:fillRect/>
          </a:stretch>
        </p:blipFill>
        <p:spPr>
          <a:xfrm>
            <a:off x="7315200" y="1828800"/>
            <a:ext cx="4114800" cy="288650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Database Normalization - Fundamentals</a:t>
            </a:r>
          </a:p>
        </p:txBody>
      </p:sp>
      <p:sp>
        <p:nvSpPr>
          <p:cNvPr id="3" name="Content Placeholder 2"/>
          <p:cNvSpPr>
            <a:spLocks noGrp="1"/>
          </p:cNvSpPr>
          <p:nvPr>
            <p:ph idx="1"/>
          </p:nvPr>
        </p:nvSpPr>
        <p:spPr/>
        <p:txBody>
          <a:bodyPr/>
          <a:lstStyle/>
          <a:p>
            <a:pPr>
              <a:defRPr sz="2000">
                <a:solidFill>
                  <a:srgbClr val="444444"/>
                </a:solidFill>
              </a:defRPr>
            </a:pPr>
            <a:r>
              <a:t>Normalization reduces data redundancy and dependency</a:t>
            </a:r>
          </a:p>
          <a:p>
            <a:pPr>
              <a:defRPr sz="2000">
                <a:solidFill>
                  <a:srgbClr val="444444"/>
                </a:solidFill>
              </a:defRPr>
            </a:pPr>
            <a:r>
              <a:t>Improves data integrity and scalability</a:t>
            </a:r>
          </a:p>
          <a:p>
            <a:pPr>
              <a:defRPr sz="2000">
                <a:solidFill>
                  <a:srgbClr val="444444"/>
                </a:solidFill>
              </a:defRPr>
            </a:pPr>
            <a:r>
              <a:t>Eliminates data anomalies and inconsistencies</a:t>
            </a:r>
          </a:p>
          <a:p>
            <a:pPr>
              <a:defRPr sz="2000">
                <a:solidFill>
                  <a:srgbClr val="444444"/>
                </a:solidFill>
              </a:defRPr>
            </a:pPr>
            <a:r>
              <a:t>Supports better data organization and structure</a:t>
            </a:r>
          </a:p>
          <a:p>
            <a:pPr>
              <a:defRPr sz="2000">
                <a:solidFill>
                  <a:srgbClr val="444444"/>
                </a:solidFill>
              </a:defRPr>
            </a:pPr>
            <a:r>
              <a:t>Enhances data security and access control</a:t>
            </a:r>
          </a:p>
          <a:p>
            <a:pPr>
              <a:defRPr sz="2000">
                <a:solidFill>
                  <a:srgbClr val="444444"/>
                </a:solidFill>
              </a:defRPr>
            </a:pPr>
            <a:r>
              <a:t>Reduces data storage and maintenance costs</a:t>
            </a:r>
          </a:p>
          <a:p>
            <a:pPr>
              <a:defRPr sz="2000">
                <a:solidFill>
                  <a:srgbClr val="444444"/>
                </a:solidFill>
              </a:defRPr>
            </a:pPr>
            <a:r>
              <a:t>Improves data retrieval and query performance</a:t>
            </a:r>
          </a:p>
          <a:p>
            <a:pPr>
              <a:defRPr sz="2000">
                <a:solidFill>
                  <a:srgbClr val="444444"/>
                </a:solidFill>
              </a:defRPr>
            </a:pPr>
            <a:r>
              <a:t>Simplifies data modification and update processes</a:t>
            </a:r>
          </a:p>
          <a:p>
            <a:pPr>
              <a:defRPr sz="2000">
                <a:solidFill>
                  <a:srgbClr val="444444"/>
                </a:solidFill>
              </a:defRPr>
            </a:pPr>
            <a:r>
              <a:t>Ensures data consistency across the database</a:t>
            </a:r>
          </a:p>
        </p:txBody>
      </p:sp>
      <p:pic>
        <p:nvPicPr>
          <p:cNvPr id="4" name="Picture 3" descr="5cfd3dcef9894d099bb155ccc8859e18.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Database Normalization - Fundamentals</a:t>
            </a:r>
          </a:p>
        </p:txBody>
      </p:sp>
      <p:sp>
        <p:nvSpPr>
          <p:cNvPr id="3" name="Content Placeholder 2"/>
          <p:cNvSpPr>
            <a:spLocks noGrp="1"/>
          </p:cNvSpPr>
          <p:nvPr>
            <p:ph idx="1"/>
          </p:nvPr>
        </p:nvSpPr>
        <p:spPr/>
        <p:txBody>
          <a:bodyPr/>
          <a:lstStyle/>
          <a:p>
            <a:pPr>
              <a:defRPr sz="2000">
                <a:solidFill>
                  <a:srgbClr val="444444"/>
                </a:solidFill>
              </a:defRPr>
            </a:pPr>
            <a:r>
              <a:t>Database normalization reduces data redundancy</a:t>
            </a:r>
          </a:p>
          <a:p>
            <a:pPr>
              <a:defRPr sz="2000">
                <a:solidFill>
                  <a:srgbClr val="444444"/>
                </a:solidFill>
              </a:defRPr>
            </a:pPr>
            <a:r>
              <a:t>Eliminates data inconsistencies and anomalies</a:t>
            </a:r>
          </a:p>
          <a:p>
            <a:pPr>
              <a:defRPr sz="2000">
                <a:solidFill>
                  <a:srgbClr val="444444"/>
                </a:solidFill>
              </a:defRPr>
            </a:pPr>
            <a:r>
              <a:t>Improves data integrity and scalability</a:t>
            </a:r>
          </a:p>
          <a:p>
            <a:pPr>
              <a:defRPr sz="2000">
                <a:solidFill>
                  <a:srgbClr val="444444"/>
                </a:solidFill>
              </a:defRPr>
            </a:pPr>
            <a:r>
              <a:t>Supports better data retrieval and storage</a:t>
            </a:r>
          </a:p>
          <a:p>
            <a:pPr>
              <a:defRPr sz="2000">
                <a:solidFill>
                  <a:srgbClr val="444444"/>
                </a:solidFill>
              </a:defRPr>
            </a:pPr>
            <a:r>
              <a:t>Normal forms include 1NF, 2NF, and 3NF</a:t>
            </a:r>
          </a:p>
          <a:p>
            <a:pPr>
              <a:defRPr sz="2000">
                <a:solidFill>
                  <a:srgbClr val="444444"/>
                </a:solidFill>
              </a:defRPr>
            </a:pPr>
            <a:r>
              <a:t>First normal form eliminates repeating groups</a:t>
            </a:r>
          </a:p>
          <a:p>
            <a:pPr>
              <a:defRPr sz="2000">
                <a:solidFill>
                  <a:srgbClr val="444444"/>
                </a:solidFill>
              </a:defRPr>
            </a:pPr>
            <a:r>
              <a:t>Second normal form eliminates partial dependencies</a:t>
            </a:r>
          </a:p>
          <a:p>
            <a:pPr>
              <a:defRPr sz="2000">
                <a:solidFill>
                  <a:srgbClr val="444444"/>
                </a:solidFill>
              </a:defRPr>
            </a:pPr>
            <a:r>
              <a:t>Third normal form eliminates transitive dependencies</a:t>
            </a:r>
          </a:p>
          <a:p>
            <a:pPr>
              <a:defRPr sz="2000">
                <a:solidFill>
                  <a:srgbClr val="444444"/>
                </a:solidFill>
              </a:defRPr>
            </a:pPr>
            <a:r>
              <a:t>Normalization improves database performance and security</a:t>
            </a:r>
          </a:p>
        </p:txBody>
      </p:sp>
      <p:pic>
        <p:nvPicPr>
          <p:cNvPr id="4" name="Picture 3" descr="6e99e5d934e34020b3ec9907e2354182.jpg"/>
          <p:cNvPicPr>
            <a:picLocks noChangeAspect="1"/>
          </p:cNvPicPr>
          <p:nvPr/>
        </p:nvPicPr>
        <p:blipFill>
          <a:blip r:embed="rId2"/>
          <a:stretch>
            <a:fillRect/>
          </a:stretch>
        </p:blipFill>
        <p:spPr>
          <a:xfrm>
            <a:off x="7315200" y="1828800"/>
            <a:ext cx="4114800" cy="409651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First Normal Form (1NF) - Introduction</a:t>
            </a:r>
          </a:p>
        </p:txBody>
      </p:sp>
      <p:sp>
        <p:nvSpPr>
          <p:cNvPr id="3" name="Content Placeholder 2"/>
          <p:cNvSpPr>
            <a:spLocks noGrp="1"/>
          </p:cNvSpPr>
          <p:nvPr>
            <p:ph idx="1"/>
          </p:nvPr>
        </p:nvSpPr>
        <p:spPr/>
        <p:txBody>
          <a:bodyPr/>
          <a:lstStyle/>
          <a:p>
            <a:pPr>
              <a:defRPr sz="2000">
                <a:solidFill>
                  <a:srgbClr val="444444"/>
                </a:solidFill>
              </a:defRPr>
            </a:pPr>
            <a:r>
              <a:t>First Normal Form defines atomic values for each cell</a:t>
            </a:r>
          </a:p>
          <a:p>
            <a:pPr>
              <a:defRPr sz="2000">
                <a:solidFill>
                  <a:srgbClr val="444444"/>
                </a:solidFill>
              </a:defRPr>
            </a:pPr>
            <a:r>
              <a:t>Eliminates repeating groups in a table structure</a:t>
            </a:r>
          </a:p>
          <a:p>
            <a:pPr>
              <a:defRPr sz="2000">
                <a:solidFill>
                  <a:srgbClr val="444444"/>
                </a:solidFill>
              </a:defRPr>
            </a:pPr>
            <a:r>
              <a:t>Ensures each row is unique and identifiable</a:t>
            </a:r>
          </a:p>
          <a:p>
            <a:pPr>
              <a:defRPr sz="2000">
                <a:solidFill>
                  <a:srgbClr val="444444"/>
                </a:solidFill>
              </a:defRPr>
            </a:pPr>
            <a:r>
              <a:t>Applies to relational databases and tables</a:t>
            </a:r>
          </a:p>
          <a:p>
            <a:pPr>
              <a:defRPr sz="2000">
                <a:solidFill>
                  <a:srgbClr val="444444"/>
                </a:solidFill>
              </a:defRPr>
            </a:pPr>
            <a:r>
              <a:t>Improves data consistency and reduces redundancy</a:t>
            </a:r>
          </a:p>
          <a:p>
            <a:pPr>
              <a:defRPr sz="2000">
                <a:solidFill>
                  <a:srgbClr val="444444"/>
                </a:solidFill>
              </a:defRPr>
            </a:pPr>
            <a:r>
              <a:t>Enhances data integrity and scalability</a:t>
            </a:r>
          </a:p>
          <a:p>
            <a:pPr>
              <a:defRPr sz="2000">
                <a:solidFill>
                  <a:srgbClr val="444444"/>
                </a:solidFill>
              </a:defRPr>
            </a:pPr>
            <a:r>
              <a:t>Supports efficient data retrieval and manipulation</a:t>
            </a:r>
          </a:p>
          <a:p>
            <a:pPr>
              <a:defRPr sz="2000">
                <a:solidFill>
                  <a:srgbClr val="444444"/>
                </a:solidFill>
              </a:defRPr>
            </a:pPr>
            <a:r>
              <a:t>Simplifies complex data relationships and queries</a:t>
            </a:r>
          </a:p>
          <a:p>
            <a:pPr>
              <a:defRPr sz="2000">
                <a:solidFill>
                  <a:srgbClr val="444444"/>
                </a:solidFill>
              </a:defRPr>
            </a:pPr>
            <a:r>
              <a:t>Forms the basis for higher normal forms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First Normal Form (1NF) - Introduction</a:t>
            </a:r>
          </a:p>
        </p:txBody>
      </p:sp>
      <p:sp>
        <p:nvSpPr>
          <p:cNvPr id="3" name="Content Placeholder 2"/>
          <p:cNvSpPr>
            <a:spLocks noGrp="1"/>
          </p:cNvSpPr>
          <p:nvPr>
            <p:ph idx="1"/>
          </p:nvPr>
        </p:nvSpPr>
        <p:spPr/>
        <p:txBody>
          <a:bodyPr/>
          <a:lstStyle/>
          <a:p>
            <a:pPr>
              <a:defRPr sz="2000">
                <a:solidFill>
                  <a:srgbClr val="444444"/>
                </a:solidFill>
              </a:defRPr>
            </a:pPr>
            <a:r>
              <a:t>First Normal Form eliminates repeating groups</a:t>
            </a:r>
          </a:p>
          <a:p>
            <a:pPr>
              <a:defRPr sz="2000">
                <a:solidFill>
                  <a:srgbClr val="444444"/>
                </a:solidFill>
              </a:defRPr>
            </a:pPr>
            <a:r>
              <a:t>Each cell contains single value, no lists</a:t>
            </a:r>
          </a:p>
          <a:p>
            <a:pPr>
              <a:defRPr sz="2000">
                <a:solidFill>
                  <a:srgbClr val="444444"/>
                </a:solidFill>
              </a:defRPr>
            </a:pPr>
            <a:r>
              <a:t>Tables have unique column names, no duplicates</a:t>
            </a:r>
          </a:p>
          <a:p>
            <a:pPr>
              <a:defRPr sz="2000">
                <a:solidFill>
                  <a:srgbClr val="444444"/>
                </a:solidFill>
              </a:defRPr>
            </a:pPr>
            <a:r>
              <a:t>1NF ensures data consistency and reduces errors</a:t>
            </a:r>
          </a:p>
          <a:p>
            <a:pPr>
              <a:defRPr sz="2000">
                <a:solidFill>
                  <a:srgbClr val="444444"/>
                </a:solidFill>
              </a:defRPr>
            </a:pPr>
            <a:r>
              <a:t>Example: Student table with multiple addresses</a:t>
            </a:r>
          </a:p>
          <a:p>
            <a:pPr>
              <a:defRPr sz="2000">
                <a:solidFill>
                  <a:srgbClr val="444444"/>
                </a:solidFill>
              </a:defRPr>
            </a:pPr>
            <a:r>
              <a:t>Convert to 1NF: separate address table</a:t>
            </a:r>
          </a:p>
          <a:p>
            <a:pPr>
              <a:defRPr sz="2000">
                <a:solidFill>
                  <a:srgbClr val="444444"/>
                </a:solidFill>
              </a:defRPr>
            </a:pPr>
            <a:r>
              <a:t>1NF improves data scalability and flexibility</a:t>
            </a:r>
          </a:p>
          <a:p>
            <a:pPr>
              <a:defRPr sz="2000">
                <a:solidFill>
                  <a:srgbClr val="444444"/>
                </a:solidFill>
              </a:defRPr>
            </a:pPr>
            <a:r>
              <a:t>Reduces data redundancy, improves storage</a:t>
            </a:r>
          </a:p>
          <a:p>
            <a:pPr>
              <a:defRPr sz="2000">
                <a:solidFill>
                  <a:srgbClr val="444444"/>
                </a:solidFill>
              </a:defRPr>
            </a:pPr>
            <a:r>
              <a:t>Simplifies query operations and data retrieval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First Normal Form (1NF) - Introduction</a:t>
            </a:r>
          </a:p>
        </p:txBody>
      </p:sp>
      <p:sp>
        <p:nvSpPr>
          <p:cNvPr id="3" name="Content Placeholder 2"/>
          <p:cNvSpPr>
            <a:spLocks noGrp="1"/>
          </p:cNvSpPr>
          <p:nvPr>
            <p:ph idx="1"/>
          </p:nvPr>
        </p:nvSpPr>
        <p:spPr/>
        <p:txBody>
          <a:bodyPr/>
          <a:lstStyle/>
          <a:p>
            <a:pPr>
              <a:defRPr sz="2000">
                <a:solidFill>
                  <a:srgbClr val="444444"/>
                </a:solidFill>
              </a:defRPr>
            </a:pPr>
            <a:r>
              <a:t>First Normal Form (1NF) defines a table's structure</a:t>
            </a:r>
          </a:p>
          <a:p>
            <a:pPr>
              <a:defRPr sz="2000">
                <a:solidFill>
                  <a:srgbClr val="444444"/>
                </a:solidFill>
              </a:defRPr>
            </a:pPr>
            <a:r>
              <a:t>Eliminates repeating groups or arrays in tables</a:t>
            </a:r>
          </a:p>
          <a:p>
            <a:pPr>
              <a:defRPr sz="2000">
                <a:solidFill>
                  <a:srgbClr val="444444"/>
                </a:solidFill>
              </a:defRPr>
            </a:pPr>
            <a:r>
              <a:t>Each cell contains a single value only</a:t>
            </a:r>
          </a:p>
          <a:p>
            <a:pPr>
              <a:defRPr sz="2000">
                <a:solidFill>
                  <a:srgbClr val="444444"/>
                </a:solidFill>
              </a:defRPr>
            </a:pPr>
            <a:r>
              <a:t>No repeating columns or groups allowed</a:t>
            </a:r>
          </a:p>
          <a:p>
            <a:pPr>
              <a:defRPr sz="2000">
                <a:solidFill>
                  <a:srgbClr val="444444"/>
                </a:solidFill>
              </a:defRPr>
            </a:pPr>
            <a:r>
              <a:t>Each row is unique with no duplicate values</a:t>
            </a:r>
          </a:p>
          <a:p>
            <a:pPr>
              <a:defRPr sz="2000">
                <a:solidFill>
                  <a:srgbClr val="444444"/>
                </a:solidFill>
              </a:defRPr>
            </a:pPr>
            <a:r>
              <a:t>1NF is the foundation for higher normal forms</a:t>
            </a:r>
          </a:p>
          <a:p>
            <a:pPr>
              <a:defRPr sz="2000">
                <a:solidFill>
                  <a:srgbClr val="444444"/>
                </a:solidFill>
              </a:defRPr>
            </a:pPr>
            <a:r>
              <a:t>Ensures data consistency and reduces redundancy</a:t>
            </a:r>
          </a:p>
          <a:p>
            <a:pPr>
              <a:defRPr sz="2000">
                <a:solidFill>
                  <a:srgbClr val="444444"/>
                </a:solidFill>
              </a:defRPr>
            </a:pPr>
            <a:r>
              <a:t>Improves data integrity and scalability</a:t>
            </a:r>
          </a:p>
          <a:p>
            <a:pPr>
              <a:defRPr sz="2000">
                <a:solidFill>
                  <a:srgbClr val="444444"/>
                </a:solidFill>
              </a:defRPr>
            </a:pPr>
            <a:r>
              <a:t>Simplifies data querying and manipulation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Second Normal Form (2NF) - Introduction</a:t>
            </a:r>
          </a:p>
        </p:txBody>
      </p:sp>
      <p:sp>
        <p:nvSpPr>
          <p:cNvPr id="3" name="Content Placeholder 2"/>
          <p:cNvSpPr>
            <a:spLocks noGrp="1"/>
          </p:cNvSpPr>
          <p:nvPr>
            <p:ph idx="1"/>
          </p:nvPr>
        </p:nvSpPr>
        <p:spPr/>
        <p:txBody>
          <a:bodyPr/>
          <a:lstStyle/>
          <a:p>
            <a:pPr>
              <a:defRPr sz="2000">
                <a:solidFill>
                  <a:srgbClr val="444444"/>
                </a:solidFill>
              </a:defRPr>
            </a:pPr>
            <a:r>
              <a:t>Second Normal Form eliminates partial dependencies</a:t>
            </a:r>
          </a:p>
          <a:p>
            <a:pPr>
              <a:defRPr sz="2000">
                <a:solidFill>
                  <a:srgbClr val="444444"/>
                </a:solidFill>
              </a:defRPr>
            </a:pPr>
            <a:r>
              <a:t>Each non-key attribute depends on the whole primary key</a:t>
            </a:r>
          </a:p>
          <a:p>
            <a:pPr>
              <a:defRPr sz="2000">
                <a:solidFill>
                  <a:srgbClr val="444444"/>
                </a:solidFill>
              </a:defRPr>
            </a:pPr>
            <a:r>
              <a:t>2NF is based on functional dependencies</a:t>
            </a:r>
          </a:p>
          <a:p>
            <a:pPr>
              <a:defRPr sz="2000">
                <a:solidFill>
                  <a:srgbClr val="444444"/>
                </a:solidFill>
              </a:defRPr>
            </a:pPr>
            <a:r>
              <a:t>A relation is in 2NF if it is in 1NF</a:t>
            </a:r>
          </a:p>
          <a:p>
            <a:pPr>
              <a:defRPr sz="2000">
                <a:solidFill>
                  <a:srgbClr val="444444"/>
                </a:solidFill>
              </a:defRPr>
            </a:pPr>
            <a:r>
              <a:t>No non-key attribute depends on a part of the primary key</a:t>
            </a:r>
          </a:p>
          <a:p>
            <a:pPr>
              <a:defRPr sz="2000">
                <a:solidFill>
                  <a:srgbClr val="444444"/>
                </a:solidFill>
              </a:defRPr>
            </a:pPr>
            <a:r>
              <a:t>Partial dependency is a dependency on one part of a composite key</a:t>
            </a:r>
          </a:p>
          <a:p>
            <a:pPr>
              <a:defRPr sz="2000">
                <a:solidFill>
                  <a:srgbClr val="444444"/>
                </a:solidFill>
              </a:defRPr>
            </a:pPr>
            <a:r>
              <a:t>2NF reduces data redundancy and improves data integrity</a:t>
            </a:r>
          </a:p>
          <a:p>
            <a:pPr>
              <a:defRPr sz="2000">
                <a:solidFill>
                  <a:srgbClr val="444444"/>
                </a:solidFill>
              </a:defRPr>
            </a:pPr>
            <a:r>
              <a:t>Normalization to 2NF involves decomposing relations</a:t>
            </a:r>
          </a:p>
          <a:p>
            <a:pPr>
              <a:defRPr sz="2000">
                <a:solidFill>
                  <a:srgbClr val="444444"/>
                </a:solidFill>
              </a:defRPr>
            </a:pPr>
            <a:r>
              <a:t>Example: Student table with student ID and course ID as composite key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Second Normal Form (2NF) - Introduction</a:t>
            </a:r>
          </a:p>
        </p:txBody>
      </p:sp>
      <p:sp>
        <p:nvSpPr>
          <p:cNvPr id="3" name="Content Placeholder 2"/>
          <p:cNvSpPr>
            <a:spLocks noGrp="1"/>
          </p:cNvSpPr>
          <p:nvPr>
            <p:ph idx="1"/>
          </p:nvPr>
        </p:nvSpPr>
        <p:spPr/>
        <p:txBody>
          <a:bodyPr/>
          <a:lstStyle/>
          <a:p>
            <a:pPr>
              <a:defRPr sz="2000">
                <a:solidFill>
                  <a:srgbClr val="444444"/>
                </a:solidFill>
              </a:defRPr>
            </a:pPr>
            <a:r>
              <a:t>Second Normal Form eliminates partial dependencies</a:t>
            </a:r>
          </a:p>
          <a:p>
            <a:pPr>
              <a:defRPr sz="2000">
                <a:solidFill>
                  <a:srgbClr val="444444"/>
                </a:solidFill>
              </a:defRPr>
            </a:pPr>
            <a:r>
              <a:t>Each non-key attribute depends on the whole primary key</a:t>
            </a:r>
          </a:p>
          <a:p>
            <a:pPr>
              <a:defRPr sz="2000">
                <a:solidFill>
                  <a:srgbClr val="444444"/>
                </a:solidFill>
              </a:defRPr>
            </a:pPr>
            <a:r>
              <a:t>2NF is based on functional dependencies and keys</a:t>
            </a:r>
          </a:p>
          <a:p>
            <a:pPr>
              <a:defRPr sz="2000">
                <a:solidFill>
                  <a:srgbClr val="444444"/>
                </a:solidFill>
              </a:defRPr>
            </a:pPr>
            <a:r>
              <a:t>A relation is in 2NF if it is in 1NF</a:t>
            </a:r>
          </a:p>
          <a:p>
            <a:pPr>
              <a:defRPr sz="2000">
                <a:solidFill>
                  <a:srgbClr val="444444"/>
                </a:solidFill>
              </a:defRPr>
            </a:pPr>
            <a:r>
              <a:t>No non-key attribute depends on a part of the primary key</a:t>
            </a:r>
          </a:p>
          <a:p>
            <a:pPr>
              <a:defRPr sz="2000">
                <a:solidFill>
                  <a:srgbClr val="444444"/>
                </a:solidFill>
              </a:defRPr>
            </a:pPr>
            <a:r>
              <a:t>Reducing data redundancy and improving data integrity</a:t>
            </a:r>
          </a:p>
          <a:p>
            <a:pPr>
              <a:defRPr sz="2000">
                <a:solidFill>
                  <a:srgbClr val="444444"/>
                </a:solidFill>
              </a:defRPr>
            </a:pPr>
            <a:r>
              <a:t>2NF has fewer dependencies than 1NF</a:t>
            </a:r>
          </a:p>
          <a:p>
            <a:pPr>
              <a:defRPr sz="2000">
                <a:solidFill>
                  <a:srgbClr val="444444"/>
                </a:solidFill>
              </a:defRPr>
            </a:pPr>
            <a:r>
              <a:t>Improves scalability and reduces data anomalies</a:t>
            </a:r>
          </a:p>
          <a:p>
            <a:pPr>
              <a:defRPr sz="2000">
                <a:solidFill>
                  <a:srgbClr val="444444"/>
                </a:solidFill>
              </a:defRPr>
            </a:pPr>
            <a:r>
              <a:t>Ensures data consistency across the database</a:t>
            </a:r>
          </a:p>
          <a:p>
            <a:pPr>
              <a:defRPr sz="2000">
                <a:solidFill>
                  <a:srgbClr val="444444"/>
                </a:solidFill>
              </a:defRPr>
            </a:pPr>
            <a:r>
              <a:t>Prepares the database for higher normal forms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