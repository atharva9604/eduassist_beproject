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systems, a crucial component of computer engineering. In this section, we will explore the fundamentals of operating systems, their role, and importance in managing computer hardware and software resources. We will also discuss the key features and functions of operating systems, including process management, memory management, and file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functions, types, and characteristics. We will also discuss the role of operating systems in managing computer resources and providing a platform for running applications. The key concepts and terminology related to operating systems will be covered in detail to provide a solid foundation for further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explore the basics of operating systems, including their functions, components, and importance in computer engineering. We will discuss how operating systems manage hardware and software resources, provide a platform for running applications, and ensure security and authentication. Key concepts such as process scheduling, memory management, and file systems will be introduced.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Overview</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intermediary between user and computer hardware components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connected to system</a:t>
            </a:r>
          </a:p>
          <a:p>
            <a:pPr>
              <a:defRPr sz="2000">
                <a:solidFill>
                  <a:srgbClr val="444444"/>
                </a:solidFill>
              </a:defRPr>
            </a:pPr>
            <a:r>
              <a:t>Handles multitasking and multithreading operations simultaneously always</a:t>
            </a:r>
          </a:p>
          <a:p>
            <a:pPr>
              <a:defRPr sz="2000">
                <a:solidFill>
                  <a:srgbClr val="444444"/>
                </a:solidFill>
              </a:defRPr>
            </a:pPr>
            <a:r>
              <a:t>Ensures security and authentication mechanisms are in place always</a:t>
            </a:r>
          </a:p>
          <a:p>
            <a:pPr>
              <a:defRPr sz="2000">
                <a:solidFill>
                  <a:srgbClr val="444444"/>
                </a:solidFill>
              </a:defRPr>
            </a:pPr>
            <a:r>
              <a:t>Supports networking and communication protocols for connectivity</a:t>
            </a:r>
          </a:p>
          <a:p>
            <a:pPr>
              <a:defRPr sz="2000">
                <a:solidFill>
                  <a:srgbClr val="444444"/>
                </a:solidFill>
              </a:defRPr>
            </a:pPr>
            <a:r>
              <a:t>Provides utility programs for maintenance and troubleshooting purposes</a:t>
            </a:r>
          </a:p>
          <a:p>
            <a:pPr>
              <a:defRPr sz="2000">
                <a:solidFill>
                  <a:srgbClr val="444444"/>
                </a:solidFill>
              </a:defRPr>
            </a:pPr>
            <a:r>
              <a:t>Optimizes system performance and resource allocation always</a:t>
            </a:r>
          </a:p>
        </p:txBody>
      </p:sp>
      <p:pic>
        <p:nvPicPr>
          <p:cNvPr id="4" name="Picture 3" descr="d8bb199a0321408f8014dd517c9b9318.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an intermediary between user and computer hardware components</a:t>
            </a:r>
          </a:p>
          <a:p>
            <a:pPr>
              <a:defRPr sz="2000">
                <a:solidFill>
                  <a:srgbClr val="444444"/>
                </a:solidFill>
              </a:defRPr>
            </a:pPr>
            <a:r>
              <a:t>Provides a platform for running application software programs smoothly</a:t>
            </a:r>
          </a:p>
          <a:p>
            <a:pPr>
              <a:defRPr sz="2000">
                <a:solidFill>
                  <a:srgbClr val="444444"/>
                </a:solidFill>
              </a:defRPr>
            </a:pPr>
            <a:r>
              <a:t>Controls input output and storage devices connected to the system</a:t>
            </a:r>
          </a:p>
          <a:p>
            <a:pPr>
              <a:defRPr sz="2000">
                <a:solidFill>
                  <a:srgbClr val="444444"/>
                </a:solidFill>
              </a:defRPr>
            </a:pPr>
            <a:r>
              <a:t>Handles multitasking and multithreading operations simultaneously always</a:t>
            </a:r>
          </a:p>
          <a:p>
            <a:pPr>
              <a:defRPr sz="2000">
                <a:solidFill>
                  <a:srgbClr val="444444"/>
                </a:solidFill>
              </a:defRPr>
            </a:pPr>
            <a:r>
              <a:t>Provides security and authentication mechanisms for user accounts</a:t>
            </a:r>
          </a:p>
          <a:p>
            <a:pPr>
              <a:defRPr sz="2000">
                <a:solidFill>
                  <a:srgbClr val="444444"/>
                </a:solidFill>
              </a:defRPr>
            </a:pPr>
            <a:r>
              <a:t>Manages primary and secondary memory allocation effectively always</a:t>
            </a:r>
          </a:p>
          <a:p>
            <a:pPr>
              <a:defRPr sz="2000">
                <a:solidFill>
                  <a:srgbClr val="444444"/>
                </a:solidFill>
              </a:defRPr>
            </a:pPr>
            <a:r>
              <a:t>Supports networking and communication protocols for data exchange</a:t>
            </a:r>
          </a:p>
          <a:p>
            <a:pPr>
              <a:defRPr sz="2000">
                <a:solidFill>
                  <a:srgbClr val="444444"/>
                </a:solidFill>
              </a:defRPr>
            </a:pPr>
            <a:r>
              <a:t>Enables installation and management of software applications easily</a:t>
            </a:r>
          </a:p>
        </p:txBody>
      </p:sp>
      <p:pic>
        <p:nvPicPr>
          <p:cNvPr id="4" name="Picture 3" descr="2d7b5e935b5448c99d31403a9fc64eea.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intermediary between user and computer hardware components</a:t>
            </a:r>
          </a:p>
          <a:p>
            <a:pPr>
              <a:defRPr sz="2000">
                <a:solidFill>
                  <a:srgbClr val="444444"/>
                </a:solidFill>
              </a:defRPr>
            </a:pPr>
            <a:r>
              <a:t>Provides platform for running applications and services smoothly</a:t>
            </a:r>
          </a:p>
          <a:p>
            <a:pPr>
              <a:defRPr sz="2000">
                <a:solidFill>
                  <a:srgbClr val="444444"/>
                </a:solidFill>
              </a:defRPr>
            </a:pPr>
            <a:r>
              <a:t>Handles memory management and allocation for programs</a:t>
            </a:r>
          </a:p>
          <a:p>
            <a:pPr>
              <a:defRPr sz="2000">
                <a:solidFill>
                  <a:srgbClr val="444444"/>
                </a:solidFill>
              </a:defRPr>
            </a:pPr>
            <a:r>
              <a:t>Responsible for process scheduling and task management always</a:t>
            </a:r>
          </a:p>
          <a:p>
            <a:pPr>
              <a:defRPr sz="2000">
                <a:solidFill>
                  <a:srgbClr val="444444"/>
                </a:solidFill>
              </a:defRPr>
            </a:pPr>
            <a:r>
              <a:t>Ensures security and authentication for user data protection</a:t>
            </a:r>
          </a:p>
          <a:p>
            <a:pPr>
              <a:defRPr sz="2000">
                <a:solidFill>
                  <a:srgbClr val="444444"/>
                </a:solidFill>
              </a:defRPr>
            </a:pPr>
            <a:r>
              <a:t>Manages file systems and storage devices effectively always</a:t>
            </a:r>
          </a:p>
          <a:p>
            <a:pPr>
              <a:defRPr sz="2000">
                <a:solidFill>
                  <a:srgbClr val="444444"/>
                </a:solidFill>
              </a:defRPr>
            </a:pPr>
            <a:r>
              <a:t>Supports networking and communication between devices</a:t>
            </a:r>
          </a:p>
          <a:p>
            <a:pPr>
              <a:defRPr sz="2000">
                <a:solidFill>
                  <a:srgbClr val="444444"/>
                </a:solidFill>
              </a:defRPr>
            </a:pPr>
            <a:r>
              <a:t>Provides utility programs for system maintenance tasks</a:t>
            </a:r>
          </a:p>
          <a:p>
            <a:pPr>
              <a:defRPr sz="2000">
                <a:solidFill>
                  <a:srgbClr val="444444"/>
                </a:solidFill>
              </a:defRPr>
            </a:pPr>
            <a:r>
              <a:t>Enables multitasking and multithreading capabilities always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