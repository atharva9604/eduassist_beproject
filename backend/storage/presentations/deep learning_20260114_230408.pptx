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Deep Learning - Core Concepts</a:t>
            </a:r>
          </a:p>
        </p:txBody>
      </p:sp>
      <p:sp>
        <p:nvSpPr>
          <p:cNvPr id="3" name="Content Placeholder 2"/>
          <p:cNvSpPr>
            <a:spLocks noGrp="1"/>
          </p:cNvSpPr>
          <p:nvPr>
            <p:ph idx="1"/>
          </p:nvPr>
        </p:nvSpPr>
        <p:spPr/>
        <p:txBody>
          <a:bodyPr/>
          <a:lstStyle/>
          <a:p>
            <a:pPr>
              <a:defRPr sz="2000">
                <a:solidFill>
                  <a:srgbClr val="444444"/>
                </a:solidFill>
              </a:defRPr>
            </a:pPr>
            <a:r>
              <a:t>Deep Learning is a specialized subfield of Machine Learning (and by extension, Artificial Intelligence) that employs artificial neural networks with multiple processing layers (known as 'deep' architectures) to learn complex patterns and representations directly from raw data.</a:t>
            </a:r>
          </a:p>
          <a:p>
            <a:pPr>
              <a:defRPr sz="2000">
                <a:solidFill>
                  <a:srgbClr val="444444"/>
                </a:solidFill>
              </a:defRPr>
            </a:pPr>
            <a:r>
              <a:t>The 'deep' in deep learning refers to the numerous hidden layers within these neural networks. Each layer transforms the input data to a slightly more abstract and composite representation, allowing the network to automatically discover intricate features and hierarchies that are crucial for tasks like image recognition, natural language processing, and anomaly detection.</a:t>
            </a:r>
          </a:p>
          <a:p>
            <a:pPr>
              <a:defRPr sz="2000">
                <a:solidFill>
                  <a:srgbClr val="444444"/>
                </a:solidFill>
              </a:defRPr>
            </a:pPr>
            <a:r>
              <a:t>Unlike traditional machine learning models that often require extensive manual feature engineering, deep learning models are capable of learning relevant features autonomously. They build a hierarchy of knowledge, where lower layers learn simple features (e.g., edges in an image), and higher layers combine these into more complex, abstract representations (e.g., parts of objects, full objects).</a:t>
            </a:r>
          </a:p>
          <a:p>
            <a:pPr>
              <a:defRPr sz="2000">
                <a:solidFill>
                  <a:srgbClr val="444444"/>
                </a:solidFill>
              </a:defRPr>
            </a:pPr>
            <a:r>
              <a:t>While not a direct replica, deep learning models draw conceptual inspiration from the structure and function of the human brain's biological neural networks. This inspiration is primarily about the interconnected 'neurons' and layered processing, allowing the system to learn from vast amounts of data through experience rather than explicit programming.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Deep Learning - Why Now?</a:t>
            </a:r>
          </a:p>
        </p:txBody>
      </p:sp>
      <p:sp>
        <p:nvSpPr>
          <p:cNvPr id="3" name="Content Placeholder 2"/>
          <p:cNvSpPr>
            <a:spLocks noGrp="1"/>
          </p:cNvSpPr>
          <p:nvPr>
            <p:ph idx="1"/>
          </p:nvPr>
        </p:nvSpPr>
        <p:spPr/>
        <p:txBody>
          <a:bodyPr/>
          <a:lstStyle/>
          <a:p>
            <a:pPr>
              <a:defRPr sz="2000">
                <a:solidFill>
                  <a:srgbClr val="444444"/>
                </a:solidFill>
              </a:defRPr>
            </a:pPr>
            <a:r>
              <a:t>**1. Massive Datasets (Big Data Availability):** The exponential growth of digital data (images, text, audio, video) has provided the necessary fuel for deep learning. Unlike traditional machine learning, deep learning models thrive on vast quantities of labeled data to learn intricate features and patterns, which were previously unavailable or too costly to collect.</a:t>
            </a:r>
          </a:p>
          <a:p>
            <a:pPr>
              <a:defRPr sz="2000">
                <a:solidFill>
                  <a:srgbClr val="444444"/>
                </a:solidFill>
              </a:defRPr>
            </a:pPr>
            <a:r>
              <a:t>**2. Unprecedented Computational Power (Hardware Advancements):** The rise of powerful Graphics Processing Units (GPUs) and specialized Tensor Processing Units (TPUs) has revolutionized deep learning training. GPUs, originally designed for parallel processing in graphics rendering, are exceptionally well-suited for the highly parallelizable matrix operations inherent in neural network computations, significantly accelerating training times from months to days or hours.</a:t>
            </a:r>
          </a:p>
          <a:p>
            <a:pPr>
              <a:defRPr sz="2000">
                <a:solidFill>
                  <a:srgbClr val="444444"/>
                </a:solidFill>
              </a:defRPr>
            </a:pPr>
            <a:r>
              <a:t>**3. Algorithmic Innovations &amp; Architectural Breakthroughs:** Continuous advancements in deep learning algorithms and network architectures have overcome previous limitations. Key innovations include improved activation functions (e.g., ReLU), more stable optimization techniques (e.g., Adam, RMSprop), novel architectures like Convolutional Neural Networks (CNNs), Recurrent Neural Networks (RNNs), and Transformers, along with regularization methods (e.g., Dropout) that prevent overfitting and enable training much deeper networks.</a:t>
            </a:r>
          </a:p>
          <a:p>
            <a:pPr>
              <a:defRPr sz="2000">
                <a:solidFill>
                  <a:srgbClr val="444444"/>
                </a:solidFill>
              </a:defRPr>
            </a:pPr>
            <a:r>
              <a:t>**4. Open-Source Frameworks and Community:** The development and widespread adoption of user-friendly open-source deep learning frameworks like TensorFlow, PyTorch, and Keras have democratized access to powerful tools. These frameworks abstract away complex low-level programming, making it easier for researchers and developers to build, train, and deploy deep learning models, fostering rapid experimentation and collaboration within a vibrant global community.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Deep Learning - Why Deep Learning Now?</a:t>
            </a:r>
          </a:p>
        </p:txBody>
      </p:sp>
      <p:sp>
        <p:nvSpPr>
          <p:cNvPr id="3" name="Content Placeholder 2"/>
          <p:cNvSpPr>
            <a:spLocks noGrp="1"/>
          </p:cNvSpPr>
          <p:nvPr>
            <p:ph idx="1"/>
          </p:nvPr>
        </p:nvSpPr>
        <p:spPr/>
        <p:txBody>
          <a:bodyPr/>
          <a:lstStyle/>
          <a:p>
            <a:pPr>
              <a:defRPr sz="2000">
                <a:solidFill>
                  <a:srgbClr val="444444"/>
                </a:solidFill>
              </a:defRPr>
            </a:pPr>
            <a:r>
              <a:t>**Abundance of Data:** The digital age has led to an unprecedented explosion of data (Big Data) – images, text, audio, video – providing the massive datasets required to train deep learning models effectively. Deep learning algorithms thrive on large quantities of data to identify complex patterns and relationships.</a:t>
            </a:r>
          </a:p>
          <a:p>
            <a:pPr>
              <a:defRPr sz="2000">
                <a:solidFill>
                  <a:srgbClr val="444444"/>
                </a:solidFill>
              </a:defRPr>
            </a:pPr>
            <a:r>
              <a:t>**Enhanced Computational Power:** Significant advancements in hardware, particularly the widespread availability and affordability of powerful Graphics Processing Units (GPUs) and specialized Tensor Processing Units (TPUs), have made it feasible to train deep neural networks with billions of parameters in practical timescales. These processors excel at parallel computations critical for deep learning.</a:t>
            </a:r>
          </a:p>
          <a:p>
            <a:pPr>
              <a:defRPr sz="2000">
                <a:solidFill>
                  <a:srgbClr val="444444"/>
                </a:solidFill>
              </a:defRPr>
            </a:pPr>
            <a:r>
              <a:t>**Algorithmic Innovations:** Breakthroughs in neural network architectures (e.g., Convolutional Neural Networks for vision, Recurrent Neural Networks for sequences, Transformer models), improved activation functions (like ReLU), advanced optimization techniques (e.g., Adam, batch normalization), and regularization methods have overcome previous challenges like vanishing gradients and overfitting, making deeper networks trainable and more robust.</a:t>
            </a:r>
          </a:p>
          <a:p>
            <a:pPr>
              <a:defRPr sz="2000">
                <a:solidFill>
                  <a:srgbClr val="444444"/>
                </a:solidFill>
              </a:defRPr>
            </a:pPr>
            <a:r>
              <a:t>**Open-Source Frameworks &amp; Community:** The development and popularization of robust, user-friendly open-source deep learning frameworks (e.g., TensorFlow, PyTorch, Keras) have significantly lowered the barrier to entry. Coupled with a vibrant global research community, these tools accelerate development, encourage collaboration, and facilitate the rapid deployment of deep learning solutions.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