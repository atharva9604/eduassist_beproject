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3.svg" ContentType="image/svg+xml"/>
  <Override PartName="/ppt/media/image5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9" r:id="rId14"/>
    <p:sldId id="260" r:id="rId16"/>
    <p:sldId id="261" r:id="rId17"/>
    <p:sldId id="262" r:id="rId18"/>
    <p:sldId id="258" r:id="rId4"/>
  </p:sldIdLst>
  <p:sldSz cx="18288000" cy="10287000"/>
  <p:notesSz cx="6858000" cy="9144000"/>
  <p:embeddedFontLst>
    <p:embeddedFont>
      <p:font typeface="Calibri" panose="020F0502020204030204" pitchFamily="34" charset="0"/>
      <p:regular r:id="rId5"/>
      <p:bold r:id="rId6"/>
      <p:italic r:id="rId7"/>
      <p:boldItalic r:id="rId8"/>
    </p:embeddedFont>
    <p:embeddedFont>
      <p:font typeface="Anton" panose="020B0604020202020204" charset="0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6092" autoAdjust="0"/>
    <p:restoredTop sz="94622" autoAdjust="0"/>
  </p:normalViewPr>
  <p:slideViewPr>
    <p:cSldViewPr>
      <p:cViewPr>
        <p:scale>
          <a:sx n="30" d="100"/>
          <a:sy n="30" d="100"/>
        </p:scale>
        <p:origin x="1440" y="58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font" Target="fonts/font1.fntdata"/><Relationship Id="rId6" Type="http://schemas.openxmlformats.org/officeDocument/2006/relationships/font" Target="fonts/font2.fntdata"/><Relationship Id="rId7" Type="http://schemas.openxmlformats.org/officeDocument/2006/relationships/font" Target="fonts/font3.fntdata"/><Relationship Id="rId8" Type="http://schemas.openxmlformats.org/officeDocument/2006/relationships/font" Target="fonts/font4.fntdata"/><Relationship Id="rId9" Type="http://schemas.openxmlformats.org/officeDocument/2006/relationships/font" Target="fonts/font5.fntdata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Explain Introduction in the context of RNNs.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Explain Core Concept / Architecture in the context of RNNs.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Explain Mathematical / Logical Explanation in the context of RNNs.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Explain Applications / Use Cases in the context of RNNs.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3.png"/><Relationship Id="rId4" Type="http://schemas.openxmlformats.org/officeDocument/2006/relationships/image" Target="../media/image5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image" Target="../media/image4.png"/><Relationship Id="rId6" Type="http://schemas.openxmlformats.org/officeDocument/2006/relationships/image" Target="../media/image7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2"/>
          <p:cNvSpPr/>
          <p:nvPr userDrawn="1"/>
        </p:nvSpPr>
        <p:spPr>
          <a:xfrm>
            <a:off x="-3544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2184380">
                <a:moveTo>
                  <a:pt x="0" y="0"/>
                </a:moveTo>
                <a:lnTo>
                  <a:pt x="18288000" y="0"/>
                </a:lnTo>
                <a:lnTo>
                  <a:pt x="18288000" y="12184380"/>
                </a:lnTo>
                <a:lnTo>
                  <a:pt x="0" y="121843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1" name="Freeform 3"/>
          <p:cNvSpPr/>
          <p:nvPr userDrawn="1"/>
        </p:nvSpPr>
        <p:spPr>
          <a:xfrm>
            <a:off x="-3544" y="-1454734"/>
            <a:ext cx="8483403" cy="11741734"/>
          </a:xfrm>
          <a:custGeom>
            <a:avLst/>
            <a:gdLst/>
            <a:ahLst/>
            <a:cxnLst/>
            <a:rect l="l" t="t" r="r" b="b"/>
            <a:pathLst>
              <a:path w="8483403" h="11741734">
                <a:moveTo>
                  <a:pt x="0" y="0"/>
                </a:moveTo>
                <a:lnTo>
                  <a:pt x="8483402" y="0"/>
                </a:lnTo>
                <a:lnTo>
                  <a:pt x="8483402" y="11741734"/>
                </a:lnTo>
                <a:lnTo>
                  <a:pt x="0" y="1174173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34400" y="2431238"/>
            <a:ext cx="7772400" cy="1470025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220200" y="4268455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2"/>
          <p:cNvSpPr/>
          <p:nvPr userDrawn="1"/>
        </p:nvSpPr>
        <p:spPr>
          <a:xfrm>
            <a:off x="14177" y="16835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2184380">
                <a:moveTo>
                  <a:pt x="0" y="0"/>
                </a:moveTo>
                <a:lnTo>
                  <a:pt x="18288000" y="0"/>
                </a:lnTo>
                <a:lnTo>
                  <a:pt x="18288000" y="12184380"/>
                </a:lnTo>
                <a:lnTo>
                  <a:pt x="0" y="121843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8" name="Freeform 5"/>
          <p:cNvSpPr/>
          <p:nvPr userDrawn="1"/>
        </p:nvSpPr>
        <p:spPr>
          <a:xfrm flipH="1" flipV="1">
            <a:off x="10972800" y="-16835"/>
            <a:ext cx="7315200" cy="1347216"/>
          </a:xfrm>
          <a:custGeom>
            <a:avLst/>
            <a:gdLst/>
            <a:ahLst/>
            <a:cxnLst/>
            <a:rect l="l" t="t" r="r" b="b"/>
            <a:pathLst>
              <a:path w="7315200" h="1347216">
                <a:moveTo>
                  <a:pt x="7315200" y="1347216"/>
                </a:moveTo>
                <a:lnTo>
                  <a:pt x="0" y="1347216"/>
                </a:lnTo>
                <a:lnTo>
                  <a:pt x="0" y="0"/>
                </a:lnTo>
                <a:lnTo>
                  <a:pt x="7315200" y="0"/>
                </a:lnTo>
                <a:lnTo>
                  <a:pt x="7315200" y="1347216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19400" y="633062"/>
            <a:ext cx="8229600" cy="1143000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073331"/>
            <a:ext cx="12192000" cy="6934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9" name="Freeform 3"/>
          <p:cNvSpPr/>
          <p:nvPr userDrawn="1"/>
        </p:nvSpPr>
        <p:spPr>
          <a:xfrm>
            <a:off x="0" y="8956619"/>
            <a:ext cx="7315200" cy="1347216"/>
          </a:xfrm>
          <a:custGeom>
            <a:avLst/>
            <a:gdLst/>
            <a:ahLst/>
            <a:cxnLst/>
            <a:rect l="l" t="t" r="r" b="b"/>
            <a:pathLst>
              <a:path w="7315200" h="1347216">
                <a:moveTo>
                  <a:pt x="0" y="0"/>
                </a:moveTo>
                <a:lnTo>
                  <a:pt x="7315200" y="0"/>
                </a:lnTo>
                <a:lnTo>
                  <a:pt x="7315200" y="1347216"/>
                </a:lnTo>
                <a:lnTo>
                  <a:pt x="0" y="134721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/>
          <p:cNvSpPr/>
          <p:nvPr userDrawn="1"/>
        </p:nvSpPr>
        <p:spPr>
          <a:xfrm>
            <a:off x="-19493" y="-19493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2184380">
                <a:moveTo>
                  <a:pt x="0" y="0"/>
                </a:moveTo>
                <a:lnTo>
                  <a:pt x="18288000" y="0"/>
                </a:lnTo>
                <a:lnTo>
                  <a:pt x="18288000" y="12184380"/>
                </a:lnTo>
                <a:lnTo>
                  <a:pt x="0" y="121843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3"/>
          <p:cNvSpPr/>
          <p:nvPr userDrawn="1"/>
        </p:nvSpPr>
        <p:spPr>
          <a:xfrm>
            <a:off x="0" y="-1446760"/>
            <a:ext cx="8483403" cy="11741734"/>
          </a:xfrm>
          <a:custGeom>
            <a:avLst/>
            <a:gdLst/>
            <a:ahLst/>
            <a:cxnLst/>
            <a:rect l="l" t="t" r="r" b="b"/>
            <a:pathLst>
              <a:path w="8483403" h="11741734">
                <a:moveTo>
                  <a:pt x="0" y="0"/>
                </a:moveTo>
                <a:lnTo>
                  <a:pt x="8483402" y="0"/>
                </a:lnTo>
                <a:lnTo>
                  <a:pt x="8483402" y="11741734"/>
                </a:lnTo>
                <a:lnTo>
                  <a:pt x="0" y="1174173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 userDrawn="1"/>
        </p:nvSpPr>
        <p:spPr>
          <a:xfrm flipH="1" flipV="1">
            <a:off x="15316200" y="-7974"/>
            <a:ext cx="2977116" cy="2484474"/>
          </a:xfrm>
          <a:custGeom>
            <a:avLst/>
            <a:gdLst/>
            <a:ahLst/>
            <a:cxnLst/>
            <a:rect l="l" t="t" r="r" b="b"/>
            <a:pathLst>
              <a:path w="4490914" h="4114800">
                <a:moveTo>
                  <a:pt x="44909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490914" y="0"/>
                </a:lnTo>
                <a:lnTo>
                  <a:pt x="4490914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 userDrawn="1"/>
        </p:nvSpPr>
        <p:spPr>
          <a:xfrm flipH="1">
            <a:off x="15697199" y="8115300"/>
            <a:ext cx="2603205" cy="2179674"/>
          </a:xfrm>
          <a:custGeom>
            <a:avLst/>
            <a:gdLst/>
            <a:ahLst/>
            <a:cxnLst/>
            <a:rect l="l" t="t" r="r" b="b"/>
            <a:pathLst>
              <a:path w="4490914" h="4114800">
                <a:moveTo>
                  <a:pt x="4490914" y="0"/>
                </a:moveTo>
                <a:lnTo>
                  <a:pt x="0" y="0"/>
                </a:lnTo>
                <a:lnTo>
                  <a:pt x="0" y="4114800"/>
                </a:lnTo>
                <a:lnTo>
                  <a:pt x="4490914" y="4114800"/>
                </a:lnTo>
                <a:lnTo>
                  <a:pt x="4490914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Rectangle 8"/>
          <p:cNvSpPr/>
          <p:nvPr userDrawn="1"/>
        </p:nvSpPr>
        <p:spPr>
          <a:xfrm>
            <a:off x="5867400" y="4035466"/>
            <a:ext cx="11353799" cy="2336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17510"/>
              </a:lnSpc>
            </a:pPr>
            <a:r>
              <a:rPr lang="en-US" sz="9600" dirty="0" smtClean="0">
                <a:solidFill>
                  <a:srgbClr val="0C3877"/>
                </a:solidFill>
                <a:latin typeface="Anton"/>
                <a:ea typeface="Anton"/>
                <a:cs typeface="Anton"/>
                <a:sym typeface="Anton"/>
              </a:rPr>
              <a:t>THANK YOU</a:t>
            </a:r>
            <a:endParaRPr lang="en-US" sz="9600" dirty="0">
              <a:solidFill>
                <a:srgbClr val="0C3877"/>
              </a:solidFill>
              <a:latin typeface="Anton"/>
              <a:ea typeface="Anton"/>
              <a:cs typeface="Anton"/>
              <a:sym typeface="Anton"/>
            </a:endParaRPr>
          </a:p>
        </p:txBody>
      </p:sp>
    </p:spTree>
    <p:extLst>
      <p:ext uri="{BB962C8B-B14F-4D97-AF65-F5344CB8AC3E}">
        <p14:creationId xmlns:p14="http://schemas.microsoft.com/office/powerpoint/2010/main" val="20113266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.jpeg"/><Relationship Id="rId3" Type="http://schemas.openxmlformats.org/officeDocument/2006/relationships/image" Target="../media/image3.png"/><Relationship Id="rId4" Type="http://schemas.openxmlformats.org/officeDocument/2006/relationships/image" Target="../media/image5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image" Target="../media/image4.png"/><Relationship Id="rId6" Type="http://schemas.openxmlformats.org/officeDocument/2006/relationships/image" Target="../media/image7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2184380"/>
          </a:xfrm>
          <a:custGeom>
            <a:avLst/>
            <a:gdLst/>
            <a:ahLst/>
            <a:cxnLst/>
            <a:rect l="l" t="t" r="r" b="b"/>
            <a:pathLst>
              <a:path w="18288000" h="12184380">
                <a:moveTo>
                  <a:pt x="0" y="0"/>
                </a:moveTo>
                <a:lnTo>
                  <a:pt x="18288000" y="0"/>
                </a:lnTo>
                <a:lnTo>
                  <a:pt x="18288000" y="12184380"/>
                </a:lnTo>
                <a:lnTo>
                  <a:pt x="0" y="121843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181930" y="-1424914"/>
            <a:ext cx="8483403" cy="11741734"/>
          </a:xfrm>
          <a:custGeom>
            <a:avLst/>
            <a:gdLst/>
            <a:ahLst/>
            <a:cxnLst/>
            <a:rect l="l" t="t" r="r" b="b"/>
            <a:pathLst>
              <a:path w="8483403" h="11741734">
                <a:moveTo>
                  <a:pt x="0" y="0"/>
                </a:moveTo>
                <a:lnTo>
                  <a:pt x="8483402" y="0"/>
                </a:lnTo>
                <a:lnTo>
                  <a:pt x="8483402" y="11741734"/>
                </a:lnTo>
                <a:lnTo>
                  <a:pt x="0" y="1174173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6369812" y="2993927"/>
            <a:ext cx="10889488" cy="4527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510"/>
              </a:lnSpc>
            </a:pPr>
            <a:r>
              <a:rPr lang="en-US" sz="16676" dirty="0">
                <a:solidFill>
                  <a:srgbClr val="0C3877"/>
                </a:solidFill>
                <a:latin typeface="Anton"/>
                <a:ea typeface="Anton"/>
                <a:cs typeface="Anton"/>
                <a:sym typeface="Anton"/>
              </a:rPr>
              <a:t>THESIS DEFENSE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RNNs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Deep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948690"/>
            <a:ext cx="18288000" cy="12184380"/>
          </a:xfrm>
          <a:custGeom>
            <a:avLst/>
            <a:gdLst/>
            <a:ahLst/>
            <a:cxnLst/>
            <a:rect l="l" t="t" r="r" b="b"/>
            <a:pathLst>
              <a:path w="18288000" h="12184380">
                <a:moveTo>
                  <a:pt x="0" y="0"/>
                </a:moveTo>
                <a:lnTo>
                  <a:pt x="18288000" y="0"/>
                </a:lnTo>
                <a:lnTo>
                  <a:pt x="18288000" y="12184380"/>
                </a:lnTo>
                <a:lnTo>
                  <a:pt x="0" y="121843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261626" y="8939784"/>
            <a:ext cx="7315200" cy="1347216"/>
          </a:xfrm>
          <a:custGeom>
            <a:avLst/>
            <a:gdLst/>
            <a:ahLst/>
            <a:cxnLst/>
            <a:rect l="l" t="t" r="r" b="b"/>
            <a:pathLst>
              <a:path w="7315200" h="1347216">
                <a:moveTo>
                  <a:pt x="0" y="0"/>
                </a:moveTo>
                <a:lnTo>
                  <a:pt x="7315200" y="0"/>
                </a:lnTo>
                <a:lnTo>
                  <a:pt x="7315200" y="1347216"/>
                </a:lnTo>
                <a:lnTo>
                  <a:pt x="0" y="134721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28700" y="1637548"/>
            <a:ext cx="16230600" cy="1259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61"/>
              </a:lnSpc>
            </a:pPr>
            <a:r>
              <a:rPr lang="en-US" sz="9106">
                <a:solidFill>
                  <a:srgbClr val="0071B3"/>
                </a:solidFill>
                <a:latin typeface="Anton"/>
                <a:ea typeface="Anton"/>
                <a:cs typeface="Anton"/>
                <a:sym typeface="Anton"/>
              </a:rPr>
              <a:t>RESEARCH PROBLEM</a:t>
            </a:r>
          </a:p>
        </p:txBody>
      </p:sp>
      <p:sp>
        <p:nvSpPr>
          <p:cNvPr id="5" name="Freeform 5"/>
          <p:cNvSpPr/>
          <p:nvPr/>
        </p:nvSpPr>
        <p:spPr>
          <a:xfrm flipH="1" flipV="1">
            <a:off x="11149071" y="0"/>
            <a:ext cx="7315200" cy="1347216"/>
          </a:xfrm>
          <a:custGeom>
            <a:avLst/>
            <a:gdLst/>
            <a:ahLst/>
            <a:cxnLst/>
            <a:rect l="l" t="t" r="r" b="b"/>
            <a:pathLst>
              <a:path w="7315200" h="1347216">
                <a:moveTo>
                  <a:pt x="7315200" y="1347216"/>
                </a:moveTo>
                <a:lnTo>
                  <a:pt x="0" y="1347216"/>
                </a:lnTo>
                <a:lnTo>
                  <a:pt x="0" y="0"/>
                </a:lnTo>
                <a:lnTo>
                  <a:pt x="7315200" y="0"/>
                </a:lnTo>
                <a:lnTo>
                  <a:pt x="7315200" y="1347216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2184380"/>
          </a:xfrm>
          <a:custGeom>
            <a:avLst/>
            <a:gdLst/>
            <a:ahLst/>
            <a:cxnLst/>
            <a:rect l="l" t="t" r="r" b="b"/>
            <a:pathLst>
              <a:path w="18288000" h="12184380">
                <a:moveTo>
                  <a:pt x="0" y="0"/>
                </a:moveTo>
                <a:lnTo>
                  <a:pt x="18288000" y="0"/>
                </a:lnTo>
                <a:lnTo>
                  <a:pt x="18288000" y="12184380"/>
                </a:lnTo>
                <a:lnTo>
                  <a:pt x="0" y="121843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181930" y="-1424914"/>
            <a:ext cx="8483403" cy="11741734"/>
          </a:xfrm>
          <a:custGeom>
            <a:avLst/>
            <a:gdLst/>
            <a:ahLst/>
            <a:cxnLst/>
            <a:rect l="l" t="t" r="r" b="b"/>
            <a:pathLst>
              <a:path w="8483403" h="11741734">
                <a:moveTo>
                  <a:pt x="0" y="0"/>
                </a:moveTo>
                <a:lnTo>
                  <a:pt x="8483402" y="0"/>
                </a:lnTo>
                <a:lnTo>
                  <a:pt x="8483402" y="11741734"/>
                </a:lnTo>
                <a:lnTo>
                  <a:pt x="0" y="1174173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6197368" y="4030114"/>
            <a:ext cx="10889488" cy="2308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510"/>
              </a:lnSpc>
            </a:pPr>
            <a:r>
              <a:rPr lang="en-US" sz="16676" dirty="0">
                <a:solidFill>
                  <a:srgbClr val="0C3877"/>
                </a:solidFill>
                <a:latin typeface="Anton"/>
                <a:ea typeface="Anton"/>
                <a:cs typeface="Anton"/>
                <a:sym typeface="Anton"/>
              </a:rPr>
              <a:t>THANKYOU</a:t>
            </a:r>
          </a:p>
        </p:txBody>
      </p:sp>
      <p:sp>
        <p:nvSpPr>
          <p:cNvPr id="5" name="Freeform 5"/>
          <p:cNvSpPr/>
          <p:nvPr/>
        </p:nvSpPr>
        <p:spPr>
          <a:xfrm flipH="1" flipV="1">
            <a:off x="15244064" y="-2044331"/>
            <a:ext cx="4490914" cy="4114800"/>
          </a:xfrm>
          <a:custGeom>
            <a:avLst/>
            <a:gdLst/>
            <a:ahLst/>
            <a:cxnLst/>
            <a:rect l="l" t="t" r="r" b="b"/>
            <a:pathLst>
              <a:path w="4490914" h="4114800">
                <a:moveTo>
                  <a:pt x="44909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490914" y="0"/>
                </a:lnTo>
                <a:lnTo>
                  <a:pt x="4490914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>
            <a:off x="14841399" y="8069580"/>
            <a:ext cx="4490914" cy="4114800"/>
          </a:xfrm>
          <a:custGeom>
            <a:avLst/>
            <a:gdLst/>
            <a:ahLst/>
            <a:cxnLst/>
            <a:rect l="l" t="t" r="r" b="b"/>
            <a:pathLst>
              <a:path w="4490914" h="4114800">
                <a:moveTo>
                  <a:pt x="4490914" y="0"/>
                </a:moveTo>
                <a:lnTo>
                  <a:pt x="0" y="0"/>
                </a:lnTo>
                <a:lnTo>
                  <a:pt x="0" y="4114800"/>
                </a:lnTo>
                <a:lnTo>
                  <a:pt x="4490914" y="4114800"/>
                </a:lnTo>
                <a:lnTo>
                  <a:pt x="4490914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Goal: Simulate human intelligence</a:t>
            </a:r>
          </a:p>
          <a:p>
            <a:pPr/>
            <a:r>
              <a:t>RNNs: Recurrent Neural Networks</a:t>
            </a:r>
          </a:p>
          <a:p>
            <a:pPr/>
            <a:r>
              <a:t>Input: Sequential data x(t)</a:t>
            </a:r>
          </a:p>
          <a:p>
            <a:pPr/>
            <a:r>
              <a:t>Output: Prediction y(t)</a:t>
            </a:r>
          </a:p>
          <a:p>
            <a:pPr/>
            <a:r>
              <a:t>Activation: Sigmoid σ(x) = 1/(1+e^(-x))</a:t>
            </a:r>
          </a:p>
          <a:p>
            <a:pPr/>
            <a:r>
              <a:t>Backprop: Error minimization δE/δw</a:t>
            </a:r>
          </a:p>
          <a:p>
            <a:pPr/>
            <a:r>
              <a:t>Training: Stochastic gradient descent</a:t>
            </a:r>
          </a:p>
          <a:p>
            <a:pPr/>
            <a:r>
              <a:t>Equation: h(t) = f(h(t-1), x(t))</a:t>
            </a:r>
          </a:p>
          <a:p>
            <a:pPr/>
            <a:r>
              <a:t>Complexity: O(n^2) time, O(n) space</a:t>
            </a:r>
          </a:p>
        </p:txBody>
      </p:sp>
      <p:pic>
        <p:nvPicPr>
          <p:cNvPr id="4" name="Picture 3" descr="5cb588573247438a96bd2f124aab4ab7_rnns_deep_learning_over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0"/>
            <a:ext cx="4114800" cy="23164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Concept /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Goal: Simulate human intelligence</a:t>
            </a:r>
          </a:p>
          <a:p>
            <a:pPr/>
            <a:r>
              <a:t>Uses: Sequential data processing</a:t>
            </a:r>
          </a:p>
          <a:p>
            <a:pPr/>
            <a:r>
              <a:t>Architecture: Feedback connections exist</a:t>
            </a:r>
          </a:p>
          <a:p>
            <a:pPr/>
            <a:r>
              <a:t>Formula: h_t = f(h_(t-1), x_t)</a:t>
            </a:r>
          </a:p>
          <a:p>
            <a:pPr/>
            <a:r>
              <a:t>Backprop: Through time algorithm</a:t>
            </a:r>
          </a:p>
          <a:p>
            <a:pPr/>
            <a:r>
              <a:t>Training: Stochastic gradient descent</a:t>
            </a:r>
          </a:p>
          <a:p>
            <a:pPr/>
            <a:r>
              <a:t>Equation: E = -∑(y_i * log(y'_i))</a:t>
            </a:r>
          </a:p>
          <a:p>
            <a:pPr/>
            <a:r>
              <a:t>Complexity: O(n * t * h)</a:t>
            </a:r>
          </a:p>
          <a:p>
            <a:pPr/>
            <a:r>
              <a:t>Optimization: Regularization techniques</a:t>
            </a:r>
          </a:p>
        </p:txBody>
      </p:sp>
      <p:pic>
        <p:nvPicPr>
          <p:cNvPr id="4" name="Picture 3" descr="bff56fe5c7d647058344f63eef5f7121_rnns_deep_learning_architecture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0"/>
            <a:ext cx="4114800" cy="356997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Mathematical / Logical Explanation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Goal: Simulate human intelligence</a:t>
            </a:r>
          </a:p>
          <a:p>
            <a:pPr/>
            <a:r>
              <a:t>RNNs: Recurrent Neural Networks</a:t>
            </a:r>
          </a:p>
          <a:p>
            <a:pPr/>
            <a:r>
              <a:t>Feedback loop: h_t = f(h_(t-1), x_t)</a:t>
            </a:r>
          </a:p>
          <a:p>
            <a:pPr/>
            <a:r>
              <a:t>Activation: sigmoid, tanh, ReLU</a:t>
            </a:r>
          </a:p>
          <a:p>
            <a:pPr/>
            <a:r>
              <a:t>Error: E = (1/2) * (y - y^) ^2</a:t>
            </a:r>
          </a:p>
          <a:p>
            <a:pPr/>
            <a:r>
              <a:t>Backprop: dE/dw = dE/dy * dy/dh * dh/dw</a:t>
            </a:r>
          </a:p>
          <a:p>
            <a:pPr/>
            <a:r>
              <a:t>Optimization: SGD, Adam, RMSprop</a:t>
            </a:r>
          </a:p>
          <a:p>
            <a:pPr/>
            <a:r>
              <a:t>Complexity: O(n * t * h)</a:t>
            </a:r>
          </a:p>
          <a:p>
            <a:pPr/>
            <a:r>
              <a:t>Training: BPTT, Truncated BPTT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 /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Speech Recognition: y = sigmoid(x)</a:t>
            </a:r>
          </a:p>
          <a:p>
            <a:pPr/>
            <a:r>
              <a:t>Natural Language: f(x) = softmax(x)</a:t>
            </a:r>
          </a:p>
          <a:p>
            <a:pPr/>
            <a:r>
              <a:t>Time Series: y(t) = LSTM(x(t-1))</a:t>
            </a:r>
          </a:p>
          <a:p>
            <a:pPr/>
            <a:r>
              <a:t>Machine Translation: P(y|x) = seq2seq</a:t>
            </a:r>
          </a:p>
          <a:p>
            <a:pPr/>
            <a:r>
              <a:t>Sentiment Analysis: y = tanh(x)</a:t>
            </a:r>
          </a:p>
          <a:p>
            <a:pPr/>
            <a:r>
              <a:t>Text Generation: x(t) = GRU(x(t-1))</a:t>
            </a:r>
          </a:p>
          <a:p>
            <a:pPr/>
            <a:r>
              <a:t>Anomaly Detection: P(x) = Gaussian(x)</a:t>
            </a:r>
          </a:p>
          <a:p>
            <a:pPr/>
            <a:r>
              <a:t>Predictive Modeling: y = ARIMA(x)</a:t>
            </a:r>
          </a:p>
          <a:p>
            <a:pPr/>
            <a:r>
              <a:t>Dialogue Systems: f(x) = attention(x)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5</Words>
  <Application>Microsoft Office PowerPoint</Application>
  <PresentationFormat>Custom</PresentationFormat>
  <Paragraphs>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Anton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White Geometric Modern Thesis Defense Presentation </dc:title>
  <cp:lastModifiedBy>Microsoft account</cp:lastModifiedBy>
  <cp:revision>4</cp:revision>
  <dcterms:created xsi:type="dcterms:W3CDTF">2006-08-16T00:00:00Z</dcterms:created>
  <dcterms:modified xsi:type="dcterms:W3CDTF">2026-02-14T10:04:40Z</dcterms:modified>
  <dc:identifier>DAHBSJYOP8Q</dc:identifier>
</cp:coreProperties>
</file>