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LSTM Networks.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LSTM networks and their significance in deep learning. Explain how LSTMs are used in various applications, particularly in natural language processing. Provide examples of how LSTMs have improved over traditional RNNs and ask students to consider their potential uses.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motivation behind the development of LSTM networks, focusing on the limitations of traditional RNNs. Explain how LSTMs address these limitations, particularly in learning long-term dependencies and capturing temporal relationships. Provide examples of how these capabilities are crucial in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architecture of LSTM networks, focusing on the cell state, hidden state, and the different gates (input, output, forget). Explain how these components interact and how they enable the learning of complex sequences. Use diagrams to illustrate the LSTM cell architecture and its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Delve into the details of the gates in LSTM networks, explaining their functions and how they interact. Discuss the importance of each gate (input, output, forget) and how they contribute to the overall performance of the LSTM. Provide examples of how the gates are used in different scenarios and ask students to consider how the gates might be adjusted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details of training LSTM networks, including backpropagation through time and the use of stochastic gradient descent. Explain the importance of regularization techniques, such as dropout and batch normalization, and how they can improve the performance and generalizability of LSTM models. Provide guidance on hyperparameter tuning and ask students to consider the challenges of training LSTM networks for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the various applications of LSTM networks, focusing on natural language processing, speech recognition, and time series forecasting. Discuss how LSTMs are used in machine translation, language modeling, sentiment analysis, and text classification. Provide examples of real-world applications and ask students to consider the potential uses of LSTM networks in their own projects or research.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points of the presentation, highlighting the main components of LSTM networks, their architecture, and their applications. Discuss the advantages and limitations of LSTMs and provide an overview of future directions and developments in the field. Conclude by emphasizing the importance of LSTM networks in the deep learning landscape and ask students to reflect on what they have learned.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LSTM Networks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Long Short-Term Memory networks introduction</a:t>
            </a:r>
          </a:p>
          <a:p>
            <a:pPr>
              <a:defRPr sz="2000">
                <a:solidFill>
                  <a:srgbClr val="444444"/>
                </a:solidFill>
              </a:defRPr>
            </a:pPr>
            <a:r>
              <a:t>LSTM networks overview and importance</a:t>
            </a:r>
          </a:p>
          <a:p>
            <a:pPr>
              <a:defRPr sz="2000">
                <a:solidFill>
                  <a:srgbClr val="444444"/>
                </a:solidFill>
              </a:defRPr>
            </a:pPr>
            <a:r>
              <a:t>Deep learning and neural networks context</a:t>
            </a:r>
          </a:p>
          <a:p>
            <a:pPr>
              <a:defRPr sz="2000">
                <a:solidFill>
                  <a:srgbClr val="444444"/>
                </a:solidFill>
              </a:defRPr>
            </a:pPr>
            <a:r>
              <a:t>LSTM applications in natural language processing</a:t>
            </a:r>
          </a:p>
          <a:p>
            <a:pPr>
              <a:defRPr sz="2000">
                <a:solidFill>
                  <a:srgbClr val="444444"/>
                </a:solidFill>
              </a:defRPr>
            </a:pPr>
            <a:r>
              <a:t>LSTM advantages over traditional RNNs</a:t>
            </a:r>
          </a:p>
          <a:p>
            <a:pPr>
              <a:defRPr sz="2000">
                <a:solidFill>
                  <a:srgbClr val="444444"/>
                </a:solidFill>
              </a:defRPr>
            </a:pPr>
            <a:r>
              <a:t>LSTM networks and their ability to learn</a:t>
            </a:r>
          </a:p>
          <a:p>
            <a:pPr>
              <a:defRPr sz="2000">
                <a:solidFill>
                  <a:srgbClr val="444444"/>
                </a:solidFill>
              </a:defRPr>
            </a:pPr>
            <a:r>
              <a:t>Introduction to key LSTM components</a:t>
            </a:r>
          </a:p>
          <a:p>
            <a:pPr>
              <a:defRPr sz="2000">
                <a:solidFill>
                  <a:srgbClr val="444444"/>
                </a:solidFill>
              </a:defRPr>
            </a:pPr>
            <a:r>
              <a:t>LSTM networks in sequence prediction tasks</a:t>
            </a:r>
          </a:p>
          <a:p>
            <a:pPr>
              <a:defRPr sz="2000">
                <a:solidFill>
                  <a:srgbClr val="444444"/>
                </a:solidFill>
              </a:defRPr>
            </a:pPr>
            <a:r>
              <a:t>Brief history and development of LSTM networks</a:t>
            </a:r>
          </a:p>
        </p:txBody>
      </p:sp>
      <p:pic>
        <p:nvPicPr>
          <p:cNvPr id="4" name="Picture 3" descr="4d984316d5fd4902aa89d1786573b21b_lstm_networks_deep_learning_overview.jpg"/>
          <p:cNvPicPr>
            <a:picLocks noChangeAspect="1"/>
          </p:cNvPicPr>
          <p:nvPr/>
        </p:nvPicPr>
        <p:blipFill>
          <a:blip r:embed="rId2"/>
          <a:stretch>
            <a:fillRect/>
          </a:stretch>
        </p:blipFill>
        <p:spPr>
          <a:xfrm>
            <a:off x="7315200" y="1828800"/>
            <a:ext cx="4114800" cy="27203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Motivation for LSTMs</a:t>
            </a:r>
          </a:p>
        </p:txBody>
      </p:sp>
      <p:sp>
        <p:nvSpPr>
          <p:cNvPr id="3" name="Content Placeholder 2"/>
          <p:cNvSpPr>
            <a:spLocks noGrp="1"/>
          </p:cNvSpPr>
          <p:nvPr>
            <p:ph idx="1"/>
          </p:nvPr>
        </p:nvSpPr>
        <p:spPr/>
        <p:txBody>
          <a:bodyPr/>
          <a:lstStyle/>
          <a:p>
            <a:pPr>
              <a:defRPr sz="2000">
                <a:solidFill>
                  <a:srgbClr val="444444"/>
                </a:solidFill>
              </a:defRPr>
            </a:pPr>
            <a:r>
              <a:t>Need for models to learn long-term dependencies</a:t>
            </a:r>
          </a:p>
          <a:p>
            <a:pPr>
              <a:defRPr sz="2000">
                <a:solidFill>
                  <a:srgbClr val="444444"/>
                </a:solidFill>
              </a:defRPr>
            </a:pPr>
            <a:r>
              <a:t>Limitations of traditional RNNs in learning</a:t>
            </a:r>
          </a:p>
          <a:p>
            <a:pPr>
              <a:defRPr sz="2000">
                <a:solidFill>
                  <a:srgbClr val="444444"/>
                </a:solidFill>
              </a:defRPr>
            </a:pPr>
            <a:r>
              <a:t>Importance of capturing temporal relationships</a:t>
            </a:r>
          </a:p>
          <a:p>
            <a:pPr>
              <a:defRPr sz="2000">
                <a:solidFill>
                  <a:srgbClr val="444444"/>
                </a:solidFill>
              </a:defRPr>
            </a:pPr>
            <a:r>
              <a:t>LSTM motivation from biological neural networks</a:t>
            </a:r>
          </a:p>
          <a:p>
            <a:pPr>
              <a:defRPr sz="2000">
                <a:solidFill>
                  <a:srgbClr val="444444"/>
                </a:solidFill>
              </a:defRPr>
            </a:pPr>
            <a:r>
              <a:t>Solving vanishing gradient problem in RNNs</a:t>
            </a:r>
          </a:p>
          <a:p>
            <a:pPr>
              <a:defRPr sz="2000">
                <a:solidFill>
                  <a:srgbClr val="444444"/>
                </a:solidFill>
              </a:defRPr>
            </a:pPr>
            <a:r>
              <a:t>Improving RNN performance with LSTM architecture</a:t>
            </a:r>
          </a:p>
          <a:p>
            <a:pPr>
              <a:defRPr sz="2000">
                <a:solidFill>
                  <a:srgbClr val="444444"/>
                </a:solidFill>
              </a:defRPr>
            </a:pPr>
            <a:r>
              <a:t>Enabling learning of complex sequential data</a:t>
            </a:r>
          </a:p>
          <a:p>
            <a:pPr>
              <a:defRPr sz="2000">
                <a:solidFill>
                  <a:srgbClr val="444444"/>
                </a:solidFill>
              </a:defRPr>
            </a:pPr>
            <a:r>
              <a:t>Motivation for LSTM from real-world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Architecture</a:t>
            </a:r>
          </a:p>
        </p:txBody>
      </p:sp>
      <p:sp>
        <p:nvSpPr>
          <p:cNvPr id="3" name="Content Placeholder 2"/>
          <p:cNvSpPr>
            <a:spLocks noGrp="1"/>
          </p:cNvSpPr>
          <p:nvPr>
            <p:ph idx="1"/>
          </p:nvPr>
        </p:nvSpPr>
        <p:spPr/>
        <p:txBody>
          <a:bodyPr/>
          <a:lstStyle/>
          <a:p>
            <a:pPr>
              <a:defRPr sz="2000">
                <a:solidFill>
                  <a:srgbClr val="444444"/>
                </a:solidFill>
              </a:defRPr>
            </a:pPr>
            <a:r>
              <a:t>LSTM uses memory cells to store long-term information across time steps</a:t>
            </a:r>
          </a:p>
          <a:p>
            <a:pPr>
              <a:defRPr sz="2000">
                <a:solidFill>
                  <a:srgbClr val="444444"/>
                </a:solidFill>
              </a:defRPr>
            </a:pPr>
            <a:r>
              <a:t>Each cell has input, forget and output gates controlling information flow</a:t>
            </a:r>
          </a:p>
          <a:p>
            <a:pPr>
              <a:defRPr sz="2000">
                <a:solidFill>
                  <a:srgbClr val="444444"/>
                </a:solidFill>
              </a:defRPr>
            </a:pPr>
            <a:r>
              <a:t>Cell state acts as a conveyor belt preserving important signals over long sequences</a:t>
            </a:r>
          </a:p>
          <a:p>
            <a:pPr>
              <a:defRPr sz="2000">
                <a:solidFill>
                  <a:srgbClr val="444444"/>
                </a:solidFill>
              </a:defRPr>
            </a:pPr>
            <a:r>
              <a:t>Gates use sigmoid activations to decide what to keep, update or discard</a:t>
            </a:r>
          </a:p>
          <a:p>
            <a:pPr>
              <a:defRPr sz="2000">
                <a:solidFill>
                  <a:srgbClr val="444444"/>
                </a:solidFill>
              </a:defRPr>
            </a:pPr>
            <a:r>
              <a:t>Hidden state exposes filtered information to the next layer or time step</a:t>
            </a:r>
          </a:p>
        </p:txBody>
      </p:sp>
      <p:pic>
        <p:nvPicPr>
          <p:cNvPr id="4" name="Picture 3" descr="6b3c8b63f8564b0fb220a6ef5d366a8a_lstm_networks_deep_learning_architectur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Gates in LSTM</a:t>
            </a:r>
          </a:p>
        </p:txBody>
      </p:sp>
      <p:sp>
        <p:nvSpPr>
          <p:cNvPr id="3" name="Content Placeholder 2"/>
          <p:cNvSpPr>
            <a:spLocks noGrp="1"/>
          </p:cNvSpPr>
          <p:nvPr>
            <p:ph idx="1"/>
          </p:nvPr>
        </p:nvSpPr>
        <p:spPr/>
        <p:txBody>
          <a:bodyPr/>
          <a:lstStyle/>
          <a:p>
            <a:pPr>
              <a:defRPr sz="2000">
                <a:solidFill>
                  <a:srgbClr val="444444"/>
                </a:solidFill>
              </a:defRPr>
            </a:pPr>
            <a:r>
              <a:t>Input gate and its function in LSTM</a:t>
            </a:r>
          </a:p>
          <a:p>
            <a:pPr>
              <a:defRPr sz="2000">
                <a:solidFill>
                  <a:srgbClr val="444444"/>
                </a:solidFill>
              </a:defRPr>
            </a:pPr>
            <a:r>
              <a:t>Output gate and its role in information flow</a:t>
            </a:r>
          </a:p>
          <a:p>
            <a:pPr>
              <a:defRPr sz="2000">
                <a:solidFill>
                  <a:srgbClr val="444444"/>
                </a:solidFill>
              </a:defRPr>
            </a:pPr>
            <a:r>
              <a:t>Forget gate and its importance in LSTM</a:t>
            </a:r>
          </a:p>
          <a:p>
            <a:pPr>
              <a:defRPr sz="2000">
                <a:solidFill>
                  <a:srgbClr val="444444"/>
                </a:solidFill>
              </a:defRPr>
            </a:pPr>
            <a:r>
              <a:t>Gate functions and their activation functions</a:t>
            </a:r>
          </a:p>
          <a:p>
            <a:pPr>
              <a:defRPr sz="2000">
                <a:solidFill>
                  <a:srgbClr val="444444"/>
                </a:solidFill>
              </a:defRPr>
            </a:pPr>
            <a:r>
              <a:t>Gates in LSTM and their interaction</a:t>
            </a:r>
          </a:p>
          <a:p>
            <a:pPr>
              <a:defRPr sz="2000">
                <a:solidFill>
                  <a:srgbClr val="444444"/>
                </a:solidFill>
              </a:defRPr>
            </a:pPr>
            <a:r>
              <a:t>Training gates in LSTM networks</a:t>
            </a:r>
          </a:p>
          <a:p>
            <a:pPr>
              <a:defRPr sz="2000">
                <a:solidFill>
                  <a:srgbClr val="444444"/>
                </a:solidFill>
              </a:defRPr>
            </a:pPr>
            <a:r>
              <a:t>Gates and their impact on LSTM performance</a:t>
            </a:r>
          </a:p>
          <a:p>
            <a:pPr>
              <a:defRPr sz="2000">
                <a:solidFill>
                  <a:srgbClr val="444444"/>
                </a:solidFill>
              </a:defRPr>
            </a:pPr>
            <a:r>
              <a:t>Understanding gate functions and their purposes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Details</a:t>
            </a:r>
          </a:p>
        </p:txBody>
      </p:sp>
      <p:sp>
        <p:nvSpPr>
          <p:cNvPr id="3" name="Content Placeholder 2"/>
          <p:cNvSpPr>
            <a:spLocks noGrp="1"/>
          </p:cNvSpPr>
          <p:nvPr>
            <p:ph idx="1"/>
          </p:nvPr>
        </p:nvSpPr>
        <p:spPr/>
        <p:txBody>
          <a:bodyPr/>
          <a:lstStyle/>
          <a:p>
            <a:pPr>
              <a:defRPr sz="2000">
                <a:solidFill>
                  <a:srgbClr val="444444"/>
                </a:solidFill>
              </a:defRPr>
            </a:pPr>
            <a:r>
              <a:t>Backpropagation through time in LSTM</a:t>
            </a:r>
          </a:p>
          <a:p>
            <a:pPr>
              <a:defRPr sz="2000">
                <a:solidFill>
                  <a:srgbClr val="444444"/>
                </a:solidFill>
              </a:defRPr>
            </a:pPr>
            <a:r>
              <a:t>Training LSTM networks with stochastic gradient</a:t>
            </a:r>
          </a:p>
          <a:p>
            <a:pPr>
              <a:defRPr sz="2000">
                <a:solidFill>
                  <a:srgbClr val="444444"/>
                </a:solidFill>
              </a:defRPr>
            </a:pPr>
            <a:r>
              <a:t>LSTM training and optimization algorithms</a:t>
            </a:r>
          </a:p>
          <a:p>
            <a:pPr>
              <a:defRPr sz="2000">
                <a:solidFill>
                  <a:srgbClr val="444444"/>
                </a:solidFill>
              </a:defRPr>
            </a:pPr>
            <a:r>
              <a:t>Regularization techniques for LSTM networks</a:t>
            </a:r>
          </a:p>
          <a:p>
            <a:pPr>
              <a:defRPr sz="2000">
                <a:solidFill>
                  <a:srgbClr val="444444"/>
                </a:solidFill>
              </a:defRPr>
            </a:pPr>
            <a:r>
              <a:t>Batch normalization and its impact on LSTM</a:t>
            </a:r>
          </a:p>
          <a:p>
            <a:pPr>
              <a:defRPr sz="2000">
                <a:solidFill>
                  <a:srgbClr val="444444"/>
                </a:solidFill>
              </a:defRPr>
            </a:pPr>
            <a:r>
              <a:t>Dropout and its application in LSTM training</a:t>
            </a:r>
          </a:p>
          <a:p>
            <a:pPr>
              <a:defRPr sz="2000">
                <a:solidFill>
                  <a:srgbClr val="444444"/>
                </a:solidFill>
              </a:defRPr>
            </a:pPr>
            <a:r>
              <a:t>Training LSTM for specific tasks and datasets</a:t>
            </a:r>
          </a:p>
          <a:p>
            <a:pPr>
              <a:defRPr sz="2000">
                <a:solidFill>
                  <a:srgbClr val="444444"/>
                </a:solidFill>
              </a:defRPr>
            </a:pPr>
            <a:r>
              <a:t>Hyperparameter tuning for LSTM networks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with LSTM</a:t>
            </a:r>
          </a:p>
          <a:p>
            <a:pPr>
              <a:defRPr sz="2000">
                <a:solidFill>
                  <a:srgbClr val="444444"/>
                </a:solidFill>
              </a:defRPr>
            </a:pPr>
            <a:r>
              <a:t>LSTM in speech recognition and synthesis</a:t>
            </a:r>
          </a:p>
          <a:p>
            <a:pPr>
              <a:defRPr sz="2000">
                <a:solidFill>
                  <a:srgbClr val="444444"/>
                </a:solidFill>
              </a:defRPr>
            </a:pPr>
            <a:r>
              <a:t>LSTM applications in time series forecasting</a:t>
            </a:r>
          </a:p>
          <a:p>
            <a:pPr>
              <a:defRPr sz="2000">
                <a:solidFill>
                  <a:srgbClr val="444444"/>
                </a:solidFill>
              </a:defRPr>
            </a:pPr>
            <a:r>
              <a:t>LSTM in machine translation and language modeling</a:t>
            </a:r>
          </a:p>
          <a:p>
            <a:pPr>
              <a:defRPr sz="2000">
                <a:solidFill>
                  <a:srgbClr val="444444"/>
                </a:solidFill>
              </a:defRPr>
            </a:pPr>
            <a:r>
              <a:t>LSTM use in sentiment analysis and text classification</a:t>
            </a:r>
          </a:p>
          <a:p>
            <a:pPr>
              <a:defRPr sz="2000">
                <a:solidFill>
                  <a:srgbClr val="444444"/>
                </a:solidFill>
              </a:defRPr>
            </a:pPr>
            <a:r>
              <a:t>LSTM applications in music and audio processing</a:t>
            </a:r>
          </a:p>
          <a:p>
            <a:pPr>
              <a:defRPr sz="2000">
                <a:solidFill>
                  <a:srgbClr val="444444"/>
                </a:solidFill>
              </a:defRPr>
            </a:pPr>
            <a:r>
              <a:t>LSTM in computer vision and image processing</a:t>
            </a:r>
          </a:p>
          <a:p>
            <a:pPr>
              <a:defRPr sz="2000">
                <a:solidFill>
                  <a:srgbClr val="444444"/>
                </a:solidFill>
              </a:defRPr>
            </a:pPr>
            <a:r>
              <a:t>Real-world applications of LSTM networks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a:t>
            </a:r>
          </a:p>
        </p:txBody>
      </p:sp>
      <p:sp>
        <p:nvSpPr>
          <p:cNvPr id="3" name="Content Placeholder 2"/>
          <p:cNvSpPr>
            <a:spLocks noGrp="1"/>
          </p:cNvSpPr>
          <p:nvPr>
            <p:ph idx="1"/>
          </p:nvPr>
        </p:nvSpPr>
        <p:spPr/>
        <p:txBody>
          <a:bodyPr/>
          <a:lstStyle/>
          <a:p>
            <a:pPr>
              <a:defRPr sz="2000">
                <a:solidFill>
                  <a:srgbClr val="444444"/>
                </a:solidFill>
              </a:defRPr>
            </a:pPr>
            <a:r>
              <a:t>LSTM networks and their key components</a:t>
            </a:r>
          </a:p>
          <a:p>
            <a:pPr>
              <a:defRPr sz="2000">
                <a:solidFill>
                  <a:srgbClr val="444444"/>
                </a:solidFill>
              </a:defRPr>
            </a:pPr>
            <a:r>
              <a:t>LSTM architecture and gate functions</a:t>
            </a:r>
          </a:p>
          <a:p>
            <a:pPr>
              <a:defRPr sz="2000">
                <a:solidFill>
                  <a:srgbClr val="444444"/>
                </a:solidFill>
              </a:defRPr>
            </a:pPr>
            <a:r>
              <a:t>Training LSTM networks and optimization</a:t>
            </a:r>
          </a:p>
          <a:p>
            <a:pPr>
              <a:defRPr sz="2000">
                <a:solidFill>
                  <a:srgbClr val="444444"/>
                </a:solidFill>
              </a:defRPr>
            </a:pPr>
            <a:r>
              <a:t>LSTM applications in NLP and beyond</a:t>
            </a:r>
          </a:p>
          <a:p>
            <a:pPr>
              <a:defRPr sz="2000">
                <a:solidFill>
                  <a:srgbClr val="444444"/>
                </a:solidFill>
              </a:defRPr>
            </a:pPr>
            <a:r>
              <a:t>Advantages and limitations of LSTM networks</a:t>
            </a:r>
          </a:p>
          <a:p>
            <a:pPr>
              <a:defRPr sz="2000">
                <a:solidFill>
                  <a:srgbClr val="444444"/>
                </a:solidFill>
              </a:defRPr>
            </a:pPr>
            <a:r>
              <a:t>Future directions and developments in LSTM</a:t>
            </a:r>
          </a:p>
          <a:p>
            <a:pPr>
              <a:defRPr sz="2000">
                <a:solidFill>
                  <a:srgbClr val="444444"/>
                </a:solidFill>
              </a:defRPr>
            </a:pPr>
            <a:r>
              <a:t>Importance of LSTM in deep learning landscape</a:t>
            </a:r>
          </a:p>
          <a:p>
            <a:pPr>
              <a:defRPr sz="2000">
                <a:solidFill>
                  <a:srgbClr val="444444"/>
                </a:solidFill>
              </a:defRPr>
            </a:pPr>
            <a:r>
              <a:t>Conclusion and final thoughts on LSTM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