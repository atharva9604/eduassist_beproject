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topic of deep learning and RNNs, ask students about their prior knowledge. Explain that RNNs are a crucial part of deep learning. Provide a brief overview of what will be covered in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RNNs and their applications. Provide examples of sequential data and ask students to think of scenarios where RNNs can be applied. Discuss the importance of hidden states and backpropagation in training RNNs.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architecture of RNNs, including the input, output, and hidden layers. Explain the role of feedback connections and the equation y = sigmoid(Wx + Uh). Ask students to consider the implications of this design and how it can be extended to more complex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different variants of RNNs, including LSTM, GRU, bidirectional RNNs, deep RNNs, and residual connections. Explain the advantages and disadvantages of each variant and ask students to consider which one would be suitable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RNNs, including speech recognition, language modeling, time-series forecasting, and natural language processing. Discuss the advantages and limitations of RNNs, such as their ability to handle sequential data, but also their potential for vanishing gradients and slow training. Ask students to consider the trade-offs and how to overcome the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architecture, variants, applications, advantages, and limitations of RNNs. Ask students to reflect on what they have learned and how they can apply RNNs to real-world problems. Provide examples of potential projects or research areas that involve RNNs.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in speech recognition, language modeling</a:t>
            </a:r>
          </a:p>
          <a:p>
            <a:pPr>
              <a:defRPr sz="2000">
                <a:solidFill>
                  <a:srgbClr val="444444"/>
                </a:solidFill>
              </a:defRPr>
            </a:pPr>
            <a:r>
              <a:t>Store information in hidden states</a:t>
            </a:r>
          </a:p>
          <a:p>
            <a:pPr>
              <a:defRPr sz="2000">
                <a:solidFill>
                  <a:srgbClr val="444444"/>
                </a:solidFill>
              </a:defRPr>
            </a:pPr>
            <a:r>
              <a:t>Train using backpropagation</a:t>
            </a:r>
          </a:p>
          <a:p>
            <a:pPr>
              <a:defRPr sz="2000">
                <a:solidFill>
                  <a:srgbClr val="444444"/>
                </a:solidFill>
              </a:defRPr>
            </a:pPr>
            <a:r>
              <a:t>Can learn long-term dependencies</a:t>
            </a:r>
          </a:p>
          <a:p>
            <a:pPr>
              <a:defRPr sz="2000">
                <a:solidFill>
                  <a:srgbClr val="444444"/>
                </a:solidFill>
              </a:defRPr>
            </a:pPr>
            <a:r>
              <a:t>Have feedback connections</a:t>
            </a:r>
          </a:p>
          <a:p>
            <a:pPr>
              <a:defRPr sz="2000">
                <a:solidFill>
                  <a:srgbClr val="444444"/>
                </a:solidFill>
              </a:defRPr>
            </a:pPr>
            <a:r>
              <a:t>Process data one step at a time</a:t>
            </a:r>
          </a:p>
          <a:p>
            <a:pPr>
              <a:defRPr sz="2000">
                <a:solidFill>
                  <a:srgbClr val="444444"/>
                </a:solidFill>
              </a:defRPr>
            </a:pPr>
            <a:r>
              <a:t>Suitable for time-series data</a:t>
            </a:r>
          </a:p>
          <a:p>
            <a:pPr>
              <a:defRPr sz="2000">
                <a:solidFill>
                  <a:srgbClr val="444444"/>
                </a:solidFill>
              </a:defRPr>
            </a:pPr>
            <a:r>
              <a:t>Effective for natural language processing</a:t>
            </a:r>
          </a:p>
        </p:txBody>
      </p:sp>
      <p:pic>
        <p:nvPicPr>
          <p:cNvPr id="4" name="Picture 3" descr="45fb7c701b1640f08112990c943e628c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Input, output, and hidden layers</a:t>
            </a:r>
          </a:p>
          <a:p>
            <a:pPr>
              <a:defRPr sz="2000">
                <a:solidFill>
                  <a:srgbClr val="444444"/>
                </a:solidFill>
              </a:defRPr>
            </a:pPr>
            <a:r>
              <a:t>Feedback connections from hidden layer</a:t>
            </a:r>
          </a:p>
          <a:p>
            <a:pPr>
              <a:defRPr sz="2000">
                <a:solidFill>
                  <a:srgbClr val="444444"/>
                </a:solidFill>
              </a:defRPr>
            </a:pPr>
            <a:r>
              <a:t>Image_query: basic RNN architecture</a:t>
            </a:r>
          </a:p>
          <a:p>
            <a:pPr>
              <a:defRPr sz="2000">
                <a:solidFill>
                  <a:srgbClr val="444444"/>
                </a:solidFill>
              </a:defRPr>
            </a:pPr>
            <a:r>
              <a:t>y = sigmoid(Wx + Uh)</a:t>
            </a:r>
          </a:p>
          <a:p>
            <a:pPr>
              <a:defRPr sz="2000">
                <a:solidFill>
                  <a:srgbClr val="444444"/>
                </a:solidFill>
              </a:defRPr>
            </a:pPr>
            <a:r>
              <a:t>Simple, yet powerful design</a:t>
            </a:r>
          </a:p>
          <a:p>
            <a:pPr>
              <a:defRPr sz="2000">
                <a:solidFill>
                  <a:srgbClr val="444444"/>
                </a:solidFill>
              </a:defRPr>
            </a:pPr>
            <a:r>
              <a:t>Can be extended to more complex models</a:t>
            </a:r>
          </a:p>
          <a:p>
            <a:pPr>
              <a:defRPr sz="2000">
                <a:solidFill>
                  <a:srgbClr val="444444"/>
                </a:solidFill>
              </a:defRPr>
            </a:pPr>
            <a:r>
              <a:t>LSTM, GRU are variants of RNNs</a:t>
            </a:r>
          </a:p>
          <a:p>
            <a:pPr>
              <a:defRPr sz="2000">
                <a:solidFill>
                  <a:srgbClr val="444444"/>
                </a:solidFill>
              </a:defRPr>
            </a:pPr>
            <a:r>
              <a:t>Used in many state-of-the-art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a:t>
            </a:r>
          </a:p>
          <a:p>
            <a:pPr>
              <a:defRPr sz="2000">
                <a:solidFill>
                  <a:srgbClr val="444444"/>
                </a:solidFill>
              </a:defRPr>
            </a:pPr>
            <a:r>
              <a:t>Handles vanishing gradients</a:t>
            </a:r>
          </a:p>
          <a:p>
            <a:pPr>
              <a:defRPr sz="2000">
                <a:solidFill>
                  <a:srgbClr val="444444"/>
                </a:solidFill>
              </a:defRPr>
            </a:pPr>
            <a:r>
              <a:t>GRU (Gated Recurrent Unit):</a:t>
            </a:r>
          </a:p>
          <a:p>
            <a:pPr>
              <a:defRPr sz="2000">
                <a:solidFill>
                  <a:srgbClr val="444444"/>
                </a:solidFill>
              </a:defRPr>
            </a:pPr>
            <a:r>
              <a:t>Simpler, faster alternative to LSTM</a:t>
            </a:r>
          </a:p>
          <a:p>
            <a:pPr>
              <a:defRPr sz="2000">
                <a:solidFill>
                  <a:srgbClr val="444444"/>
                </a:solidFill>
              </a:defRPr>
            </a:pPr>
            <a:r>
              <a:t>Bidirectional RNNs:</a:t>
            </a:r>
          </a:p>
          <a:p>
            <a:pPr>
              <a:defRPr sz="2000">
                <a:solidFill>
                  <a:srgbClr val="444444"/>
                </a:solidFill>
              </a:defRPr>
            </a:pPr>
            <a:r>
              <a:t>Process data in both directions</a:t>
            </a:r>
          </a:p>
          <a:p>
            <a:pPr>
              <a:defRPr sz="2000">
                <a:solidFill>
                  <a:srgbClr val="444444"/>
                </a:solidFill>
              </a:defRPr>
            </a:pPr>
            <a:r>
              <a:t>Deep RNNs:</a:t>
            </a:r>
          </a:p>
          <a:p>
            <a:pPr>
              <a:defRPr sz="2000">
                <a:solidFill>
                  <a:srgbClr val="444444"/>
                </a:solidFill>
              </a:defRPr>
            </a:pPr>
            <a:r>
              <a:t>Stack multiple RNN layers</a:t>
            </a:r>
          </a:p>
          <a:p>
            <a:pPr>
              <a:defRPr sz="2000">
                <a:solidFill>
                  <a:srgbClr val="444444"/>
                </a:solidFill>
              </a:defRPr>
            </a:pPr>
            <a:r>
              <a:t>Residual connections:</a:t>
            </a:r>
          </a:p>
          <a:p>
            <a:pPr>
              <a:defRPr sz="2000">
                <a:solidFill>
                  <a:srgbClr val="444444"/>
                </a:solidFill>
              </a:defRPr>
            </a:pPr>
            <a:r>
              <a:t>Improve training and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RNNs excel</a:t>
            </a:r>
          </a:p>
          <a:p>
            <a:pPr>
              <a:defRPr sz="2000">
                <a:solidFill>
                  <a:srgbClr val="444444"/>
                </a:solidFill>
              </a:defRPr>
            </a:pPr>
            <a:r>
              <a:t>Language modeling: generate coherent text</a:t>
            </a:r>
          </a:p>
          <a:p>
            <a:pPr>
              <a:defRPr sz="2000">
                <a:solidFill>
                  <a:srgbClr val="444444"/>
                </a:solidFill>
              </a:defRPr>
            </a:pPr>
            <a:r>
              <a:t>Time-series forecasting: predict future values</a:t>
            </a:r>
          </a:p>
          <a:p>
            <a:pPr>
              <a:defRPr sz="2000">
                <a:solidFill>
                  <a:srgbClr val="444444"/>
                </a:solidFill>
              </a:defRPr>
            </a:pPr>
            <a:r>
              <a:t>Natural language processing: machine translation</a:t>
            </a:r>
          </a:p>
          <a:p>
            <a:pPr>
              <a:defRPr sz="2000">
                <a:solidFill>
                  <a:srgbClr val="444444"/>
                </a:solidFill>
              </a:defRPr>
            </a:pPr>
            <a:r>
              <a:t>Advantages: handle sequential data</a:t>
            </a:r>
          </a:p>
          <a:p>
            <a:pPr>
              <a:defRPr sz="2000">
                <a:solidFill>
                  <a:srgbClr val="444444"/>
                </a:solidFill>
              </a:defRPr>
            </a:pPr>
            <a:r>
              <a:t>Limitations: vanishing gradients, slow training</a:t>
            </a:r>
          </a:p>
          <a:p>
            <a:pPr>
              <a:defRPr sz="2000">
                <a:solidFill>
                  <a:srgbClr val="444444"/>
                </a:solidFill>
              </a:defRPr>
            </a:pPr>
            <a:r>
              <a:t>Require large amounts of data</a:t>
            </a:r>
          </a:p>
          <a:p>
            <a:pPr>
              <a:defRPr sz="2000">
                <a:solidFill>
                  <a:srgbClr val="444444"/>
                </a:solidFill>
              </a:defRPr>
            </a:pPr>
            <a:r>
              <a:t>Can be computationally expensive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Have feedback connections, hidden states</a:t>
            </a:r>
          </a:p>
          <a:p>
            <a:pPr>
              <a:defRPr sz="2000">
                <a:solidFill>
                  <a:srgbClr val="444444"/>
                </a:solidFill>
              </a:defRPr>
            </a:pPr>
            <a:r>
              <a:t>Variants: LSTM, GRU, bidirectional, deep</a:t>
            </a:r>
          </a:p>
          <a:p>
            <a:pPr>
              <a:defRPr sz="2000">
                <a:solidFill>
                  <a:srgbClr val="444444"/>
                </a:solidFill>
              </a:defRPr>
            </a:pPr>
            <a:r>
              <a:t>Applications: speech recognition, language modeling</a:t>
            </a:r>
          </a:p>
          <a:p>
            <a:pPr>
              <a:defRPr sz="2000">
                <a:solidFill>
                  <a:srgbClr val="444444"/>
                </a:solidFill>
              </a:defRPr>
            </a:pPr>
            <a:r>
              <a:t>Advantages: handle sequential data</a:t>
            </a:r>
          </a:p>
          <a:p>
            <a:pPr>
              <a:defRPr sz="2000">
                <a:solidFill>
                  <a:srgbClr val="444444"/>
                </a:solidFill>
              </a:defRPr>
            </a:pPr>
            <a:r>
              <a:t>Limitations: vanishing gradients, slow training</a:t>
            </a:r>
          </a:p>
          <a:p>
            <a:pPr>
              <a:defRPr sz="2000">
                <a:solidFill>
                  <a:srgbClr val="444444"/>
                </a:solidFill>
              </a:defRPr>
            </a:pPr>
            <a:r>
              <a:t>Require large amounts of data</a:t>
            </a:r>
          </a:p>
          <a:p>
            <a:pPr>
              <a:defRPr sz="2000">
                <a:solidFill>
                  <a:srgbClr val="444444"/>
                </a:solidFill>
              </a:defRPr>
            </a:pPr>
            <a:r>
              <a:t>Can be computationally expensive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