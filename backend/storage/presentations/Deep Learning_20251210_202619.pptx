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Recurrent Neural Network, Convolution Neural Network.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Recurrent Neural Networks, emphasize their ability to process sequential data, a common scenario in many real-world applications such as speech recognition, time series forecasting, and natural language processing. Explain that RNNs are designed to mimic the brain's recurrent connections, allowing them to capture complex patterns over time. Discuss the challenge of training RNNs using backpropagation through time and the importance of understanding long-term dependencies. Provide examples such as language translation or stock market prediction to illustrate their practical applications. Ask students to consider how RNNs differ from other neural network types and what advantages they offer in handling sequential data. Key takeaways should include the basic architecture of RNNs and their suitability for tasks involving time-series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Recurrent Neural Networks, emphasize their ability to handle sequential data and their applications in speech recognition and language modeling. Explain the concept of backpropagation through time and how it's used for training. Provide examples of sequential prediction tasks, such as forecasting stock prices or predicting weather patterns. Ask students to consider how RNNs can be used in real-world scenarios and what challenges they might pose. Key takeaways include understanding the basic architecture of RNNs and their potential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architecture of Recurrent Neural Networks, emphasize the importance of sequential data and temporal relationships. Use examples such as language modeling or time series forecasting to illustrate how RNNs process inputs and maintain a hidden state. Discuss the challenges of training RNNs, including vanishing gradients, and introduce the concepts of LSTM and GRU as variants that address these issues. Ask students to consider how RNNs can be applied to real-world problems and what benefits they offer over traditional feedforward networks. Key takeaways include understanding the basic RNN architecture and its limitations, as well as the role of variants in overcoming these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Convolution Neural Networks, explain the biological inspiration behind them and how they are primarily used for image classification tasks. Provide examples of applications such as object detection and segmentation. Emphasize the importance of convolutional and pooling layers in feature extraction. Discuss how activation functions like ReLU are used to introduce non-linearity. Mention that training involves the backpropagation algorithm. Ask students to consider how CNNs can be applied to real-world problems and what advantages they offer over traditional neural networks. Key takeaways should include understanding the basic architecture and applications of CNNs.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Convolution Neural Networks, emphasize their biological inspiration and ability to learn spatial features. Provide examples of image classification tasks, such as recognizing objects in images. Ask students to consider how CNNs can be applied to real-world problems, like self-driving cars or medical image analysis. Key takeaways include understanding the role of convolutional and pooling layers in feature extraction and the importance of reducing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architecture of a convolution neural network, highlighting the role of each layer. Provide examples of how the conv2D layer applies filters to detect edges and features. Discuss the importance of activation functions and pooling layers in reducing spatial dimensions. Use a simple equation such as y = sigmoid(x) to illustrate activation functions. Ask students to consider how the architecture of a CNN allows it to effectively classify images. Key takeaways include understanding the components of a CNN and their functions.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Recurrent Neural Network, Convolution Neural Network</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handle sequential data</a:t>
            </a:r>
          </a:p>
          <a:p>
            <a:pPr>
              <a:defRPr sz="2000">
                <a:solidFill>
                  <a:srgbClr val="444444"/>
                </a:solidFill>
              </a:defRPr>
            </a:pPr>
            <a:r>
              <a:t>Used for time series forecasting and prediction</a:t>
            </a:r>
          </a:p>
          <a:p>
            <a:pPr>
              <a:defRPr sz="2000">
                <a:solidFill>
                  <a:srgbClr val="444444"/>
                </a:solidFill>
              </a:defRPr>
            </a:pPr>
            <a:r>
              <a:t>Inspired by human brain's recurrent connections</a:t>
            </a:r>
          </a:p>
          <a:p>
            <a:pPr>
              <a:defRPr sz="2000">
                <a:solidFill>
                  <a:srgbClr val="444444"/>
                </a:solidFill>
              </a:defRPr>
            </a:pPr>
            <a:r>
              <a:t>Trained using backpropagation through time</a:t>
            </a:r>
          </a:p>
          <a:p>
            <a:pPr>
              <a:defRPr sz="2000">
                <a:solidFill>
                  <a:srgbClr val="444444"/>
                </a:solidFill>
              </a:defRPr>
            </a:pPr>
            <a:r>
              <a:t>Can learn long-term dependencies in data</a:t>
            </a:r>
          </a:p>
          <a:p>
            <a:pPr>
              <a:defRPr sz="2000">
                <a:solidFill>
                  <a:srgbClr val="444444"/>
                </a:solidFill>
              </a:defRPr>
            </a:pPr>
            <a:r>
              <a:t>Key component in natural language processing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Introduction</a:t>
            </a:r>
          </a:p>
        </p:txBody>
      </p:sp>
      <p:sp>
        <p:nvSpPr>
          <p:cNvPr id="3" name="Content Placeholder 2"/>
          <p:cNvSpPr>
            <a:spLocks noGrp="1"/>
          </p:cNvSpPr>
          <p:nvPr>
            <p:ph idx="1"/>
          </p:nvPr>
        </p:nvSpPr>
        <p:spPr/>
        <p:txBody>
          <a:bodyPr/>
          <a:lstStyle/>
          <a:p>
            <a:pPr>
              <a:defRPr sz="2000">
                <a:solidFill>
                  <a:srgbClr val="444444"/>
                </a:solidFill>
              </a:defRPr>
            </a:pPr>
            <a:r>
              <a:t>Utilizes sequential data or time series data</a:t>
            </a:r>
          </a:p>
          <a:p>
            <a:pPr>
              <a:defRPr sz="2000">
                <a:solidFill>
                  <a:srgbClr val="444444"/>
                </a:solidFill>
              </a:defRPr>
            </a:pPr>
            <a:r>
              <a:t>Trained using backpropagation through time</a:t>
            </a:r>
          </a:p>
          <a:p>
            <a:pPr>
              <a:defRPr sz="2000">
                <a:solidFill>
                  <a:srgbClr val="444444"/>
                </a:solidFill>
              </a:defRPr>
            </a:pPr>
            <a:r>
              <a:t>Has feedback connections to previous states</a:t>
            </a:r>
          </a:p>
          <a:p>
            <a:pPr>
              <a:defRPr sz="2000">
                <a:solidFill>
                  <a:srgbClr val="444444"/>
                </a:solidFill>
              </a:defRPr>
            </a:pPr>
            <a:r>
              <a:t>Used for speech recognition and language modeling</a:t>
            </a:r>
          </a:p>
          <a:p>
            <a:pPr>
              <a:defRPr sz="2000">
                <a:solidFill>
                  <a:srgbClr val="444444"/>
                </a:solidFill>
              </a:defRPr>
            </a:pPr>
            <a:r>
              <a:t>Effective for sequential prediction tasks</a:t>
            </a:r>
          </a:p>
          <a:p>
            <a:pPr>
              <a:defRPr sz="2000">
                <a:solidFill>
                  <a:srgbClr val="444444"/>
                </a:solidFill>
              </a:defRPr>
            </a:pPr>
            <a:r>
              <a:t>Can learn long-term dependencies in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Architecture</a:t>
            </a:r>
          </a:p>
        </p:txBody>
      </p:sp>
      <p:sp>
        <p:nvSpPr>
          <p:cNvPr id="3" name="Content Placeholder 2"/>
          <p:cNvSpPr>
            <a:spLocks noGrp="1"/>
          </p:cNvSpPr>
          <p:nvPr>
            <p:ph idx="1"/>
          </p:nvPr>
        </p:nvSpPr>
        <p:spPr/>
        <p:txBody>
          <a:bodyPr/>
          <a:lstStyle/>
          <a:p>
            <a:pPr>
              <a:defRPr sz="2000">
                <a:solidFill>
                  <a:srgbClr val="444444"/>
                </a:solidFill>
              </a:defRPr>
            </a:pPr>
            <a:r>
              <a:t>Utilize sequential data with temporal relationships</a:t>
            </a:r>
          </a:p>
          <a:p>
            <a:pPr>
              <a:defRPr sz="2000">
                <a:solidFill>
                  <a:srgbClr val="444444"/>
                </a:solidFill>
              </a:defRPr>
            </a:pPr>
            <a:r>
              <a:t>Feed input to hidden state, then to output</a:t>
            </a:r>
          </a:p>
          <a:p>
            <a:pPr>
              <a:defRPr sz="2000">
                <a:solidFill>
                  <a:srgbClr val="444444"/>
                </a:solidFill>
              </a:defRPr>
            </a:pPr>
            <a:r>
              <a:t>Hidden state captures historical information</a:t>
            </a:r>
          </a:p>
          <a:p>
            <a:pPr>
              <a:defRPr sz="2000">
                <a:solidFill>
                  <a:srgbClr val="444444"/>
                </a:solidFill>
              </a:defRPr>
            </a:pPr>
            <a:r>
              <a:t>Output depends on current input and state</a:t>
            </a:r>
          </a:p>
          <a:p>
            <a:pPr>
              <a:defRPr sz="2000">
                <a:solidFill>
                  <a:srgbClr val="444444"/>
                </a:solidFill>
              </a:defRPr>
            </a:pPr>
            <a:r>
              <a:t>Backpropagation computes gradients for training</a:t>
            </a:r>
          </a:p>
          <a:p>
            <a:pPr>
              <a:defRPr sz="2000">
                <a:solidFill>
                  <a:srgbClr val="444444"/>
                </a:solidFill>
              </a:defRPr>
            </a:pPr>
            <a:r>
              <a:t>Vanilla RNNs struggle with vanishing gradients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Neural Network - Introduction</a:t>
            </a:r>
          </a:p>
        </p:txBody>
      </p:sp>
      <p:sp>
        <p:nvSpPr>
          <p:cNvPr id="3" name="Content Placeholder 2"/>
          <p:cNvSpPr>
            <a:spLocks noGrp="1"/>
          </p:cNvSpPr>
          <p:nvPr>
            <p:ph idx="1"/>
          </p:nvPr>
        </p:nvSpPr>
        <p:spPr/>
        <p:txBody>
          <a:bodyPr/>
          <a:lstStyle/>
          <a:p>
            <a:pPr>
              <a:defRPr sz="2000">
                <a:solidFill>
                  <a:srgbClr val="444444"/>
                </a:solidFill>
              </a:defRPr>
            </a:pPr>
            <a:r>
              <a:t>CNNs inspired by biological neural networks</a:t>
            </a:r>
          </a:p>
          <a:p>
            <a:pPr>
              <a:defRPr sz="2000">
                <a:solidFill>
                  <a:srgbClr val="444444"/>
                </a:solidFill>
              </a:defRPr>
            </a:pPr>
            <a:r>
              <a:t>Use convolutional and pooling layers</a:t>
            </a:r>
          </a:p>
          <a:p>
            <a:pPr>
              <a:defRPr sz="2000">
                <a:solidFill>
                  <a:srgbClr val="444444"/>
                </a:solidFill>
              </a:defRPr>
            </a:pPr>
            <a:r>
              <a:t>Primarily for image classification tasks</a:t>
            </a:r>
          </a:p>
          <a:p>
            <a:pPr>
              <a:defRPr sz="2000">
                <a:solidFill>
                  <a:srgbClr val="444444"/>
                </a:solidFill>
              </a:defRPr>
            </a:pPr>
            <a:r>
              <a:t>Also used for object detection and segmentation</a:t>
            </a:r>
          </a:p>
          <a:p>
            <a:pPr>
              <a:defRPr sz="2000">
                <a:solidFill>
                  <a:srgbClr val="444444"/>
                </a:solidFill>
              </a:defRPr>
            </a:pPr>
            <a:r>
              <a:t>Conv2D layer for feature extraction</a:t>
            </a:r>
          </a:p>
          <a:p>
            <a:pPr>
              <a:defRPr sz="2000">
                <a:solidFill>
                  <a:srgbClr val="444444"/>
                </a:solidFill>
              </a:defRPr>
            </a:pPr>
            <a:r>
              <a:t>Activation functions like ReLU used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Neural Network - Introduction</a:t>
            </a:r>
          </a:p>
        </p:txBody>
      </p:sp>
      <p:sp>
        <p:nvSpPr>
          <p:cNvPr id="3" name="Content Placeholder 2"/>
          <p:cNvSpPr>
            <a:spLocks noGrp="1"/>
          </p:cNvSpPr>
          <p:nvPr>
            <p:ph idx="1"/>
          </p:nvPr>
        </p:nvSpPr>
        <p:spPr/>
        <p:txBody>
          <a:bodyPr/>
          <a:lstStyle/>
          <a:p>
            <a:pPr>
              <a:defRPr sz="2000">
                <a:solidFill>
                  <a:srgbClr val="444444"/>
                </a:solidFill>
              </a:defRPr>
            </a:pPr>
            <a:r>
              <a:t>Inspired by biological neural networks and visual cortex</a:t>
            </a:r>
          </a:p>
          <a:p>
            <a:pPr>
              <a:defRPr sz="2000">
                <a:solidFill>
                  <a:srgbClr val="444444"/>
                </a:solidFill>
              </a:defRPr>
            </a:pPr>
            <a:r>
              <a:t>Uses convolutional and pooling layers for feature extraction</a:t>
            </a:r>
          </a:p>
          <a:p>
            <a:pPr>
              <a:defRPr sz="2000">
                <a:solidFill>
                  <a:srgbClr val="444444"/>
                </a:solidFill>
              </a:defRPr>
            </a:pPr>
            <a:r>
              <a:t>Effective for image and signal processing tasks</a:t>
            </a:r>
          </a:p>
          <a:p>
            <a:pPr>
              <a:defRPr sz="2000">
                <a:solidFill>
                  <a:srgbClr val="444444"/>
                </a:solidFill>
              </a:defRPr>
            </a:pPr>
            <a:r>
              <a:t>Can learn spatial hierarchies of features automatically</a:t>
            </a:r>
          </a:p>
          <a:p>
            <a:pPr>
              <a:defRPr sz="2000">
                <a:solidFill>
                  <a:srgbClr val="444444"/>
                </a:solidFill>
              </a:defRPr>
            </a:pPr>
            <a:r>
              <a:t>Convolutional layers apply filters to input data</a:t>
            </a:r>
          </a:p>
          <a:p>
            <a:pPr>
              <a:defRPr sz="2000">
                <a:solidFill>
                  <a:srgbClr val="444444"/>
                </a:solidFill>
              </a:defRPr>
            </a:pPr>
            <a:r>
              <a:t>Pooling layers reduce spatial dimensions of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 Neural Network - Architecture</a:t>
            </a:r>
          </a:p>
        </p:txBody>
      </p:sp>
      <p:sp>
        <p:nvSpPr>
          <p:cNvPr id="3" name="Content Placeholder 2"/>
          <p:cNvSpPr>
            <a:spLocks noGrp="1"/>
          </p:cNvSpPr>
          <p:nvPr>
            <p:ph idx="1"/>
          </p:nvPr>
        </p:nvSpPr>
        <p:spPr/>
        <p:txBody>
          <a:bodyPr/>
          <a:lstStyle/>
          <a:p>
            <a:pPr>
              <a:defRPr sz="2000">
                <a:solidFill>
                  <a:srgbClr val="444444"/>
                </a:solidFill>
              </a:defRPr>
            </a:pPr>
            <a:r>
              <a:t>Input layer receives image data</a:t>
            </a:r>
          </a:p>
          <a:p>
            <a:pPr>
              <a:defRPr sz="2000">
                <a:solidFill>
                  <a:srgbClr val="444444"/>
                </a:solidFill>
              </a:defRPr>
            </a:pPr>
            <a:r>
              <a:t>Conv2D layer applies filters</a:t>
            </a:r>
          </a:p>
          <a:p>
            <a:pPr>
              <a:defRPr sz="2000">
                <a:solidFill>
                  <a:srgbClr val="444444"/>
                </a:solidFill>
              </a:defRPr>
            </a:pPr>
            <a:r>
              <a:t>Activation functions introduce non-linearity</a:t>
            </a:r>
          </a:p>
          <a:p>
            <a:pPr>
              <a:defRPr sz="2000">
                <a:solidFill>
                  <a:srgbClr val="444444"/>
                </a:solidFill>
              </a:defRPr>
            </a:pPr>
            <a:r>
              <a:t>Pooling layer reduces spatial dimensions</a:t>
            </a:r>
          </a:p>
          <a:p>
            <a:pPr>
              <a:defRPr sz="2000">
                <a:solidFill>
                  <a:srgbClr val="444444"/>
                </a:solidFill>
              </a:defRPr>
            </a:pPr>
            <a:r>
              <a:t>Flatten layer reshapes data</a:t>
            </a:r>
          </a:p>
          <a:p>
            <a:pPr>
              <a:defRPr sz="2000">
                <a:solidFill>
                  <a:srgbClr val="444444"/>
                </a:solidFill>
              </a:defRPr>
            </a:pPr>
            <a:r>
              <a:t>Dense layers perform classification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