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RNNs as a crucial component of deep learning, explaining their inspiration from the human brain and their ability to process sequential data. Provide examples of applications such as language modeling and speech recognition. Ask students to consider how RNNs can be used in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RNNs, highlighting the introduction of recurrent connections and the use of a hidden state to capture information over time. Discuss how this allows RNNs to handle sequential data and variable-length sequences. Provide examples of how this architecture is used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Delve into the mathematical formulation of RNNs, discussing the recurrence relation, activation functions, and the challenges of training RNNs such as vanishing and exploding gradients. Explain how backpropagation through time is used for training and introduce techniques for addressing these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challenges of training RNNs and introduce backpropagation through time as a method for computing gradients. Explain the concept of unfolding the RNN in time and the variants of BPTT for improved efficiency and stability. Emphasize the importance of regularization and hyperparameter tuning for optimal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Explore the various applications of RNNs, from language modeling and speech recognition to time-series forecasting and natural language processing tasks. Provide examples of how RNNs are used in practice and discuss their potential for future applications. Ask students to consider how RNNs could be applied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advantages and limitations of RNNs, highlighting their ability to capture temporal relationships and handle sequential data. Discuss the challenges of training RNNs, including vanishing and exploding gradients, and the need for large amounts of data and careful hyperparameter tuning. Emphasize the importance of understanding these trade-offs when applying RNNs to real-world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Feedforward networks lack memory</a:t>
            </a:r>
          </a:p>
          <a:p>
            <a:pPr>
              <a:defRPr sz="2000">
                <a:solidFill>
                  <a:srgbClr val="444444"/>
                </a:solidFill>
              </a:defRPr>
            </a:pPr>
            <a:r>
              <a:t>RNNs introduce recurrent connections</a:t>
            </a:r>
          </a:p>
          <a:p>
            <a:pPr>
              <a:defRPr sz="2000">
                <a:solidFill>
                  <a:srgbClr val="444444"/>
                </a:solidFill>
              </a:defRPr>
            </a:pPr>
            <a:r>
              <a:t>Image_query: basic RNN architecture</a:t>
            </a:r>
          </a:p>
          <a:p>
            <a:pPr>
              <a:defRPr sz="2000">
                <a:solidFill>
                  <a:srgbClr val="444444"/>
                </a:solidFill>
              </a:defRPr>
            </a:pPr>
            <a:r>
              <a:t>Unfolds in time for computation</a:t>
            </a:r>
          </a:p>
          <a:p>
            <a:pPr>
              <a:defRPr sz="2000">
                <a:solidFill>
                  <a:srgbClr val="444444"/>
                </a:solidFill>
              </a:defRPr>
            </a:pPr>
            <a:r>
              <a:t>Uses hidden state for information</a:t>
            </a:r>
          </a:p>
          <a:p>
            <a:pPr>
              <a:defRPr sz="2000">
                <a:solidFill>
                  <a:srgbClr val="444444"/>
                </a:solidFill>
              </a:defRPr>
            </a:pPr>
            <a:r>
              <a:t>Simple RNN equation: h_t = tanh</a:t>
            </a:r>
          </a:p>
          <a:p>
            <a:pPr>
              <a:defRPr sz="2000">
                <a:solidFill>
                  <a:srgbClr val="444444"/>
                </a:solidFill>
              </a:defRPr>
            </a:pPr>
            <a:r>
              <a:t>Recurrent layers for deep models</a:t>
            </a:r>
          </a:p>
          <a:p>
            <a:pPr>
              <a:defRPr sz="2000">
                <a:solidFill>
                  <a:srgbClr val="444444"/>
                </a:solidFill>
              </a:defRPr>
            </a:pPr>
            <a:r>
              <a:t>Handles variable-length sequences</a:t>
            </a:r>
          </a:p>
          <a:p>
            <a:pPr>
              <a:defRPr sz="2000">
                <a:solidFill>
                  <a:srgbClr val="444444"/>
                </a:solidFill>
              </a:defRPr>
            </a:pPr>
            <a:r>
              <a:t>Supports many-to-one, one-to-many</a:t>
            </a:r>
          </a:p>
        </p:txBody>
      </p:sp>
      <p:pic>
        <p:nvPicPr>
          <p:cNvPr id="4" name="Picture 3" descr="86d07d6807a944c59ba9e0a67804aa33_recurrent_neural_networks_rnns_deep_lear.jpg"/>
          <p:cNvPicPr>
            <a:picLocks noChangeAspect="1"/>
          </p:cNvPicPr>
          <p:nvPr/>
        </p:nvPicPr>
        <p:blipFill>
          <a:blip r:embed="rId2"/>
          <a:stretch>
            <a:fillRect/>
          </a:stretch>
        </p:blipFill>
        <p:spPr>
          <a:xfrm>
            <a:off x="7315200" y="1828800"/>
            <a:ext cx="4114800" cy="2499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Formulation</a:t>
            </a:r>
          </a:p>
        </p:txBody>
      </p:sp>
      <p:sp>
        <p:nvSpPr>
          <p:cNvPr id="3" name="Content Placeholder 2"/>
          <p:cNvSpPr>
            <a:spLocks noGrp="1"/>
          </p:cNvSpPr>
          <p:nvPr>
            <p:ph idx="1"/>
          </p:nvPr>
        </p:nvSpPr>
        <p:spPr/>
        <p:txBody>
          <a:bodyPr/>
          <a:lstStyle/>
          <a:p>
            <a:pPr>
              <a:defRPr sz="2000">
                <a:solidFill>
                  <a:srgbClr val="444444"/>
                </a:solidFill>
              </a:defRPr>
            </a:pPr>
            <a:r>
              <a:t>RNNs defined by recurrence relation</a:t>
            </a:r>
          </a:p>
          <a:p>
            <a:pPr>
              <a:defRPr sz="2000">
                <a:solidFill>
                  <a:srgbClr val="444444"/>
                </a:solidFill>
              </a:defRPr>
            </a:pPr>
            <a:r>
              <a:t>Involves input, output, hidden state</a:t>
            </a:r>
          </a:p>
          <a:p>
            <a:pPr>
              <a:defRPr sz="2000">
                <a:solidFill>
                  <a:srgbClr val="444444"/>
                </a:solidFill>
              </a:defRPr>
            </a:pPr>
            <a:r>
              <a:t>Activation functions for non-linearity</a:t>
            </a:r>
          </a:p>
          <a:p>
            <a:pPr>
              <a:defRPr sz="2000">
                <a:solidFill>
                  <a:srgbClr val="444444"/>
                </a:solidFill>
              </a:defRPr>
            </a:pPr>
            <a:r>
              <a:t>Backpropagation for training</a:t>
            </a:r>
          </a:p>
          <a:p>
            <a:pPr>
              <a:defRPr sz="2000">
                <a:solidFill>
                  <a:srgbClr val="444444"/>
                </a:solidFill>
              </a:defRPr>
            </a:pPr>
            <a:r>
              <a:t>Through time for sequential data</a:t>
            </a:r>
          </a:p>
          <a:p>
            <a:pPr>
              <a:defRPr sz="2000">
                <a:solidFill>
                  <a:srgbClr val="444444"/>
                </a:solidFill>
              </a:defRPr>
            </a:pPr>
            <a:r>
              <a:t>Gradient clipping for stability</a:t>
            </a:r>
          </a:p>
          <a:p>
            <a:pPr>
              <a:defRPr sz="2000">
                <a:solidFill>
                  <a:srgbClr val="444444"/>
                </a:solidFill>
              </a:defRPr>
            </a:pPr>
            <a:r>
              <a:t>Vanishing gradients problem</a:t>
            </a:r>
          </a:p>
          <a:p>
            <a:pPr>
              <a:defRPr sz="2000">
                <a:solidFill>
                  <a:srgbClr val="444444"/>
                </a:solidFill>
              </a:defRPr>
            </a:pPr>
            <a:r>
              <a:t>Exploding gradients issue</a:t>
            </a:r>
          </a:p>
          <a:p>
            <a:pPr>
              <a:defRPr sz="2000">
                <a:solidFill>
                  <a:srgbClr val="444444"/>
                </a:solidFill>
              </a:defRPr>
            </a:pPr>
            <a:r>
              <a:t>Regularization techniques applied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and Backpropagation Through Time</a:t>
            </a:r>
          </a:p>
        </p:txBody>
      </p:sp>
      <p:sp>
        <p:nvSpPr>
          <p:cNvPr id="3" name="Content Placeholder 2"/>
          <p:cNvSpPr>
            <a:spLocks noGrp="1"/>
          </p:cNvSpPr>
          <p:nvPr>
            <p:ph idx="1"/>
          </p:nvPr>
        </p:nvSpPr>
        <p:spPr/>
        <p:txBody>
          <a:bodyPr/>
          <a:lstStyle/>
          <a:p>
            <a:pPr>
              <a:defRPr sz="2000">
                <a:solidFill>
                  <a:srgbClr val="444444"/>
                </a:solidFill>
              </a:defRPr>
            </a:pPr>
            <a:r>
              <a:t>Training RNNs is computationally expensive</a:t>
            </a:r>
          </a:p>
          <a:p>
            <a:pPr>
              <a:defRPr sz="2000">
                <a:solidFill>
                  <a:srgbClr val="444444"/>
                </a:solidFill>
              </a:defRPr>
            </a:pPr>
            <a:r>
              <a:t>Backpropagation through time (BPTT) used</a:t>
            </a:r>
          </a:p>
          <a:p>
            <a:pPr>
              <a:defRPr sz="2000">
                <a:solidFill>
                  <a:srgbClr val="444444"/>
                </a:solidFill>
              </a:defRPr>
            </a:pPr>
            <a:r>
              <a:t>Unfolds RNN in time for computation</a:t>
            </a:r>
          </a:p>
          <a:p>
            <a:pPr>
              <a:defRPr sz="2000">
                <a:solidFill>
                  <a:srgbClr val="444444"/>
                </a:solidFill>
              </a:defRPr>
            </a:pPr>
            <a:r>
              <a:t>Computes gradients for weight updates</a:t>
            </a:r>
          </a:p>
          <a:p>
            <a:pPr>
              <a:defRPr sz="2000">
                <a:solidFill>
                  <a:srgbClr val="444444"/>
                </a:solidFill>
              </a:defRPr>
            </a:pPr>
            <a:r>
              <a:t>Truncated BPTT for efficiency</a:t>
            </a:r>
          </a:p>
          <a:p>
            <a:pPr>
              <a:defRPr sz="2000">
                <a:solidFill>
                  <a:srgbClr val="444444"/>
                </a:solidFill>
              </a:defRPr>
            </a:pPr>
            <a:r>
              <a:t>Real-time recurrent learning (RTRL)</a:t>
            </a:r>
          </a:p>
          <a:p>
            <a:pPr>
              <a:defRPr sz="2000">
                <a:solidFill>
                  <a:srgbClr val="444444"/>
                </a:solidFill>
              </a:defRPr>
            </a:pPr>
            <a:r>
              <a:t>BPTT variants for improved stability</a:t>
            </a:r>
          </a:p>
          <a:p>
            <a:pPr>
              <a:defRPr sz="2000">
                <a:solidFill>
                  <a:srgbClr val="444444"/>
                </a:solidFill>
              </a:defRPr>
            </a:pPr>
            <a:r>
              <a:t>Regularization techniques for generalization</a:t>
            </a:r>
          </a:p>
          <a:p>
            <a:pPr>
              <a:defRPr sz="2000">
                <a:solidFill>
                  <a:srgbClr val="444444"/>
                </a:solidFill>
              </a:defRPr>
            </a:pPr>
            <a:r>
              <a:t>Hyperparameter tuning for optimal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a:t>
            </a:r>
          </a:p>
        </p:txBody>
      </p:sp>
      <p:sp>
        <p:nvSpPr>
          <p:cNvPr id="3" name="Content Placeholder 2"/>
          <p:cNvSpPr>
            <a:spLocks noGrp="1"/>
          </p:cNvSpPr>
          <p:nvPr>
            <p:ph idx="1"/>
          </p:nvPr>
        </p:nvSpPr>
        <p:spPr/>
        <p:txBody>
          <a:bodyPr/>
          <a:lstStyle/>
          <a:p>
            <a:pPr>
              <a:defRPr sz="2000">
                <a:solidFill>
                  <a:srgbClr val="444444"/>
                </a:solidFill>
              </a:defRPr>
            </a:pPr>
            <a:r>
              <a:t>Language modeling and text generation</a:t>
            </a:r>
          </a:p>
          <a:p>
            <a:pPr>
              <a:defRPr sz="2000">
                <a:solidFill>
                  <a:srgbClr val="444444"/>
                </a:solidFill>
              </a:defRPr>
            </a:pPr>
            <a:r>
              <a:t>Speech recognition systems</a:t>
            </a:r>
          </a:p>
          <a:p>
            <a:pPr>
              <a:defRPr sz="2000">
                <a:solidFill>
                  <a:srgbClr val="444444"/>
                </a:solidFill>
              </a:defRPr>
            </a:pPr>
            <a:r>
              <a:t>Time-series forecasting and prediction</a:t>
            </a:r>
          </a:p>
          <a:p>
            <a:pPr>
              <a:defRPr sz="2000">
                <a:solidFill>
                  <a:srgbClr val="444444"/>
                </a:solidFill>
              </a:defRPr>
            </a:pPr>
            <a:r>
              <a:t>Natural language processing tasks</a:t>
            </a:r>
          </a:p>
          <a:p>
            <a:pPr>
              <a:defRPr sz="2000">
                <a:solidFill>
                  <a:srgbClr val="444444"/>
                </a:solidFill>
              </a:defRPr>
            </a:pPr>
            <a:r>
              <a:t>Machine translation and localization</a:t>
            </a:r>
          </a:p>
          <a:p>
            <a:pPr>
              <a:defRPr sz="2000">
                <a:solidFill>
                  <a:srgbClr val="444444"/>
                </a:solidFill>
              </a:defRPr>
            </a:pPr>
            <a:r>
              <a:t>Sentiment analysis and opinion mining</a:t>
            </a:r>
          </a:p>
          <a:p>
            <a:pPr>
              <a:defRPr sz="2000">
                <a:solidFill>
                  <a:srgbClr val="444444"/>
                </a:solidFill>
              </a:defRPr>
            </a:pPr>
            <a:r>
              <a:t>Dialogue systems and chatbots</a:t>
            </a:r>
          </a:p>
          <a:p>
            <a:pPr>
              <a:defRPr sz="2000">
                <a:solidFill>
                  <a:srgbClr val="444444"/>
                </a:solidFill>
              </a:defRPr>
            </a:pPr>
            <a:r>
              <a:t>Music and audio generation</a:t>
            </a:r>
          </a:p>
          <a:p>
            <a:pPr>
              <a:defRPr sz="2000">
                <a:solidFill>
                  <a:srgbClr val="444444"/>
                </a:solidFill>
              </a:defRPr>
            </a:pPr>
            <a:r>
              <a:t>Biological sequence analysis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Advantages and Limitations</a:t>
            </a:r>
          </a:p>
        </p:txBody>
      </p:sp>
      <p:sp>
        <p:nvSpPr>
          <p:cNvPr id="3" name="Content Placeholder 2"/>
          <p:cNvSpPr>
            <a:spLocks noGrp="1"/>
          </p:cNvSpPr>
          <p:nvPr>
            <p:ph idx="1"/>
          </p:nvPr>
        </p:nvSpPr>
        <p:spPr/>
        <p:txBody>
          <a:bodyPr/>
          <a:lstStyle/>
          <a:p>
            <a:pPr>
              <a:defRPr sz="2000">
                <a:solidFill>
                  <a:srgbClr val="444444"/>
                </a:solidFill>
              </a:defRPr>
            </a:pPr>
            <a:r>
              <a:t>Captures temporal relationships effectively</a:t>
            </a:r>
          </a:p>
          <a:p>
            <a:pPr>
              <a:defRPr sz="2000">
                <a:solidFill>
                  <a:srgbClr val="444444"/>
                </a:solidFill>
              </a:defRPr>
            </a:pPr>
            <a:r>
              <a:t>Handles sequential data with ease</a:t>
            </a:r>
          </a:p>
          <a:p>
            <a:pPr>
              <a:defRPr sz="2000">
                <a:solidFill>
                  <a:srgbClr val="444444"/>
                </a:solidFill>
              </a:defRPr>
            </a:pPr>
            <a:r>
              <a:t>Supports variable-length sequences</a:t>
            </a:r>
          </a:p>
          <a:p>
            <a:pPr>
              <a:defRPr sz="2000">
                <a:solidFill>
                  <a:srgbClr val="444444"/>
                </a:solidFill>
              </a:defRPr>
            </a:pPr>
            <a:r>
              <a:t>Enables dynamic system modeling</a:t>
            </a:r>
          </a:p>
          <a:p>
            <a:pPr>
              <a:defRPr sz="2000">
                <a:solidFill>
                  <a:srgbClr val="444444"/>
                </a:solidFill>
              </a:defRPr>
            </a:pPr>
            <a:r>
              <a:t>Challenging to train due to gradients</a:t>
            </a:r>
          </a:p>
          <a:p>
            <a:pPr>
              <a:defRPr sz="2000">
                <a:solidFill>
                  <a:srgbClr val="444444"/>
                </a:solidFill>
              </a:defRPr>
            </a:pPr>
            <a:r>
              <a:t>Vanishing and exploding gradients issues</a:t>
            </a:r>
          </a:p>
          <a:p>
            <a:pPr>
              <a:defRPr sz="2000">
                <a:solidFill>
                  <a:srgbClr val="444444"/>
                </a:solidFill>
              </a:defRPr>
            </a:pPr>
            <a:r>
              <a:t>Computationally expensive to train</a:t>
            </a:r>
          </a:p>
          <a:p>
            <a:pPr>
              <a:defRPr sz="2000">
                <a:solidFill>
                  <a:srgbClr val="444444"/>
                </a:solidFill>
              </a:defRPr>
            </a:pPr>
            <a:r>
              <a:t>Requires large amounts of data</a:t>
            </a:r>
          </a:p>
          <a:p>
            <a:pPr>
              <a:defRPr sz="2000">
                <a:solidFill>
                  <a:srgbClr val="444444"/>
                </a:solidFill>
              </a:defRPr>
            </a:pPr>
            <a:r>
              <a:t>Sensitive to hyperparameter tuning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