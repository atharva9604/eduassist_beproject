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unique ability to process data with spatial hierarchies, which makes them particularly effective for image classification tasks. Provide examples such as self-driving cars and facial recognition systems that rely heavily on CNNs. Discuss how the architecture of CNNs, including convolutional and pooling layers, allows them to learn and represent complex features. Ask students to consider how CNNs differ from fully connected neural networks and what advantages they offer for certain types of data. Key takeaways should include understanding the basic components of a CNN and their role in deep learning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ability to process visual data and automate feature extraction. Provide examples of applications such as image classification, object detection, and video analysis. Discuss the importance of large datasets and the role of transfer learning in pre-training CNN models. Ask students to consider the limitations and potential biases of CNNs. Key takeaways include understanding the basic architecture of CNNs and their versatility in various deep learning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CNNs, highlighting the role of convolutional and pooling layers in feature extraction. Discuss the importance of activation functions and batch normalization in deep learning. Provide examples of CNN applications, such as image classification and object detection. Ask students to consider the trade-offs between model complexity and training time. Key takeaways include understanding the components of a CNN and their functions, as well as the importance of designing efficient architectures for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importance in deep learning, particularly in image and signal processing tasks. Provide examples of how convolutional neural networks use this operation for image classification and object detection. Ask students to consider how the convolution operation enables the preservation of spatial relationships between data elements. Key takeaways include understanding the role of filters in detecting patterns and features, and the application of convolution operation in various tasks beyond image processing, such as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role in deep learning networks, focusing on image processing. Provide examples of how convolution detects edges and lines in images. Discuss the importance of strides, padding, and activation functions like σ(W*x + b). Ask students to consider how convolution applies to real-world problems like image classification, object detection, and segmentation. Emphasize the convolution operation as a fundamental component in building deep learning models, highlighting its ability to reduce spatial dimensions while preserving critical image features.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data with grid-like topology</a:t>
            </a:r>
          </a:p>
          <a:p>
            <a:pPr>
              <a:defRPr sz="2000">
                <a:solidFill>
                  <a:srgbClr val="444444"/>
                </a:solidFill>
              </a:defRPr>
            </a:pPr>
            <a:r>
              <a:t>Inspired by biological neural networks and human vision</a:t>
            </a:r>
          </a:p>
          <a:p>
            <a:pPr>
              <a:defRPr sz="2000">
                <a:solidFill>
                  <a:srgbClr val="444444"/>
                </a:solidFill>
              </a:defRPr>
            </a:pPr>
            <a:r>
              <a:t>Primarily used for image classification tasks</a:t>
            </a:r>
          </a:p>
          <a:p>
            <a:pPr>
              <a:defRPr sz="2000">
                <a:solidFill>
                  <a:srgbClr val="444444"/>
                </a:solidFill>
              </a:defRPr>
            </a:pPr>
            <a:r>
              <a:t>Can learn spatial hierarchies of features</a:t>
            </a:r>
          </a:p>
          <a:p>
            <a:pPr>
              <a:defRPr sz="2000">
                <a:solidFill>
                  <a:srgbClr val="444444"/>
                </a:solidFill>
              </a:defRPr>
            </a:pPr>
            <a:r>
              <a:t>Consist of convolutional and pooling layers</a:t>
            </a:r>
          </a:p>
          <a:p>
            <a:pPr>
              <a:defRPr sz="2000">
                <a:solidFill>
                  <a:srgbClr val="444444"/>
                </a:solidFill>
              </a:defRPr>
            </a:pPr>
            <a:r>
              <a:t>Activation functions introduce non-linearity</a:t>
            </a:r>
          </a:p>
          <a:p>
            <a:pPr>
              <a:defRPr sz="2000">
                <a:solidFill>
                  <a:srgbClr val="444444"/>
                </a:solidFill>
              </a:defRPr>
            </a:pPr>
            <a:r>
              <a:t>Training involves optimizing weights and biases</a:t>
            </a:r>
          </a:p>
          <a:p>
            <a:pPr>
              <a:defRPr sz="2000">
                <a:solidFill>
                  <a:srgbClr val="444444"/>
                </a:solidFill>
              </a:defRPr>
            </a:pPr>
            <a:r>
              <a:t>Backpropagation is used for error calculation</a:t>
            </a:r>
          </a:p>
          <a:p>
            <a:pPr>
              <a:defRPr sz="2000">
                <a:solidFill>
                  <a:srgbClr val="444444"/>
                </a:solidFill>
              </a:defRPr>
            </a:pPr>
            <a:r>
              <a:t>CNNs have many applications in computer vision</a:t>
            </a:r>
          </a:p>
        </p:txBody>
      </p:sp>
      <p:pic>
        <p:nvPicPr>
          <p:cNvPr id="4" name="Picture 3" descr="9fdb7c1c85774eb1ac23b2fd84270ddb.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visual data</a:t>
            </a:r>
          </a:p>
          <a:p>
            <a:pPr>
              <a:defRPr sz="2000">
                <a:solidFill>
                  <a:srgbClr val="444444"/>
                </a:solidFill>
              </a:defRPr>
            </a:pPr>
            <a:r>
              <a:t>Inspired by biological neural networks structure</a:t>
            </a:r>
          </a:p>
          <a:p>
            <a:pPr>
              <a:defRPr sz="2000">
                <a:solidFill>
                  <a:srgbClr val="444444"/>
                </a:solidFill>
              </a:defRPr>
            </a:pPr>
            <a:r>
              <a:t>Use convolutional and pooling layers</a:t>
            </a:r>
          </a:p>
          <a:p>
            <a:pPr>
              <a:defRPr sz="2000">
                <a:solidFill>
                  <a:srgbClr val="444444"/>
                </a:solidFill>
              </a:defRPr>
            </a:pPr>
            <a:r>
              <a:t>Automate feature extraction and learning</a:t>
            </a:r>
          </a:p>
          <a:p>
            <a:pPr>
              <a:defRPr sz="2000">
                <a:solidFill>
                  <a:srgbClr val="444444"/>
                </a:solidFill>
              </a:defRPr>
            </a:pPr>
            <a:r>
              <a:t>Commonly used for image classification tasks</a:t>
            </a:r>
          </a:p>
          <a:p>
            <a:pPr>
              <a:defRPr sz="2000">
                <a:solidFill>
                  <a:srgbClr val="444444"/>
                </a:solidFill>
              </a:defRPr>
            </a:pPr>
            <a:r>
              <a:t>Can be applied to video analysis and signal processing</a:t>
            </a:r>
          </a:p>
          <a:p>
            <a:pPr>
              <a:defRPr sz="2000">
                <a:solidFill>
                  <a:srgbClr val="444444"/>
                </a:solidFill>
              </a:defRPr>
            </a:pPr>
            <a:r>
              <a:t>LeNet-5 and AlexNet are pioneering CNN models</a:t>
            </a:r>
          </a:p>
          <a:p>
            <a:pPr>
              <a:defRPr sz="2000">
                <a:solidFill>
                  <a:srgbClr val="444444"/>
                </a:solidFill>
              </a:defRPr>
            </a:pPr>
            <a:r>
              <a:t>CNNs require large datasets for training</a:t>
            </a:r>
          </a:p>
          <a:p>
            <a:pPr>
              <a:defRPr sz="2000">
                <a:solidFill>
                  <a:srgbClr val="444444"/>
                </a:solidFill>
              </a:defRPr>
            </a:pPr>
            <a:r>
              <a:t>Transfer learning is often used for pre-training</a:t>
            </a:r>
          </a:p>
        </p:txBody>
      </p:sp>
      <p:pic>
        <p:nvPicPr>
          <p:cNvPr id="4" name="Picture 3" descr="afc1f1e141e449c19fedb3a2bd6098d4.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use convolutional layers</a:t>
            </a:r>
          </a:p>
          <a:p>
            <a:pPr>
              <a:defRPr sz="2000">
                <a:solidFill>
                  <a:srgbClr val="444444"/>
                </a:solidFill>
              </a:defRPr>
            </a:pPr>
            <a:r>
              <a:t>Convolutional layers apply filters to input data</a:t>
            </a:r>
          </a:p>
          <a:p>
            <a:pPr>
              <a:defRPr sz="2000">
                <a:solidFill>
                  <a:srgbClr val="444444"/>
                </a:solidFill>
              </a:defRPr>
            </a:pPr>
            <a:r>
              <a:t>Filters detect local patterns and features</a:t>
            </a:r>
          </a:p>
          <a:p>
            <a:pPr>
              <a:defRPr sz="2000">
                <a:solidFill>
                  <a:srgbClr val="444444"/>
                </a:solidFill>
              </a:defRPr>
            </a:pPr>
            <a:r>
              <a:t>Pooling layers reduce spatial dimensions</a:t>
            </a:r>
          </a:p>
          <a:p>
            <a:pPr>
              <a:defRPr sz="2000">
                <a:solidFill>
                  <a:srgbClr val="444444"/>
                </a:solidFill>
              </a:defRPr>
            </a:pPr>
            <a:r>
              <a:t>Fully connected layers enable classification</a:t>
            </a:r>
          </a:p>
          <a:p>
            <a:pPr>
              <a:defRPr sz="2000">
                <a:solidFill>
                  <a:srgbClr val="444444"/>
                </a:solidFill>
              </a:defRPr>
            </a:pPr>
            <a:r>
              <a:t>Activation functions introduce non-linearity</a:t>
            </a:r>
          </a:p>
          <a:p>
            <a:pPr>
              <a:defRPr sz="2000">
                <a:solidFill>
                  <a:srgbClr val="444444"/>
                </a:solidFill>
              </a:defRPr>
            </a:pPr>
            <a:r>
              <a:t>ReLU is a common activation function used</a:t>
            </a:r>
          </a:p>
          <a:p>
            <a:pPr>
              <a:defRPr sz="2000">
                <a:solidFill>
                  <a:srgbClr val="444444"/>
                </a:solidFill>
              </a:defRPr>
            </a:pPr>
            <a:r>
              <a:t>Batch normalization improves training speed</a:t>
            </a:r>
          </a:p>
          <a:p>
            <a:pPr>
              <a:defRPr sz="2000">
                <a:solidFill>
                  <a:srgbClr val="444444"/>
                </a:solidFill>
              </a:defRPr>
            </a:pPr>
            <a:r>
              <a:t>CNNs can be trained on large datasets</a:t>
            </a:r>
          </a:p>
          <a:p>
            <a:pPr>
              <a:defRPr sz="2000">
                <a:solidFill>
                  <a:srgbClr val="444444"/>
                </a:solidFill>
              </a:defRPr>
            </a:pPr>
            <a:r>
              <a:t>y = σ(Wx + b) is a basic neural equation</a:t>
            </a:r>
          </a:p>
        </p:txBody>
      </p:sp>
      <p:pic>
        <p:nvPicPr>
          <p:cNvPr id="4" name="Picture 3" descr="ba68d4eb33724ef9b737cbf39bf44146.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is a fundamental concept in deep learning</a:t>
            </a:r>
          </a:p>
          <a:p>
            <a:pPr>
              <a:defRPr sz="2000">
                <a:solidFill>
                  <a:srgbClr val="444444"/>
                </a:solidFill>
              </a:defRPr>
            </a:pPr>
            <a:r>
              <a:t>Used for image and signal processing tasks</a:t>
            </a:r>
          </a:p>
          <a:p>
            <a:pPr>
              <a:defRPr sz="2000">
                <a:solidFill>
                  <a:srgbClr val="444444"/>
                </a:solidFill>
              </a:defRPr>
            </a:pPr>
            <a:r>
              <a:t>Involves sliding filters over input data</a:t>
            </a:r>
          </a:p>
          <a:p>
            <a:pPr>
              <a:defRPr sz="2000">
                <a:solidFill>
                  <a:srgbClr val="444444"/>
                </a:solidFill>
              </a:defRPr>
            </a:pPr>
            <a:r>
              <a:t>Filters learn to detect specific patterns and features</a:t>
            </a:r>
          </a:p>
          <a:p>
            <a:pPr>
              <a:defRPr sz="2000">
                <a:solidFill>
                  <a:srgbClr val="444444"/>
                </a:solidFill>
              </a:defRPr>
            </a:pPr>
            <a:r>
              <a:t>Convolutional neural networks utilize convolution operation</a:t>
            </a:r>
          </a:p>
          <a:p>
            <a:pPr>
              <a:defRPr sz="2000">
                <a:solidFill>
                  <a:srgbClr val="444444"/>
                </a:solidFill>
              </a:defRPr>
            </a:pPr>
            <a:r>
              <a:t>Effective for image classification and object detection</a:t>
            </a:r>
          </a:p>
          <a:p>
            <a:pPr>
              <a:defRPr sz="2000">
                <a:solidFill>
                  <a:srgbClr val="444444"/>
                </a:solidFill>
              </a:defRPr>
            </a:pPr>
            <a:r>
              <a:t>Also applied in natural language processing tasks</a:t>
            </a:r>
          </a:p>
          <a:p>
            <a:pPr>
              <a:defRPr sz="2000">
                <a:solidFill>
                  <a:srgbClr val="444444"/>
                </a:solidFill>
              </a:defRPr>
            </a:pPr>
            <a:r>
              <a:t>Enables spatial hierarchy of features and patterns</a:t>
            </a:r>
          </a:p>
          <a:p>
            <a:pPr>
              <a:defRPr sz="2000">
                <a:solidFill>
                  <a:srgbClr val="444444"/>
                </a:solidFill>
              </a:defRPr>
            </a:pPr>
            <a:r>
              <a:t>Preserves spatial relationships between data elements</a:t>
            </a:r>
          </a:p>
        </p:txBody>
      </p:sp>
      <p:pic>
        <p:nvPicPr>
          <p:cNvPr id="4" name="Picture 3" descr="99fdac01772747d2883665488d9bb310.png"/>
          <p:cNvPicPr>
            <a:picLocks noChangeAspect="1"/>
          </p:cNvPicPr>
          <p:nvPr/>
        </p:nvPicPr>
        <p:blipFill>
          <a:blip r:embed="rId2"/>
          <a:stretch>
            <a:fillRect/>
          </a:stretch>
        </p:blipFill>
        <p:spPr>
          <a:xfrm>
            <a:off x="7315200" y="1828800"/>
            <a:ext cx="4114800" cy="5184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combines images with filters</a:t>
            </a:r>
          </a:p>
          <a:p>
            <a:pPr>
              <a:defRPr sz="2000">
                <a:solidFill>
                  <a:srgbClr val="444444"/>
                </a:solidFill>
              </a:defRPr>
            </a:pPr>
            <a:r>
              <a:t>Filters detect edges, lines, and shapes</a:t>
            </a:r>
          </a:p>
          <a:p>
            <a:pPr>
              <a:defRPr sz="2000">
                <a:solidFill>
                  <a:srgbClr val="444444"/>
                </a:solidFill>
              </a:defRPr>
            </a:pPr>
            <a:r>
              <a:t>Convolution reduces spatial dimensions</a:t>
            </a:r>
          </a:p>
          <a:p>
            <a:pPr>
              <a:defRPr sz="2000">
                <a:solidFill>
                  <a:srgbClr val="444444"/>
                </a:solidFill>
              </a:defRPr>
            </a:pPr>
            <a:r>
              <a:t>Strides control convolution speed</a:t>
            </a:r>
          </a:p>
          <a:p>
            <a:pPr>
              <a:defRPr sz="2000">
                <a:solidFill>
                  <a:srgbClr val="444444"/>
                </a:solidFill>
              </a:defRPr>
            </a:pPr>
            <a:r>
              <a:t>Padding preserves image borders</a:t>
            </a:r>
          </a:p>
          <a:p>
            <a:pPr>
              <a:defRPr sz="2000">
                <a:solidFill>
                  <a:srgbClr val="444444"/>
                </a:solidFill>
              </a:defRPr>
            </a:pPr>
            <a:r>
              <a:t>Convolution used in image classification</a:t>
            </a:r>
          </a:p>
          <a:p>
            <a:pPr>
              <a:defRPr sz="2000">
                <a:solidFill>
                  <a:srgbClr val="444444"/>
                </a:solidFill>
              </a:defRPr>
            </a:pPr>
            <a:r>
              <a:t>Convolution used in object detection</a:t>
            </a:r>
          </a:p>
          <a:p>
            <a:pPr>
              <a:defRPr sz="2000">
                <a:solidFill>
                  <a:srgbClr val="444444"/>
                </a:solidFill>
              </a:defRPr>
            </a:pPr>
            <a:r>
              <a:t>Convolution used in image segmentation</a:t>
            </a:r>
          </a:p>
          <a:p>
            <a:pPr>
              <a:defRPr sz="2000">
                <a:solidFill>
                  <a:srgbClr val="444444"/>
                </a:solidFill>
              </a:defRPr>
            </a:pPr>
            <a:r>
              <a:t>y = σ(W*x + b) activation function</a:t>
            </a:r>
          </a:p>
          <a:p>
            <a:pPr>
              <a:defRPr sz="2000">
                <a:solidFill>
                  <a:srgbClr val="444444"/>
                </a:solidFill>
              </a:defRPr>
            </a:pPr>
            <a:r>
              <a:t>Convolution key in deep learning networks</a:t>
            </a:r>
          </a:p>
        </p:txBody>
      </p:sp>
      <p:pic>
        <p:nvPicPr>
          <p:cNvPr id="4" name="Picture 3" descr="f5e55afb22da46ed9fdcde23fc843c30.png"/>
          <p:cNvPicPr>
            <a:picLocks noChangeAspect="1"/>
          </p:cNvPicPr>
          <p:nvPr/>
        </p:nvPicPr>
        <p:blipFill>
          <a:blip r:embed="rId2"/>
          <a:stretch>
            <a:fillRect/>
          </a:stretch>
        </p:blipFill>
        <p:spPr>
          <a:xfrm>
            <a:off x="7315200" y="1828800"/>
            <a:ext cx="4114800" cy="30311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