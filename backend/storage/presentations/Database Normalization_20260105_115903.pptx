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Introduction to the presentation on Database Normalization.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Introduction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Core Concept / Architecture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Explain Mathematical / Logical Explanation in detail, covering key concepts and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the applications and use cases of database normalization, emphasize the importance of data consistency and integrity in various industries. Provide examples such as e-commerce platforms and healthcare databases to illustrate the practical applications of normalization. Ask students to consider how normalization would improve data management in their own projects or hypothetical scenarios, and encourage them to think critically about the benefits and challenges of implementing normalization in different contexts.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this slide, emphasize the importance of normalization in database design, provide examples of how normalization can prevent data anomalies, and ask students to consider scenarios where denormalization might be necessary. Encourage students to think critically about the trade-offs between data integrity and performance. Ask questions like 'What are the benefits of normalizing a database?' or 'How might denormalization impact data consistency?' to prompt class discussion.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Database Normalization</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Database Management System</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Introduction</a:t>
            </a:r>
          </a:p>
        </p:txBody>
      </p:sp>
      <p:sp>
        <p:nvSpPr>
          <p:cNvPr id="3" name="Content Placeholder 2"/>
          <p:cNvSpPr>
            <a:spLocks noGrp="1"/>
          </p:cNvSpPr>
          <p:nvPr>
            <p:ph idx="1"/>
          </p:nvPr>
        </p:nvSpPr>
        <p:spPr/>
        <p:txBody>
          <a:bodyPr/>
          <a:lstStyle/>
          <a:p>
            <a:pPr>
              <a:defRPr sz="2000">
                <a:solidFill>
                  <a:srgbClr val="444444"/>
                </a:solidFill>
              </a:defRPr>
            </a:pPr>
            <a:r>
              <a:t>Introduction to Introduction</a:t>
            </a:r>
          </a:p>
          <a:p>
            <a:pPr>
              <a:defRPr sz="2000">
                <a:solidFill>
                  <a:srgbClr val="444444"/>
                </a:solidFill>
              </a:defRPr>
            </a:pPr>
            <a:r>
              <a:t>Key concepts related to Introduction</a:t>
            </a:r>
          </a:p>
          <a:p>
            <a:pPr>
              <a:defRPr sz="2000">
                <a:solidFill>
                  <a:srgbClr val="444444"/>
                </a:solidFill>
              </a:defRPr>
            </a:pPr>
            <a:r>
              <a:t>Important aspects of Introduction</a:t>
            </a:r>
          </a:p>
          <a:p>
            <a:pPr>
              <a:defRPr sz="2000">
                <a:solidFill>
                  <a:srgbClr val="444444"/>
                </a:solidFill>
              </a:defRPr>
            </a:pPr>
            <a:r>
              <a:t>Applications and examples of Introduction</a:t>
            </a:r>
          </a:p>
        </p:txBody>
      </p:sp>
      <p:pic>
        <p:nvPicPr>
          <p:cNvPr id="4" name="Picture 3" descr="f6ac4c5ecd1242648dbad4c72d1bb763_database_normalization_database_manageme.jpg"/>
          <p:cNvPicPr>
            <a:picLocks noChangeAspect="1"/>
          </p:cNvPicPr>
          <p:nvPr/>
        </p:nvPicPr>
        <p:blipFill>
          <a:blip r:embed="rId2"/>
          <a:stretch>
            <a:fillRect/>
          </a:stretch>
        </p:blipFill>
        <p:spPr>
          <a:xfrm>
            <a:off x="7315200" y="1828800"/>
            <a:ext cx="4114800" cy="293751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Core Concept / Architecture</a:t>
            </a:r>
          </a:p>
        </p:txBody>
      </p:sp>
      <p:sp>
        <p:nvSpPr>
          <p:cNvPr id="3" name="Content Placeholder 2"/>
          <p:cNvSpPr>
            <a:spLocks noGrp="1"/>
          </p:cNvSpPr>
          <p:nvPr>
            <p:ph idx="1"/>
          </p:nvPr>
        </p:nvSpPr>
        <p:spPr/>
        <p:txBody>
          <a:bodyPr/>
          <a:lstStyle/>
          <a:p>
            <a:pPr>
              <a:defRPr sz="2000">
                <a:solidFill>
                  <a:srgbClr val="444444"/>
                </a:solidFill>
              </a:defRPr>
            </a:pPr>
            <a:r>
              <a:t>Introduction to Core Concept / Architecture</a:t>
            </a:r>
          </a:p>
          <a:p>
            <a:pPr>
              <a:defRPr sz="2000">
                <a:solidFill>
                  <a:srgbClr val="444444"/>
                </a:solidFill>
              </a:defRPr>
            </a:pPr>
            <a:r>
              <a:t>Key concepts related to Core Concept / Architecture</a:t>
            </a:r>
          </a:p>
          <a:p>
            <a:pPr>
              <a:defRPr sz="2000">
                <a:solidFill>
                  <a:srgbClr val="444444"/>
                </a:solidFill>
              </a:defRPr>
            </a:pPr>
            <a:r>
              <a:t>Important aspects of Core Concept / Architecture</a:t>
            </a:r>
          </a:p>
          <a:p>
            <a:pPr>
              <a:defRPr sz="2000">
                <a:solidFill>
                  <a:srgbClr val="444444"/>
                </a:solidFill>
              </a:defRPr>
            </a:pPr>
            <a:r>
              <a:t>Applications and examples of Core Concept / Architecture</a:t>
            </a:r>
          </a:p>
        </p:txBody>
      </p:sp>
      <p:pic>
        <p:nvPicPr>
          <p:cNvPr id="4" name="Picture 3" descr="69c7024e40d54284aa8015f96962bef2_database_normalization_database_manageme.jpg"/>
          <p:cNvPicPr>
            <a:picLocks noChangeAspect="1"/>
          </p:cNvPicPr>
          <p:nvPr/>
        </p:nvPicPr>
        <p:blipFill>
          <a:blip r:embed="rId2"/>
          <a:stretch>
            <a:fillRect/>
          </a:stretch>
        </p:blipFill>
        <p:spPr>
          <a:xfrm>
            <a:off x="7315200" y="1828800"/>
            <a:ext cx="4114800" cy="231648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Mathematical / Logical Explanation</a:t>
            </a:r>
          </a:p>
        </p:txBody>
      </p:sp>
      <p:sp>
        <p:nvSpPr>
          <p:cNvPr id="3" name="Content Placeholder 2"/>
          <p:cNvSpPr>
            <a:spLocks noGrp="1"/>
          </p:cNvSpPr>
          <p:nvPr>
            <p:ph idx="1"/>
          </p:nvPr>
        </p:nvSpPr>
        <p:spPr/>
        <p:txBody>
          <a:bodyPr/>
          <a:lstStyle/>
          <a:p>
            <a:pPr>
              <a:defRPr sz="2000">
                <a:solidFill>
                  <a:srgbClr val="444444"/>
                </a:solidFill>
              </a:defRPr>
            </a:pPr>
            <a:r>
              <a:t>Introduction to Mathematical / Logical Explanation</a:t>
            </a:r>
          </a:p>
          <a:p>
            <a:pPr>
              <a:defRPr sz="2000">
                <a:solidFill>
                  <a:srgbClr val="444444"/>
                </a:solidFill>
              </a:defRPr>
            </a:pPr>
            <a:r>
              <a:t>Key concepts related to Mathematical / Logical Explanation</a:t>
            </a:r>
          </a:p>
          <a:p>
            <a:pPr>
              <a:defRPr sz="2000">
                <a:solidFill>
                  <a:srgbClr val="444444"/>
                </a:solidFill>
              </a:defRPr>
            </a:pPr>
            <a:r>
              <a:t>Important aspects of Mathematical / Logical Explanation</a:t>
            </a:r>
          </a:p>
          <a:p>
            <a:pPr>
              <a:defRPr sz="2000">
                <a:solidFill>
                  <a:srgbClr val="444444"/>
                </a:solidFill>
              </a:defRPr>
            </a:pPr>
            <a:r>
              <a:t>Applications and examples of Mathematical / Logical Explanation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Applications / Use Cases</a:t>
            </a:r>
          </a:p>
        </p:txBody>
      </p:sp>
      <p:sp>
        <p:nvSpPr>
          <p:cNvPr id="3" name="Content Placeholder 2"/>
          <p:cNvSpPr>
            <a:spLocks noGrp="1"/>
          </p:cNvSpPr>
          <p:nvPr>
            <p:ph idx="1"/>
          </p:nvPr>
        </p:nvSpPr>
        <p:spPr/>
        <p:txBody>
          <a:bodyPr/>
          <a:lstStyle/>
          <a:p>
            <a:pPr>
              <a:defRPr sz="2000">
                <a:solidFill>
                  <a:srgbClr val="444444"/>
                </a:solidFill>
              </a:defRPr>
            </a:pPr>
            <a:r>
              <a:t>Database normalization applies to e-commerce platforms</a:t>
            </a:r>
          </a:p>
          <a:p>
            <a:pPr>
              <a:defRPr sz="2000">
                <a:solidFill>
                  <a:srgbClr val="444444"/>
                </a:solidFill>
              </a:defRPr>
            </a:pPr>
            <a:r>
              <a:t>Social media websites use normalization for data consistency</a:t>
            </a:r>
          </a:p>
          <a:p>
            <a:pPr>
              <a:defRPr sz="2000">
                <a:solidFill>
                  <a:srgbClr val="444444"/>
                </a:solidFill>
              </a:defRPr>
            </a:pPr>
            <a:r>
              <a:t>Normalization is crucial in banking and financial systems</a:t>
            </a:r>
          </a:p>
          <a:p>
            <a:pPr>
              <a:defRPr sz="2000">
                <a:solidFill>
                  <a:srgbClr val="444444"/>
                </a:solidFill>
              </a:defRPr>
            </a:pPr>
            <a:r>
              <a:t>Healthcare databases rely on normalization for patient records</a:t>
            </a:r>
          </a:p>
          <a:p>
            <a:pPr>
              <a:defRPr sz="2000">
                <a:solidFill>
                  <a:srgbClr val="444444"/>
                </a:solidFill>
              </a:defRPr>
            </a:pPr>
            <a:r>
              <a:t>Normalization is used in online education platforms for course management</a:t>
            </a:r>
          </a:p>
          <a:p>
            <a:pPr>
              <a:defRPr sz="2000">
                <a:solidFill>
                  <a:srgbClr val="444444"/>
                </a:solidFill>
              </a:defRPr>
            </a:pPr>
            <a:r>
              <a:t>Customer relationship management systems utilize normalization</a:t>
            </a:r>
          </a:p>
          <a:p>
            <a:pPr>
              <a:defRPr sz="2000">
                <a:solidFill>
                  <a:srgbClr val="444444"/>
                </a:solidFill>
              </a:defRPr>
            </a:pPr>
            <a:r>
              <a:t>Normalization is applied in supply chain management databases</a:t>
            </a:r>
          </a:p>
          <a:p>
            <a:pPr>
              <a:defRPr sz="2000">
                <a:solidFill>
                  <a:srgbClr val="444444"/>
                </a:solidFill>
              </a:defRPr>
            </a:pPr>
            <a:r>
              <a:t>Real-time data analytics systems benefit from normalization techniques</a:t>
            </a:r>
          </a:p>
          <a:p>
            <a:pPr>
              <a:defRPr sz="2000">
                <a:solidFill>
                  <a:srgbClr val="444444"/>
                </a:solidFill>
              </a:defRPr>
            </a:pPr>
            <a:r>
              <a:t>Data warehousing and business intelligence use normalization principles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Summary &amp; Key Takeaways</a:t>
            </a:r>
          </a:p>
        </p:txBody>
      </p:sp>
      <p:sp>
        <p:nvSpPr>
          <p:cNvPr id="3" name="Content Placeholder 2"/>
          <p:cNvSpPr>
            <a:spLocks noGrp="1"/>
          </p:cNvSpPr>
          <p:nvPr>
            <p:ph idx="1"/>
          </p:nvPr>
        </p:nvSpPr>
        <p:spPr/>
        <p:txBody>
          <a:bodyPr/>
          <a:lstStyle/>
          <a:p>
            <a:pPr>
              <a:defRPr sz="2000">
                <a:solidFill>
                  <a:srgbClr val="444444"/>
                </a:solidFill>
              </a:defRPr>
            </a:pPr>
            <a:r>
              <a:t>Database normalization prevents data redundancy and inconsistency</a:t>
            </a:r>
          </a:p>
          <a:p>
            <a:pPr>
              <a:defRPr sz="2000">
                <a:solidFill>
                  <a:srgbClr val="444444"/>
                </a:solidFill>
              </a:defRPr>
            </a:pPr>
            <a:r>
              <a:t>Normal forms ensure data integrity and reduce anomalies</a:t>
            </a:r>
          </a:p>
          <a:p>
            <a:pPr>
              <a:defRPr sz="2000">
                <a:solidFill>
                  <a:srgbClr val="444444"/>
                </a:solidFill>
              </a:defRPr>
            </a:pPr>
            <a:r>
              <a:t>First normal form eliminates repeating groups and arrays</a:t>
            </a:r>
          </a:p>
          <a:p>
            <a:pPr>
              <a:defRPr sz="2000">
                <a:solidFill>
                  <a:srgbClr val="444444"/>
                </a:solidFill>
              </a:defRPr>
            </a:pPr>
            <a:r>
              <a:t>Second normal form eliminates partial dependencies</a:t>
            </a:r>
          </a:p>
          <a:p>
            <a:pPr>
              <a:defRPr sz="2000">
                <a:solidFill>
                  <a:srgbClr val="444444"/>
                </a:solidFill>
              </a:defRPr>
            </a:pPr>
            <a:r>
              <a:t>Third normal form eliminates transitive dependencies</a:t>
            </a:r>
          </a:p>
          <a:p>
            <a:pPr>
              <a:defRPr sz="2000">
                <a:solidFill>
                  <a:srgbClr val="444444"/>
                </a:solidFill>
              </a:defRPr>
            </a:pPr>
            <a:r>
              <a:t>Boyce-Codd normal form ensures higher data integrity</a:t>
            </a:r>
          </a:p>
          <a:p>
            <a:pPr>
              <a:defRPr sz="2000">
                <a:solidFill>
                  <a:srgbClr val="444444"/>
                </a:solidFill>
              </a:defRPr>
            </a:pPr>
            <a:r>
              <a:t>Normalization improves data scalability and flexibility</a:t>
            </a:r>
          </a:p>
          <a:p>
            <a:pPr>
              <a:defRPr sz="2000">
                <a:solidFill>
                  <a:srgbClr val="444444"/>
                </a:solidFill>
              </a:defRPr>
            </a:pPr>
            <a:r>
              <a:t>Denormalization may improve performance in certain cases</a:t>
            </a:r>
          </a:p>
          <a:p>
            <a:pPr>
              <a:defRPr sz="2000">
                <a:solidFill>
                  <a:srgbClr val="444444"/>
                </a:solidFill>
              </a:defRPr>
            </a:pPr>
            <a:r>
              <a:t>Database design requires careful normalization consideration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