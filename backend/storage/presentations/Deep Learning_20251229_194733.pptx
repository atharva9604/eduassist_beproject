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CNNs, Convolution Operation, Pooling Layers, CNN Architecture Example, Applications of CNNs.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emphasize their inspiration from biological systems and their efficiency in processing visual data. Provide examples of image classification tasks, such as recognizing objects in pictures. Explain how CNNs learn features at multiple scales using convolutional and pooling layers. Ask students to consider how local connectivity and shared weights contribute to the model's efficiency. Discuss the significance of translation equivariance and how it applies to real-world image processing tasks. Use the LeNet-5 example to illustrate a basic CNN architecture and highlight the role of activation functions like ReLU or sigmoid. Encourage students to think about the applications of CNNs beyond image classification, such as object detection and segmentation, to understand the breadth of their utility in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emphasize their ability to automatically extract relevant features from images, which is a significant advancement over traditional machine learning methods. Provide examples of real-world applications such as self-driving cars using CNNs for object detection and image classification. Explain the basic architecture of a CNN, including convolutional and pooling layers, and how they contribute to the network's ability to learn from data. Discuss the importance of pre-trained models and how they can be fine-tuned for specific tasks, highlighting the efficiency and accuracy this approach offers. Ask students to consider how CNNs might be applied to solve problems in their own fields of interest, encouraging them to think creatively about the potential applications of deep learning technologies.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CNNs, emphasize the role of convolutional and pooling layers in feature extraction. Provide examples of how CNNs are used in image classification tasks, such as object recognition and facial detection. Ask students to consider how the choice of activation function and pooling method can impact model performance. Key takeaways include understanding the basic components of a CNN and how they contribute to its ability to learn complex patterns in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convolution operation, explain its role in combining images with filters to generate feature maps. Provide examples of image classification and object detection tasks where convolution is applied. Ask students to consider how convolution reduces spatial dimensions while preserving spatial relationships. Key takeaways include understanding translation equivariance and improved model robustness. Discuss how convolutional neural networks leverage convolution to achieve state-of-the-art results in computer vision tasks.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convolution operation, explain its role in combining images with filters to detect edges and shapes. Provide examples of image processing techniques like blurring and sharpening. Emphasize the importance of stride and padding in controlling output spatial dimensions. Use visual aids to illustrate how convolutional neural networks leverage this operation for feature extraction and image classification. Ask students to consider how convolutional layers learn spatial hierarchies and how this applies to real-world applications. Key takeaways include understanding the basics of convolution operation and its applications in deep learning.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CNNs, Convolution Operation, Pooling Layers, CNN Architecture Example, Applications of CNNs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process visual data efficiently</a:t>
            </a:r>
          </a:p>
          <a:p>
            <a:pPr>
              <a:defRPr sz="2000">
                <a:solidFill>
                  <a:srgbClr val="444444"/>
                </a:solidFill>
              </a:defRPr>
            </a:pPr>
            <a:r>
              <a:t>Inspired by biological neural networks and human vision</a:t>
            </a:r>
          </a:p>
          <a:p>
            <a:pPr>
              <a:defRPr sz="2000">
                <a:solidFill>
                  <a:srgbClr val="444444"/>
                </a:solidFill>
              </a:defRPr>
            </a:pPr>
            <a:r>
              <a:t>Use convolutional and pooling layers for feature extraction</a:t>
            </a:r>
          </a:p>
          <a:p>
            <a:pPr>
              <a:defRPr sz="2000">
                <a:solidFill>
                  <a:srgbClr val="444444"/>
                </a:solidFill>
              </a:defRPr>
            </a:pPr>
            <a:r>
              <a:t>Image classification is a primary application of CNNs</a:t>
            </a:r>
          </a:p>
          <a:p>
            <a:pPr>
              <a:defRPr sz="2000">
                <a:solidFill>
                  <a:srgbClr val="444444"/>
                </a:solidFill>
              </a:defRPr>
            </a:pPr>
            <a:r>
              <a:t>Object detection and segmentation are also key uses</a:t>
            </a:r>
          </a:p>
          <a:p>
            <a:pPr>
              <a:defRPr sz="2000">
                <a:solidFill>
                  <a:srgbClr val="444444"/>
                </a:solidFill>
              </a:defRPr>
            </a:pPr>
            <a:r>
              <a:t>CNNs learn spatial hierarchies of features automatically</a:t>
            </a:r>
          </a:p>
          <a:p>
            <a:pPr>
              <a:defRPr sz="2000">
                <a:solidFill>
                  <a:srgbClr val="444444"/>
                </a:solidFill>
              </a:defRPr>
            </a:pPr>
            <a:r>
              <a:t>Local connectivity and shared weights reduce parameters</a:t>
            </a:r>
          </a:p>
          <a:p>
            <a:pPr>
              <a:defRPr sz="2000">
                <a:solidFill>
                  <a:srgbClr val="444444"/>
                </a:solidFill>
              </a:defRPr>
            </a:pPr>
            <a:r>
              <a:t>Translation equivariance is a key CNN property</a:t>
            </a:r>
          </a:p>
          <a:p>
            <a:pPr>
              <a:defRPr sz="2000">
                <a:solidFill>
                  <a:srgbClr val="444444"/>
                </a:solidFill>
              </a:defRPr>
            </a:pPr>
            <a:r>
              <a:t>LeNet-5 is an early example of a CNN architecture</a:t>
            </a:r>
          </a:p>
          <a:p>
            <a:pPr>
              <a:defRPr sz="2000">
                <a:solidFill>
                  <a:srgbClr val="444444"/>
                </a:solidFill>
              </a:defRPr>
            </a:pPr>
            <a:r>
              <a:t>Activated by ReLU or sigmoid functions typically</a:t>
            </a:r>
          </a:p>
        </p:txBody>
      </p:sp>
      <p:pic>
        <p:nvPicPr>
          <p:cNvPr id="4" name="Picture 3" descr="4045b694b5564d529c274156c08ff459.jpg"/>
          <p:cNvPicPr>
            <a:picLocks noChangeAspect="1"/>
          </p:cNvPicPr>
          <p:nvPr/>
        </p:nvPicPr>
        <p:blipFill>
          <a:blip r:embed="rId2"/>
          <a:stretch>
            <a:fillRect/>
          </a:stretch>
        </p:blipFill>
        <p:spPr>
          <a:xfrm>
            <a:off x="7315200" y="1828800"/>
            <a:ext cx="4114800" cy="288650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extract features from images</a:t>
            </a:r>
          </a:p>
          <a:p>
            <a:pPr>
              <a:defRPr sz="2000">
                <a:solidFill>
                  <a:srgbClr val="444444"/>
                </a:solidFill>
              </a:defRPr>
            </a:pPr>
            <a:r>
              <a:t>CNNs use convolutional and pooling layers for data reduction</a:t>
            </a:r>
          </a:p>
          <a:p>
            <a:pPr>
              <a:defRPr sz="2000">
                <a:solidFill>
                  <a:srgbClr val="444444"/>
                </a:solidFill>
              </a:defRPr>
            </a:pPr>
            <a:r>
              <a:t>LeNet-5 is an early example of CNN architecture</a:t>
            </a:r>
          </a:p>
          <a:p>
            <a:pPr>
              <a:defRPr sz="2000">
                <a:solidFill>
                  <a:srgbClr val="444444"/>
                </a:solidFill>
              </a:defRPr>
            </a:pPr>
            <a:r>
              <a:t>CNNs are widely used in image classification tasks</a:t>
            </a:r>
          </a:p>
          <a:p>
            <a:pPr>
              <a:defRPr sz="2000">
                <a:solidFill>
                  <a:srgbClr val="444444"/>
                </a:solidFill>
              </a:defRPr>
            </a:pPr>
            <a:r>
              <a:t>Object detection is another key application of CNNs</a:t>
            </a:r>
          </a:p>
          <a:p>
            <a:pPr>
              <a:defRPr sz="2000">
                <a:solidFill>
                  <a:srgbClr val="444444"/>
                </a:solidFill>
              </a:defRPr>
            </a:pPr>
            <a:r>
              <a:t>Segmentation tasks also utilize CNNs for precise results</a:t>
            </a:r>
          </a:p>
          <a:p>
            <a:pPr>
              <a:defRPr sz="2000">
                <a:solidFill>
                  <a:srgbClr val="444444"/>
                </a:solidFill>
              </a:defRPr>
            </a:pPr>
            <a:r>
              <a:t>Convolutional layers apply filters to small image regions</a:t>
            </a:r>
          </a:p>
          <a:p>
            <a:pPr>
              <a:defRPr sz="2000">
                <a:solidFill>
                  <a:srgbClr val="444444"/>
                </a:solidFill>
              </a:defRPr>
            </a:pPr>
            <a:r>
              <a:t>Activation functions introduce non-linearity in CNNs</a:t>
            </a:r>
          </a:p>
          <a:p>
            <a:pPr>
              <a:defRPr sz="2000">
                <a:solidFill>
                  <a:srgbClr val="444444"/>
                </a:solidFill>
              </a:defRPr>
            </a:pPr>
            <a:r>
              <a:t>Backpropagation is used for training CNN models</a:t>
            </a:r>
          </a:p>
          <a:p>
            <a:pPr>
              <a:defRPr sz="2000">
                <a:solidFill>
                  <a:srgbClr val="444444"/>
                </a:solidFill>
              </a:defRPr>
            </a:pPr>
            <a:r>
              <a:t>Pre-trained CNNs can be fine-tuned for specific tasks</a:t>
            </a:r>
          </a:p>
        </p:txBody>
      </p:sp>
      <p:pic>
        <p:nvPicPr>
          <p:cNvPr id="4" name="Picture 3" descr="b655069a28f745599ae909cbc043d7f2.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CNNs - Architecture</a:t>
            </a:r>
          </a:p>
        </p:txBody>
      </p:sp>
      <p:sp>
        <p:nvSpPr>
          <p:cNvPr id="3" name="Content Placeholder 2"/>
          <p:cNvSpPr>
            <a:spLocks noGrp="1"/>
          </p:cNvSpPr>
          <p:nvPr>
            <p:ph idx="1"/>
          </p:nvPr>
        </p:nvSpPr>
        <p:spPr/>
        <p:txBody>
          <a:bodyPr/>
          <a:lstStyle/>
          <a:p>
            <a:pPr>
              <a:defRPr sz="2000">
                <a:solidFill>
                  <a:srgbClr val="444444"/>
                </a:solidFill>
              </a:defRPr>
            </a:pPr>
            <a:r>
              <a:t>Convolutional Neural Networks use convolutional layers</a:t>
            </a:r>
          </a:p>
          <a:p>
            <a:pPr>
              <a:defRPr sz="2000">
                <a:solidFill>
                  <a:srgbClr val="444444"/>
                </a:solidFill>
              </a:defRPr>
            </a:pPr>
            <a:r>
              <a:t>Convolutional layers apply filters to input data</a:t>
            </a:r>
          </a:p>
          <a:p>
            <a:pPr>
              <a:defRPr sz="2000">
                <a:solidFill>
                  <a:srgbClr val="444444"/>
                </a:solidFill>
              </a:defRPr>
            </a:pPr>
            <a:r>
              <a:t>Filters scan input data in both horizontal and vertical directions</a:t>
            </a:r>
          </a:p>
          <a:p>
            <a:pPr>
              <a:defRPr sz="2000">
                <a:solidFill>
                  <a:srgbClr val="444444"/>
                </a:solidFill>
              </a:defRPr>
            </a:pPr>
            <a:r>
              <a:t>Activation functions introduce non-linearity to models</a:t>
            </a:r>
          </a:p>
          <a:p>
            <a:pPr>
              <a:defRPr sz="2000">
                <a:solidFill>
                  <a:srgbClr val="444444"/>
                </a:solidFill>
              </a:defRPr>
            </a:pPr>
            <a:r>
              <a:t>Pooling layers reduce spatial dimensions of data</a:t>
            </a:r>
          </a:p>
          <a:p>
            <a:pPr>
              <a:defRPr sz="2000">
                <a:solidFill>
                  <a:srgbClr val="444444"/>
                </a:solidFill>
              </a:defRPr>
            </a:pPr>
            <a:r>
              <a:t>Fully connected layers used for classification tasks</a:t>
            </a:r>
          </a:p>
          <a:p>
            <a:pPr>
              <a:defRPr sz="2000">
                <a:solidFill>
                  <a:srgbClr val="444444"/>
                </a:solidFill>
              </a:defRPr>
            </a:pPr>
            <a:r>
              <a:t>ReLU activation function: f(x) = max(0, x)</a:t>
            </a:r>
          </a:p>
          <a:p>
            <a:pPr>
              <a:defRPr sz="2000">
                <a:solidFill>
                  <a:srgbClr val="444444"/>
                </a:solidFill>
              </a:defRPr>
            </a:pPr>
            <a:r>
              <a:t>Batch normalization improves model stability</a:t>
            </a:r>
          </a:p>
          <a:p>
            <a:pPr>
              <a:defRPr sz="2000">
                <a:solidFill>
                  <a:srgbClr val="444444"/>
                </a:solidFill>
              </a:defRPr>
            </a:pPr>
            <a:r>
              <a:t>Dropout prevents overfitting by randomizing input</a:t>
            </a:r>
          </a:p>
          <a:p>
            <a:pPr>
              <a:defRPr sz="2000">
                <a:solidFill>
                  <a:srgbClr val="444444"/>
                </a:solidFill>
              </a:defRPr>
            </a:pPr>
            <a:r>
              <a:t>CNNs suitable for image and video processing tasks</a:t>
            </a:r>
          </a:p>
        </p:txBody>
      </p:sp>
      <p:pic>
        <p:nvPicPr>
          <p:cNvPr id="4" name="Picture 3" descr="914cc37ba60c46e5bb0476534d433ad2.jpg"/>
          <p:cNvPicPr>
            <a:picLocks noChangeAspect="1"/>
          </p:cNvPicPr>
          <p:nvPr/>
        </p:nvPicPr>
        <p:blipFill>
          <a:blip r:embed="rId2"/>
          <a:stretch>
            <a:fillRect/>
          </a:stretch>
        </p:blipFill>
        <p:spPr>
          <a:xfrm>
            <a:off x="7315200" y="1828800"/>
            <a:ext cx="4114800" cy="409651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Operation - Introduction</a:t>
            </a:r>
          </a:p>
        </p:txBody>
      </p:sp>
      <p:sp>
        <p:nvSpPr>
          <p:cNvPr id="3" name="Content Placeholder 2"/>
          <p:cNvSpPr>
            <a:spLocks noGrp="1"/>
          </p:cNvSpPr>
          <p:nvPr>
            <p:ph idx="1"/>
          </p:nvPr>
        </p:nvSpPr>
        <p:spPr/>
        <p:txBody>
          <a:bodyPr/>
          <a:lstStyle/>
          <a:p>
            <a:pPr>
              <a:defRPr sz="2000">
                <a:solidFill>
                  <a:srgbClr val="444444"/>
                </a:solidFill>
              </a:defRPr>
            </a:pPr>
            <a:r>
              <a:t>Convolution operation combines images with filters</a:t>
            </a:r>
          </a:p>
          <a:p>
            <a:pPr>
              <a:defRPr sz="2000">
                <a:solidFill>
                  <a:srgbClr val="444444"/>
                </a:solidFill>
              </a:defRPr>
            </a:pPr>
            <a:r>
              <a:t>Applies filters to small regions of image</a:t>
            </a:r>
          </a:p>
          <a:p>
            <a:pPr>
              <a:defRPr sz="2000">
                <a:solidFill>
                  <a:srgbClr val="444444"/>
                </a:solidFill>
              </a:defRPr>
            </a:pPr>
            <a:r>
              <a:t>Generates feature maps from convolved images</a:t>
            </a:r>
          </a:p>
          <a:p>
            <a:pPr>
              <a:defRPr sz="2000">
                <a:solidFill>
                  <a:srgbClr val="444444"/>
                </a:solidFill>
              </a:defRPr>
            </a:pPr>
            <a:r>
              <a:t>Used in image classification and object detection</a:t>
            </a:r>
          </a:p>
          <a:p>
            <a:pPr>
              <a:defRPr sz="2000">
                <a:solidFill>
                  <a:srgbClr val="444444"/>
                </a:solidFill>
              </a:defRPr>
            </a:pPr>
            <a:r>
              <a:t>Convolutional neural networks utilize convolution</a:t>
            </a:r>
          </a:p>
          <a:p>
            <a:pPr>
              <a:defRPr sz="2000">
                <a:solidFill>
                  <a:srgbClr val="444444"/>
                </a:solidFill>
              </a:defRPr>
            </a:pPr>
            <a:r>
              <a:t>Reduces spatial dimensions of input data</a:t>
            </a:r>
          </a:p>
          <a:p>
            <a:pPr>
              <a:defRPr sz="2000">
                <a:solidFill>
                  <a:srgbClr val="444444"/>
                </a:solidFill>
              </a:defRPr>
            </a:pPr>
            <a:r>
              <a:t>Preserves spatial relationships between pixels</a:t>
            </a:r>
          </a:p>
          <a:p>
            <a:pPr>
              <a:defRPr sz="2000">
                <a:solidFill>
                  <a:srgbClr val="444444"/>
                </a:solidFill>
              </a:defRPr>
            </a:pPr>
            <a:r>
              <a:t>Enables translation equivariance in models</a:t>
            </a:r>
          </a:p>
          <a:p>
            <a:pPr>
              <a:defRPr sz="2000">
                <a:solidFill>
                  <a:srgbClr val="444444"/>
                </a:solidFill>
              </a:defRPr>
            </a:pPr>
            <a:r>
              <a:t>Improves model robustness to small transformations</a:t>
            </a:r>
          </a:p>
        </p:txBody>
      </p:sp>
      <p:pic>
        <p:nvPicPr>
          <p:cNvPr id="4" name="Picture 3" descr="26cf4db82a3d4ad4ba843eebb43f826e.png"/>
          <p:cNvPicPr>
            <a:picLocks noChangeAspect="1"/>
          </p:cNvPicPr>
          <p:nvPr/>
        </p:nvPicPr>
        <p:blipFill>
          <a:blip r:embed="rId2"/>
          <a:stretch>
            <a:fillRect/>
          </a:stretch>
        </p:blipFill>
        <p:spPr>
          <a:xfrm>
            <a:off x="7315200" y="1828800"/>
            <a:ext cx="4114800" cy="518464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Operation - Introduction</a:t>
            </a:r>
          </a:p>
        </p:txBody>
      </p:sp>
      <p:sp>
        <p:nvSpPr>
          <p:cNvPr id="3" name="Content Placeholder 2"/>
          <p:cNvSpPr>
            <a:spLocks noGrp="1"/>
          </p:cNvSpPr>
          <p:nvPr>
            <p:ph idx="1"/>
          </p:nvPr>
        </p:nvSpPr>
        <p:spPr/>
        <p:txBody>
          <a:bodyPr/>
          <a:lstStyle/>
          <a:p>
            <a:pPr>
              <a:defRPr sz="2000">
                <a:solidFill>
                  <a:srgbClr val="444444"/>
                </a:solidFill>
              </a:defRPr>
            </a:pPr>
            <a:r>
              <a:t>Convolution operation combines images with filters</a:t>
            </a:r>
          </a:p>
          <a:p>
            <a:pPr>
              <a:defRPr sz="2000">
                <a:solidFill>
                  <a:srgbClr val="444444"/>
                </a:solidFill>
              </a:defRPr>
            </a:pPr>
            <a:r>
              <a:t>Filters detect edges, lines, and shapes in images</a:t>
            </a:r>
          </a:p>
          <a:p>
            <a:pPr>
              <a:defRPr sz="2000">
                <a:solidFill>
                  <a:srgbClr val="444444"/>
                </a:solidFill>
              </a:defRPr>
            </a:pPr>
            <a:r>
              <a:t>Convolutional neural networks use convolution operation</a:t>
            </a:r>
          </a:p>
          <a:p>
            <a:pPr>
              <a:defRPr sz="2000">
                <a:solidFill>
                  <a:srgbClr val="444444"/>
                </a:solidFill>
              </a:defRPr>
            </a:pPr>
            <a:r>
              <a:t>Image processing uses convolution for blurring, sharpening</a:t>
            </a:r>
          </a:p>
          <a:p>
            <a:pPr>
              <a:defRPr sz="2000">
                <a:solidFill>
                  <a:srgbClr val="444444"/>
                </a:solidFill>
              </a:defRPr>
            </a:pPr>
            <a:r>
              <a:t>Convolution operation reduces spatial dimensions</a:t>
            </a:r>
          </a:p>
          <a:p>
            <a:pPr>
              <a:defRPr sz="2000">
                <a:solidFill>
                  <a:srgbClr val="444444"/>
                </a:solidFill>
              </a:defRPr>
            </a:pPr>
            <a:r>
              <a:t>Stride and padding control output spatial dimensions</a:t>
            </a:r>
          </a:p>
          <a:p>
            <a:pPr>
              <a:defRPr sz="2000">
                <a:solidFill>
                  <a:srgbClr val="444444"/>
                </a:solidFill>
              </a:defRPr>
            </a:pPr>
            <a:r>
              <a:t>Convolution operation enables feature extraction</a:t>
            </a:r>
          </a:p>
          <a:p>
            <a:pPr>
              <a:defRPr sz="2000">
                <a:solidFill>
                  <a:srgbClr val="444444"/>
                </a:solidFill>
              </a:defRPr>
            </a:pPr>
            <a:r>
              <a:t>Convolutional layers learn spatial hierarchies</a:t>
            </a:r>
          </a:p>
          <a:p>
            <a:pPr>
              <a:defRPr sz="2000">
                <a:solidFill>
                  <a:srgbClr val="444444"/>
                </a:solidFill>
              </a:defRPr>
            </a:pPr>
            <a:r>
              <a:t>Example: Image classification using convolution</a:t>
            </a:r>
          </a:p>
        </p:txBody>
      </p:sp>
      <p:pic>
        <p:nvPicPr>
          <p:cNvPr id="4" name="Picture 3" descr="4b21069401464b24a7dd881949295307.png"/>
          <p:cNvPicPr>
            <a:picLocks noChangeAspect="1"/>
          </p:cNvPicPr>
          <p:nvPr/>
        </p:nvPicPr>
        <p:blipFill>
          <a:blip r:embed="rId2"/>
          <a:stretch>
            <a:fillRect/>
          </a:stretch>
        </p:blipFill>
        <p:spPr>
          <a:xfrm>
            <a:off x="7315200" y="1828800"/>
            <a:ext cx="4114800" cy="303113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