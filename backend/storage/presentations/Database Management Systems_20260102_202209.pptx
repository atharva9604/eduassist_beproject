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Systems presentation covering multiple topics. Today we'll explore: Database Normalization, First Normal Form, Second Normal Form, Third Normal Form, Boyce-Codd Normal Form, Denormalization and Trade-offs, Best Practices and Summary.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its importance in reducing data redundancy and improving data integrity. Provide examples of data anomalies and inconsistencies that can occur without normalization. Discuss the different normal forms, such as 1NF, 2NF, and 3NF, and explain how they eliminate data redundancy. Mention the trade-off between normalization and performance, and how denormalization can be used to improve query performance. Ask students to consider the benefits and drawbacks of normalization in different database design scenarios. Key takeaways include understanding the purpose and benefits of database normalization, as well as the different normal forms and their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the importance of reducing data redundancy and dependency. Provide examples of how normalization improves data integrity and scalability. Discuss the different normal forms, such as 1NF, 2NF, and 3NF, and explain how they eliminate repeating groups, partial dependencies, and transitive dependencies. Use a simple example, like normalizing a student database table, to illustrate the concepts. Ask students to consider the trade-offs between normalization and denormalization for performance optimization. Key takeaways include understanding the benefits of normalization and being able to apply normal forms to relational databases.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its importance in reducing data redundancy and improving data integrity. Provide examples of how normalization applies to different database types, such as relational and NoSQL databases. Discuss the different normal forms, including first, second, and third normal forms, and how they eliminate data anomalies. Ask students to consider scenarios where normalization would improve data security and access control. Key takeaways include understanding the benefits of normalization and how it supports data warehousing and business intelligence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concept of First Normal Form and its importance in database management. Provide examples, such as a student table with multiple phone numbers, to illustrate how 1NF can transform data into separate rows or tables. Emphasize the benefits of 1NF, including improved data consistency, reduced redundancy, and enhanced scalability. Ask students to consider how 1NF can help in real-world database applications, such as customer relationship management or e-commerce platforms. Key takeaway: 1NF is a fundamental step in database normalization that ensures data quality and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First Normal Form, explain that it's the first step in normalizing a database. Emphasize the importance of eliminating repeating groups and ensuring each cell contains a single value. Provide examples of non-normalized tables and how they can be transformed into First Normal Form. Ask students to identify which tables are in First Normal Form and which are not. Key takeaways include understanding the benefits of First Normal Form, such as improved data integrity and reduced data anomalies.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teaching this topic, explain that First Normal Form is a fundamental concept in database design, ensuring that each table cell contains a single, unique value. Provide examples of tables that violate 1NF and how to convert them into 1NF. Emphasize the importance of 1NF in preventing data anomalies and improving data integrity. Ask students to identify which tables are in 1NF and which are not, and have them work in groups to normalize a given table. Key takeaways include understanding the definition and rules of 1NF, and being able to apply them to real-world database design scenarios.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Second Normal Form, explain its importance in database normalization and how it builds upon the principles of First Normal Form. Provide examples of partial dependencies and how they can lead to data inconsistencies. Ask students to consider scenarios where 2NF would be particularly beneficial, such as in e-commerce databases or financial systems. Emphasize key takeaways like reduced data redundancy and improved data integrity. Discuss how 2NF is a stepping stone towards higher normalization forms like Third Normal Form.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Second Normal Form, explain the importance of eliminating partial dependencies and how it helps to achieve data consistency. Provide examples of tables that can be decomposed into smaller tables to illustrate the concept. Ask students to identify partial dependencies in a given table and how they can be resolved. Key takeaways include understanding the role of primary keys and the benefits of Second Normal Form in database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Database Normalization, First Normal Form, Second Normal Form, Third Normal Form, Boyce-Codd Normal Form, Denormalization and Trade-offs, Best Practices and Summary</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Database Normalization - Introduction</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 and dependency</a:t>
            </a:r>
          </a:p>
          <a:p>
            <a:pPr>
              <a:defRPr sz="2000">
                <a:solidFill>
                  <a:srgbClr val="444444"/>
                </a:solidFill>
              </a:defRPr>
            </a:pPr>
            <a:r>
              <a:t>Improves data integrity and scalability in database systems</a:t>
            </a:r>
          </a:p>
          <a:p>
            <a:pPr>
              <a:defRPr sz="2000">
                <a:solidFill>
                  <a:srgbClr val="444444"/>
                </a:solidFill>
              </a:defRPr>
            </a:pPr>
            <a:r>
              <a:t>Eliminates data anomalies and inconsistencies</a:t>
            </a:r>
          </a:p>
          <a:p>
            <a:pPr>
              <a:defRPr sz="2000">
                <a:solidFill>
                  <a:srgbClr val="444444"/>
                </a:solidFill>
              </a:defRPr>
            </a:pPr>
            <a:r>
              <a:t>Supports better data security and access control</a:t>
            </a:r>
          </a:p>
          <a:p>
            <a:pPr>
              <a:defRPr sz="2000">
                <a:solidFill>
                  <a:srgbClr val="444444"/>
                </a:solidFill>
              </a:defRPr>
            </a:pPr>
            <a:r>
              <a:t>Enhances data flexibility and reusability</a:t>
            </a:r>
          </a:p>
          <a:p>
            <a:pPr>
              <a:defRPr sz="2000">
                <a:solidFill>
                  <a:srgbClr val="444444"/>
                </a:solidFill>
              </a:defRPr>
            </a:pPr>
            <a:r>
              <a:t>Normal forms include 1NF, 2NF, and 3NF</a:t>
            </a:r>
          </a:p>
          <a:p>
            <a:pPr>
              <a:defRPr sz="2000">
                <a:solidFill>
                  <a:srgbClr val="444444"/>
                </a:solidFill>
              </a:defRPr>
            </a:pPr>
            <a:r>
              <a:t>Higher normal forms include BCNF and 4NF</a:t>
            </a:r>
          </a:p>
          <a:p>
            <a:pPr>
              <a:defRPr sz="2000">
                <a:solidFill>
                  <a:srgbClr val="444444"/>
                </a:solidFill>
              </a:defRPr>
            </a:pPr>
            <a:r>
              <a:t>Denormalization is used for improving performance</a:t>
            </a:r>
          </a:p>
          <a:p>
            <a:pPr>
              <a:defRPr sz="2000">
                <a:solidFill>
                  <a:srgbClr val="444444"/>
                </a:solidFill>
              </a:defRPr>
            </a:pPr>
            <a:r>
              <a:t>Normalization is a database design best practice</a:t>
            </a:r>
          </a:p>
          <a:p>
            <a:pPr>
              <a:defRPr sz="2000">
                <a:solidFill>
                  <a:srgbClr val="444444"/>
                </a:solidFill>
              </a:defRPr>
            </a:pPr>
            <a:r>
              <a:t>Ensures data consistency across the database</a:t>
            </a:r>
          </a:p>
        </p:txBody>
      </p:sp>
      <p:pic>
        <p:nvPicPr>
          <p:cNvPr id="4" name="Picture 3" descr="8c0b6aac4f1a4e77bcb698b86f075fb5.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Database Normalization - Introduction</a:t>
            </a:r>
          </a:p>
        </p:txBody>
      </p:sp>
      <p:sp>
        <p:nvSpPr>
          <p:cNvPr id="3" name="Content Placeholder 2"/>
          <p:cNvSpPr>
            <a:spLocks noGrp="1"/>
          </p:cNvSpPr>
          <p:nvPr>
            <p:ph idx="1"/>
          </p:nvPr>
        </p:nvSpPr>
        <p:spPr/>
        <p:txBody>
          <a:bodyPr/>
          <a:lstStyle/>
          <a:p>
            <a:pPr>
              <a:defRPr sz="2000">
                <a:solidFill>
                  <a:srgbClr val="444444"/>
                </a:solidFill>
              </a:defRPr>
            </a:pPr>
            <a:r>
              <a:t>Reduces data redundancy and dependency</a:t>
            </a:r>
          </a:p>
          <a:p>
            <a:pPr>
              <a:defRPr sz="2000">
                <a:solidFill>
                  <a:srgbClr val="444444"/>
                </a:solidFill>
              </a:defRPr>
            </a:pPr>
            <a:r>
              <a:t>Improves data integrity and scalability</a:t>
            </a:r>
          </a:p>
          <a:p>
            <a:pPr>
              <a:defRPr sz="2000">
                <a:solidFill>
                  <a:srgbClr val="444444"/>
                </a:solidFill>
              </a:defRPr>
            </a:pPr>
            <a:r>
              <a:t>Normal forms include 1NF, 2NF, 3NF</a:t>
            </a:r>
          </a:p>
          <a:p>
            <a:pPr>
              <a:defRPr sz="2000">
                <a:solidFill>
                  <a:srgbClr val="444444"/>
                </a:solidFill>
              </a:defRPr>
            </a:pPr>
            <a:r>
              <a:t>First normal form eliminates repeating groups</a:t>
            </a:r>
          </a:p>
          <a:p>
            <a:pPr>
              <a:defRPr sz="2000">
                <a:solidFill>
                  <a:srgbClr val="444444"/>
                </a:solidFill>
              </a:defRPr>
            </a:pPr>
            <a:r>
              <a:t>Second normal form eliminates partial dependencies</a:t>
            </a:r>
          </a:p>
          <a:p>
            <a:pPr>
              <a:defRPr sz="2000">
                <a:solidFill>
                  <a:srgbClr val="444444"/>
                </a:solidFill>
              </a:defRPr>
            </a:pPr>
            <a:r>
              <a:t>Third normal form eliminates transitive dependencies</a:t>
            </a:r>
          </a:p>
          <a:p>
            <a:pPr>
              <a:defRPr sz="2000">
                <a:solidFill>
                  <a:srgbClr val="444444"/>
                </a:solidFill>
              </a:defRPr>
            </a:pPr>
            <a:r>
              <a:t>Higher normal forms include BCNF and 4NF</a:t>
            </a:r>
          </a:p>
          <a:p>
            <a:pPr>
              <a:defRPr sz="2000">
                <a:solidFill>
                  <a:srgbClr val="444444"/>
                </a:solidFill>
              </a:defRPr>
            </a:pPr>
            <a:r>
              <a:t>Denormalization for performance optimization</a:t>
            </a:r>
          </a:p>
          <a:p>
            <a:pPr>
              <a:defRPr sz="2000">
                <a:solidFill>
                  <a:srgbClr val="444444"/>
                </a:solidFill>
              </a:defRPr>
            </a:pPr>
            <a:r>
              <a:t>Normalization techniques for relational databases</a:t>
            </a:r>
          </a:p>
          <a:p>
            <a:pPr>
              <a:defRPr sz="2000">
                <a:solidFill>
                  <a:srgbClr val="444444"/>
                </a:solidFill>
              </a:defRPr>
            </a:pPr>
            <a:r>
              <a:t>Example: normalize a student database table</a:t>
            </a:r>
          </a:p>
        </p:txBody>
      </p:sp>
      <p:pic>
        <p:nvPicPr>
          <p:cNvPr id="4" name="Picture 3" descr="7168a051f1cb45e2b08beb7f326e7a31.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Database Normalization - Introduction</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a:t>
            </a:r>
          </a:p>
          <a:p>
            <a:pPr>
              <a:defRPr sz="2000">
                <a:solidFill>
                  <a:srgbClr val="444444"/>
                </a:solidFill>
              </a:defRPr>
            </a:pPr>
            <a:r>
              <a:t>Improves data integrity and scalability</a:t>
            </a:r>
          </a:p>
          <a:p>
            <a:pPr>
              <a:defRPr sz="2000">
                <a:solidFill>
                  <a:srgbClr val="444444"/>
                </a:solidFill>
              </a:defRPr>
            </a:pPr>
            <a:r>
              <a:t>Eliminates data anomalies and inconsistencies</a:t>
            </a:r>
          </a:p>
          <a:p>
            <a:pPr>
              <a:defRPr sz="2000">
                <a:solidFill>
                  <a:srgbClr val="444444"/>
                </a:solidFill>
              </a:defRPr>
            </a:pPr>
            <a:r>
              <a:t>Enhances data security and access control</a:t>
            </a:r>
          </a:p>
          <a:p>
            <a:pPr>
              <a:defRPr sz="2000">
                <a:solidFill>
                  <a:srgbClr val="444444"/>
                </a:solidFill>
              </a:defRPr>
            </a:pPr>
            <a:r>
              <a:t>Supports data warehousing and business intelligence</a:t>
            </a:r>
          </a:p>
          <a:p>
            <a:pPr>
              <a:defRPr sz="2000">
                <a:solidFill>
                  <a:srgbClr val="444444"/>
                </a:solidFill>
              </a:defRPr>
            </a:pPr>
            <a:r>
              <a:t>Applies to relational databases and-NoSQL</a:t>
            </a:r>
          </a:p>
          <a:p>
            <a:pPr>
              <a:defRPr sz="2000">
                <a:solidFill>
                  <a:srgbClr val="444444"/>
                </a:solidFill>
              </a:defRPr>
            </a:pPr>
            <a:r>
              <a:t>First normal form eliminates repeating groups</a:t>
            </a:r>
          </a:p>
          <a:p>
            <a:pPr>
              <a:defRPr sz="2000">
                <a:solidFill>
                  <a:srgbClr val="444444"/>
                </a:solidFill>
              </a:defRPr>
            </a:pPr>
            <a:r>
              <a:t>Second normal form eliminates partial dependencies</a:t>
            </a:r>
          </a:p>
          <a:p>
            <a:pPr>
              <a:defRPr sz="2000">
                <a:solidFill>
                  <a:srgbClr val="444444"/>
                </a:solidFill>
              </a:defRPr>
            </a:pPr>
            <a:r>
              <a:t>Third normal form eliminates transitive dependencies</a:t>
            </a:r>
          </a:p>
          <a:p>
            <a:pPr>
              <a:defRPr sz="2000">
                <a:solidFill>
                  <a:srgbClr val="444444"/>
                </a:solidFill>
              </a:defRPr>
            </a:pPr>
            <a:r>
              <a:t>Normalization improves query performance and efficiency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 Introduction</a:t>
            </a:r>
          </a:p>
        </p:txBody>
      </p:sp>
      <p:sp>
        <p:nvSpPr>
          <p:cNvPr id="3" name="Content Placeholder 2"/>
          <p:cNvSpPr>
            <a:spLocks noGrp="1"/>
          </p:cNvSpPr>
          <p:nvPr>
            <p:ph idx="1"/>
          </p:nvPr>
        </p:nvSpPr>
        <p:spPr/>
        <p:txBody>
          <a:bodyPr/>
          <a:lstStyle/>
          <a:p>
            <a:pPr>
              <a:defRPr sz="2000">
                <a:solidFill>
                  <a:srgbClr val="444444"/>
                </a:solidFill>
              </a:defRPr>
            </a:pPr>
            <a:r>
              <a:t>First Normal Form (1NF) is a database normalization rule</a:t>
            </a:r>
          </a:p>
          <a:p>
            <a:pPr>
              <a:defRPr sz="2000">
                <a:solidFill>
                  <a:srgbClr val="444444"/>
                </a:solidFill>
              </a:defRPr>
            </a:pPr>
            <a:r>
              <a:t>Eliminates repeating groups or arrays in tables</a:t>
            </a:r>
          </a:p>
          <a:p>
            <a:pPr>
              <a:defRPr sz="2000">
                <a:solidFill>
                  <a:srgbClr val="444444"/>
                </a:solidFill>
              </a:defRPr>
            </a:pPr>
            <a:r>
              <a:t>Each cell contains single value, not multiple values</a:t>
            </a:r>
          </a:p>
          <a:p>
            <a:pPr>
              <a:defRPr sz="2000">
                <a:solidFill>
                  <a:srgbClr val="444444"/>
                </a:solidFill>
              </a:defRPr>
            </a:pPr>
            <a:r>
              <a:t>Ensures data consistency and reduces data redundancy</a:t>
            </a:r>
          </a:p>
          <a:p>
            <a:pPr>
              <a:defRPr sz="2000">
                <a:solidFill>
                  <a:srgbClr val="444444"/>
                </a:solidFill>
              </a:defRPr>
            </a:pPr>
            <a:r>
              <a:t>Example: Student table with multiple phone numbers</a:t>
            </a:r>
          </a:p>
          <a:p>
            <a:pPr>
              <a:defRPr sz="2000">
                <a:solidFill>
                  <a:srgbClr val="444444"/>
                </a:solidFill>
              </a:defRPr>
            </a:pPr>
            <a:r>
              <a:t>1NF transforms data into separate rows or tables</a:t>
            </a:r>
          </a:p>
          <a:p>
            <a:pPr>
              <a:defRPr sz="2000">
                <a:solidFill>
                  <a:srgbClr val="444444"/>
                </a:solidFill>
              </a:defRPr>
            </a:pPr>
            <a:r>
              <a:t>Improves data scalability and maintainability</a:t>
            </a:r>
          </a:p>
          <a:p>
            <a:pPr>
              <a:defRPr sz="2000">
                <a:solidFill>
                  <a:srgbClr val="444444"/>
                </a:solidFill>
              </a:defRPr>
            </a:pPr>
            <a:r>
              <a:t>Reduces data anomalies and inconsistencies</a:t>
            </a:r>
          </a:p>
          <a:p>
            <a:pPr>
              <a:defRPr sz="2000">
                <a:solidFill>
                  <a:srgbClr val="444444"/>
                </a:solidFill>
              </a:defRPr>
            </a:pPr>
            <a:r>
              <a:t>Helps in data retrieval and query optimization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 Introduction</a:t>
            </a:r>
          </a:p>
        </p:txBody>
      </p:sp>
      <p:sp>
        <p:nvSpPr>
          <p:cNvPr id="3" name="Content Placeholder 2"/>
          <p:cNvSpPr>
            <a:spLocks noGrp="1"/>
          </p:cNvSpPr>
          <p:nvPr>
            <p:ph idx="1"/>
          </p:nvPr>
        </p:nvSpPr>
        <p:spPr/>
        <p:txBody>
          <a:bodyPr/>
          <a:lstStyle/>
          <a:p>
            <a:pPr>
              <a:defRPr sz="2000">
                <a:solidFill>
                  <a:srgbClr val="444444"/>
                </a:solidFill>
              </a:defRPr>
            </a:pPr>
            <a:r>
              <a:t>First Normal Form eliminates repeating groups</a:t>
            </a:r>
          </a:p>
          <a:p>
            <a:pPr>
              <a:defRPr sz="2000">
                <a:solidFill>
                  <a:srgbClr val="444444"/>
                </a:solidFill>
              </a:defRPr>
            </a:pPr>
            <a:r>
              <a:t>Each table cell contains single value</a:t>
            </a:r>
          </a:p>
          <a:p>
            <a:pPr>
              <a:defRPr sz="2000">
                <a:solidFill>
                  <a:srgbClr val="444444"/>
                </a:solidFill>
              </a:defRPr>
            </a:pPr>
            <a:r>
              <a:t>No repeating columns or arrays</a:t>
            </a:r>
          </a:p>
          <a:p>
            <a:pPr>
              <a:defRPr sz="2000">
                <a:solidFill>
                  <a:srgbClr val="444444"/>
                </a:solidFill>
              </a:defRPr>
            </a:pPr>
            <a:r>
              <a:t>Each row is unique and independent</a:t>
            </a:r>
          </a:p>
          <a:p>
            <a:pPr>
              <a:defRPr sz="2000">
                <a:solidFill>
                  <a:srgbClr val="444444"/>
                </a:solidFill>
              </a:defRPr>
            </a:pPr>
            <a:r>
              <a:t>Columns have unique names</a:t>
            </a:r>
          </a:p>
          <a:p>
            <a:pPr>
              <a:defRPr sz="2000">
                <a:solidFill>
                  <a:srgbClr val="444444"/>
                </a:solidFill>
              </a:defRPr>
            </a:pPr>
            <a:r>
              <a:t>No redundant data in tables</a:t>
            </a:r>
          </a:p>
          <a:p>
            <a:pPr>
              <a:defRPr sz="2000">
                <a:solidFill>
                  <a:srgbClr val="444444"/>
                </a:solidFill>
              </a:defRPr>
            </a:pPr>
            <a:r>
              <a:t>Improves data integrity and scalability</a:t>
            </a:r>
          </a:p>
          <a:p>
            <a:pPr>
              <a:defRPr sz="2000">
                <a:solidFill>
                  <a:srgbClr val="444444"/>
                </a:solidFill>
              </a:defRPr>
            </a:pPr>
            <a:r>
              <a:t>Reduces data anomalies and inconsistencies</a:t>
            </a:r>
          </a:p>
          <a:p>
            <a:pPr>
              <a:defRPr sz="2000">
                <a:solidFill>
                  <a:srgbClr val="444444"/>
                </a:solidFill>
              </a:defRPr>
            </a:pPr>
            <a:r>
              <a:t>Simplifies data management and queries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 Definition and Rules</a:t>
            </a:r>
          </a:p>
        </p:txBody>
      </p:sp>
      <p:sp>
        <p:nvSpPr>
          <p:cNvPr id="3" name="Content Placeholder 2"/>
          <p:cNvSpPr>
            <a:spLocks noGrp="1"/>
          </p:cNvSpPr>
          <p:nvPr>
            <p:ph idx="1"/>
          </p:nvPr>
        </p:nvSpPr>
        <p:spPr/>
        <p:txBody>
          <a:bodyPr/>
          <a:lstStyle/>
          <a:p>
            <a:pPr>
              <a:defRPr sz="2000">
                <a:solidFill>
                  <a:srgbClr val="444444"/>
                </a:solidFill>
              </a:defRPr>
            </a:pPr>
            <a:r>
              <a:t>First Normal Form (1NF) eliminates repeating groups</a:t>
            </a:r>
          </a:p>
          <a:p>
            <a:pPr>
              <a:defRPr sz="2000">
                <a:solidFill>
                  <a:srgbClr val="444444"/>
                </a:solidFill>
              </a:defRPr>
            </a:pPr>
            <a:r>
              <a:t>Each table cell contains single value only</a:t>
            </a:r>
          </a:p>
          <a:p>
            <a:pPr>
              <a:defRPr sz="2000">
                <a:solidFill>
                  <a:srgbClr val="444444"/>
                </a:solidFill>
              </a:defRPr>
            </a:pPr>
            <a:r>
              <a:t>No repeating columns or arrays</a:t>
            </a:r>
          </a:p>
          <a:p>
            <a:pPr>
              <a:defRPr sz="2000">
                <a:solidFill>
                  <a:srgbClr val="444444"/>
                </a:solidFill>
              </a:defRPr>
            </a:pPr>
            <a:r>
              <a:t>Each row is unique and identifiable</a:t>
            </a:r>
          </a:p>
          <a:p>
            <a:pPr>
              <a:defRPr sz="2000">
                <a:solidFill>
                  <a:srgbClr val="444444"/>
                </a:solidFill>
              </a:defRPr>
            </a:pPr>
            <a:r>
              <a:t>1NF ensures data consistency and reduces anomalies</a:t>
            </a:r>
          </a:p>
          <a:p>
            <a:pPr>
              <a:defRPr sz="2000">
                <a:solidFill>
                  <a:srgbClr val="444444"/>
                </a:solidFill>
              </a:defRPr>
            </a:pPr>
            <a:r>
              <a:t>Tables have primary key for uniqueness</a:t>
            </a:r>
          </a:p>
          <a:p>
            <a:pPr>
              <a:defRPr sz="2000">
                <a:solidFill>
                  <a:srgbClr val="444444"/>
                </a:solidFill>
              </a:defRPr>
            </a:pPr>
            <a:r>
              <a:t>No redundant data in 1NF tables</a:t>
            </a:r>
          </a:p>
          <a:p>
            <a:pPr>
              <a:defRPr sz="2000">
                <a:solidFill>
                  <a:srgbClr val="444444"/>
                </a:solidFill>
              </a:defRPr>
            </a:pPr>
            <a:r>
              <a:t>Improves data scalability and flexibility</a:t>
            </a:r>
          </a:p>
          <a:p>
            <a:pPr>
              <a:defRPr sz="2000">
                <a:solidFill>
                  <a:srgbClr val="444444"/>
                </a:solidFill>
              </a:defRPr>
            </a:pPr>
            <a:r>
              <a:t>Simplifies data querying and indexing</a:t>
            </a:r>
          </a:p>
          <a:p>
            <a:pPr>
              <a:defRPr sz="2000">
                <a:solidFill>
                  <a:srgbClr val="444444"/>
                </a:solidFill>
              </a:defRPr>
            </a:pPr>
            <a:r>
              <a:t>Essential for relational database design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Second Normal Form - Introduction</a:t>
            </a:r>
          </a:p>
        </p:txBody>
      </p:sp>
      <p:sp>
        <p:nvSpPr>
          <p:cNvPr id="3" name="Content Placeholder 2"/>
          <p:cNvSpPr>
            <a:spLocks noGrp="1"/>
          </p:cNvSpPr>
          <p:nvPr>
            <p:ph idx="1"/>
          </p:nvPr>
        </p:nvSpPr>
        <p:spPr/>
        <p:txBody>
          <a:bodyPr/>
          <a:lstStyle/>
          <a:p>
            <a:pPr>
              <a:defRPr sz="2000">
                <a:solidFill>
                  <a:srgbClr val="444444"/>
                </a:solidFill>
              </a:defRPr>
            </a:pPr>
            <a:r>
              <a:t>Second Normal Form (2NF) is a database normalization standard</a:t>
            </a:r>
          </a:p>
          <a:p>
            <a:pPr>
              <a:defRPr sz="2000">
                <a:solidFill>
                  <a:srgbClr val="444444"/>
                </a:solidFill>
              </a:defRPr>
            </a:pPr>
            <a:r>
              <a:t>Eliminates partial dependencies in relational databases</a:t>
            </a:r>
          </a:p>
          <a:p>
            <a:pPr>
              <a:defRPr sz="2000">
                <a:solidFill>
                  <a:srgbClr val="444444"/>
                </a:solidFill>
              </a:defRPr>
            </a:pPr>
            <a:r>
              <a:t>Each non-key attribute depends on the entire primary key</a:t>
            </a:r>
          </a:p>
          <a:p>
            <a:pPr>
              <a:defRPr sz="2000">
                <a:solidFill>
                  <a:srgbClr val="444444"/>
                </a:solidFill>
              </a:defRPr>
            </a:pPr>
            <a:r>
              <a:t>Reduces data redundancy and improves data integrity</a:t>
            </a:r>
          </a:p>
          <a:p>
            <a:pPr>
              <a:defRPr sz="2000">
                <a:solidFill>
                  <a:srgbClr val="444444"/>
                </a:solidFill>
              </a:defRPr>
            </a:pPr>
            <a:r>
              <a:t>2NF is based on the concept of functional dependencies</a:t>
            </a:r>
          </a:p>
          <a:p>
            <a:pPr>
              <a:defRPr sz="2000">
                <a:solidFill>
                  <a:srgbClr val="444444"/>
                </a:solidFill>
              </a:defRPr>
            </a:pPr>
            <a:r>
              <a:t>A relation is in 2NF if it is in 1NF and has no partial dependencies</a:t>
            </a:r>
          </a:p>
          <a:p>
            <a:pPr>
              <a:defRPr sz="2000">
                <a:solidFill>
                  <a:srgbClr val="444444"/>
                </a:solidFill>
              </a:defRPr>
            </a:pPr>
            <a:r>
              <a:t>Ensures that each non-key attribute is fully dependent on the primary key</a:t>
            </a:r>
          </a:p>
          <a:p>
            <a:pPr>
              <a:defRPr sz="2000">
                <a:solidFill>
                  <a:srgbClr val="444444"/>
                </a:solidFill>
              </a:defRPr>
            </a:pPr>
            <a:r>
              <a:t>Improves data consistency and reduces data anomalies</a:t>
            </a:r>
          </a:p>
          <a:p>
            <a:pPr>
              <a:defRPr sz="2000">
                <a:solidFill>
                  <a:srgbClr val="444444"/>
                </a:solidFill>
              </a:defRPr>
            </a:pPr>
            <a:r>
              <a:t>Essential for database design and development best practices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Second Normal Form - Introduction</a:t>
            </a:r>
          </a:p>
        </p:txBody>
      </p:sp>
      <p:sp>
        <p:nvSpPr>
          <p:cNvPr id="3" name="Content Placeholder 2"/>
          <p:cNvSpPr>
            <a:spLocks noGrp="1"/>
          </p:cNvSpPr>
          <p:nvPr>
            <p:ph idx="1"/>
          </p:nvPr>
        </p:nvSpPr>
        <p:spPr/>
        <p:txBody>
          <a:bodyPr/>
          <a:lstStyle/>
          <a:p>
            <a:pPr>
              <a:defRPr sz="2000">
                <a:solidFill>
                  <a:srgbClr val="444444"/>
                </a:solidFill>
              </a:defRPr>
            </a:pPr>
            <a:r>
              <a:t>Second Normal Form eliminates partial dependencies</a:t>
            </a:r>
          </a:p>
          <a:p>
            <a:pPr>
              <a:defRPr sz="2000">
                <a:solidFill>
                  <a:srgbClr val="444444"/>
                </a:solidFill>
              </a:defRPr>
            </a:pPr>
            <a:r>
              <a:t>Each non-key attribute depends on the whole primary key</a:t>
            </a:r>
          </a:p>
          <a:p>
            <a:pPr>
              <a:defRPr sz="2000">
                <a:solidFill>
                  <a:srgbClr val="444444"/>
                </a:solidFill>
              </a:defRPr>
            </a:pPr>
            <a:r>
              <a:t>No non-key attribute depends on a part of the primary key</a:t>
            </a:r>
          </a:p>
          <a:p>
            <a:pPr>
              <a:defRPr sz="2000">
                <a:solidFill>
                  <a:srgbClr val="444444"/>
                </a:solidFill>
              </a:defRPr>
            </a:pPr>
            <a:r>
              <a:t>Achieved by decomposing tables into smaller tables</a:t>
            </a:r>
          </a:p>
          <a:p>
            <a:pPr>
              <a:defRPr sz="2000">
                <a:solidFill>
                  <a:srgbClr val="444444"/>
                </a:solidFill>
              </a:defRPr>
            </a:pPr>
            <a:r>
              <a:t>Each smaller table has a single primary key</a:t>
            </a:r>
          </a:p>
          <a:p>
            <a:pPr>
              <a:defRPr sz="2000">
                <a:solidFill>
                  <a:srgbClr val="444444"/>
                </a:solidFill>
              </a:defRPr>
            </a:pPr>
            <a:r>
              <a:t>Example: Student table with student_id and course_id</a:t>
            </a:r>
          </a:p>
          <a:p>
            <a:pPr>
              <a:defRPr sz="2000">
                <a:solidFill>
                  <a:srgbClr val="444444"/>
                </a:solidFill>
              </a:defRPr>
            </a:pPr>
            <a:r>
              <a:t>Second Normal Form ensures data consistency and reduces redundancy</a:t>
            </a:r>
          </a:p>
          <a:p>
            <a:pPr>
              <a:defRPr sz="2000">
                <a:solidFill>
                  <a:srgbClr val="444444"/>
                </a:solidFill>
              </a:defRPr>
            </a:pPr>
            <a:r>
              <a:t>Helps to avoid data anomalies and improves data integrity</a:t>
            </a:r>
          </a:p>
          <a:p>
            <a:pPr>
              <a:defRPr sz="2000">
                <a:solidFill>
                  <a:srgbClr val="444444"/>
                </a:solidFill>
              </a:defRPr>
            </a:pPr>
            <a:r>
              <a:t>Applicable to relational databases and data modeling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