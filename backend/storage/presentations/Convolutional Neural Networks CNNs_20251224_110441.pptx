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Convolutional Neural Networks (CNNs) presentation covering multiple topics. Today we'll explore: Convolutional Neural Networks (CNNs), Introduction to CNNs, Convolution Operation, Pooling Layers, CNN Architecture Example, Applications of CNNs.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CNNs, emphasize their inspiration from the human visual cortex and their ability to learn spatial hierarchies of features from images. Give examples of key applications such as self-driving cars and facial recognition. Explain that CNNs are effective for image recognition, object detection, and segmentation tasks. Discuss the importance of large datasets like ImageNet and CIFAR-10 for training CNNs. Ask students to consider how CNNs can be applied to real-world problems and what the limitations of these models might be. Key takeaways should include understanding the basic architecture of CNNs and their ability to learn features from images.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architecture of CNNs, emphasize the role of each layer type. Discuss how convolutional layers are crucial for feature extraction, while pooling layers help in reducing the dimensionality of the data. Highlight the importance of activation functions like ReLU in introducing non-linearity. Provide examples of how these concepts are applied in real-world image classification tasks. Ask students to consider how the architecture of a CNN might be modified for different applications, such as object detection or image segmentation. Key takeaways should include understanding the basic components of a CNN and their functions, as well as how these components work together to enable complex image recognition tasks.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the architecture of CNNs, emphasize the role of each layer in the network. Explain how convolutional layers use filters to extract features, and how pooling layers reduce the spatial dimensions of the data. Provide examples of how dense layers are used for classification or regression tasks. Use the equation y = σ(Wx + b) to illustrate the prediction process. Ask students to consider how the choice of activation function, such as ReLU, affects the model's performance. Key takeaways include understanding the purpose of each layer and how they work together to enable CNNs to learn complex patterns in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CNNs, emphasize their ability to process visual data efficiently, inspired by biological neural networks. Give examples of applications in image classification and object detection, such as self-driving cars and facial recognition. Ask students if they have any experience with image processing or deep learning. Key takeaways include understanding the basic architecture of CNNs and their importance in computer vision. Provide a simple example of a convolutional layer, such as applying a filter to an image, to illustrate the concept.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CNNs, explain the biological inspiration behind them and their primary applications. Provide examples of how CNNs are used in real-world tasks, such as image classification and object detection. Ask students to consider how CNNs can be applied to various fields, including healthcare and transportation. Emphasize the importance of understanding the architecture of CNNs, including convolutional and pooling layers, to appreciate their capabilities and limitations. Encourage students to think critically about the potential applications and challenges of using CNNs in different contexts.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basic architecture of CNNs, highlighting the roles of convolutional, pooling, and fully connected layers. Discuss the importance of activation functions like ReLU and sigmoid. Provide examples of CNN applications, such as image classification and object detection. Ask students to consider how CNNs can be used in real-world scenarios, such as self-driving cars or medical image analysis. Key takeaways include understanding the components of a CNN and their functions, as well as the ability to apply CNNs to various problems.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convolution operation, explain its significance in CNNs for image processing tasks. Provide examples of how filters are used to extract features from small regions of an image. Emphasize the concept of weight sharing and how it reduces the number of parameters, making the model more efficient. Ask students to consider how convolution enables equivariance to translation and rotation. Key takeaways should include understanding the role of convolution in reducing spatial dimensions while preserving important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convolution operation, explain how it's a fundamental component of Convolutional Neural Networks (CNNs). Provide examples of how convolution is used in image processing, such as edge detection and feature extraction. Ask students to consider how the size and shape of filters affect the output. Emphasize the importance of convolution in enabling CNNs to automatically and adaptively learn spatial hierarchies of features from images. Discuss how the convolution operation is a key factor in the success of CNNs in various computer vision tasks.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convolution operation, emphasize its importance in CNNs and how it extracts features from input data. Provide examples of how filters scan input data and how stride and padding control output spatial dimensions. Ask students to consider how the convolution operation preserves spatial relationships between neighboring pixels. Key takeaways include understanding the role of convolution operation in reducing spatial dimensions of data and its application in image classification tasks. Discuss how ReLU is commonly used as an activation function after convolution operation.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that pooling layers are essential components of convolutional neural networks, used to reduce the spatial dimensions of feature maps. Discuss how max and average pooling work, and provide examples of their applications. Emphasize the importance of pooling layers in preventing overfitting and improving model robustness. Ask students to consider the trade-offs between max and average pooling, and how they impact model performance. Key takeaway: pooling layers are crucial for efficient and effective convolutional neural network design.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pooling layers, explain how they reduce spatial dimensions and prevent overfitting. Provide examples of max and average pooling, and discuss their applications in CNNs. Ask students to consider how pooling layers impact translation invariance and robustness. Emphasize key takeaways, such as reduced parameters and improved generalization.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pooling layers, explain their role in reducing spatial dimensions and preventing overfitting. Provide examples of max and average pooling, and ask students to consider the impact of different pooling strategies on model performance. Key takeaways include the importance of downsampling and the types of pooling layers, such as max and average pooling. Discuss how pooling layers contribute to translation invariance and the ability to use larger convolutional filters, highlighting their significance in CNN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CNN architecture example, explain the basic components of a CNN, including convolutional, pooling, and dense layers. Provide examples of well-known CNN architectures like LeNet-5, AlexNet, and ResNet. Ask students to consider the advantages of using smaller filters in VGGNet. Emphasize the importance of non-linearity introduced by activation functions. Key takeaways include understanding the role of each layer type and how different architectures address deep learning challenges.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basic components of a CNN architecture, including convolutional, pooling, and fully connected layers. Provide examples of how CNNs are used in image classification tasks, such as handwritten digit recognition using the MNIST dataset. Discuss the importance of activation functions, like ReLU, in introducing non-linearity to the data. Ask students to consider how CNNs can be applied to real-world problems, such as object detection or image segmentation. Key takeaway: CNNs are a powerful tool for image classification and can be used in a variety of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CNN architecture examples, emphasize the diversity of applications. Provide examples of how CNNs are used in image classification, object detection, and facial recognition. Ask students to consider the benefits of using pre-trained models and transfer learning. Key takeaways include understanding the versatility of CNNs and their ability to be applied across various domains, from computer vision to natural language processing.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applications of CNNs, emphasize their versatility and widespread adoption across various fields. Provide examples of how CNNs are used in real-world scenarios, such as self-driving cars and medical imaging. Ask students to consider the potential applications of CNNs in their own areas of interest. Key takeaways include the ability of CNNs to learn complex patterns in data and their ability to be applied to a wide range of tasks, from image classification to natural language processing.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applications of CNNs, emphasize the versatility of these networks across various domains. Provide examples such as how image classification is used in facial recognition and object detection in self-driving cars. Ask students to consider how CNNs can be applied to real-world problems, such as medical diagnosis or natural language processing. Key takeaways include understanding the breadth of CNN applications and their potential to solve complex problems. Encourage students to think about potential projects or research areas where CNNs could be applied.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the applications of CNNs, emphasize the versatility and wide range of tasks they can perform. Provide examples such as image classification, object detection, and facial recognition, highlighting their impact on real-world problems. Ask students to consider how CNNs can be applied to their own research interests or projects. Key takeaways include understanding the breadth of CNN applications and their potential to drive innovation in various fields.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Convolutional Neural Networks (CNNs)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Convolutional Neural Networks (CNNs), Introduction to CNNs, Convolution Operation, Pooling Layers, CNN Architecture Example, Applications of CNNs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Convolutional Neural Networks (CNNs) - Introduction</a:t>
            </a:r>
          </a:p>
        </p:txBody>
      </p:sp>
      <p:sp>
        <p:nvSpPr>
          <p:cNvPr id="3" name="Content Placeholder 2"/>
          <p:cNvSpPr>
            <a:spLocks noGrp="1"/>
          </p:cNvSpPr>
          <p:nvPr>
            <p:ph idx="1"/>
          </p:nvPr>
        </p:nvSpPr>
        <p:spPr/>
        <p:txBody>
          <a:bodyPr/>
          <a:lstStyle/>
          <a:p>
            <a:pPr>
              <a:defRPr sz="2000">
                <a:solidFill>
                  <a:srgbClr val="444444"/>
                </a:solidFill>
              </a:defRPr>
            </a:pPr>
            <a:r>
              <a:t>CNNs are deep learning models for image classification tasks</a:t>
            </a:r>
          </a:p>
          <a:p>
            <a:pPr>
              <a:defRPr sz="2000">
                <a:solidFill>
                  <a:srgbClr val="444444"/>
                </a:solidFill>
              </a:defRPr>
            </a:pPr>
            <a:r>
              <a:t>Inspired by human visual cortex structure and function</a:t>
            </a:r>
          </a:p>
          <a:p>
            <a:pPr>
              <a:defRPr sz="2000">
                <a:solidFill>
                  <a:srgbClr val="444444"/>
                </a:solidFill>
              </a:defRPr>
            </a:pPr>
            <a:r>
              <a:t>Use convolutional and pooling layers for feature extraction</a:t>
            </a:r>
          </a:p>
          <a:p>
            <a:pPr>
              <a:defRPr sz="2000">
                <a:solidFill>
                  <a:srgbClr val="444444"/>
                </a:solidFill>
              </a:defRPr>
            </a:pPr>
            <a:r>
              <a:t>Effective for image recognition, object detection, segmentation</a:t>
            </a:r>
          </a:p>
          <a:p>
            <a:pPr>
              <a:defRPr sz="2000">
                <a:solidFill>
                  <a:srgbClr val="444444"/>
                </a:solidFill>
              </a:defRPr>
            </a:pPr>
            <a:r>
              <a:t>Key applications in self-driving cars, facial recognition</a:t>
            </a:r>
          </a:p>
          <a:p>
            <a:pPr>
              <a:defRPr sz="2000">
                <a:solidFill>
                  <a:srgbClr val="444444"/>
                </a:solidFill>
              </a:defRPr>
            </a:pPr>
            <a:r>
              <a:t>CNNs learn spatial hierarchies of features from images</a:t>
            </a:r>
          </a:p>
          <a:p>
            <a:pPr>
              <a:defRPr sz="2000">
                <a:solidFill>
                  <a:srgbClr val="444444"/>
                </a:solidFill>
              </a:defRPr>
            </a:pPr>
            <a:r>
              <a:t>Can be trained on large datasets like ImageNet, CIFAR-10</a:t>
            </a:r>
          </a:p>
          <a:p>
            <a:pPr>
              <a:defRPr sz="2000">
                <a:solidFill>
                  <a:srgbClr val="444444"/>
                </a:solidFill>
              </a:defRPr>
            </a:pPr>
            <a:r>
              <a:t>LeNet-5, AlexNet, VGG16 are notable CNN architectures</a:t>
            </a:r>
          </a:p>
          <a:p>
            <a:pPr>
              <a:defRPr sz="2000">
                <a:solidFill>
                  <a:srgbClr val="444444"/>
                </a:solidFill>
              </a:defRPr>
            </a:pPr>
            <a:r>
              <a:t>Convolutional layers use filters for feature detection</a:t>
            </a:r>
          </a:p>
          <a:p>
            <a:pPr>
              <a:defRPr sz="2000">
                <a:solidFill>
                  <a:srgbClr val="444444"/>
                </a:solidFill>
              </a:defRPr>
            </a:pPr>
            <a:r>
              <a:t>Activation functions introduce non-linearity in models</a:t>
            </a:r>
          </a:p>
        </p:txBody>
      </p:sp>
      <p:pic>
        <p:nvPicPr>
          <p:cNvPr id="4" name="Picture 3" descr="ba86c4b2e3724499bd3af3bd4b0ef390_convolutional_neural_networks_cnns_intro.jpg"/>
          <p:cNvPicPr>
            <a:picLocks noChangeAspect="1"/>
          </p:cNvPicPr>
          <p:nvPr/>
        </p:nvPicPr>
        <p:blipFill>
          <a:blip r:embed="rId2"/>
          <a:stretch>
            <a:fillRect/>
          </a:stretch>
        </p:blipFill>
        <p:spPr>
          <a:xfrm>
            <a:off x="7315200" y="1828800"/>
            <a:ext cx="4114800" cy="274701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Convolutional Neural Networks (CNNs) - Architecture</a:t>
            </a:r>
          </a:p>
        </p:txBody>
      </p:sp>
      <p:sp>
        <p:nvSpPr>
          <p:cNvPr id="3" name="Content Placeholder 2"/>
          <p:cNvSpPr>
            <a:spLocks noGrp="1"/>
          </p:cNvSpPr>
          <p:nvPr>
            <p:ph idx="1"/>
          </p:nvPr>
        </p:nvSpPr>
        <p:spPr/>
        <p:txBody>
          <a:bodyPr/>
          <a:lstStyle/>
          <a:p>
            <a:pPr>
              <a:defRPr sz="2000">
                <a:solidFill>
                  <a:srgbClr val="444444"/>
                </a:solidFill>
              </a:defRPr>
            </a:pPr>
            <a:r>
              <a:t>CNNs consist of convolutional and pooling layers</a:t>
            </a:r>
          </a:p>
          <a:p>
            <a:pPr>
              <a:defRPr sz="2000">
                <a:solidFill>
                  <a:srgbClr val="444444"/>
                </a:solidFill>
              </a:defRPr>
            </a:pPr>
            <a:r>
              <a:t>Convolutional layers extract local features</a:t>
            </a:r>
          </a:p>
          <a:p>
            <a:pPr>
              <a:defRPr sz="2000">
                <a:solidFill>
                  <a:srgbClr val="444444"/>
                </a:solidFill>
              </a:defRPr>
            </a:pPr>
            <a:r>
              <a:t>Pooling layers reduce spatial dimensions</a:t>
            </a:r>
          </a:p>
          <a:p>
            <a:pPr>
              <a:defRPr sz="2000">
                <a:solidFill>
                  <a:srgbClr val="444444"/>
                </a:solidFill>
              </a:defRPr>
            </a:pPr>
            <a:r>
              <a:t>Fully connected layers for classification</a:t>
            </a:r>
          </a:p>
          <a:p>
            <a:pPr>
              <a:defRPr sz="2000">
                <a:solidFill>
                  <a:srgbClr val="444444"/>
                </a:solidFill>
              </a:defRPr>
            </a:pPr>
            <a:r>
              <a:t>Activation functions introduce non-linearity</a:t>
            </a:r>
          </a:p>
          <a:p>
            <a:pPr>
              <a:defRPr sz="2000">
                <a:solidFill>
                  <a:srgbClr val="444444"/>
                </a:solidFill>
              </a:defRPr>
            </a:pPr>
            <a:r>
              <a:t>ReLU is a commonly used activation function</a:t>
            </a:r>
          </a:p>
          <a:p>
            <a:pPr>
              <a:defRPr sz="2000">
                <a:solidFill>
                  <a:srgbClr val="444444"/>
                </a:solidFill>
              </a:defRPr>
            </a:pPr>
            <a:r>
              <a:t>Batch normalization improves training speed</a:t>
            </a:r>
          </a:p>
          <a:p>
            <a:pPr>
              <a:defRPr sz="2000">
                <a:solidFill>
                  <a:srgbClr val="444444"/>
                </a:solidFill>
              </a:defRPr>
            </a:pPr>
            <a:r>
              <a:t>Dropout prevents overfitting in networks</a:t>
            </a:r>
          </a:p>
          <a:p>
            <a:pPr>
              <a:defRPr sz="2000">
                <a:solidFill>
                  <a:srgbClr val="444444"/>
                </a:solidFill>
              </a:defRPr>
            </a:pPr>
            <a:r>
              <a:t>y = σ(Wx + b) is a basic neural equation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Convolutional Neural Networks (CNNs) - Architecture</a:t>
            </a:r>
          </a:p>
        </p:txBody>
      </p:sp>
      <p:sp>
        <p:nvSpPr>
          <p:cNvPr id="3" name="Content Placeholder 2"/>
          <p:cNvSpPr>
            <a:spLocks noGrp="1"/>
          </p:cNvSpPr>
          <p:nvPr>
            <p:ph idx="1"/>
          </p:nvPr>
        </p:nvSpPr>
        <p:spPr/>
        <p:txBody>
          <a:bodyPr/>
          <a:lstStyle/>
          <a:p>
            <a:pPr>
              <a:defRPr sz="2000">
                <a:solidFill>
                  <a:srgbClr val="444444"/>
                </a:solidFill>
              </a:defRPr>
            </a:pPr>
            <a:r>
              <a:t>Convolutional layers extract local features from inputs</a:t>
            </a:r>
          </a:p>
          <a:p>
            <a:pPr>
              <a:defRPr sz="2000">
                <a:solidFill>
                  <a:srgbClr val="444444"/>
                </a:solidFill>
              </a:defRPr>
            </a:pPr>
            <a:r>
              <a:t>Pooling layers reduce spatial dimensions of data</a:t>
            </a:r>
          </a:p>
          <a:p>
            <a:pPr>
              <a:defRPr sz="2000">
                <a:solidFill>
                  <a:srgbClr val="444444"/>
                </a:solidFill>
              </a:defRPr>
            </a:pPr>
            <a:r>
              <a:t>Flatten layers transform data into 1D arrays</a:t>
            </a:r>
          </a:p>
          <a:p>
            <a:pPr>
              <a:defRPr sz="2000">
                <a:solidFill>
                  <a:srgbClr val="444444"/>
                </a:solidFill>
              </a:defRPr>
            </a:pPr>
            <a:r>
              <a:t>Dense layers perform classification or regression tasks</a:t>
            </a:r>
          </a:p>
          <a:p>
            <a:pPr>
              <a:defRPr sz="2000">
                <a:solidFill>
                  <a:srgbClr val="444444"/>
                </a:solidFill>
              </a:defRPr>
            </a:pPr>
            <a:r>
              <a:t>Activation functions introduce non-linearity to models</a:t>
            </a:r>
          </a:p>
          <a:p>
            <a:pPr>
              <a:defRPr sz="2000">
                <a:solidFill>
                  <a:srgbClr val="444444"/>
                </a:solidFill>
              </a:defRPr>
            </a:pPr>
            <a:r>
              <a:t>ReLU is a commonly used activation function</a:t>
            </a:r>
          </a:p>
          <a:p>
            <a:pPr>
              <a:defRPr sz="2000">
                <a:solidFill>
                  <a:srgbClr val="444444"/>
                </a:solidFill>
              </a:defRPr>
            </a:pPr>
            <a:r>
              <a:t>Batch normalization improves model stability</a:t>
            </a:r>
          </a:p>
          <a:p>
            <a:pPr>
              <a:defRPr sz="2000">
                <a:solidFill>
                  <a:srgbClr val="444444"/>
                </a:solidFill>
              </a:defRPr>
            </a:pPr>
            <a:r>
              <a:t>Dropout prevents overfitting by randomizing weights</a:t>
            </a:r>
          </a:p>
          <a:p>
            <a:pPr>
              <a:defRPr sz="2000">
                <a:solidFill>
                  <a:srgbClr val="444444"/>
                </a:solidFill>
              </a:defRPr>
            </a:pPr>
            <a:r>
              <a:t>CNNs use y = σ(Wx + b) for predictions</a:t>
            </a:r>
          </a:p>
          <a:p>
            <a:pPr>
              <a:defRPr sz="2000">
                <a:solidFill>
                  <a:srgbClr val="444444"/>
                </a:solidFill>
              </a:defRPr>
            </a:pPr>
            <a:r>
              <a:t>Strided convolutions enhance feature extraction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CNNs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process visual data efficiently</a:t>
            </a:r>
          </a:p>
          <a:p>
            <a:pPr>
              <a:defRPr sz="2000">
                <a:solidFill>
                  <a:srgbClr val="444444"/>
                </a:solidFill>
              </a:defRPr>
            </a:pPr>
            <a:r>
              <a:t>Inspired by biological neural networks in the brain</a:t>
            </a:r>
          </a:p>
          <a:p>
            <a:pPr>
              <a:defRPr sz="2000">
                <a:solidFill>
                  <a:srgbClr val="444444"/>
                </a:solidFill>
              </a:defRPr>
            </a:pPr>
            <a:r>
              <a:t>Used for image classification and object detection tasks</a:t>
            </a:r>
          </a:p>
          <a:p>
            <a:pPr>
              <a:defRPr sz="2000">
                <a:solidFill>
                  <a:srgbClr val="444444"/>
                </a:solidFill>
              </a:defRPr>
            </a:pPr>
            <a:r>
              <a:t>Key component in deep learning and computer vision</a:t>
            </a:r>
          </a:p>
          <a:p>
            <a:pPr>
              <a:defRPr sz="2000">
                <a:solidFill>
                  <a:srgbClr val="444444"/>
                </a:solidFill>
              </a:defRPr>
            </a:pPr>
            <a:r>
              <a:t>Consist of convolutional and pooling layers</a:t>
            </a:r>
          </a:p>
          <a:p>
            <a:pPr>
              <a:defRPr sz="2000">
                <a:solidFill>
                  <a:srgbClr val="444444"/>
                </a:solidFill>
              </a:defRPr>
            </a:pPr>
            <a:r>
              <a:t>Apply filters to small regions of input data</a:t>
            </a:r>
          </a:p>
          <a:p>
            <a:pPr>
              <a:defRPr sz="2000">
                <a:solidFill>
                  <a:srgbClr val="444444"/>
                </a:solidFill>
              </a:defRPr>
            </a:pPr>
            <a:r>
              <a:t>Enable spatial hierarchies of features to be learned</a:t>
            </a:r>
          </a:p>
          <a:p>
            <a:pPr>
              <a:defRPr sz="2000">
                <a:solidFill>
                  <a:srgbClr val="444444"/>
                </a:solidFill>
              </a:defRPr>
            </a:pPr>
            <a:r>
              <a:t>Trainable via backpropagation and optimization algorithms</a:t>
            </a:r>
          </a:p>
          <a:p>
            <a:pPr>
              <a:defRPr sz="2000">
                <a:solidFill>
                  <a:srgbClr val="444444"/>
                </a:solidFill>
              </a:defRPr>
            </a:pPr>
            <a:r>
              <a:t>Common applications in self-driving cars and facial recognition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CNNs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(CNNs) are deep learning models</a:t>
            </a:r>
          </a:p>
          <a:p>
            <a:pPr>
              <a:defRPr sz="2000">
                <a:solidFill>
                  <a:srgbClr val="444444"/>
                </a:solidFill>
              </a:defRPr>
            </a:pPr>
            <a:r>
              <a:t>Inspired by biological neural networks and visual cortex</a:t>
            </a:r>
          </a:p>
          <a:p>
            <a:pPr>
              <a:defRPr sz="2000">
                <a:solidFill>
                  <a:srgbClr val="444444"/>
                </a:solidFill>
              </a:defRPr>
            </a:pPr>
            <a:r>
              <a:t>Primarily used for image and video processing tasks</a:t>
            </a:r>
          </a:p>
          <a:p>
            <a:pPr>
              <a:defRPr sz="2000">
                <a:solidFill>
                  <a:srgbClr val="444444"/>
                </a:solidFill>
              </a:defRPr>
            </a:pPr>
            <a:r>
              <a:t>CNNs consist of convolutional and pooling layers</a:t>
            </a:r>
          </a:p>
          <a:p>
            <a:pPr>
              <a:defRPr sz="2000">
                <a:solidFill>
                  <a:srgbClr val="444444"/>
                </a:solidFill>
              </a:defRPr>
            </a:pPr>
            <a:r>
              <a:t>Convolutional layers apply filters to input data</a:t>
            </a:r>
          </a:p>
          <a:p>
            <a:pPr>
              <a:defRPr sz="2000">
                <a:solidFill>
                  <a:srgbClr val="444444"/>
                </a:solidFill>
              </a:defRPr>
            </a:pPr>
            <a:r>
              <a:t>Pooling layers reduce spatial dimensions of data</a:t>
            </a:r>
          </a:p>
          <a:p>
            <a:pPr>
              <a:defRPr sz="2000">
                <a:solidFill>
                  <a:srgbClr val="444444"/>
                </a:solidFill>
              </a:defRPr>
            </a:pPr>
            <a:r>
              <a:t>CNNs can learn spatial hierarchies of features</a:t>
            </a:r>
          </a:p>
          <a:p>
            <a:pPr>
              <a:defRPr sz="2000">
                <a:solidFill>
                  <a:srgbClr val="444444"/>
                </a:solidFill>
              </a:defRPr>
            </a:pPr>
            <a:r>
              <a:t>Key applications include image classification and object detection</a:t>
            </a:r>
          </a:p>
          <a:p>
            <a:pPr>
              <a:defRPr sz="2000">
                <a:solidFill>
                  <a:srgbClr val="444444"/>
                </a:solidFill>
              </a:defRPr>
            </a:pPr>
            <a:r>
              <a:t>CNNs have achieved state-of-the-art results in many tasks</a:t>
            </a:r>
          </a:p>
          <a:p>
            <a:pPr>
              <a:defRPr sz="2000">
                <a:solidFill>
                  <a:srgbClr val="444444"/>
                </a:solidFill>
              </a:defRPr>
            </a:pPr>
            <a:r>
              <a:t>Example: self-driving cars use CNNs for vision processing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CNNs - Architecture</a:t>
            </a:r>
          </a:p>
        </p:txBody>
      </p:sp>
      <p:sp>
        <p:nvSpPr>
          <p:cNvPr id="3" name="Content Placeholder 2"/>
          <p:cNvSpPr>
            <a:spLocks noGrp="1"/>
          </p:cNvSpPr>
          <p:nvPr>
            <p:ph idx="1"/>
          </p:nvPr>
        </p:nvSpPr>
        <p:spPr/>
        <p:txBody>
          <a:bodyPr/>
          <a:lstStyle/>
          <a:p>
            <a:pPr>
              <a:defRPr sz="2000">
                <a:solidFill>
                  <a:srgbClr val="444444"/>
                </a:solidFill>
              </a:defRPr>
            </a:pPr>
            <a:r>
              <a:t>CNNs consist of convolutional and pooling layers</a:t>
            </a:r>
          </a:p>
          <a:p>
            <a:pPr>
              <a:defRPr sz="2000">
                <a:solidFill>
                  <a:srgbClr val="444444"/>
                </a:solidFill>
              </a:defRPr>
            </a:pPr>
            <a:r>
              <a:t>Convolutional layers apply filters to input data</a:t>
            </a:r>
          </a:p>
          <a:p>
            <a:pPr>
              <a:defRPr sz="2000">
                <a:solidFill>
                  <a:srgbClr val="444444"/>
                </a:solidFill>
              </a:defRPr>
            </a:pPr>
            <a:r>
              <a:t>Pooling layers reduce spatial dimensions</a:t>
            </a:r>
          </a:p>
          <a:p>
            <a:pPr>
              <a:defRPr sz="2000">
                <a:solidFill>
                  <a:srgbClr val="444444"/>
                </a:solidFill>
              </a:defRPr>
            </a:pPr>
            <a:r>
              <a:t>Fully connected layers enable classification</a:t>
            </a:r>
          </a:p>
          <a:p>
            <a:pPr>
              <a:defRPr sz="2000">
                <a:solidFill>
                  <a:srgbClr val="444444"/>
                </a:solidFill>
              </a:defRPr>
            </a:pPr>
            <a:r>
              <a:t>ReLU activation function introduces non-linearity</a:t>
            </a:r>
          </a:p>
          <a:p>
            <a:pPr>
              <a:defRPr sz="2000">
                <a:solidFill>
                  <a:srgbClr val="444444"/>
                </a:solidFill>
              </a:defRPr>
            </a:pPr>
            <a:r>
              <a:t>Sigmoid function used for binary classification</a:t>
            </a:r>
          </a:p>
          <a:p>
            <a:pPr>
              <a:defRPr sz="2000">
                <a:solidFill>
                  <a:srgbClr val="444444"/>
                </a:solidFill>
              </a:defRPr>
            </a:pPr>
            <a:r>
              <a:t>CNNs use backpropagation for training</a:t>
            </a:r>
          </a:p>
          <a:p>
            <a:pPr>
              <a:defRPr sz="2000">
                <a:solidFill>
                  <a:srgbClr val="444444"/>
                </a:solidFill>
              </a:defRPr>
            </a:pPr>
            <a:r>
              <a:t>Architecture designed for image processing</a:t>
            </a:r>
          </a:p>
          <a:p>
            <a:pPr>
              <a:defRPr sz="2000">
                <a:solidFill>
                  <a:srgbClr val="444444"/>
                </a:solidFill>
              </a:defRPr>
            </a:pPr>
            <a:r>
              <a:t>Example: LeNet-5 for handwritten digit recognition</a:t>
            </a:r>
          </a:p>
          <a:p>
            <a:pPr>
              <a:defRPr sz="2000">
                <a:solidFill>
                  <a:srgbClr val="444444"/>
                </a:solidFill>
              </a:defRPr>
            </a:pPr>
            <a:r>
              <a:t>y = σ(Wx + b) simple neural network equation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Operation - Introduction</a:t>
            </a:r>
          </a:p>
        </p:txBody>
      </p:sp>
      <p:sp>
        <p:nvSpPr>
          <p:cNvPr id="3" name="Content Placeholder 2"/>
          <p:cNvSpPr>
            <a:spLocks noGrp="1"/>
          </p:cNvSpPr>
          <p:nvPr>
            <p:ph idx="1"/>
          </p:nvPr>
        </p:nvSpPr>
        <p:spPr/>
        <p:txBody>
          <a:bodyPr/>
          <a:lstStyle/>
          <a:p>
            <a:pPr>
              <a:defRPr sz="2000">
                <a:solidFill>
                  <a:srgbClr val="444444"/>
                </a:solidFill>
              </a:defRPr>
            </a:pPr>
            <a:r>
              <a:t>Convolution operation is key in CNNs for image processing</a:t>
            </a:r>
          </a:p>
          <a:p>
            <a:pPr>
              <a:defRPr sz="2000">
                <a:solidFill>
                  <a:srgbClr val="444444"/>
                </a:solidFill>
              </a:defRPr>
            </a:pPr>
            <a:r>
              <a:t>Extracts features from small image regions using filters</a:t>
            </a:r>
          </a:p>
          <a:p>
            <a:pPr>
              <a:defRPr sz="2000">
                <a:solidFill>
                  <a:srgbClr val="444444"/>
                </a:solidFill>
              </a:defRPr>
            </a:pPr>
            <a:r>
              <a:t>Filters scan images in horizontal and vertical strides</a:t>
            </a:r>
          </a:p>
          <a:p>
            <a:pPr>
              <a:defRPr sz="2000">
                <a:solidFill>
                  <a:srgbClr val="444444"/>
                </a:solidFill>
              </a:defRPr>
            </a:pPr>
            <a:r>
              <a:t>Output feature maps represent convolved image sections</a:t>
            </a:r>
          </a:p>
          <a:p>
            <a:pPr>
              <a:defRPr sz="2000">
                <a:solidFill>
                  <a:srgbClr val="444444"/>
                </a:solidFill>
              </a:defRPr>
            </a:pPr>
            <a:r>
              <a:t>Convolution helps in reducing spatial dimensions</a:t>
            </a:r>
          </a:p>
          <a:p>
            <a:pPr>
              <a:defRPr sz="2000">
                <a:solidFill>
                  <a:srgbClr val="444444"/>
                </a:solidFill>
              </a:defRPr>
            </a:pPr>
            <a:r>
              <a:t>Preserves important information with shared weights</a:t>
            </a:r>
          </a:p>
          <a:p>
            <a:pPr>
              <a:defRPr sz="2000">
                <a:solidFill>
                  <a:srgbClr val="444444"/>
                </a:solidFill>
              </a:defRPr>
            </a:pPr>
            <a:r>
              <a:t>Reduces number of parameters with weight sharing</a:t>
            </a:r>
          </a:p>
          <a:p>
            <a:pPr>
              <a:defRPr sz="2000">
                <a:solidFill>
                  <a:srgbClr val="444444"/>
                </a:solidFill>
              </a:defRPr>
            </a:pPr>
            <a:r>
              <a:t>Enables equivariance to translation and rotation</a:t>
            </a:r>
          </a:p>
          <a:p>
            <a:pPr>
              <a:defRPr sz="2000">
                <a:solidFill>
                  <a:srgbClr val="444444"/>
                </a:solidFill>
              </a:defRPr>
            </a:pPr>
            <a:r>
              <a:t>Used in various applications like image classification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Operation - Introduction</a:t>
            </a:r>
          </a:p>
        </p:txBody>
      </p:sp>
      <p:sp>
        <p:nvSpPr>
          <p:cNvPr id="3" name="Content Placeholder 2"/>
          <p:cNvSpPr>
            <a:spLocks noGrp="1"/>
          </p:cNvSpPr>
          <p:nvPr>
            <p:ph idx="1"/>
          </p:nvPr>
        </p:nvSpPr>
        <p:spPr/>
        <p:txBody>
          <a:bodyPr/>
          <a:lstStyle/>
          <a:p>
            <a:pPr>
              <a:defRPr sz="2000">
                <a:solidFill>
                  <a:srgbClr val="444444"/>
                </a:solidFill>
              </a:defRPr>
            </a:pPr>
            <a:r>
              <a:t>Convolution combines image data with filter kernels</a:t>
            </a:r>
          </a:p>
          <a:p>
            <a:pPr>
              <a:defRPr sz="2000">
                <a:solidFill>
                  <a:srgbClr val="444444"/>
                </a:solidFill>
              </a:defRPr>
            </a:pPr>
            <a:r>
              <a:t>Extracts features from small image regions</a:t>
            </a:r>
          </a:p>
          <a:p>
            <a:pPr>
              <a:defRPr sz="2000">
                <a:solidFill>
                  <a:srgbClr val="444444"/>
                </a:solidFill>
              </a:defRPr>
            </a:pPr>
            <a:r>
              <a:t>Applies filters to detect edges and lines</a:t>
            </a:r>
          </a:p>
          <a:p>
            <a:pPr>
              <a:defRPr sz="2000">
                <a:solidFill>
                  <a:srgbClr val="444444"/>
                </a:solidFill>
              </a:defRPr>
            </a:pPr>
            <a:r>
              <a:t>Convolutional layers process data spatially</a:t>
            </a:r>
          </a:p>
          <a:p>
            <a:pPr>
              <a:defRPr sz="2000">
                <a:solidFill>
                  <a:srgbClr val="444444"/>
                </a:solidFill>
              </a:defRPr>
            </a:pPr>
            <a:r>
              <a:t>Filters slide over entire image</a:t>
            </a:r>
          </a:p>
          <a:p>
            <a:pPr>
              <a:defRPr sz="2000">
                <a:solidFill>
                  <a:srgbClr val="444444"/>
                </a:solidFill>
              </a:defRPr>
            </a:pPr>
            <a:r>
              <a:t>Performing dot product at each position</a:t>
            </a:r>
          </a:p>
          <a:p>
            <a:pPr>
              <a:defRPr sz="2000">
                <a:solidFill>
                  <a:srgbClr val="444444"/>
                </a:solidFill>
              </a:defRPr>
            </a:pPr>
            <a:r>
              <a:t>Resulting feature maps capture local patterns</a:t>
            </a:r>
          </a:p>
          <a:p>
            <a:pPr>
              <a:defRPr sz="2000">
                <a:solidFill>
                  <a:srgbClr val="444444"/>
                </a:solidFill>
              </a:defRPr>
            </a:pPr>
            <a:r>
              <a:t>Activation functions introduce non-linearity</a:t>
            </a:r>
          </a:p>
          <a:p>
            <a:pPr>
              <a:defRPr sz="2000">
                <a:solidFill>
                  <a:srgbClr val="444444"/>
                </a:solidFill>
              </a:defRPr>
            </a:pPr>
            <a:r>
              <a:t>Enhancing feature extraction capabilities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Operation - Introduction</a:t>
            </a:r>
          </a:p>
        </p:txBody>
      </p:sp>
      <p:sp>
        <p:nvSpPr>
          <p:cNvPr id="3" name="Content Placeholder 2"/>
          <p:cNvSpPr>
            <a:spLocks noGrp="1"/>
          </p:cNvSpPr>
          <p:nvPr>
            <p:ph idx="1"/>
          </p:nvPr>
        </p:nvSpPr>
        <p:spPr/>
        <p:txBody>
          <a:bodyPr/>
          <a:lstStyle/>
          <a:p>
            <a:pPr>
              <a:defRPr sz="2000">
                <a:solidFill>
                  <a:srgbClr val="444444"/>
                </a:solidFill>
              </a:defRPr>
            </a:pPr>
            <a:r>
              <a:t>Convolution operation is a fundamental component of CNNs.</a:t>
            </a:r>
          </a:p>
          <a:p>
            <a:pPr>
              <a:defRPr sz="2000">
                <a:solidFill>
                  <a:srgbClr val="444444"/>
                </a:solidFill>
              </a:defRPr>
            </a:pPr>
            <a:r>
              <a:t>It extracts features from input data using filters.</a:t>
            </a:r>
          </a:p>
          <a:p>
            <a:pPr>
              <a:defRPr sz="2000">
                <a:solidFill>
                  <a:srgbClr val="444444"/>
                </a:solidFill>
              </a:defRPr>
            </a:pPr>
            <a:r>
              <a:t>Filters scan input data in both horizontal and vertical directions.</a:t>
            </a:r>
          </a:p>
          <a:p>
            <a:pPr>
              <a:defRPr sz="2000">
                <a:solidFill>
                  <a:srgbClr val="444444"/>
                </a:solidFill>
              </a:defRPr>
            </a:pPr>
            <a:r>
              <a:t>Convolution operation reduces spatial dimensions of data.</a:t>
            </a:r>
          </a:p>
          <a:p>
            <a:pPr>
              <a:defRPr sz="2000">
                <a:solidFill>
                  <a:srgbClr val="444444"/>
                </a:solidFill>
              </a:defRPr>
            </a:pPr>
            <a:r>
              <a:t>It preserves spatial relationships between neighboring pixels.</a:t>
            </a:r>
          </a:p>
          <a:p>
            <a:pPr>
              <a:defRPr sz="2000">
                <a:solidFill>
                  <a:srgbClr val="444444"/>
                </a:solidFill>
              </a:defRPr>
            </a:pPr>
            <a:r>
              <a:t>Stride and padding control output spatial dimensions.</a:t>
            </a:r>
          </a:p>
          <a:p>
            <a:pPr>
              <a:defRPr sz="2000">
                <a:solidFill>
                  <a:srgbClr val="444444"/>
                </a:solidFill>
              </a:defRPr>
            </a:pPr>
            <a:r>
              <a:t>Convolution operation is followed by activation function.</a:t>
            </a:r>
          </a:p>
          <a:p>
            <a:pPr>
              <a:defRPr sz="2000">
                <a:solidFill>
                  <a:srgbClr val="444444"/>
                </a:solidFill>
              </a:defRPr>
            </a:pPr>
            <a:r>
              <a:t>ReLU is commonly used activation function in CNNs.</a:t>
            </a:r>
          </a:p>
          <a:p>
            <a:pPr>
              <a:defRPr sz="2000">
                <a:solidFill>
                  <a:srgbClr val="444444"/>
                </a:solidFill>
              </a:defRPr>
            </a:pPr>
            <a:r>
              <a:t>Convolution operation is used in image classification tasks.</a:t>
            </a:r>
          </a:p>
          <a:p>
            <a:pPr>
              <a:defRPr sz="2000">
                <a:solidFill>
                  <a:srgbClr val="444444"/>
                </a:solidFill>
              </a:defRPr>
            </a:pPr>
            <a:r>
              <a:t>Example: Image classification using convolution operation.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Pooling Layers - Introduction</a:t>
            </a:r>
          </a:p>
        </p:txBody>
      </p:sp>
      <p:sp>
        <p:nvSpPr>
          <p:cNvPr id="3" name="Content Placeholder 2"/>
          <p:cNvSpPr>
            <a:spLocks noGrp="1"/>
          </p:cNvSpPr>
          <p:nvPr>
            <p:ph idx="1"/>
          </p:nvPr>
        </p:nvSpPr>
        <p:spPr/>
        <p:txBody>
          <a:bodyPr/>
          <a:lstStyle/>
          <a:p>
            <a:pPr>
              <a:defRPr sz="2000">
                <a:solidFill>
                  <a:srgbClr val="444444"/>
                </a:solidFill>
              </a:defRPr>
            </a:pPr>
            <a:r>
              <a:t>Reduce spatial dimensions of feature maps</a:t>
            </a:r>
          </a:p>
          <a:p>
            <a:pPr>
              <a:defRPr sz="2000">
                <a:solidFill>
                  <a:srgbClr val="444444"/>
                </a:solidFill>
              </a:defRPr>
            </a:pPr>
            <a:r>
              <a:t>Downsample data to decrease parameters</a:t>
            </a:r>
          </a:p>
          <a:p>
            <a:pPr>
              <a:defRPr sz="2000">
                <a:solidFill>
                  <a:srgbClr val="444444"/>
                </a:solidFill>
              </a:defRPr>
            </a:pPr>
            <a:r>
              <a:t>Increase translation invariance in models</a:t>
            </a:r>
          </a:p>
          <a:p>
            <a:pPr>
              <a:defRPr sz="2000">
                <a:solidFill>
                  <a:srgbClr val="444444"/>
                </a:solidFill>
              </a:defRPr>
            </a:pPr>
            <a:r>
              <a:t>Typically applied after convolutional layers</a:t>
            </a:r>
          </a:p>
          <a:p>
            <a:pPr>
              <a:defRPr sz="2000">
                <a:solidFill>
                  <a:srgbClr val="444444"/>
                </a:solidFill>
              </a:defRPr>
            </a:pPr>
            <a:r>
              <a:t>Max pooling and average pooling exist</a:t>
            </a:r>
          </a:p>
          <a:p>
            <a:pPr>
              <a:defRPr sz="2000">
                <a:solidFill>
                  <a:srgbClr val="444444"/>
                </a:solidFill>
              </a:defRPr>
            </a:pPr>
            <a:r>
              <a:t>Max pooling selects maximum value</a:t>
            </a:r>
          </a:p>
          <a:p>
            <a:pPr>
              <a:defRPr sz="2000">
                <a:solidFill>
                  <a:srgbClr val="444444"/>
                </a:solidFill>
              </a:defRPr>
            </a:pPr>
            <a:r>
              <a:t>Average pooling calculates mean value</a:t>
            </a:r>
          </a:p>
          <a:p>
            <a:pPr>
              <a:defRPr sz="2000">
                <a:solidFill>
                  <a:srgbClr val="444444"/>
                </a:solidFill>
              </a:defRPr>
            </a:pPr>
            <a:r>
              <a:t>Helps prevent overfitting in deep models</a:t>
            </a:r>
          </a:p>
          <a:p>
            <a:pPr>
              <a:defRPr sz="2000">
                <a:solidFill>
                  <a:srgbClr val="444444"/>
                </a:solidFill>
              </a:defRPr>
            </a:pPr>
            <a:r>
              <a:t>Improves robustness to small transformations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Pooling Layers - Introduction</a:t>
            </a:r>
          </a:p>
        </p:txBody>
      </p:sp>
      <p:sp>
        <p:nvSpPr>
          <p:cNvPr id="3" name="Content Placeholder 2"/>
          <p:cNvSpPr>
            <a:spLocks noGrp="1"/>
          </p:cNvSpPr>
          <p:nvPr>
            <p:ph idx="1"/>
          </p:nvPr>
        </p:nvSpPr>
        <p:spPr/>
        <p:txBody>
          <a:bodyPr/>
          <a:lstStyle/>
          <a:p>
            <a:pPr>
              <a:defRPr sz="2000">
                <a:solidFill>
                  <a:srgbClr val="444444"/>
                </a:solidFill>
              </a:defRPr>
            </a:pPr>
            <a:r>
              <a:t>Reduces spatial dimensions of feature maps</a:t>
            </a:r>
          </a:p>
          <a:p>
            <a:pPr>
              <a:defRPr sz="2000">
                <a:solidFill>
                  <a:srgbClr val="444444"/>
                </a:solidFill>
              </a:defRPr>
            </a:pPr>
            <a:r>
              <a:t>Downsamples data to reduce parameters</a:t>
            </a:r>
          </a:p>
          <a:p>
            <a:pPr>
              <a:defRPr sz="2000">
                <a:solidFill>
                  <a:srgbClr val="444444"/>
                </a:solidFill>
              </a:defRPr>
            </a:pPr>
            <a:r>
              <a:t>Helps prevent overfitting in CNNs</a:t>
            </a:r>
          </a:p>
          <a:p>
            <a:pPr>
              <a:defRPr sz="2000">
                <a:solidFill>
                  <a:srgbClr val="444444"/>
                </a:solidFill>
              </a:defRPr>
            </a:pPr>
            <a:r>
              <a:t>Max pooling is most commonly used</a:t>
            </a:r>
          </a:p>
          <a:p>
            <a:pPr>
              <a:defRPr sz="2000">
                <a:solidFill>
                  <a:srgbClr val="444444"/>
                </a:solidFill>
              </a:defRPr>
            </a:pPr>
            <a:r>
              <a:t>Average pooling also used in some cases</a:t>
            </a:r>
          </a:p>
          <a:p>
            <a:pPr>
              <a:defRPr sz="2000">
                <a:solidFill>
                  <a:srgbClr val="444444"/>
                </a:solidFill>
              </a:defRPr>
            </a:pPr>
            <a:r>
              <a:t>Pooling layer is applied after convolution</a:t>
            </a:r>
          </a:p>
          <a:p>
            <a:pPr>
              <a:defRPr sz="2000">
                <a:solidFill>
                  <a:srgbClr val="444444"/>
                </a:solidFill>
              </a:defRPr>
            </a:pPr>
            <a:r>
              <a:t>Reduces number of parameters to compute</a:t>
            </a:r>
          </a:p>
          <a:p>
            <a:pPr>
              <a:defRPr sz="2000">
                <a:solidFill>
                  <a:srgbClr val="444444"/>
                </a:solidFill>
              </a:defRPr>
            </a:pPr>
            <a:r>
              <a:t>Improves translation invariance in images</a:t>
            </a:r>
          </a:p>
          <a:p>
            <a:pPr>
              <a:defRPr sz="2000">
                <a:solidFill>
                  <a:srgbClr val="444444"/>
                </a:solidFill>
              </a:defRPr>
            </a:pPr>
            <a:r>
              <a:t>Enhances robustness to small transformations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Pooling Layers - Introduction</a:t>
            </a:r>
          </a:p>
        </p:txBody>
      </p:sp>
      <p:sp>
        <p:nvSpPr>
          <p:cNvPr id="3" name="Content Placeholder 2"/>
          <p:cNvSpPr>
            <a:spLocks noGrp="1"/>
          </p:cNvSpPr>
          <p:nvPr>
            <p:ph idx="1"/>
          </p:nvPr>
        </p:nvSpPr>
        <p:spPr/>
        <p:txBody>
          <a:bodyPr/>
          <a:lstStyle/>
          <a:p>
            <a:pPr>
              <a:defRPr sz="2000">
                <a:solidFill>
                  <a:srgbClr val="444444"/>
                </a:solidFill>
              </a:defRPr>
            </a:pPr>
            <a:r>
              <a:t>Reducing spatial dimensions of data with pooling layers</a:t>
            </a:r>
          </a:p>
          <a:p>
            <a:pPr>
              <a:defRPr sz="2000">
                <a:solidFill>
                  <a:srgbClr val="444444"/>
                </a:solidFill>
              </a:defRPr>
            </a:pPr>
            <a:r>
              <a:t>Downsampling feature maps to retain key information</a:t>
            </a:r>
          </a:p>
          <a:p>
            <a:pPr>
              <a:defRPr sz="2000">
                <a:solidFill>
                  <a:srgbClr val="444444"/>
                </a:solidFill>
              </a:defRPr>
            </a:pPr>
            <a:r>
              <a:t>Helping to prevent overfitting in CNN models</a:t>
            </a:r>
          </a:p>
          <a:p>
            <a:pPr>
              <a:defRPr sz="2000">
                <a:solidFill>
                  <a:srgbClr val="444444"/>
                </a:solidFill>
              </a:defRPr>
            </a:pPr>
            <a:r>
              <a:t>Typically applied after convolutional layers</a:t>
            </a:r>
          </a:p>
          <a:p>
            <a:pPr>
              <a:defRPr sz="2000">
                <a:solidFill>
                  <a:srgbClr val="444444"/>
                </a:solidFill>
              </a:defRPr>
            </a:pPr>
            <a:r>
              <a:t>Max pooling extracts maximum value from regions</a:t>
            </a:r>
          </a:p>
          <a:p>
            <a:pPr>
              <a:defRPr sz="2000">
                <a:solidFill>
                  <a:srgbClr val="444444"/>
                </a:solidFill>
              </a:defRPr>
            </a:pPr>
            <a:r>
              <a:t>Average pooling calculates mean value from regions</a:t>
            </a:r>
          </a:p>
          <a:p>
            <a:pPr>
              <a:defRPr sz="2000">
                <a:solidFill>
                  <a:srgbClr val="444444"/>
                </a:solidFill>
              </a:defRPr>
            </a:pPr>
            <a:r>
              <a:t>Pooling layers reduce number of parameters needed</a:t>
            </a:r>
          </a:p>
          <a:p>
            <a:pPr>
              <a:defRPr sz="2000">
                <a:solidFill>
                  <a:srgbClr val="444444"/>
                </a:solidFill>
              </a:defRPr>
            </a:pPr>
            <a:r>
              <a:t>Improving translation invariance in CNNs</a:t>
            </a:r>
          </a:p>
          <a:p>
            <a:pPr>
              <a:defRPr sz="2000">
                <a:solidFill>
                  <a:srgbClr val="444444"/>
                </a:solidFill>
              </a:defRPr>
            </a:pPr>
            <a:r>
              <a:t>Enabling use of larger convolutional filters</a:t>
            </a:r>
          </a:p>
          <a:p>
            <a:pPr>
              <a:defRPr sz="2000">
                <a:solidFill>
                  <a:srgbClr val="444444"/>
                </a:solidFill>
              </a:defRPr>
            </a:pPr>
            <a:r>
              <a:t>Preserving important features in images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 Architecture Example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process visual data</a:t>
            </a:r>
          </a:p>
          <a:p>
            <a:pPr>
              <a:defRPr sz="2000">
                <a:solidFill>
                  <a:srgbClr val="444444"/>
                </a:solidFill>
              </a:defRPr>
            </a:pPr>
            <a:r>
              <a:t>CNNs consist of convolutional and pooling layers</a:t>
            </a:r>
          </a:p>
          <a:p>
            <a:pPr>
              <a:defRPr sz="2000">
                <a:solidFill>
                  <a:srgbClr val="444444"/>
                </a:solidFill>
              </a:defRPr>
            </a:pPr>
            <a:r>
              <a:t>Activation functions introduce non-linearity</a:t>
            </a:r>
          </a:p>
          <a:p>
            <a:pPr>
              <a:defRPr sz="2000">
                <a:solidFill>
                  <a:srgbClr val="444444"/>
                </a:solidFill>
              </a:defRPr>
            </a:pPr>
            <a:r>
              <a:t>Flatten layer reshapes output for dense layers</a:t>
            </a:r>
          </a:p>
          <a:p>
            <a:pPr>
              <a:defRPr sz="2000">
                <a:solidFill>
                  <a:srgbClr val="444444"/>
                </a:solidFill>
              </a:defRPr>
            </a:pPr>
            <a:r>
              <a:t>Dense layers enable classification or regression</a:t>
            </a:r>
          </a:p>
          <a:p>
            <a:pPr>
              <a:defRPr sz="2000">
                <a:solidFill>
                  <a:srgbClr val="444444"/>
                </a:solidFill>
              </a:defRPr>
            </a:pPr>
            <a:r>
              <a:t>LeNet-5 is a basic CNN architecture example</a:t>
            </a:r>
          </a:p>
          <a:p>
            <a:pPr>
              <a:defRPr sz="2000">
                <a:solidFill>
                  <a:srgbClr val="444444"/>
                </a:solidFill>
              </a:defRPr>
            </a:pPr>
            <a:r>
              <a:t>AlexNet is a deeper CNN architecture example</a:t>
            </a:r>
          </a:p>
          <a:p>
            <a:pPr>
              <a:defRPr sz="2000">
                <a:solidFill>
                  <a:srgbClr val="444444"/>
                </a:solidFill>
              </a:defRPr>
            </a:pPr>
            <a:r>
              <a:t>VGGNet uses smaller filters for convolution</a:t>
            </a:r>
          </a:p>
          <a:p>
            <a:pPr>
              <a:defRPr sz="2000">
                <a:solidFill>
                  <a:srgbClr val="444444"/>
                </a:solidFill>
              </a:defRPr>
            </a:pPr>
            <a:r>
              <a:t>ResNet introduces residual connections for deep learning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 Architecture Example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use convolutional layers</a:t>
            </a:r>
          </a:p>
          <a:p>
            <a:pPr>
              <a:defRPr sz="2000">
                <a:solidFill>
                  <a:srgbClr val="444444"/>
                </a:solidFill>
              </a:defRPr>
            </a:pPr>
            <a:r>
              <a:t>Convolutional layers extract local features from data</a:t>
            </a:r>
          </a:p>
          <a:p>
            <a:pPr>
              <a:defRPr sz="2000">
                <a:solidFill>
                  <a:srgbClr val="444444"/>
                </a:solidFill>
              </a:defRPr>
            </a:pPr>
            <a:r>
              <a:t>Pooling layers reduce spatial dimensions of data</a:t>
            </a:r>
          </a:p>
          <a:p>
            <a:pPr>
              <a:defRPr sz="2000">
                <a:solidFill>
                  <a:srgbClr val="444444"/>
                </a:solidFill>
              </a:defRPr>
            </a:pPr>
            <a:r>
              <a:t>Fully connected layers classify output data</a:t>
            </a:r>
          </a:p>
          <a:p>
            <a:pPr>
              <a:defRPr sz="2000">
                <a:solidFill>
                  <a:srgbClr val="444444"/>
                </a:solidFill>
              </a:defRPr>
            </a:pPr>
            <a:r>
              <a:t>Activation functions introduce non-linearity to data</a:t>
            </a:r>
          </a:p>
          <a:p>
            <a:pPr>
              <a:defRPr sz="2000">
                <a:solidFill>
                  <a:srgbClr val="444444"/>
                </a:solidFill>
              </a:defRPr>
            </a:pPr>
            <a:r>
              <a:t>ReLU is a commonly used activation function</a:t>
            </a:r>
          </a:p>
          <a:p>
            <a:pPr>
              <a:defRPr sz="2000">
                <a:solidFill>
                  <a:srgbClr val="444444"/>
                </a:solidFill>
              </a:defRPr>
            </a:pPr>
            <a:r>
              <a:t>CNNs are widely used in image classification tasks</a:t>
            </a:r>
          </a:p>
          <a:p>
            <a:pPr>
              <a:defRPr sz="2000">
                <a:solidFill>
                  <a:srgbClr val="444444"/>
                </a:solidFill>
              </a:defRPr>
            </a:pPr>
            <a:r>
              <a:t>Example: handwritten digit recognition using MNIST</a:t>
            </a:r>
          </a:p>
          <a:p>
            <a:pPr>
              <a:defRPr sz="2000">
                <a:solidFill>
                  <a:srgbClr val="444444"/>
                </a:solidFill>
              </a:defRPr>
            </a:pPr>
            <a:r>
              <a:t>Equation: y = σ(Wx + b) for neural network layer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 Architecture Example - Applications</a:t>
            </a:r>
          </a:p>
        </p:txBody>
      </p:sp>
      <p:sp>
        <p:nvSpPr>
          <p:cNvPr id="3" name="Content Placeholder 2"/>
          <p:cNvSpPr>
            <a:spLocks noGrp="1"/>
          </p:cNvSpPr>
          <p:nvPr>
            <p:ph idx="1"/>
          </p:nvPr>
        </p:nvSpPr>
        <p:spPr/>
        <p:txBody>
          <a:bodyPr/>
          <a:lstStyle/>
          <a:p>
            <a:pPr>
              <a:defRPr sz="2000">
                <a:solidFill>
                  <a:srgbClr val="444444"/>
                </a:solidFill>
              </a:defRPr>
            </a:pPr>
            <a:r>
              <a:t>Image classification using CNNs for self-driving cars</a:t>
            </a:r>
          </a:p>
          <a:p>
            <a:pPr>
              <a:defRPr sz="2000">
                <a:solidFill>
                  <a:srgbClr val="444444"/>
                </a:solidFill>
              </a:defRPr>
            </a:pPr>
            <a:r>
              <a:t>Object detection in surveillance systems with YOLO</a:t>
            </a:r>
          </a:p>
          <a:p>
            <a:pPr>
              <a:defRPr sz="2000">
                <a:solidFill>
                  <a:srgbClr val="444444"/>
                </a:solidFill>
              </a:defRPr>
            </a:pPr>
            <a:r>
              <a:t>Facial recognition with convolutional layers</a:t>
            </a:r>
          </a:p>
          <a:p>
            <a:pPr>
              <a:defRPr sz="2000">
                <a:solidFill>
                  <a:srgbClr val="444444"/>
                </a:solidFill>
              </a:defRPr>
            </a:pPr>
            <a:r>
              <a:t>Medical image analysis for disease diagnosis</a:t>
            </a:r>
          </a:p>
          <a:p>
            <a:pPr>
              <a:defRPr sz="2000">
                <a:solidFill>
                  <a:srgbClr val="444444"/>
                </a:solidFill>
              </a:defRPr>
            </a:pPr>
            <a:r>
              <a:t>Segmentation of images for autonomous robots</a:t>
            </a:r>
          </a:p>
          <a:p>
            <a:pPr>
              <a:defRPr sz="2000">
                <a:solidFill>
                  <a:srgbClr val="444444"/>
                </a:solidFill>
              </a:defRPr>
            </a:pPr>
            <a:r>
              <a:t>CNNs in natural language processing for text analysis</a:t>
            </a:r>
          </a:p>
          <a:p>
            <a:pPr>
              <a:defRPr sz="2000">
                <a:solidFill>
                  <a:srgbClr val="444444"/>
                </a:solidFill>
              </a:defRPr>
            </a:pPr>
            <a:r>
              <a:t>Convolutional autoencoders for image compression</a:t>
            </a:r>
          </a:p>
          <a:p>
            <a:pPr>
              <a:defRPr sz="2000">
                <a:solidFill>
                  <a:srgbClr val="444444"/>
                </a:solidFill>
              </a:defRPr>
            </a:pPr>
            <a:r>
              <a:t>Transfer learning with pre-trained CNN models</a:t>
            </a:r>
          </a:p>
          <a:p>
            <a:pPr>
              <a:defRPr sz="2000">
                <a:solidFill>
                  <a:srgbClr val="444444"/>
                </a:solidFill>
              </a:defRPr>
            </a:pPr>
            <a:r>
              <a:t>Real-time video processing with CNN architectures</a:t>
            </a:r>
          </a:p>
          <a:p>
            <a:pPr>
              <a:defRPr sz="2000">
                <a:solidFill>
                  <a:srgbClr val="444444"/>
                </a:solidFill>
              </a:defRPr>
            </a:pPr>
            <a:r>
              <a:t>Image generation using Generative Adversarial Networks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of CNNs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(CNNs) for image classification</a:t>
            </a:r>
          </a:p>
          <a:p>
            <a:pPr>
              <a:defRPr sz="2000">
                <a:solidFill>
                  <a:srgbClr val="444444"/>
                </a:solidFill>
              </a:defRPr>
            </a:pPr>
            <a:r>
              <a:t>CNNs used in object detection and recognition systems</a:t>
            </a:r>
          </a:p>
          <a:p>
            <a:pPr>
              <a:defRPr sz="2000">
                <a:solidFill>
                  <a:srgbClr val="444444"/>
                </a:solidFill>
              </a:defRPr>
            </a:pPr>
            <a:r>
              <a:t>Image segmentation and generation with CNNs</a:t>
            </a:r>
          </a:p>
          <a:p>
            <a:pPr>
              <a:defRPr sz="2000">
                <a:solidFill>
                  <a:srgbClr val="444444"/>
                </a:solidFill>
              </a:defRPr>
            </a:pPr>
            <a:r>
              <a:t>CNN applications in medical imaging and diagnostics</a:t>
            </a:r>
          </a:p>
          <a:p>
            <a:pPr>
              <a:defRPr sz="2000">
                <a:solidFill>
                  <a:srgbClr val="444444"/>
                </a:solidFill>
              </a:defRPr>
            </a:pPr>
            <a:r>
              <a:t>Self-driving cars utilize CNNs for scene understanding</a:t>
            </a:r>
          </a:p>
          <a:p>
            <a:pPr>
              <a:defRPr sz="2000">
                <a:solidFill>
                  <a:srgbClr val="444444"/>
                </a:solidFill>
              </a:defRPr>
            </a:pPr>
            <a:r>
              <a:t>Facial recognition systems rely on CNNs for identification</a:t>
            </a:r>
          </a:p>
          <a:p>
            <a:pPr>
              <a:defRPr sz="2000">
                <a:solidFill>
                  <a:srgbClr val="444444"/>
                </a:solidFill>
              </a:defRPr>
            </a:pPr>
            <a:r>
              <a:t>CNNs applied in natural language processing tasks</a:t>
            </a:r>
          </a:p>
          <a:p>
            <a:pPr>
              <a:defRPr sz="2000">
                <a:solidFill>
                  <a:srgbClr val="444444"/>
                </a:solidFill>
              </a:defRPr>
            </a:pPr>
            <a:r>
              <a:t>Robotics and autonomous systems use CNNs for perception</a:t>
            </a:r>
          </a:p>
          <a:p>
            <a:pPr>
              <a:defRPr sz="2000">
                <a:solidFill>
                  <a:srgbClr val="444444"/>
                </a:solidFill>
              </a:defRPr>
            </a:pPr>
            <a:r>
              <a:t>Surveillance systems leverage CNNs for anomaly detection</a:t>
            </a:r>
          </a:p>
          <a:p>
            <a:pPr>
              <a:defRPr sz="2000">
                <a:solidFill>
                  <a:srgbClr val="444444"/>
                </a:solidFill>
              </a:defRPr>
            </a:pPr>
            <a:r>
              <a:t>CNNs enable intelligent video analysis and monitoring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of CNNs - Introduction</a:t>
            </a:r>
          </a:p>
        </p:txBody>
      </p:sp>
      <p:sp>
        <p:nvSpPr>
          <p:cNvPr id="3" name="Content Placeholder 2"/>
          <p:cNvSpPr>
            <a:spLocks noGrp="1"/>
          </p:cNvSpPr>
          <p:nvPr>
            <p:ph idx="1"/>
          </p:nvPr>
        </p:nvSpPr>
        <p:spPr/>
        <p:txBody>
          <a:bodyPr/>
          <a:lstStyle/>
          <a:p>
            <a:pPr>
              <a:defRPr sz="2000">
                <a:solidFill>
                  <a:srgbClr val="444444"/>
                </a:solidFill>
              </a:defRPr>
            </a:pPr>
            <a:r>
              <a:t>Image classification: object detection, facial recognition</a:t>
            </a:r>
          </a:p>
          <a:p>
            <a:pPr>
              <a:defRPr sz="2000">
                <a:solidFill>
                  <a:srgbClr val="444444"/>
                </a:solidFill>
              </a:defRPr>
            </a:pPr>
            <a:r>
              <a:t>Object detection: self-driving cars, surveillance systems</a:t>
            </a:r>
          </a:p>
          <a:p>
            <a:pPr>
              <a:defRPr sz="2000">
                <a:solidFill>
                  <a:srgbClr val="444444"/>
                </a:solidFill>
              </a:defRPr>
            </a:pPr>
            <a:r>
              <a:t>Image segmentation: medical imaging, autonomous vehicles</a:t>
            </a:r>
          </a:p>
          <a:p>
            <a:pPr>
              <a:defRPr sz="2000">
                <a:solidFill>
                  <a:srgbClr val="444444"/>
                </a:solidFill>
              </a:defRPr>
            </a:pPr>
            <a:r>
              <a:t>Natural language processing: text classification, sentiment analysis</a:t>
            </a:r>
          </a:p>
          <a:p>
            <a:pPr>
              <a:defRPr sz="2000">
                <a:solidFill>
                  <a:srgbClr val="444444"/>
                </a:solidFill>
              </a:defRPr>
            </a:pPr>
            <a:r>
              <a:t>Speech recognition: voice assistants, transcription services</a:t>
            </a:r>
          </a:p>
          <a:p>
            <a:pPr>
              <a:defRPr sz="2000">
                <a:solidFill>
                  <a:srgbClr val="444444"/>
                </a:solidFill>
              </a:defRPr>
            </a:pPr>
            <a:r>
              <a:t>Time series forecasting: stock prices, weather prediction</a:t>
            </a:r>
          </a:p>
          <a:p>
            <a:pPr>
              <a:defRPr sz="2000">
                <a:solidFill>
                  <a:srgbClr val="444444"/>
                </a:solidFill>
              </a:defRPr>
            </a:pPr>
            <a:r>
              <a:t>Recommendation systems: e-commerce, content streaming</a:t>
            </a:r>
          </a:p>
          <a:p>
            <a:pPr>
              <a:defRPr sz="2000">
                <a:solidFill>
                  <a:srgbClr val="444444"/>
                </a:solidFill>
              </a:defRPr>
            </a:pPr>
            <a:r>
              <a:t>Medical diagnosis: disease detection, tumor segmentation</a:t>
            </a:r>
          </a:p>
          <a:p>
            <a:pPr>
              <a:defRPr sz="2000">
                <a:solidFill>
                  <a:srgbClr val="444444"/>
                </a:solidFill>
              </a:defRPr>
            </a:pPr>
            <a:r>
              <a:t>Robotics: robotic vision, control systems</a:t>
            </a:r>
          </a:p>
          <a:p>
            <a:pPr>
              <a:defRPr sz="2000">
                <a:solidFill>
                  <a:srgbClr val="444444"/>
                </a:solidFill>
              </a:defRPr>
            </a:pPr>
            <a:r>
              <a:t>Autonomous systems: drones, self-driving cars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of CNNs - Applications</a:t>
            </a:r>
          </a:p>
        </p:txBody>
      </p:sp>
      <p:sp>
        <p:nvSpPr>
          <p:cNvPr id="3" name="Content Placeholder 2"/>
          <p:cNvSpPr>
            <a:spLocks noGrp="1"/>
          </p:cNvSpPr>
          <p:nvPr>
            <p:ph idx="1"/>
          </p:nvPr>
        </p:nvSpPr>
        <p:spPr/>
        <p:txBody>
          <a:bodyPr/>
          <a:lstStyle/>
          <a:p>
            <a:pPr>
              <a:defRPr sz="2000">
                <a:solidFill>
                  <a:srgbClr val="444444"/>
                </a:solidFill>
              </a:defRPr>
            </a:pPr>
            <a:r>
              <a:t>Image classification with CNNs achieves high accuracy</a:t>
            </a:r>
          </a:p>
          <a:p>
            <a:pPr>
              <a:defRPr sz="2000">
                <a:solidFill>
                  <a:srgbClr val="444444"/>
                </a:solidFill>
              </a:defRPr>
            </a:pPr>
            <a:r>
              <a:t>Object detection for self-driving cars and robots</a:t>
            </a:r>
          </a:p>
          <a:p>
            <a:pPr>
              <a:defRPr sz="2000">
                <a:solidFill>
                  <a:srgbClr val="444444"/>
                </a:solidFill>
              </a:defRPr>
            </a:pPr>
            <a:r>
              <a:t>Facial recognition for security and surveillance</a:t>
            </a:r>
          </a:p>
          <a:p>
            <a:pPr>
              <a:defRPr sz="2000">
                <a:solidFill>
                  <a:srgbClr val="444444"/>
                </a:solidFill>
              </a:defRPr>
            </a:pPr>
            <a:r>
              <a:t>Medical image analysis for diagnosis and treatment</a:t>
            </a:r>
          </a:p>
          <a:p>
            <a:pPr>
              <a:defRPr sz="2000">
                <a:solidFill>
                  <a:srgbClr val="444444"/>
                </a:solidFill>
              </a:defRPr>
            </a:pPr>
            <a:r>
              <a:t>Image segmentation for satellite and drone imaging</a:t>
            </a:r>
          </a:p>
          <a:p>
            <a:pPr>
              <a:defRPr sz="2000">
                <a:solidFill>
                  <a:srgbClr val="444444"/>
                </a:solidFill>
              </a:defRPr>
            </a:pPr>
            <a:r>
              <a:t>CNNs used in natural language processing tasks</a:t>
            </a:r>
          </a:p>
          <a:p>
            <a:pPr>
              <a:defRPr sz="2000">
                <a:solidFill>
                  <a:srgbClr val="444444"/>
                </a:solidFill>
              </a:defRPr>
            </a:pPr>
            <a:r>
              <a:t>Speech recognition with convolutional neural networks</a:t>
            </a:r>
          </a:p>
          <a:p>
            <a:pPr>
              <a:defRPr sz="2000">
                <a:solidFill>
                  <a:srgbClr val="444444"/>
                </a:solidFill>
              </a:defRPr>
            </a:pPr>
            <a:r>
              <a:t>Time series forecasting with CNN architectures</a:t>
            </a:r>
          </a:p>
          <a:p>
            <a:pPr>
              <a:defRPr sz="2000">
                <a:solidFill>
                  <a:srgbClr val="444444"/>
                </a:solidFill>
              </a:defRPr>
            </a:pPr>
            <a:r>
              <a:t>Recommendation systems utilizing CNN models</a:t>
            </a:r>
          </a:p>
          <a:p>
            <a:pPr>
              <a:defRPr sz="2000">
                <a:solidFill>
                  <a:srgbClr val="444444"/>
                </a:solidFill>
              </a:defRPr>
            </a:pPr>
            <a:r>
              <a:t>Enhancing CNNs with transfer learning techniques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