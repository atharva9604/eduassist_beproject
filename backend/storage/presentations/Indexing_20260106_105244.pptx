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Indexing.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concept of indexing, emphasize its importance in enhancing database query performance and speeding up data retrieval operations. Provide examples of how indexing is used in real-world database systems and ask students to consider how indexing would improve the efficiency of a database. Ask questions like 'What are the benefits of using indexing in a database?' to encourage discussion and understanding of the concept.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Core Concept / Architecture in detail, covering key concepts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mathematical and logical explanation of indexing, emphasize the use of mathematical formulas and logical operators to optimize data retrieval and storage. Provide examples of how indexing algorithms use mathematical models to predict query performance and explain how logical indexing ensures data consistency and integrity. Ask students to consider how mathematical and logical explanations can be applied to real-world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applications and use cases of indexing, emphasize how it improves database query performance and supports efficient data analysis. Provide examples of real-world scenarios where indexing is crucial, such as e-commerce websites or social media platforms. Ask students to consider how indexing can be applied to various industries and domains, and what benefits it can bring to different types of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Summary &amp; Key Takeaways in detail, covering key concepts and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Indexing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Database Management System</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Indexing enhances database query performance greatly</a:t>
            </a:r>
          </a:p>
          <a:p>
            <a:pPr>
              <a:defRPr sz="2000">
                <a:solidFill>
                  <a:srgbClr val="444444"/>
                </a:solidFill>
              </a:defRPr>
            </a:pPr>
            <a:r>
              <a:t>Database indexing is a data structure technique</a:t>
            </a:r>
          </a:p>
          <a:p>
            <a:pPr>
              <a:defRPr sz="2000">
                <a:solidFill>
                  <a:srgbClr val="444444"/>
                </a:solidFill>
              </a:defRPr>
            </a:pPr>
            <a:r>
              <a:t>Indexing speeds up data retrieval operations</a:t>
            </a:r>
          </a:p>
          <a:p>
            <a:pPr>
              <a:defRPr sz="2000">
                <a:solidFill>
                  <a:srgbClr val="444444"/>
                </a:solidFill>
              </a:defRPr>
            </a:pPr>
            <a:r>
              <a:t>Indexing is used for fast data access methods</a:t>
            </a:r>
          </a:p>
          <a:p>
            <a:pPr>
              <a:defRPr sz="2000">
                <a:solidFill>
                  <a:srgbClr val="444444"/>
                </a:solidFill>
              </a:defRPr>
            </a:pPr>
            <a:r>
              <a:t>Database indexing has several types available</a:t>
            </a:r>
          </a:p>
          <a:p>
            <a:pPr>
              <a:defRPr sz="2000">
                <a:solidFill>
                  <a:srgbClr val="444444"/>
                </a:solidFill>
              </a:defRPr>
            </a:pPr>
            <a:r>
              <a:t>Indexing improves query optimization greatly always</a:t>
            </a:r>
          </a:p>
          <a:p>
            <a:pPr>
              <a:defRPr sz="2000">
                <a:solidFill>
                  <a:srgbClr val="444444"/>
                </a:solidFill>
              </a:defRPr>
            </a:pPr>
            <a:r>
              <a:t>Database systems use indexing for efficiency</a:t>
            </a:r>
          </a:p>
          <a:p>
            <a:pPr>
              <a:defRPr sz="2000">
                <a:solidFill>
                  <a:srgbClr val="444444"/>
                </a:solidFill>
              </a:defRPr>
            </a:pPr>
            <a:r>
              <a:t>Indexing supports quick data retrieval always</a:t>
            </a:r>
          </a:p>
          <a:p>
            <a:pPr>
              <a:defRPr sz="2000">
                <a:solidFill>
                  <a:srgbClr val="444444"/>
                </a:solidFill>
              </a:defRPr>
            </a:pPr>
            <a:r>
              <a:t>Indexing is crucial for database management systems</a:t>
            </a:r>
          </a:p>
          <a:p>
            <a:pPr>
              <a:defRPr sz="2000">
                <a:solidFill>
                  <a:srgbClr val="444444"/>
                </a:solidFill>
              </a:defRPr>
            </a:pPr>
            <a:r>
              <a:t>Indexing enhances overall system performance greatly</a:t>
            </a:r>
          </a:p>
        </p:txBody>
      </p:sp>
      <p:pic>
        <p:nvPicPr>
          <p:cNvPr id="4" name="Picture 3" descr="b19c31950116499ea36f87a3552bf534_indexing_database_management_system_over.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Core Concept / Architecture</a:t>
            </a:r>
          </a:p>
        </p:txBody>
      </p:sp>
      <p:sp>
        <p:nvSpPr>
          <p:cNvPr id="3" name="Content Placeholder 2"/>
          <p:cNvSpPr>
            <a:spLocks noGrp="1"/>
          </p:cNvSpPr>
          <p:nvPr>
            <p:ph idx="1"/>
          </p:nvPr>
        </p:nvSpPr>
        <p:spPr/>
        <p:txBody>
          <a:bodyPr/>
          <a:lstStyle/>
          <a:p>
            <a:pPr>
              <a:defRPr sz="2000">
                <a:solidFill>
                  <a:srgbClr val="444444"/>
                </a:solidFill>
              </a:defRPr>
            </a:pPr>
            <a:r>
              <a:t>Overview of Core Concept / Architecture</a:t>
            </a:r>
          </a:p>
          <a:p>
            <a:pPr>
              <a:defRPr sz="2000">
                <a:solidFill>
                  <a:srgbClr val="444444"/>
                </a:solidFill>
              </a:defRPr>
            </a:pPr>
            <a:r>
              <a:t>Key concepts related to Core Concept / Architecture</a:t>
            </a:r>
          </a:p>
          <a:p>
            <a:pPr>
              <a:defRPr sz="2000">
                <a:solidFill>
                  <a:srgbClr val="444444"/>
                </a:solidFill>
              </a:defRPr>
            </a:pPr>
            <a:r>
              <a:t>Important aspects of Core Concept / Architecture</a:t>
            </a:r>
          </a:p>
          <a:p>
            <a:pPr>
              <a:defRPr sz="2000">
                <a:solidFill>
                  <a:srgbClr val="444444"/>
                </a:solidFill>
              </a:defRPr>
            </a:pPr>
            <a:r>
              <a:t>Applications and examples of Core Concept / Architecture</a:t>
            </a:r>
          </a:p>
        </p:txBody>
      </p:sp>
      <p:pic>
        <p:nvPicPr>
          <p:cNvPr id="4" name="Picture 3" descr="820a960ebfb345838872712c55f6bddf_indexing_database_management_system_arch.jpg"/>
          <p:cNvPicPr>
            <a:picLocks noChangeAspect="1"/>
          </p:cNvPicPr>
          <p:nvPr/>
        </p:nvPicPr>
        <p:blipFill>
          <a:blip r:embed="rId2"/>
          <a:stretch>
            <a:fillRect/>
          </a:stretch>
        </p:blipFill>
        <p:spPr>
          <a:xfrm>
            <a:off x="7315200" y="1828800"/>
            <a:ext cx="4114800" cy="25069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 Logical Explanation</a:t>
            </a:r>
          </a:p>
        </p:txBody>
      </p:sp>
      <p:sp>
        <p:nvSpPr>
          <p:cNvPr id="3" name="Content Placeholder 2"/>
          <p:cNvSpPr>
            <a:spLocks noGrp="1"/>
          </p:cNvSpPr>
          <p:nvPr>
            <p:ph idx="1"/>
          </p:nvPr>
        </p:nvSpPr>
        <p:spPr/>
        <p:txBody>
          <a:bodyPr/>
          <a:lstStyle/>
          <a:p>
            <a:pPr>
              <a:defRPr sz="2000">
                <a:solidFill>
                  <a:srgbClr val="444444"/>
                </a:solidFill>
              </a:defRPr>
            </a:pPr>
            <a:r>
              <a:t>Indexing uses mathematical formulas to optimize data retrieval</a:t>
            </a:r>
          </a:p>
          <a:p>
            <a:pPr>
              <a:defRPr sz="2000">
                <a:solidFill>
                  <a:srgbClr val="444444"/>
                </a:solidFill>
              </a:defRPr>
            </a:pPr>
            <a:r>
              <a:t>Logical explanations involve data distribution and storage</a:t>
            </a:r>
          </a:p>
          <a:p>
            <a:pPr>
              <a:defRPr sz="2000">
                <a:solidFill>
                  <a:srgbClr val="444444"/>
                </a:solidFill>
              </a:defRPr>
            </a:pPr>
            <a:r>
              <a:t>Mathematical models predict query performance and indexing</a:t>
            </a:r>
          </a:p>
          <a:p>
            <a:pPr>
              <a:defRPr sz="2000">
                <a:solidFill>
                  <a:srgbClr val="444444"/>
                </a:solidFill>
              </a:defRPr>
            </a:pPr>
            <a:r>
              <a:t>Indexing algorithms use logical operators for data filtering</a:t>
            </a:r>
          </a:p>
          <a:p>
            <a:pPr>
              <a:defRPr sz="2000">
                <a:solidFill>
                  <a:srgbClr val="444444"/>
                </a:solidFill>
              </a:defRPr>
            </a:pPr>
            <a:r>
              <a:t>Data indexing uses mathematical techniques for sorting</a:t>
            </a:r>
          </a:p>
          <a:p>
            <a:pPr>
              <a:defRPr sz="2000">
                <a:solidFill>
                  <a:srgbClr val="444444"/>
                </a:solidFill>
              </a:defRPr>
            </a:pPr>
            <a:r>
              <a:t>Logical indexing explains data relationships and patterns</a:t>
            </a:r>
          </a:p>
          <a:p>
            <a:pPr>
              <a:defRPr sz="2000">
                <a:solidFill>
                  <a:srgbClr val="444444"/>
                </a:solidFill>
              </a:defRPr>
            </a:pPr>
            <a:r>
              <a:t>Mathematical indexing optimizes data storage and retrieval</a:t>
            </a:r>
          </a:p>
          <a:p>
            <a:pPr>
              <a:defRPr sz="2000">
                <a:solidFill>
                  <a:srgbClr val="444444"/>
                </a:solidFill>
              </a:defRPr>
            </a:pPr>
            <a:r>
              <a:t>Indexing uses logical rules for data consistency and integrity</a:t>
            </a:r>
          </a:p>
          <a:p>
            <a:pPr>
              <a:defRPr sz="2000">
                <a:solidFill>
                  <a:srgbClr val="444444"/>
                </a:solidFill>
              </a:defRPr>
            </a:pPr>
            <a:r>
              <a:t>Mathematical explanations of indexing involve statistical models</a:t>
            </a:r>
          </a:p>
          <a:p>
            <a:pPr>
              <a:defRPr sz="2000">
                <a:solidFill>
                  <a:srgbClr val="444444"/>
                </a:solidFill>
              </a:defRPr>
            </a:pPr>
            <a:r>
              <a:t>Logical indexing ensures data accuracy and reliability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Use Cases</a:t>
            </a:r>
          </a:p>
        </p:txBody>
      </p:sp>
      <p:sp>
        <p:nvSpPr>
          <p:cNvPr id="3" name="Content Placeholder 2"/>
          <p:cNvSpPr>
            <a:spLocks noGrp="1"/>
          </p:cNvSpPr>
          <p:nvPr>
            <p:ph idx="1"/>
          </p:nvPr>
        </p:nvSpPr>
        <p:spPr/>
        <p:txBody>
          <a:bodyPr/>
          <a:lstStyle/>
          <a:p>
            <a:pPr>
              <a:defRPr sz="2000">
                <a:solidFill>
                  <a:srgbClr val="444444"/>
                </a:solidFill>
              </a:defRPr>
            </a:pPr>
            <a:r>
              <a:t>Database query optimization using indexing techniques</a:t>
            </a:r>
          </a:p>
          <a:p>
            <a:pPr>
              <a:defRPr sz="2000">
                <a:solidFill>
                  <a:srgbClr val="444444"/>
                </a:solidFill>
              </a:defRPr>
            </a:pPr>
            <a:r>
              <a:t>Improving data retrieval speed in web applications</a:t>
            </a:r>
          </a:p>
          <a:p>
            <a:pPr>
              <a:defRPr sz="2000">
                <a:solidFill>
                  <a:srgbClr val="444444"/>
                </a:solidFill>
              </a:defRPr>
            </a:pPr>
            <a:r>
              <a:t>Enhancing performance in data warehousing systems</a:t>
            </a:r>
          </a:p>
          <a:p>
            <a:pPr>
              <a:defRPr sz="2000">
                <a:solidFill>
                  <a:srgbClr val="444444"/>
                </a:solidFill>
              </a:defRPr>
            </a:pPr>
            <a:r>
              <a:t>Supporting efficient data analysis and reporting</a:t>
            </a:r>
          </a:p>
          <a:p>
            <a:pPr>
              <a:defRPr sz="2000">
                <a:solidFill>
                  <a:srgbClr val="444444"/>
                </a:solidFill>
              </a:defRPr>
            </a:pPr>
            <a:r>
              <a:t>Accelerating data processing in big data environments</a:t>
            </a:r>
          </a:p>
          <a:p>
            <a:pPr>
              <a:defRPr sz="2000">
                <a:solidFill>
                  <a:srgbClr val="444444"/>
                </a:solidFill>
              </a:defRPr>
            </a:pPr>
            <a:r>
              <a:t>Optimizing database storage and memory usage</a:t>
            </a:r>
          </a:p>
          <a:p>
            <a:pPr>
              <a:defRPr sz="2000">
                <a:solidFill>
                  <a:srgbClr val="444444"/>
                </a:solidFill>
              </a:defRPr>
            </a:pPr>
            <a:r>
              <a:t>Facilitating fast data search and retrieval operations</a:t>
            </a:r>
          </a:p>
          <a:p>
            <a:pPr>
              <a:defRPr sz="2000">
                <a:solidFill>
                  <a:srgbClr val="444444"/>
                </a:solidFill>
              </a:defRPr>
            </a:pPr>
            <a:r>
              <a:t>Enabling efficient handling of large datasets</a:t>
            </a:r>
          </a:p>
          <a:p>
            <a:pPr>
              <a:defRPr sz="2000">
                <a:solidFill>
                  <a:srgbClr val="444444"/>
                </a:solidFill>
              </a:defRPr>
            </a:pPr>
            <a:r>
              <a:t>Streamlining database maintenance and updates</a:t>
            </a:r>
          </a:p>
          <a:p>
            <a:pPr>
              <a:defRPr sz="2000">
                <a:solidFill>
                  <a:srgbClr val="444444"/>
                </a:solidFill>
              </a:defRPr>
            </a:pPr>
            <a:r>
              <a:t>Supporting real-time data processing and analytics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 &amp; Key Takeaways</a:t>
            </a:r>
          </a:p>
        </p:txBody>
      </p:sp>
      <p:sp>
        <p:nvSpPr>
          <p:cNvPr id="3" name="Content Placeholder 2"/>
          <p:cNvSpPr>
            <a:spLocks noGrp="1"/>
          </p:cNvSpPr>
          <p:nvPr>
            <p:ph idx="1"/>
          </p:nvPr>
        </p:nvSpPr>
        <p:spPr/>
        <p:txBody>
          <a:bodyPr/>
          <a:lstStyle/>
          <a:p>
            <a:pPr>
              <a:defRPr sz="2000">
                <a:solidFill>
                  <a:srgbClr val="444444"/>
                </a:solidFill>
              </a:defRPr>
            </a:pPr>
            <a:r>
              <a:t>Overview of Summary &amp; Key Takeaways</a:t>
            </a:r>
          </a:p>
          <a:p>
            <a:pPr>
              <a:defRPr sz="2000">
                <a:solidFill>
                  <a:srgbClr val="444444"/>
                </a:solidFill>
              </a:defRPr>
            </a:pPr>
            <a:r>
              <a:t>Key concepts related to Summary &amp; Key Takeaways</a:t>
            </a:r>
          </a:p>
          <a:p>
            <a:pPr>
              <a:defRPr sz="2000">
                <a:solidFill>
                  <a:srgbClr val="444444"/>
                </a:solidFill>
              </a:defRPr>
            </a:pPr>
            <a:r>
              <a:t>Important aspects of Summary &amp; Key Takeaways</a:t>
            </a:r>
          </a:p>
          <a:p>
            <a:pPr>
              <a:defRPr sz="2000">
                <a:solidFill>
                  <a:srgbClr val="444444"/>
                </a:solidFill>
              </a:defRPr>
            </a:pPr>
            <a:r>
              <a:t>Applications and examples of Summary &amp; Key Takeaways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